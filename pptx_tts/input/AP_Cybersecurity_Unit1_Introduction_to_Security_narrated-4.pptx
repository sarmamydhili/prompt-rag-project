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93"/>
    <p:restoredTop sz="94631"/>
  </p:normalViewPr>
  <p:slideViewPr>
    <p:cSldViewPr snapToGrid="0">
      <p:cViewPr>
        <p:scale>
          <a:sx n="91" d="100"/>
          <a:sy n="91" d="100"/>
        </p:scale>
        <p:origin x="-360"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141C"/>
                </a:solidFill>
                <a:latin typeface="Calibri"/>
              </a:defRPr>
            </a:pPr>
            <a:r>
              <a:rPr lang="en-US" sz="1200" b="0" i="0" u="none" strike="noStrike">
                <a:solidFill>
                  <a:srgbClr val="12141C"/>
                </a:solidFill>
                <a:latin typeface="Calibri"/>
              </a:rPr>
              <a:t>Exam weighting</a:t>
            </a:r>
          </a:p>
        </c:rich>
      </c:tx>
      <c:overlay val="0"/>
    </c:title>
    <c:autoTitleDeleted val="0"/>
    <c:plotArea>
      <c:layout/>
      <c:doughnutChart>
        <c:varyColors val="1"/>
        <c:ser>
          <c:idx val="0"/>
          <c:order val="0"/>
          <c:tx>
            <c:strRef>
              <c:f>Sheet1!$B$1</c:f>
              <c:strCache>
                <c:ptCount val="1"/>
                <c:pt idx="0">
                  <c:v>Exam</c:v>
                </c:pt>
              </c:strCache>
            </c:strRef>
          </c:tx>
          <c:spPr>
            <a:solidFill>
              <a:schemeClr val="accent1"/>
            </a:solidFill>
            <a:ln w="9525" cap="flat">
              <a:solidFill>
                <a:srgbClr val="F9F9F9"/>
              </a:solidFill>
              <a:prstDash val="solid"/>
              <a:round/>
            </a:ln>
            <a:effectLst/>
          </c:spPr>
          <c:dPt>
            <c:idx val="0"/>
            <c:bubble3D val="0"/>
            <c:spPr>
              <a:solidFill>
                <a:srgbClr val="12141C"/>
              </a:solidFill>
              <a:effectLst/>
            </c:spPr>
            <c:extLst>
              <c:ext xmlns:c16="http://schemas.microsoft.com/office/drawing/2014/chart" uri="{C3380CC4-5D6E-409C-BE32-E72D297353CC}">
                <c16:uniqueId val="{00000001-458C-49E4-8AA9-4942F8B4E5D2}"/>
              </c:ext>
            </c:extLst>
          </c:dPt>
          <c:dPt>
            <c:idx val="1"/>
            <c:bubble3D val="0"/>
            <c:spPr>
              <a:solidFill>
                <a:srgbClr val="F2A03D"/>
              </a:solidFill>
              <a:effectLst/>
            </c:spPr>
            <c:extLst>
              <c:ext xmlns:c16="http://schemas.microsoft.com/office/drawing/2014/chart" uri="{C3380CC4-5D6E-409C-BE32-E72D297353CC}">
                <c16:uniqueId val="{00000003-458C-49E4-8AA9-4942F8B4E5D2}"/>
              </c:ext>
            </c:extLst>
          </c:dPt>
          <c:dLbls>
            <c:dLbl>
              <c:idx val="0"/>
              <c:numFmt formatCode="0&quot;%&quot;"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58C-49E4-8AA9-4942F8B4E5D2}"/>
                </c:ext>
              </c:extLst>
            </c:dLbl>
            <c:dLbl>
              <c:idx val="1"/>
              <c:numFmt formatCode="0&quot;%&quot;"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58C-49E4-8AA9-4942F8B4E5D2}"/>
                </c:ext>
              </c:extLst>
            </c:dLbl>
            <c:numFmt formatCode="0&quot;%&quot;"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Section I · 60 multiple-choice</c:v>
                </c:pt>
                <c:pt idx="1">
                  <c:v>Section II · 1 free-response</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458C-49E4-8AA9-4942F8B4E5D2}"/>
            </c:ext>
          </c:extLst>
        </c:ser>
        <c:dLbls>
          <c:showLegendKey val="0"/>
          <c:showVal val="0"/>
          <c:showCatName val="0"/>
          <c:showSerName val="0"/>
          <c:showPercent val="0"/>
          <c:showBubbleSize val="0"/>
          <c:showLeaderLines val="0"/>
        </c:dLbls>
        <c:firstSliceAng val="0"/>
        <c:holeSize val="52"/>
      </c:doughnutChart>
      <c:spPr>
        <a:noFill/>
        <a:ln>
          <a:noFill/>
        </a:ln>
        <a:effectLst/>
      </c:spPr>
    </c:plotArea>
    <c:legend>
      <c:legendPos val="b"/>
      <c:overlay val="0"/>
      <c:txPr>
        <a:bodyPr/>
        <a:lstStyle/>
        <a:p>
          <a:pPr>
            <a:defRPr sz="950">
              <a:solidFill>
                <a:srgbClr val="2B303C"/>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141C"/>
                </a:solidFill>
                <a:latin typeface="Calibri"/>
              </a:defRPr>
            </a:pPr>
            <a:r>
              <a:rPr lang="en-US" sz="1200" b="0" i="0" u="none" strike="noStrike">
                <a:solidFill>
                  <a:srgbClr val="12141C"/>
                </a:solidFill>
                <a:latin typeface="Calibri"/>
              </a:rPr>
              <a:t>Reported losses to phishing / spoofing complaints</a:t>
            </a:r>
          </a:p>
        </c:rich>
      </c:tx>
      <c:overlay val="0"/>
    </c:title>
    <c:autoTitleDeleted val="0"/>
    <c:plotArea>
      <c:layout/>
      <c:barChart>
        <c:barDir val="col"/>
        <c:grouping val="clustered"/>
        <c:varyColors val="0"/>
        <c:ser>
          <c:idx val="0"/>
          <c:order val="0"/>
          <c:tx>
            <c:strRef>
              <c:f>Sheet1!$B$1</c:f>
              <c:strCache>
                <c:ptCount val="1"/>
                <c:pt idx="0">
                  <c:v>Reported phishing/spoofing losses (US$ millions)</c:v>
                </c:pt>
              </c:strCache>
            </c:strRef>
          </c:tx>
          <c:spPr>
            <a:solidFill>
              <a:srgbClr val="F2A03D"/>
            </a:solidFill>
            <a:effectLst/>
          </c:spPr>
          <c:invertIfNegative val="0"/>
          <c:dPt>
            <c:idx val="0"/>
            <c:invertIfNegative val="0"/>
            <c:bubble3D val="0"/>
            <c:extLst>
              <c:ext xmlns:c16="http://schemas.microsoft.com/office/drawing/2014/chart" uri="{C3380CC4-5D6E-409C-BE32-E72D297353CC}">
                <c16:uniqueId val="{00000001-4626-4F8B-BFCC-044A18C0EF16}"/>
              </c:ext>
            </c:extLst>
          </c:dPt>
          <c:dPt>
            <c:idx val="1"/>
            <c:invertIfNegative val="0"/>
            <c:bubble3D val="0"/>
            <c:extLst>
              <c:ext xmlns:c16="http://schemas.microsoft.com/office/drawing/2014/chart" uri="{C3380CC4-5D6E-409C-BE32-E72D297353CC}">
                <c16:uniqueId val="{00000003-4626-4F8B-BFCC-044A18C0EF16}"/>
              </c:ext>
            </c:extLst>
          </c:dPt>
          <c:dPt>
            <c:idx val="2"/>
            <c:invertIfNegative val="0"/>
            <c:bubble3D val="0"/>
            <c:spPr>
              <a:solidFill>
                <a:srgbClr val="D9483F"/>
              </a:solidFill>
              <a:effectLst/>
            </c:spPr>
            <c:extLst>
              <c:ext xmlns:c16="http://schemas.microsoft.com/office/drawing/2014/chart" uri="{C3380CC4-5D6E-409C-BE32-E72D297353CC}">
                <c16:uniqueId val="{00000005-4626-4F8B-BFCC-044A18C0EF16}"/>
              </c:ext>
            </c:extLst>
          </c:dPt>
          <c:dLbls>
            <c:numFmt formatCode="\$#,##0.0&quot;M&quot;" sourceLinked="0"/>
            <c:spPr>
              <a:noFill/>
              <a:ln>
                <a:noFill/>
              </a:ln>
              <a:effectLst/>
            </c:spPr>
            <c:txPr>
              <a:bodyPr/>
              <a:lstStyle/>
              <a:p>
                <a:pPr>
                  <a:defRPr sz="1100" b="1" i="0" u="none" strike="noStrike">
                    <a:solidFill>
                      <a:srgbClr val="1214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18.7</c:v>
                </c:pt>
                <c:pt idx="1">
                  <c:v>70</c:v>
                </c:pt>
                <c:pt idx="2">
                  <c:v>215.8</c:v>
                </c:pt>
              </c:numCache>
            </c:numRef>
          </c:val>
          <c:extLst>
            <c:ext xmlns:c16="http://schemas.microsoft.com/office/drawing/2014/chart" uri="{C3380CC4-5D6E-409C-BE32-E72D297353CC}">
              <c16:uniqueId val="{00000006-4626-4F8B-BFCC-044A18C0EF16}"/>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260"/>
        </c:scaling>
        <c:delete val="0"/>
        <c:axPos val="l"/>
        <c:majorGridlines>
          <c:spPr>
            <a:ln w="12700" cap="flat">
              <a:solidFill>
                <a:srgbClr val="E7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23D5A80-586E-4078-A407-E2FB2A286096}" type="datetimeFigureOut">
              <a:t>8/7/26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9EC4B7BF-C27A-4634-81F6-FC0B97B40BC1}" type="slidenum">
              <a:t>‹#›</a:t>
            </a:fld>
            <a:endParaRPr lang="en-US"/>
          </a:p>
        </p:txBody>
      </p:sp>
    </p:spTree>
    <p:extLst>
      <p:ext uri="{BB962C8B-B14F-4D97-AF65-F5344CB8AC3E}">
        <p14:creationId xmlns:p14="http://schemas.microsoft.com/office/powerpoint/2010/main" val="76434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Welcome to Unit 1 of AP Cybersecurity: Introduction to Security. Over the next ten class periods, we'll explore how attackers target people, accounts, networks, and now, artificial intelligence itself. Our guiding question throughout is simple but powerful: can you recognize the attack, explain the evidence, and choose a defensible response? Keep those three verbs in mind, because they're exactly what the AP exam will ask you to 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deck does double duty: it's the script your teacher follows in class, and it's your personal study guide when you revise later. Every slide is tagged with a learning-objective code, like 1.1.A, that matches the official course description exactly, so you can find and review any topic by its code. Watch for yellow-tagged news slides, which give you real, concrete cases to cite on the exam, and for scenario slides, which mirror the exact style of question you'll see on test day. Think of this less like a lecture and more like a toolkit you'll keep coming back 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we dive in, let's see where Unit 1 fits in the bigger picture. The AP Cybersecurity course moves outward in five stages: from the individual person, to a physical room, to a network, to a device, and finally to data itself. Unit 1 lays the foundation for everything that follows by introducing three core ideas: vulnerability, threat, and risk. If you can't explain how a vulnerability creates risk by the end of this unit, later units will be much harder, so we're going to make sure that idea sticks.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AP exam tests four skill categories, and it's worth knowing them up front because they shape everything we do. Skill 1 is analyzing risk, Skill 2 is mitigating risk with security controls, and Skill 3 is detecting attacks by reading evidence like logs. Skill 4, collaborating with others and with AI, is graded through classwork rather than the exam itself. On exam day you'll face sixty multiple-choice questions and one free-response task, and almost every question asks you to do something with a concept, not just recite a definition.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Here's the roadmap for Unit 1: five topics, ten class periods, and five real-world scenarios to practice on. Each topic is tagged with the skill and verb the exam will use, so you'll always know whether you're expected to identify, explain, or determine something. Keep this slide in mind as a checkpoint; we'll return to it as we move from social engineering all the way through to AI in cyber defense.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Here's the single idea that ties this whole unit together: think of every cyberattack as a chain with five links, and your job as a defender is to find where to break it. It starts with a message that creates urgency or fear, leads to an action like a click, grants access to an account, causes real-world impact, and is ultimately caught, or missed, through detection. Notice that artificial intelligence doesn't add a new link to this chain; it just makes the existing links faster and more convincing. So whenever you meet an AI-powered attack later in this unit, your first move should always be to name the ordinary attack hiding underneath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Before we go further, let's lock down ten vocabulary words that will carry you through the entire unit, and honestly, the entire course. Words like vulnerability, threat, and risk sound similar in everyday speech, but the AP exam grades on precision, so we need to use them exactly as defined here. A quick way to keep them straight: an unlocked door is a vulnerability, a burglar is a threat, and the chance you actually lose something is the risk. Take a moment to really absorb these definitions, because loose, everyday synonyms will cost you points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Now we begin Topic 1.1: Understanding Social Engineering, our first real dive into how attacks actually happen. The key insight here is that adversaries often skip the technology altogether and go straight for human behavior and psychology instead. No firewall in the world can stop a person who chooses, of their own free will, to help. By the end of this topic, you'll be able to identify social engineering indicators, explain how these tactics influence victims, and describe the impact on real people.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 what exactly is social engineering? It's a set of psychological tactics used to manipulate a person into revealing information, downloading a file, or clicking a link, and the target is always the decision, not the device. Notice why technical defenses like antivirus software don't stop this: the victim's actions are technically authorized, since they're allowed to click links and log in, so there's no vulnerability to patch. Instead, the adversary simply borrows the victim's own legitimate access to get what they want.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Social engineering travels through four main channels, and it's worth learning all four because each one leaves different clues. Phishing arrives by email, vishing by phone call, smishing by text message, and pretexting relies on an invented scenario and a fake identity to make a request feel routine. The underlying psychological manipulation is identical across all four; only the delivery method and the visible red flags change. On the exam, simply naming the vector earns you one point, but explaining the specific indicator that channel reveals is where the real credit comes from.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Why do these tactics actually work on smart, careful people? The course names two specific psychological levers: intimidation, which threatens negative consequences, and urgency, which manufactures a reason to act immediately before you have time to think it through. You'll also see authority, consensus, scarcity, and elicitation show up constantly in real campaigns. The winning exam strategy is to complete a full sentence: name the tactic, explain the human tendency it exploits, and describe the action it pushes the target to take before they can verify anything.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Let's put this into practice with a real example: a phishing email disguised as a Google Drive access request. Look closely and you can spot six indicators before ever clicking the link, starting with a look-alike domain that swaps zeros for the letter O. Notice the urgency baked right into the subject line, the fabricated consequence threatening harm to a student, and the way every possible path in the email funnels you toward one single button. Training your eye to catch details like these, before you act, is exactly the skill the exam rewards.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Now that you can recognize the red flags, here's a fifteen-second checklist you can run on any suspicious message: check the sender, the links, the attachments, the timing, what's being asked of you, and whether the context makes sense. If something feels off, the procedure is simple: don't click, reply, or open anything; verify through a channel you chose yourself, not one the message gave you; report it; and delete it. And if you've already clicked, the most important step is the last one: change your password and tell someone immediately, because hiding a mistake out of embarrassment only makes the damage worse.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What does a victim of social engineering actually lose? The course names three categories: personal information, which can be reused as answers to security questions on completely different accounts; secure information like a one-time password, which is often the very last barrier standing between an attacker and full access; and malware or captured credentials, which can persist long after the original message is deleted. Notice that a strong answer never stops at naming what was taken. It follows the chain all the way through: what was disclosed, what the adversary can now do with it, and who ultimately gets hurt.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Let's look at a real-world case that proves social engineering is anything but low-stakes. A group known as Scattered Spider has used nothing more sophisticated than a convincing phone call to bypass multi-factor authentication at major companies like MGM Resorts and Marks &amp; Spencer, triggering ransomware attacks that shut down operations for days. Notice that no malware was needed for the very first step; a single well-placed phone call to a help desk was enough. The lesson here is procedural: the fix isn't a better firewall, it's verifying any caller through an independent channel before resetting anything.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Let's ground this topic in hard numbers. In 2025, the FBI's Internet Crime Complaint Center logged over one million complaints for the first time ever, and phishing or spoofing was the single largest category among them. Total reported losses hit twenty point nine billion dollars, a twenty-six percent jump from the year before, even though the number of complaints stayed roughly flat. In other words, attacks aren't necessarily becoming more frequent, but each successful one is doing significantly more damage.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Here's your first scenario, straight from the official Course and Exam Description: you're sitting with your teacher when a suspicious email arrives, and they're about to click the link. What evidence would actually convince them not to? Strong answers here point to specific artifacts, like the domain and the manufactured urgency, name the psychological lever at work, and trace the full chain of impact from a stolen credential all the way to compromised files and contacts. Take a few minutes to work through the three questions on this slide before we discuss it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Let's check your understanding of Topic 1.1 before we move on. You should now be able to name the four delivery channels for social engineering, identify the psychological lever in a real message, and explain why out-of-band verification matters when someone calls asking for a code. And here's a stretch question worth thinking about: why can sharing something as innocent as your pet's name still count as a genuine security incident? Take a moment with these questions, since they're designed to mirror exactly how the exam will ask you to apply this material.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Topic 1.2 shifts our focus to Suspicious Website Logins. Here's the key idea: stealing a password is only half of an attack, because the adversary still has to actually log in, and that attempt leaves evidence behind in a log file. By the end of this topic, you'll be able to identify signs of a password attack, explain how weak authentication gets exploited, and explain what actually makes authentication stronger.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Authentication is really just one question: what evidence proves you are who you say you are? There are three categories of proof: something you know, like a password; something you have, like a phone or security key; and something you are, like a fingerprint. Here's a detail worth memorizing precisely: true multi-factor authentication requires two different categories, not two passwords, so a password plus a security question is still just one factor used twice. Understanding these categories, and their individual weaknesses, sets up everything else in this topic.</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Adversaries have four main ways to guess their way into an account, and the exam loves testing the differences between them. The distinction that trips people up most is this: password spraying keeps the password fixed and varies the account being targeted, while credential stuffing reuses an already-known valid username and password pair stolen from somewhere else entirely. All four of these are online attacks, meaning the adversary submits guesses directly to the real service, which means the service can actually see, and log, every attempt.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 wonder how one password leak can compromise accounts you never even mentioned? This slide walks through exactly that chain: a low-value site gets breached, the stolen username and password pairs get compiled and sold, automated tools then stuff those exact pairs into banks and email providers, and wherever you reused that password, the login just works. The entire defense against this comes down to one habit: using a unique password for every single account, so a breach anywhere else in the world stays contained to that one service. This is precisely the argument for using a password manager, since it makes uniqueness realistic instead of exhausting.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Reading an authentication log is a core detective skill you'll use again and again in this course. Three signs point to a password attack: many failed attempts happening fast, attempts at unusual times, and attempts from unfamiliar devices or locations. Notice the careful wording the exam expects: a burst of failed logins is only evidence of an attempted attack, but a successful login from an unrecognized device followed by a settings change is evidence of an actual compromise. Don't claim the stronger conclusion unless you actually have the stronger evidence to back it up.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how do we actually make authentication stronger? Start with passwords that are long, random, and unique, and that contain nothing personally meaningful, since names and birthdates are exactly what a targeted guessing attack is built around. Then turn on multi-factor authentication wherever it's offered, but remember that not all second factors are created equal: a security key that verifies the website's real identity is far stronger than a text-message code that can be phished. And if an MFA prompt ever pops up that you didn't trigger yourself, treat that as a warning sign: deny it, change your password, and check your active sessions immediately.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clearest real-world demonstrations of what happens when a password stands completely alone. In 2024, attackers used stolen credentials, some gathered years earlier by malware, to log into roughly one hundred and sixty-five customer accounts on the Snowflake platform. These accounts had no multi-factor authentication and no restriction on which networks could connect, so a correct password alone was enough to get in. The company's response afterward tells you everything: they made MFA mandatory rather than optional, which is exactly the control that would have stopped this entire campaign.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scenario, you're looking at your own online game account, where choices have been changed without your knowledge, alongside a log of recent activity. Two entries stand out because two suspicious details line up at once: an unfamiliar IP address paired with a weekday mid-morning login, right when you'd normally be at school. Notice what this log doesn't tell you too; there's no device name and no success-or-failure column, so the strongest honest claim you can make is that access looks anomalous, not who exactly was behind it. Work through the three questions here and practice reasoning from evidence alone.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check your understanding of Topic 1.2. Can you list the three signs of an online password attack, and tell the difference between a brute-force attempt and a password-spraying campaign just by reading a log? You should also be able to trace, step by step, how reusing a password on a low-security site can eventually lead classmates to receive phishing emails from a compromised school account. Take a moment with the evaluation question too, since weighing MFA against a password manager is exactly the kind of judgment call the exam expects you to defend.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1.3 takes us out of the account and onto the network itself, with Best Practices for Public Networks. Here's the core idea: even a perfectly secured account still has to travel over a network that someone else controls, and on open Wi-Fi, the network's name is just a claim, not proof of anything. You'll learn to identify the type of adversary behind an attack, recognize specific wireless attacks, and describe concrete steps you can take to protect sensitive data.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we look at specific attacks, let's classify who's actually behind them, using two separate questions: what could they build, and why are they doing it? Skill level ranges from low-skilled adversaries using purchased, ready-made tools, to high-skilled adversaries capable of building new tools and finding undocumented zero-day vulnerabilities. Here's an important nuance: low skill absolutely does not mean low harm, since a purchased tool operated by anyone can still capture credentials from a hundred people in a single afternoon. Skill tells you what an adversary can build; it's a poor predictor of how much damage one single incident actually causes.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wireless attacks are named directly in the course framework, and each one targets a different property of the network. An evil twin attack fakes the network's authenticity by mimicking a real access point's name; jamming attacks availability by flooding the airwaves with noise, making it a denial-of-service attack; and war driving is pure reconnaissance, simply mapping where wireless signals reach. Notice the one meaningful limit on an evil twin attack: traffic protected by encryption, like HTTPS, still can't be read even once you're connected to the fake network.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walk through exactly how an evil twin attack captures a credential, step by step. Your device joins what looks like the real coffee shop Wi-Fi, but it's actually the adversary's portable access point broadcasting a similar name with a stronger signal and no password required. A fake captive portal then asks you to sign in with an existing account, and the moment you type that password in, it's captured and often reused across every other service you're logged into. The decisive moment isn't joining the network at all; it's the instant you type a password into a page that network handed you, and remember, a real café never needs your social media login just to sell you internet access.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It's worth knowing precisely what encryption protects, and just as importantly, what it doesn't. HTTPS protects the contents of pages and passwords in transit, but it does not prove a site is actually the one you meant to visit, and it doesn't hide which sites you're connecting to in the first place. A VPN goes further, encrypting all your traffic and hiding your activity from the local network, but here's the catch the exam specifically tests: the VPN provider itself can still see everything, so choosing a VPN is really just choosing who you trust instead. Don't fall for the padlock myth; a padlock icon only proves a connection is encrypted, not that the site behind it is honest.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six practical habits for staying safe on an untrusted network, ordered by how much protection each one gives you for the effort involved. Always verify the exact network name with staff, treat any login portal on public Wi-Fi as suspicious, and turn off auto-connect so your device doesn't silently rejoin networks it remembers. Prefer cellular data for anything sensitive like banking, keep MFA switched on as a backup layer, and disable file sharing before you forget the network entirely once you leave. For the exam, be ready to explain which specific attack each habit defends against, and what risk still remains even after you've applied it.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real case shows the evil twin attack playing out in the air, quite literally. An Australian man used a portable access point to broadcast fake Wi-Fi networks matching real ones at airports and even on domestic flights, capturing login credentials from unsuspecting travelers whose phones automatically reconnected. He was eventually sentenced to over seven years in prison, and investigators recovered stolen credentials and private material from his victims. Notice the advice police gave afterward: it's the exact same six habits we just covered, which tells you these aren't just theoretical textbook tips, they're genuinely how people get caught out.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scenario, you've joined a coffee shop network, signed in through a captive portal using an existing account, and later discovered your password no longer works, right as a sign on the wall reveals the real network has a slightly different name. A strong answer here names the exact verification step that was skipped: comparing the SSID character by character against the sign, which was the evidence available the whole time. You should also weigh the real trade-off of single sign-on, since it's convenient but means one stolen credential can unlock everything linked to it, and be ready to sequence the recovery steps in the right order.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to check your understanding of Topic 1.3. Can you define an evil twin attack and name the one thing an adversary still can't read once you're connected to it? You should also be able to explain, clearly, why a padlock icon in your browser never actually proves a website is trustworthy. And take a close look at the evaluation question about VPNs; a friend claiming a VPN makes public Wi-Fi completely safe is missing at least two important limitations we've covered.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1.4 turns to something genuinely new for this generation of students: AI-Based Cybersecurity Attacks. Here's the framing to hold onto throughout this whole topic: AI doesn't invent a brand-new category of attack, it simply removes the limits that used to make old attacks slow, expensive, or obviously fake. You'll learn to explain how adversaries use AI-powered tools to augment their attacks, and how to protect yourself against them.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course framework names six specific ways adversaries are putting AI to work right now, and every single one is really just an old attack, supercharged. Digital impersonation powers more convincing vishing and pretexting; fluent, native-sounding text scales up phishing; and automated reconnaissance speeds up the research phase behind a spear-phishing campaign. There's a simple sentence frame worth memorizing here: name the underlying attack, then explain exactly how AI makes it faster, cheaper, more personalized, or harder to distinguish from the real thing.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trace exactly how a voice or face actually gets cloned, since the raw material for this attack is entirely public, which is what makes it so cheap to pull off. An adversary collects public videos and voice notes, trains a model to mimic that person's speech patterns, identifies who trusts them and who can authorize money or access, and then makes contact with an urgent, confidential request in that familiar voice. Here's the crucial point the course makes explicitly: as more organizations start using voice itself as a login credential, a cloned voice stops being merely persuasive and becomes something closer to a stolen password. And here's the encouraging part: the indicator that still works is the request itself, not the voice, since secrecy, urgency, and pressure to skip a normal process haven't changed one bit.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Sometimes the AI tool itself becomes the target, not just the weapon, and two risks here are unique to systems built on large language models. In the first, an adversary crafts prompts specifically designed to pull sensitive information back out of a model, whether that's something another user typed in or something buried in its training data, which is exactly why you should never enter personal information into an AI chatbot. In the second, an adversary deliberately publishes false information online so it gets absorbed into a model's training data and then repeated back as fact to unsuspecting users. The defense for both is the same habit: verify anything an AI tool tells you against a reputable, stable, non-AI source before you ever act on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a case that shows exactly how far this threat can go: the engineering firm Arup lost roughly twenty-five million dollars in an attack that used no malware and exploited no software vulnerability whatsoever. An employee grew suspicious of an email requesting a confidential transaction, which was the correct response, so a video call was arranged to verify it, and every single person on that call except the victim was an AI-generated deepfake built from public recordings. Reassured by faces and voices he recognized, the employee made fifteen transfers before the fraud was ever discovered. The lesson here is sobering: the usual advice to verify by talking to the person was specifically defeated, which is exactly why controls like a callback to a known number and a pre-agreed code word matter so much more now.</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first time ever, the FBI's crime report included a dedicated section specifically for AI-related crime. In 2025 alone, over twenty-two thousand complaints were categorized as AI-related, tied to reported losses of eight hundred ninety-three million dollars, covering everything from fake profiles to cloned voices to synthetic video. When you use a statistic like this on the exam, be precise about what it actually measures: voluntarily reported complaints in one country, in one year, which almost certainly means the real number is even higher, not lower.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Given everything we've just covered, here are four defenses that actually hold up against AI-augmented attacks. Agree on a shared secret with people close to you that a cloned voice could never know, keep multi-factor authentication switched on as a backup, keep sensitive data out of AI tools entirely, and always verify AI-generated output against an independent, trustworthy source. Notice what all four of these strategies have in common: not one of them asks you to spot a fake by eye or by ear. They all replace human perception with an independent check instead, which is exactly why they'll keep working even as these fakes get more convincing.</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scenario, a relative calls you in a panic about money and jail time, speaking in a voice that sounds exactly like yours, built from videos an adversary scraped after you accepted a fake friend request weeks earlier. A strong answer traces the material back to its true source, showing how reconnaissance and impersonation work together as a single pipeline. Notice that the psychological levers doing the real work are the same intimidation and urgency we covered back in Topic 1.1; the clone simply removes the doubt that would normally interrupt them. Think through what control, like a family code word, would have stopped this attack even if the fake had been absolutely perfect.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check your understanding of Topic 1.4. Can you name three ways adversaries use AI to augment their attacks, along with the ordinary attack sitting underneath each one? You should also be able to explain why fluent, perfect English is no longer proof that a message is genuine, and identify what indicators still work regardless. And take a moment with the exit ticket: write out the exact sentence you'd use to explain to a relative why your family needs its own code word.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1.5 flips our perspective entirely, moving from AI as a weapon to AI as a defense: Leveraging AI in Cyber Defense. Here's the framing to keep in mind: defenders face millions of events every single day and simply cannot read them all by hand, so AI's real value is triage, helping humans focus their limited attention where it actually matters. And remember this condition throughout: every single AI recommendation gets reviewed by a person before it's ever implemented.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do defenders actually need AI's help in the first place? It comes down to simple arithmetic: millions of digital events happen on a large network every day, and only a tiny fraction represent real attacks, but no human team can carefully examine all of them by hand. Without some form of triage, malicious activity isn't exactly hidden, it's just unread, buried in noise. AI's job is sorting through that overwhelming volume and surfacing a genuinely reviewable number of candidates, fast enough for a human analyst to step in before real harm occurs.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course names three specific places where defenders actually put AI to work: reviewing security configurations like firewall rules, analyzing application code for vulnerabilities, and suggesting new detection rules. Notice the exact same condition attached to all three: a knowledgeable human, whether that's a technician, a programmer, or a detection engineer, has to review every single recommendation before it's implemented. That's because an AI suggestion is really just a pattern-based guess, not a decision made with full knowledge of your specific organization, and the human reviewer supplies exactly the context the tool is missing.</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follow one suspicious login all the way through an AI-assisted detection pipeline, and pay close attention to exactly where the human sits in this process. Logs get collected from across the network, a trained model analyzes them against normal behavior and scores what looks anomalous, likely-malicious events get sorted out from the harmless majority, and an alert fires or an action runs automatically. But notice the final, essential step: a human analyst still confirms, dismisses, or escalates the alert, and that person owns the final decision, not the algorithm.</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It's important to name what defensive AI actually gets wrong, and doing so isn't skepticism, it's exactly the kind of analytical thinking the exam rewards. False positives waste analyst time and can cause alert fatigue, where real threats get dismissed simply because most alerts turn out to be noise. False negatives let genuine attacks slip through entirely, especially when an adversary deliberately makes their activity look ordinary, and AI models can sometimes produce confident, fluent output that's simply, flatly wrong. Even with all these limitations, the genuine benefit remains real: by clearing away the harmless majority of events, AI frees up scarce human judgment to focus exactly where it can actually change the outcome.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a genuinely encouraging story about AI on defense: Google's Big Sleep agent identified a critical, previously unknown vulnerability in SQLite, a database engine embedded in an enormous number of everyday applications, before attackers could exploit it. Google described this as the first time an AI agent had directly foiled a real attempted exploit in the wild. Notice the pattern here closely: human threat intelligence chose exactly where to look, the AI agent did the exhaustive reading, and human engineers validated and shipped the actual fix. Attack and defense here used the very same underlying capability; the only real difference was what happened next.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genuinely significant case: in November 2025, Anthropic reported the first known AI-orchestrated intrusion campaign, where AI agents, not humans, carried out the vast majority of the actual work against roughly thirty organizations. Between eighty and ninety percent of the tactical operations, including reconnaissance and exploitation, ran with little to no step-by-step human direction, though humans stayed involved as approvers at key decision points. Investigators also noted a real limitation worth remembering: the agents sometimes fabricated findings entirely. Read this evidence carefully, since it comes from the very vendor whose own product was misused, and a good analyst always names the source and flags what's still genuinely contested.</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final scenario, an AI tool reviews application code before launch, flags places where user input flows unsafely into database requests, and recommends fixes that the development team then reviews and applies. A strong answer weighs both sides honestly: the speed and consistency AI offers against its blind spots, like missing context about your specific system. And notice the deeper principle at work here, one that applies well beyond this scenario: the human reviewer remains accountable for whatever ultimately ships, and that exact same rule applies just as much to your own schoolwork, where an AI suggestion is a draft to evaluate, not a finished answer to submit.</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check your understanding of Topic 1.5. Can you name the three defensive uses of AI given in the course framework, along with the condition attached to every single one of them? You should also be able to explain, using the words anomaly and baseline, exactly why the sheer volume of daily network events makes automated triage necessary in the first place. And take a careful look at the evaluation question: claiming a network is now more secure simply because an AI reviewed the firewall rules skips right over a pretty important assumption.</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bring the whole unit together. Return to the chain of attack from all the way back in slide six, and notice that every single topic we've covered is really just a different place to break that same chain. Message corresponds to Topic 1.1, action to Topic 1.3, access to Topic 1.2, impact to Topic 1.4, and detection to Topic 1.5. If you remember only three sentences from this entire unit, make them these: the human is an attack surface, a control is only as strong as the process surrounding it, and evidence, not confidence, is what actually supports a conclusion.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we move to practice, let's talk exam technique, specifically the exact task verbs the free-response section uses, since you're graded on whether you performed the verb, not on how much you wrote. Identify means pointing to specific evidence in the given source; explain means giving reasons using that evidence; describe means walking through a process or outcome; and determine means applying reasoning to reach a specific conclusion. Remember, Section Two hands you simulated sources like logs and firewall configurations, and you must cite them directly. Never answer from memory when a source is sitting right in front of you.</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to put everything from this unit into practice with four AP-style multiple-choice questions. As you work through each one, think about exactly which topic and skill it's drawing from, whether that's the psychological lever behind a phishing email, the specific pattern in a login log, or the exact control that stops a stolen password from being reused. Take your time, reason through the evidence in each question, and we'll review the answers together shortly.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four more AP-style multiple-choice questions to round out the practice set. Notice that several of these questions test the exact misconceptions we flagged earlier in the unit, like the difference between encryption and legitimacy, or the review that AI defensive recommendations must always go through before they're implemented. Work through all four carefully before we check your answers against the key.</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let's go through the answer key together, and pay close attention to the rationales, not just the letters, since understanding why the wrong answers are wrong is just as valuable as knowing the right one. Notice how consistently these explanations trace back to precise distinctions we covered throughout the unit: urgency versus consensus, spraying versus stuffing, and a padlock's real, narrow guarantee. If any of these rationales still feel unfamiliar, that's your cue to revisit that topic's definition slide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your full vocabulary review for Unit 1: twenty essential terms spanning every topic we've covered. Cover the definitions and test yourself: can you state what each term is, which learning objective it belongs to, and one control or one real situation where it applies? If you get stuck on any term, that's a clear signal to head back to that topic's definition slide and review it before your exam.</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lists every source behind the material in this unit, from the official College Board course description to NIST password guidelines to the specific news reports behind each case study we discussed. It's worth knowing that this deck draws on real, current reporting, and that reported figures are frequently revised over time, so always verify a number before quoting it in an assessment. Keep this slide handy as a reference if you ever want to dig deeper into any of these cases yourself.</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That brings us to the end of Unit 1. Everything you've just learned about people, procedures, and proof carries forward directly into Unit 2, Securing Spaces, where we'll apply these same three questions, what's the vulnerability, what control mitigates it, and what evidence proves it, to a physical room instead of a person. Before we move on, take a moment to answer all three of those questions for any one attack we covered in this unit. You've built a strong foundation here; now we're going to build on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9.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1.png"/><Relationship Id="rId7"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2.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4.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35.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6.png"/><Relationship Id="rId7"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16.png"/><Relationship Id="rId10" Type="http://schemas.openxmlformats.org/officeDocument/2006/relationships/image" Target="../media/image26.png"/><Relationship Id="rId4" Type="http://schemas.openxmlformats.org/officeDocument/2006/relationships/image" Target="../media/image47.png"/><Relationship Id="rId9"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5.png"/><Relationship Id="rId7"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53.png"/><Relationship Id="rId4" Type="http://schemas.openxmlformats.org/officeDocument/2006/relationships/image" Target="../media/image49.png"/><Relationship Id="rId9"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3.png"/><Relationship Id="rId7"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42.png"/><Relationship Id="rId4" Type="http://schemas.openxmlformats.org/officeDocument/2006/relationships/image" Target="../media/image15.png"/><Relationship Id="rId9"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6.png"/><Relationship Id="rId7"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1.png"/><Relationship Id="rId4" Type="http://schemas.openxmlformats.org/officeDocument/2006/relationships/image" Target="../media/image22.png"/><Relationship Id="rId9" Type="http://schemas.openxmlformats.org/officeDocument/2006/relationships/image" Target="../media/image4.png"/></Relationships>
</file>

<file path=ppt/slides/_rels/slide3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0.png"/><Relationship Id="rId7"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1.png"/><Relationship Id="rId4" Type="http://schemas.openxmlformats.org/officeDocument/2006/relationships/image" Target="../media/image58.png"/><Relationship Id="rId9"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55.png"/><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3.png"/><Relationship Id="rId4" Type="http://schemas.openxmlformats.org/officeDocument/2006/relationships/image" Target="../media/image45.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60.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62.png"/><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8.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6903720" y="0"/>
            <a:ext cx="5294376" cy="6858000"/>
          </a:xfrm>
          <a:prstGeom prst="roundRect">
            <a:avLst/>
          </a:prstGeom>
          <a:solidFill>
            <a:srgbClr val="1D2331"/>
          </a:solidFill>
          <a:ln/>
        </p:spPr>
        <p:txBody>
          <a:bodyPr/>
          <a:lstStyle/>
          <a:p>
            <a:endParaRPr lang="en-US"/>
          </a:p>
        </p:txBody>
      </p:sp>
      <p:sp>
        <p:nvSpPr>
          <p:cNvPr id="3" name="Text 1"/>
          <p:cNvSpPr/>
          <p:nvPr/>
        </p:nvSpPr>
        <p:spPr>
          <a:xfrm>
            <a:off x="566928" y="1051560"/>
            <a:ext cx="585216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AP CYBERSECURITY  ·  UNIT 1  ·  ~10 CLASS PERIODS</a:t>
            </a:r>
            <a:endParaRPr lang="en-US" sz="1050"/>
          </a:p>
        </p:txBody>
      </p:sp>
      <p:sp>
        <p:nvSpPr>
          <p:cNvPr id="4" name="Text 2"/>
          <p:cNvSpPr/>
          <p:nvPr/>
        </p:nvSpPr>
        <p:spPr>
          <a:xfrm>
            <a:off x="566928" y="1481328"/>
            <a:ext cx="5852160" cy="1920240"/>
          </a:xfrm>
          <a:prstGeom prst="rect">
            <a:avLst/>
          </a:prstGeom>
          <a:noFill/>
          <a:ln/>
        </p:spPr>
        <p:txBody>
          <a:bodyPr wrap="square" lIns="0" tIns="0" rIns="0" bIns="0" rtlCol="0" anchor="ctr"/>
          <a:lstStyle/>
          <a:p>
            <a:pPr marL="0" indent="0">
              <a:lnSpc>
                <a:spcPts val="5400"/>
              </a:lnSpc>
              <a:buNone/>
            </a:pPr>
            <a:r>
              <a:rPr lang="en-US" sz="5000" b="1">
                <a:solidFill>
                  <a:srgbClr val="FFFFFF"/>
                </a:solidFill>
                <a:latin typeface="Cambria" pitchFamily="34" charset="0"/>
                <a:ea typeface="Cambria" pitchFamily="34" charset="-122"/>
                <a:cs typeface="Cambria" pitchFamily="34" charset="-120"/>
              </a:rPr>
              <a:t>Introduction</a:t>
            </a:r>
            <a:endParaRPr lang="en-US" sz="5000"/>
          </a:p>
          <a:p>
            <a:pPr marL="0" indent="0">
              <a:lnSpc>
                <a:spcPts val="5400"/>
              </a:lnSpc>
              <a:buNone/>
            </a:pPr>
            <a:r>
              <a:rPr lang="en-US" sz="5000" b="1">
                <a:solidFill>
                  <a:srgbClr val="FFFFFF"/>
                </a:solidFill>
                <a:latin typeface="Cambria" pitchFamily="34" charset="0"/>
                <a:ea typeface="Cambria" pitchFamily="34" charset="-122"/>
                <a:cs typeface="Cambria" pitchFamily="34" charset="-120"/>
              </a:rPr>
              <a:t>to Security</a:t>
            </a:r>
            <a:endParaRPr lang="en-US" sz="5000"/>
          </a:p>
        </p:txBody>
      </p:sp>
      <p:sp>
        <p:nvSpPr>
          <p:cNvPr id="5" name="Text 3"/>
          <p:cNvSpPr/>
          <p:nvPr/>
        </p:nvSpPr>
        <p:spPr>
          <a:xfrm>
            <a:off x="566928" y="3456432"/>
            <a:ext cx="5852160" cy="310896"/>
          </a:xfrm>
          <a:prstGeom prst="rect">
            <a:avLst/>
          </a:prstGeom>
          <a:noFill/>
          <a:ln/>
        </p:spPr>
        <p:txBody>
          <a:bodyPr wrap="square" lIns="0" tIns="0" rIns="0" bIns="0" rtlCol="0" anchor="ctr"/>
          <a:lstStyle/>
          <a:p>
            <a:pPr marL="0" indent="0">
              <a:buNone/>
            </a:pPr>
            <a:r>
              <a:rPr lang="en-US" sz="1600" kern="0" spc="40">
                <a:solidFill>
                  <a:srgbClr val="F2A03D"/>
                </a:solidFill>
                <a:latin typeface="Calibri" pitchFamily="34" charset="0"/>
                <a:ea typeface="Calibri" pitchFamily="34" charset="-122"/>
                <a:cs typeface="Calibri" pitchFamily="34" charset="-120"/>
              </a:rPr>
              <a:t>People · Accounts · Networks · AI</a:t>
            </a:r>
            <a:endParaRPr lang="en-US" sz="1600"/>
          </a:p>
        </p:txBody>
      </p:sp>
      <p:sp>
        <p:nvSpPr>
          <p:cNvPr id="6" name="Text 4"/>
          <p:cNvSpPr/>
          <p:nvPr/>
        </p:nvSpPr>
        <p:spPr>
          <a:xfrm>
            <a:off x="566928" y="3895344"/>
            <a:ext cx="5486400" cy="640080"/>
          </a:xfrm>
          <a:prstGeom prst="rect">
            <a:avLst/>
          </a:prstGeom>
          <a:noFill/>
          <a:ln/>
        </p:spPr>
        <p:txBody>
          <a:bodyPr wrap="square" lIns="0" tIns="0" rIns="0" bIns="0" rtlCol="0" anchor="ctr"/>
          <a:lstStyle/>
          <a:p>
            <a:pPr marL="0" indent="0">
              <a:lnSpc>
                <a:spcPts val="1900"/>
              </a:lnSpc>
              <a:buNone/>
            </a:pPr>
            <a:r>
              <a:rPr lang="en-US" sz="1350" i="1">
                <a:solidFill>
                  <a:srgbClr val="9AA3B2"/>
                </a:solidFill>
                <a:latin typeface="Calibri" pitchFamily="34" charset="0"/>
                <a:ea typeface="Calibri" pitchFamily="34" charset="-122"/>
                <a:cs typeface="Calibri" pitchFamily="34" charset="-120"/>
              </a:rPr>
              <a:t>Recognize the attack. Explain the evidence. Choose a defensible response.</a:t>
            </a:r>
            <a:endParaRPr lang="en-US" sz="1350"/>
          </a:p>
        </p:txBody>
      </p:sp>
      <p:sp>
        <p:nvSpPr>
          <p:cNvPr id="7" name="Shape 5"/>
          <p:cNvSpPr/>
          <p:nvPr/>
        </p:nvSpPr>
        <p:spPr>
          <a:xfrm>
            <a:off x="566928" y="4800600"/>
            <a:ext cx="5120640" cy="10973"/>
          </a:xfrm>
          <a:prstGeom prst="rect">
            <a:avLst/>
          </a:prstGeom>
          <a:solidFill>
            <a:srgbClr val="2C3446"/>
          </a:solidFill>
          <a:ln/>
        </p:spPr>
        <p:txBody>
          <a:bodyPr/>
          <a:lstStyle/>
          <a:p>
            <a:endParaRPr lang="en-US"/>
          </a:p>
        </p:txBody>
      </p:sp>
      <p:sp>
        <p:nvSpPr>
          <p:cNvPr id="8" name="Text 6"/>
          <p:cNvSpPr/>
          <p:nvPr/>
        </p:nvSpPr>
        <p:spPr>
          <a:xfrm>
            <a:off x="566928" y="4983480"/>
            <a:ext cx="5669280" cy="731520"/>
          </a:xfrm>
          <a:prstGeom prst="rect">
            <a:avLst/>
          </a:prstGeom>
          <a:noFill/>
          <a:ln/>
        </p:spPr>
        <p:txBody>
          <a:bodyPr wrap="square" lIns="0" tIns="0" rIns="0" bIns="0" rtlCol="0" anchor="ctr"/>
          <a:lstStyle/>
          <a:p>
            <a:pPr marL="0" indent="0">
              <a:lnSpc>
                <a:spcPts val="1500"/>
              </a:lnSpc>
              <a:buNone/>
            </a:pPr>
            <a:r>
              <a:rPr lang="en-US" sz="1050">
                <a:solidFill>
                  <a:srgbClr val="9AA3B2"/>
                </a:solidFill>
                <a:latin typeface="Calibri" pitchFamily="34" charset="0"/>
                <a:ea typeface="Calibri" pitchFamily="34" charset="-122"/>
                <a:cs typeface="Calibri" pitchFamily="34" charset="-120"/>
              </a:rPr>
              <a:t>Tutor teaching deck + student reference</a:t>
            </a:r>
            <a:endParaRPr lang="en-US" sz="1050"/>
          </a:p>
          <a:p>
            <a:pPr marL="0" indent="0">
              <a:lnSpc>
                <a:spcPts val="1500"/>
              </a:lnSpc>
              <a:buNone/>
            </a:pPr>
            <a:r>
              <a:rPr lang="en-US" sz="1050">
                <a:solidFill>
                  <a:srgbClr val="9AA3B2"/>
                </a:solidFill>
                <a:latin typeface="Calibri" pitchFamily="34" charset="0"/>
                <a:ea typeface="Calibri" pitchFamily="34" charset="-122"/>
                <a:cs typeface="Calibri" pitchFamily="34" charset="-120"/>
              </a:rPr>
              <a:t>Aligned to the College Board AP Cybersecurity Course and Exam Description, effective Fall 2026</a:t>
            </a:r>
            <a:endParaRPr lang="en-US" sz="1050"/>
          </a:p>
        </p:txBody>
      </p:sp>
      <p:sp>
        <p:nvSpPr>
          <p:cNvPr id="9" name="Shape 7"/>
          <p:cNvSpPr/>
          <p:nvPr/>
        </p:nvSpPr>
        <p:spPr>
          <a:xfrm>
            <a:off x="7452360" y="1874520"/>
            <a:ext cx="1965960" cy="1508760"/>
          </a:xfrm>
          <a:prstGeom prst="roundRect">
            <a:avLst>
              <a:gd name="adj" fmla="val 6061"/>
            </a:avLst>
          </a:prstGeom>
          <a:solidFill>
            <a:srgbClr val="12141C"/>
          </a:solidFill>
          <a:ln w="12700">
            <a:solidFill>
              <a:srgbClr val="2C3446"/>
            </a:solidFill>
            <a:prstDash val="solid"/>
          </a:ln>
        </p:spPr>
        <p:txBody>
          <a:bodyPr/>
          <a:lstStyle/>
          <a:p>
            <a:endParaRPr lang="en-US"/>
          </a:p>
        </p:txBody>
      </p:sp>
      <p:sp>
        <p:nvSpPr>
          <p:cNvPr id="10" name="Shape 8"/>
          <p:cNvSpPr/>
          <p:nvPr/>
        </p:nvSpPr>
        <p:spPr>
          <a:xfrm>
            <a:off x="7671816" y="2093976"/>
            <a:ext cx="457200" cy="457200"/>
          </a:xfrm>
          <a:prstGeom prst="ellipse">
            <a:avLst/>
          </a:prstGeom>
          <a:solidFill>
            <a:srgbClr val="F2A03D"/>
          </a:solidFill>
          <a:ln/>
        </p:spPr>
        <p:txBody>
          <a:bodyPr/>
          <a:lstStyle/>
          <a:p>
            <a:endParaRPr lang="en-US"/>
          </a:p>
        </p:txBody>
      </p:sp>
      <p:pic>
        <p:nvPicPr>
          <p:cNvPr id="11" name="Image 0" descr="/home/claude/icons/FaCommentDots_w.png"/>
          <p:cNvPicPr>
            <a:picLocks noChangeAspect="1"/>
          </p:cNvPicPr>
          <p:nvPr/>
        </p:nvPicPr>
        <p:blipFill>
          <a:blip r:embed="rId3"/>
          <a:stretch>
            <a:fillRect/>
          </a:stretch>
        </p:blipFill>
        <p:spPr>
          <a:xfrm>
            <a:off x="7790688" y="2212848"/>
            <a:ext cx="219456" cy="219456"/>
          </a:xfrm>
          <a:prstGeom prst="rect">
            <a:avLst/>
          </a:prstGeom>
        </p:spPr>
      </p:pic>
      <p:sp>
        <p:nvSpPr>
          <p:cNvPr id="12" name="Text 9"/>
          <p:cNvSpPr/>
          <p:nvPr/>
        </p:nvSpPr>
        <p:spPr>
          <a:xfrm>
            <a:off x="7671816" y="2651760"/>
            <a:ext cx="1554480" cy="566928"/>
          </a:xfrm>
          <a:prstGeom prst="rect">
            <a:avLst/>
          </a:prstGeom>
          <a:noFill/>
          <a:ln/>
        </p:spPr>
        <p:txBody>
          <a:bodyPr wrap="square" lIns="0" tIns="0" rIns="0" bIns="0" rtlCol="0" anchor="ctr"/>
          <a:lstStyle/>
          <a:p>
            <a:pPr marL="0" indent="0">
              <a:lnSpc>
                <a:spcPts val="1400"/>
              </a:lnSpc>
              <a:buNone/>
            </a:pPr>
            <a:r>
              <a:rPr lang="en-US" sz="1050">
                <a:solidFill>
                  <a:srgbClr val="FFFFFF"/>
                </a:solidFill>
                <a:latin typeface="Calibri" pitchFamily="34" charset="0"/>
                <a:ea typeface="Calibri" pitchFamily="34" charset="-122"/>
                <a:cs typeface="Calibri" pitchFamily="34" charset="-120"/>
              </a:rPr>
              <a:t>1.1  Social</a:t>
            </a:r>
            <a:endParaRPr lang="en-US" sz="1050"/>
          </a:p>
          <a:p>
            <a:pPr marL="0" indent="0">
              <a:lnSpc>
                <a:spcPts val="1400"/>
              </a:lnSpc>
              <a:buNone/>
            </a:pPr>
            <a:r>
              <a:rPr lang="en-US" sz="1050">
                <a:solidFill>
                  <a:srgbClr val="FFFFFF"/>
                </a:solidFill>
                <a:latin typeface="Calibri" pitchFamily="34" charset="0"/>
                <a:ea typeface="Calibri" pitchFamily="34" charset="-122"/>
                <a:cs typeface="Calibri" pitchFamily="34" charset="-120"/>
              </a:rPr>
              <a:t>engineering</a:t>
            </a:r>
            <a:endParaRPr lang="en-US" sz="1050"/>
          </a:p>
        </p:txBody>
      </p:sp>
      <p:sp>
        <p:nvSpPr>
          <p:cNvPr id="13" name="Shape 10"/>
          <p:cNvSpPr/>
          <p:nvPr/>
        </p:nvSpPr>
        <p:spPr>
          <a:xfrm>
            <a:off x="9692640" y="1874520"/>
            <a:ext cx="1965960" cy="1508760"/>
          </a:xfrm>
          <a:prstGeom prst="roundRect">
            <a:avLst>
              <a:gd name="adj" fmla="val 6061"/>
            </a:avLst>
          </a:prstGeom>
          <a:solidFill>
            <a:srgbClr val="12141C"/>
          </a:solidFill>
          <a:ln w="12700">
            <a:solidFill>
              <a:srgbClr val="2C3446"/>
            </a:solidFill>
            <a:prstDash val="solid"/>
          </a:ln>
        </p:spPr>
        <p:txBody>
          <a:bodyPr/>
          <a:lstStyle/>
          <a:p>
            <a:endParaRPr lang="en-US"/>
          </a:p>
        </p:txBody>
      </p:sp>
      <p:sp>
        <p:nvSpPr>
          <p:cNvPr id="14" name="Shape 11"/>
          <p:cNvSpPr/>
          <p:nvPr/>
        </p:nvSpPr>
        <p:spPr>
          <a:xfrm>
            <a:off x="9912096" y="2093976"/>
            <a:ext cx="457200" cy="457200"/>
          </a:xfrm>
          <a:prstGeom prst="ellipse">
            <a:avLst/>
          </a:prstGeom>
          <a:solidFill>
            <a:srgbClr val="1FA697"/>
          </a:solidFill>
          <a:ln/>
        </p:spPr>
        <p:txBody>
          <a:bodyPr/>
          <a:lstStyle/>
          <a:p>
            <a:endParaRPr lang="en-US"/>
          </a:p>
        </p:txBody>
      </p:sp>
      <p:pic>
        <p:nvPicPr>
          <p:cNvPr id="15" name="Image 1" descr="/home/claude/icons/FaKey_w.png"/>
          <p:cNvPicPr>
            <a:picLocks noChangeAspect="1"/>
          </p:cNvPicPr>
          <p:nvPr/>
        </p:nvPicPr>
        <p:blipFill>
          <a:blip r:embed="rId4"/>
          <a:stretch>
            <a:fillRect/>
          </a:stretch>
        </p:blipFill>
        <p:spPr>
          <a:xfrm>
            <a:off x="10030968" y="2212848"/>
            <a:ext cx="219456" cy="219456"/>
          </a:xfrm>
          <a:prstGeom prst="rect">
            <a:avLst/>
          </a:prstGeom>
        </p:spPr>
      </p:pic>
      <p:sp>
        <p:nvSpPr>
          <p:cNvPr id="16" name="Text 12"/>
          <p:cNvSpPr/>
          <p:nvPr/>
        </p:nvSpPr>
        <p:spPr>
          <a:xfrm>
            <a:off x="9912096" y="2651760"/>
            <a:ext cx="1554480" cy="566928"/>
          </a:xfrm>
          <a:prstGeom prst="rect">
            <a:avLst/>
          </a:prstGeom>
          <a:noFill/>
          <a:ln/>
        </p:spPr>
        <p:txBody>
          <a:bodyPr wrap="square" lIns="0" tIns="0" rIns="0" bIns="0" rtlCol="0" anchor="ctr"/>
          <a:lstStyle/>
          <a:p>
            <a:pPr marL="0" indent="0">
              <a:lnSpc>
                <a:spcPts val="1400"/>
              </a:lnSpc>
              <a:buNone/>
            </a:pPr>
            <a:r>
              <a:rPr lang="en-US" sz="1050">
                <a:solidFill>
                  <a:srgbClr val="FFFFFF"/>
                </a:solidFill>
                <a:latin typeface="Calibri" pitchFamily="34" charset="0"/>
                <a:ea typeface="Calibri" pitchFamily="34" charset="-122"/>
                <a:cs typeface="Calibri" pitchFamily="34" charset="-120"/>
              </a:rPr>
              <a:t>1.2  Suspicious</a:t>
            </a:r>
            <a:endParaRPr lang="en-US" sz="1050"/>
          </a:p>
          <a:p>
            <a:pPr marL="0" indent="0">
              <a:lnSpc>
                <a:spcPts val="1400"/>
              </a:lnSpc>
              <a:buNone/>
            </a:pPr>
            <a:r>
              <a:rPr lang="en-US" sz="1050">
                <a:solidFill>
                  <a:srgbClr val="FFFFFF"/>
                </a:solidFill>
                <a:latin typeface="Calibri" pitchFamily="34" charset="0"/>
                <a:ea typeface="Calibri" pitchFamily="34" charset="-122"/>
                <a:cs typeface="Calibri" pitchFamily="34" charset="-120"/>
              </a:rPr>
              <a:t>logins</a:t>
            </a:r>
            <a:endParaRPr lang="en-US" sz="1050"/>
          </a:p>
        </p:txBody>
      </p:sp>
      <p:sp>
        <p:nvSpPr>
          <p:cNvPr id="17" name="Shape 13"/>
          <p:cNvSpPr/>
          <p:nvPr/>
        </p:nvSpPr>
        <p:spPr>
          <a:xfrm>
            <a:off x="7452360" y="3657600"/>
            <a:ext cx="1965960" cy="1508760"/>
          </a:xfrm>
          <a:prstGeom prst="roundRect">
            <a:avLst>
              <a:gd name="adj" fmla="val 6061"/>
            </a:avLst>
          </a:prstGeom>
          <a:solidFill>
            <a:srgbClr val="12141C"/>
          </a:solidFill>
          <a:ln w="12700">
            <a:solidFill>
              <a:srgbClr val="2C3446"/>
            </a:solidFill>
            <a:prstDash val="solid"/>
          </a:ln>
        </p:spPr>
        <p:txBody>
          <a:bodyPr/>
          <a:lstStyle/>
          <a:p>
            <a:endParaRPr lang="en-US"/>
          </a:p>
        </p:txBody>
      </p:sp>
      <p:sp>
        <p:nvSpPr>
          <p:cNvPr id="18" name="Shape 14"/>
          <p:cNvSpPr/>
          <p:nvPr/>
        </p:nvSpPr>
        <p:spPr>
          <a:xfrm>
            <a:off x="7671816" y="3877056"/>
            <a:ext cx="457200" cy="457200"/>
          </a:xfrm>
          <a:prstGeom prst="ellipse">
            <a:avLst/>
          </a:prstGeom>
          <a:solidFill>
            <a:srgbClr val="D9483F"/>
          </a:solidFill>
          <a:ln/>
        </p:spPr>
        <p:txBody>
          <a:bodyPr/>
          <a:lstStyle/>
          <a:p>
            <a:endParaRPr lang="en-US"/>
          </a:p>
        </p:txBody>
      </p:sp>
      <p:pic>
        <p:nvPicPr>
          <p:cNvPr id="19" name="Image 2" descr="/home/claude/icons/FaWifi_w.png"/>
          <p:cNvPicPr>
            <a:picLocks noChangeAspect="1"/>
          </p:cNvPicPr>
          <p:nvPr/>
        </p:nvPicPr>
        <p:blipFill>
          <a:blip r:embed="rId5"/>
          <a:stretch>
            <a:fillRect/>
          </a:stretch>
        </p:blipFill>
        <p:spPr>
          <a:xfrm>
            <a:off x="7790688" y="3995928"/>
            <a:ext cx="219456" cy="219456"/>
          </a:xfrm>
          <a:prstGeom prst="rect">
            <a:avLst/>
          </a:prstGeom>
        </p:spPr>
      </p:pic>
      <p:sp>
        <p:nvSpPr>
          <p:cNvPr id="20" name="Text 15"/>
          <p:cNvSpPr/>
          <p:nvPr/>
        </p:nvSpPr>
        <p:spPr>
          <a:xfrm>
            <a:off x="7671816" y="4434840"/>
            <a:ext cx="1554480" cy="566928"/>
          </a:xfrm>
          <a:prstGeom prst="rect">
            <a:avLst/>
          </a:prstGeom>
          <a:noFill/>
          <a:ln/>
        </p:spPr>
        <p:txBody>
          <a:bodyPr wrap="square" lIns="0" tIns="0" rIns="0" bIns="0" rtlCol="0" anchor="ctr"/>
          <a:lstStyle/>
          <a:p>
            <a:pPr marL="0" indent="0">
              <a:lnSpc>
                <a:spcPts val="1400"/>
              </a:lnSpc>
              <a:buNone/>
            </a:pPr>
            <a:r>
              <a:rPr lang="en-US" sz="1050">
                <a:solidFill>
                  <a:srgbClr val="FFFFFF"/>
                </a:solidFill>
                <a:latin typeface="Calibri" pitchFamily="34" charset="0"/>
                <a:ea typeface="Calibri" pitchFamily="34" charset="-122"/>
                <a:cs typeface="Calibri" pitchFamily="34" charset="-120"/>
              </a:rPr>
              <a:t>1.3  Public</a:t>
            </a:r>
            <a:endParaRPr lang="en-US" sz="1050"/>
          </a:p>
          <a:p>
            <a:pPr marL="0" indent="0">
              <a:lnSpc>
                <a:spcPts val="1400"/>
              </a:lnSpc>
              <a:buNone/>
            </a:pPr>
            <a:r>
              <a:rPr lang="en-US" sz="1050">
                <a:solidFill>
                  <a:srgbClr val="FFFFFF"/>
                </a:solidFill>
                <a:latin typeface="Calibri" pitchFamily="34" charset="0"/>
                <a:ea typeface="Calibri" pitchFamily="34" charset="-122"/>
                <a:cs typeface="Calibri" pitchFamily="34" charset="-120"/>
              </a:rPr>
              <a:t>networks</a:t>
            </a:r>
            <a:endParaRPr lang="en-US" sz="1050"/>
          </a:p>
        </p:txBody>
      </p:sp>
      <p:sp>
        <p:nvSpPr>
          <p:cNvPr id="21" name="Shape 16"/>
          <p:cNvSpPr/>
          <p:nvPr/>
        </p:nvSpPr>
        <p:spPr>
          <a:xfrm>
            <a:off x="9692640" y="3657600"/>
            <a:ext cx="1965960" cy="1508760"/>
          </a:xfrm>
          <a:prstGeom prst="roundRect">
            <a:avLst>
              <a:gd name="adj" fmla="val 6061"/>
            </a:avLst>
          </a:prstGeom>
          <a:solidFill>
            <a:srgbClr val="12141C"/>
          </a:solidFill>
          <a:ln w="12700">
            <a:solidFill>
              <a:srgbClr val="2C3446"/>
            </a:solidFill>
            <a:prstDash val="solid"/>
          </a:ln>
        </p:spPr>
        <p:txBody>
          <a:bodyPr/>
          <a:lstStyle/>
          <a:p>
            <a:endParaRPr lang="en-US"/>
          </a:p>
        </p:txBody>
      </p:sp>
      <p:sp>
        <p:nvSpPr>
          <p:cNvPr id="22" name="Shape 17"/>
          <p:cNvSpPr/>
          <p:nvPr/>
        </p:nvSpPr>
        <p:spPr>
          <a:xfrm>
            <a:off x="9912096" y="3877056"/>
            <a:ext cx="457200" cy="457200"/>
          </a:xfrm>
          <a:prstGeom prst="ellipse">
            <a:avLst/>
          </a:prstGeom>
          <a:solidFill>
            <a:srgbClr val="6A5AC7"/>
          </a:solidFill>
          <a:ln/>
        </p:spPr>
        <p:txBody>
          <a:bodyPr/>
          <a:lstStyle/>
          <a:p>
            <a:endParaRPr lang="en-US"/>
          </a:p>
        </p:txBody>
      </p:sp>
      <p:pic>
        <p:nvPicPr>
          <p:cNvPr id="23" name="Image 3" descr="/home/claude/icons/FaRobot_w.png"/>
          <p:cNvPicPr>
            <a:picLocks noChangeAspect="1"/>
          </p:cNvPicPr>
          <p:nvPr/>
        </p:nvPicPr>
        <p:blipFill>
          <a:blip r:embed="rId6"/>
          <a:stretch>
            <a:fillRect/>
          </a:stretch>
        </p:blipFill>
        <p:spPr>
          <a:xfrm>
            <a:off x="10030968" y="3995928"/>
            <a:ext cx="219456" cy="219456"/>
          </a:xfrm>
          <a:prstGeom prst="rect">
            <a:avLst/>
          </a:prstGeom>
        </p:spPr>
      </p:pic>
      <p:sp>
        <p:nvSpPr>
          <p:cNvPr id="24" name="Text 18"/>
          <p:cNvSpPr/>
          <p:nvPr/>
        </p:nvSpPr>
        <p:spPr>
          <a:xfrm>
            <a:off x="9912096" y="4434840"/>
            <a:ext cx="1554480" cy="566928"/>
          </a:xfrm>
          <a:prstGeom prst="rect">
            <a:avLst/>
          </a:prstGeom>
          <a:noFill/>
          <a:ln/>
        </p:spPr>
        <p:txBody>
          <a:bodyPr wrap="square" lIns="0" tIns="0" rIns="0" bIns="0" rtlCol="0" anchor="ctr"/>
          <a:lstStyle/>
          <a:p>
            <a:pPr marL="0" indent="0">
              <a:lnSpc>
                <a:spcPts val="1400"/>
              </a:lnSpc>
              <a:buNone/>
            </a:pPr>
            <a:r>
              <a:rPr lang="en-US" sz="1050">
                <a:solidFill>
                  <a:srgbClr val="FFFFFF"/>
                </a:solidFill>
                <a:latin typeface="Calibri" pitchFamily="34" charset="0"/>
                <a:ea typeface="Calibri" pitchFamily="34" charset="-122"/>
                <a:cs typeface="Calibri" pitchFamily="34" charset="-120"/>
              </a:rPr>
              <a:t>1.4 / 1.5  AI on</a:t>
            </a:r>
            <a:endParaRPr lang="en-US" sz="1050"/>
          </a:p>
          <a:p>
            <a:pPr marL="0" indent="0">
              <a:lnSpc>
                <a:spcPts val="1400"/>
              </a:lnSpc>
              <a:buNone/>
            </a:pPr>
            <a:r>
              <a:rPr lang="en-US" sz="1050">
                <a:solidFill>
                  <a:srgbClr val="FFFFFF"/>
                </a:solidFill>
                <a:latin typeface="Calibri" pitchFamily="34" charset="0"/>
                <a:ea typeface="Calibri" pitchFamily="34" charset="-122"/>
                <a:cs typeface="Calibri" pitchFamily="34" charset="-120"/>
              </a:rPr>
              <a:t>both sides</a:t>
            </a:r>
            <a:endParaRPr lang="en-US" sz="10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START HERE</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How to use this deck</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same slides serve two jobs: a lesson script for the tutor and a revision reference for the student.</a:t>
            </a:r>
            <a:endParaRPr lang="en-US" sz="1400"/>
          </a:p>
        </p:txBody>
      </p:sp>
      <p:sp>
        <p:nvSpPr>
          <p:cNvPr id="5" name="Shape 3"/>
          <p:cNvSpPr/>
          <p:nvPr/>
        </p:nvSpPr>
        <p:spPr>
          <a:xfrm>
            <a:off x="566928" y="1965960"/>
            <a:ext cx="5394960" cy="3520440"/>
          </a:xfrm>
          <a:prstGeom prst="roundRect">
            <a:avLst>
              <a:gd name="adj" fmla="val 2338"/>
            </a:avLst>
          </a:prstGeom>
          <a:solidFill>
            <a:srgbClr val="FDF2E2"/>
          </a:solidFill>
          <a:ln/>
        </p:spPr>
        <p:txBody>
          <a:bodyPr/>
          <a:lstStyle/>
          <a:p>
            <a:endParaRPr lang="en-US"/>
          </a:p>
        </p:txBody>
      </p:sp>
      <p:sp>
        <p:nvSpPr>
          <p:cNvPr id="6" name="Shape 4"/>
          <p:cNvSpPr/>
          <p:nvPr/>
        </p:nvSpPr>
        <p:spPr>
          <a:xfrm>
            <a:off x="886968" y="2286000"/>
            <a:ext cx="512064" cy="512064"/>
          </a:xfrm>
          <a:prstGeom prst="ellipse">
            <a:avLst/>
          </a:prstGeom>
          <a:solidFill>
            <a:srgbClr val="F2A03D"/>
          </a:solidFill>
          <a:ln/>
        </p:spPr>
        <p:txBody>
          <a:bodyPr/>
          <a:lstStyle/>
          <a:p>
            <a:endParaRPr lang="en-US"/>
          </a:p>
        </p:txBody>
      </p:sp>
      <p:pic>
        <p:nvPicPr>
          <p:cNvPr id="7" name="Image 0" descr="/home/claude/icons/FaChalkboardUser_w.png"/>
          <p:cNvPicPr>
            <a:picLocks noChangeAspect="1"/>
          </p:cNvPicPr>
          <p:nvPr/>
        </p:nvPicPr>
        <p:blipFill>
          <a:blip r:embed="rId3"/>
          <a:stretch>
            <a:fillRect/>
          </a:stretch>
        </p:blipFill>
        <p:spPr>
          <a:xfrm>
            <a:off x="1020105" y="2419137"/>
            <a:ext cx="245791" cy="245791"/>
          </a:xfrm>
          <a:prstGeom prst="rect">
            <a:avLst/>
          </a:prstGeom>
        </p:spPr>
      </p:pic>
      <p:sp>
        <p:nvSpPr>
          <p:cNvPr id="8" name="Text 5"/>
          <p:cNvSpPr/>
          <p:nvPr/>
        </p:nvSpPr>
        <p:spPr>
          <a:xfrm>
            <a:off x="1527048" y="2340864"/>
            <a:ext cx="3840480" cy="256032"/>
          </a:xfrm>
          <a:prstGeom prst="rect">
            <a:avLst/>
          </a:prstGeom>
          <a:noFill/>
          <a:ln/>
        </p:spPr>
        <p:txBody>
          <a:bodyPr wrap="square" lIns="0" tIns="0" rIns="0" bIns="0" rtlCol="0" anchor="ctr"/>
          <a:lstStyle/>
          <a:p>
            <a:pPr marL="0" indent="0">
              <a:buNone/>
            </a:pPr>
            <a:r>
              <a:rPr lang="en-US" sz="1500" b="1">
                <a:solidFill>
                  <a:srgbClr val="12141C"/>
                </a:solidFill>
                <a:latin typeface="Calibri" pitchFamily="34" charset="0"/>
                <a:ea typeface="Calibri" pitchFamily="34" charset="-122"/>
                <a:cs typeface="Calibri" pitchFamily="34" charset="-120"/>
              </a:rPr>
              <a:t>For the tutor</a:t>
            </a:r>
            <a:endParaRPr lang="en-US" sz="1500"/>
          </a:p>
        </p:txBody>
      </p:sp>
      <p:sp>
        <p:nvSpPr>
          <p:cNvPr id="9" name="Text 6"/>
          <p:cNvSpPr/>
          <p:nvPr/>
        </p:nvSpPr>
        <p:spPr>
          <a:xfrm>
            <a:off x="886968" y="3035808"/>
            <a:ext cx="4754880" cy="2240280"/>
          </a:xfrm>
          <a:prstGeom prst="rect">
            <a:avLst/>
          </a:prstGeom>
          <a:noFill/>
          <a:ln/>
        </p:spPr>
        <p:txBody>
          <a:bodyPr wrap="square" lIns="0" tIns="0" rIns="0" bIns="0" rtlCol="0" anchor="t"/>
          <a:lstStyle/>
          <a:p>
            <a:pPr marL="177800" indent="-177800">
              <a:lnSpc>
                <a:spcPts val="1650"/>
              </a:lnSpc>
              <a:spcAft>
                <a:spcPts val="900"/>
              </a:spcAft>
              <a:buSzPct val="100000"/>
              <a:buChar char="▪"/>
            </a:pPr>
            <a:r>
              <a:rPr lang="en-US" sz="1200">
                <a:solidFill>
                  <a:srgbClr val="2B303C"/>
                </a:solidFill>
                <a:latin typeface="Calibri" pitchFamily="34" charset="0"/>
                <a:ea typeface="Calibri" pitchFamily="34" charset="-122"/>
                <a:cs typeface="Calibri" pitchFamily="34" charset="-120"/>
              </a:rPr>
              <a:t>Every slide carries speaker notes with timing, questions to ask, and the CED citation.</a:t>
            </a:r>
            <a:endParaRPr lang="en-US" sz="1200"/>
          </a:p>
          <a:p>
            <a:pPr marL="177800" indent="-177800">
              <a:lnSpc>
                <a:spcPts val="1650"/>
              </a:lnSpc>
              <a:spcAft>
                <a:spcPts val="900"/>
              </a:spcAft>
              <a:buSzPct val="100000"/>
              <a:buChar char="▪"/>
            </a:pPr>
            <a:r>
              <a:rPr lang="en-US" sz="1200">
                <a:solidFill>
                  <a:srgbClr val="2B303C"/>
                </a:solidFill>
                <a:latin typeface="Calibri" pitchFamily="34" charset="0"/>
                <a:ea typeface="Calibri" pitchFamily="34" charset="-122"/>
                <a:cs typeface="Calibri" pitchFamily="34" charset="-120"/>
              </a:rPr>
              <a:t>Yellow-tagged slides are current news cases — use them as the hook at the start of a topic.</a:t>
            </a:r>
            <a:endParaRPr lang="en-US" sz="1200"/>
          </a:p>
          <a:p>
            <a:pPr marL="177800" indent="-177800">
              <a:lnSpc>
                <a:spcPts val="1650"/>
              </a:lnSpc>
              <a:spcAft>
                <a:spcPts val="900"/>
              </a:spcAft>
              <a:buSzPct val="100000"/>
              <a:buChar char="▪"/>
            </a:pPr>
            <a:r>
              <a:rPr lang="en-US" sz="1200">
                <a:solidFill>
                  <a:srgbClr val="2B303C"/>
                </a:solidFill>
                <a:latin typeface="Calibri" pitchFamily="34" charset="0"/>
                <a:ea typeface="Calibri" pitchFamily="34" charset="-122"/>
                <a:cs typeface="Calibri" pitchFamily="34" charset="-120"/>
              </a:rPr>
              <a:t>Each topic closes with a College Board scenario and 3 check-for-understanding prompts.</a:t>
            </a:r>
            <a:endParaRPr lang="en-US" sz="1200"/>
          </a:p>
          <a:p>
            <a:pPr marL="177800" indent="-177800">
              <a:lnSpc>
                <a:spcPts val="1650"/>
              </a:lnSpc>
              <a:spcAft>
                <a:spcPts val="900"/>
              </a:spcAft>
              <a:buSzPct val="100000"/>
              <a:buChar char="▪"/>
            </a:pPr>
            <a:r>
              <a:rPr lang="en-US" sz="1200">
                <a:solidFill>
                  <a:srgbClr val="2B303C"/>
                </a:solidFill>
                <a:latin typeface="Calibri" pitchFamily="34" charset="0"/>
                <a:ea typeface="Calibri" pitchFamily="34" charset="-122"/>
                <a:cs typeface="Calibri" pitchFamily="34" charset="-120"/>
              </a:rPr>
              <a:t>Slides 59-61 are a ready-made 8-question practice set with rationales.</a:t>
            </a:r>
            <a:endParaRPr lang="en-US" sz="1200"/>
          </a:p>
        </p:txBody>
      </p:sp>
      <p:sp>
        <p:nvSpPr>
          <p:cNvPr id="10" name="Shape 7"/>
          <p:cNvSpPr/>
          <p:nvPr/>
        </p:nvSpPr>
        <p:spPr>
          <a:xfrm>
            <a:off x="6190488" y="1965960"/>
            <a:ext cx="5394960" cy="3520440"/>
          </a:xfrm>
          <a:prstGeom prst="roundRect">
            <a:avLst>
              <a:gd name="adj" fmla="val 2338"/>
            </a:avLst>
          </a:prstGeom>
          <a:solidFill>
            <a:srgbClr val="E6F5F3"/>
          </a:solidFill>
          <a:ln/>
        </p:spPr>
        <p:txBody>
          <a:bodyPr/>
          <a:lstStyle/>
          <a:p>
            <a:endParaRPr lang="en-US"/>
          </a:p>
        </p:txBody>
      </p:sp>
      <p:sp>
        <p:nvSpPr>
          <p:cNvPr id="11" name="Shape 8"/>
          <p:cNvSpPr/>
          <p:nvPr/>
        </p:nvSpPr>
        <p:spPr>
          <a:xfrm>
            <a:off x="6510528" y="2286000"/>
            <a:ext cx="512064" cy="512064"/>
          </a:xfrm>
          <a:prstGeom prst="ellipse">
            <a:avLst/>
          </a:prstGeom>
          <a:solidFill>
            <a:srgbClr val="1FA697"/>
          </a:solidFill>
          <a:ln/>
        </p:spPr>
        <p:txBody>
          <a:bodyPr/>
          <a:lstStyle/>
          <a:p>
            <a:endParaRPr lang="en-US"/>
          </a:p>
        </p:txBody>
      </p:sp>
      <p:pic>
        <p:nvPicPr>
          <p:cNvPr id="12" name="Image 1" descr="/home/claude/icons/FaGraduationCap_w.png"/>
          <p:cNvPicPr>
            <a:picLocks noChangeAspect="1"/>
          </p:cNvPicPr>
          <p:nvPr/>
        </p:nvPicPr>
        <p:blipFill>
          <a:blip r:embed="rId4"/>
          <a:stretch>
            <a:fillRect/>
          </a:stretch>
        </p:blipFill>
        <p:spPr>
          <a:xfrm>
            <a:off x="6643665" y="2419137"/>
            <a:ext cx="245791" cy="245791"/>
          </a:xfrm>
          <a:prstGeom prst="rect">
            <a:avLst/>
          </a:prstGeom>
        </p:spPr>
      </p:pic>
      <p:sp>
        <p:nvSpPr>
          <p:cNvPr id="13" name="Text 9"/>
          <p:cNvSpPr/>
          <p:nvPr/>
        </p:nvSpPr>
        <p:spPr>
          <a:xfrm>
            <a:off x="7150608" y="2340864"/>
            <a:ext cx="3840480" cy="256032"/>
          </a:xfrm>
          <a:prstGeom prst="rect">
            <a:avLst/>
          </a:prstGeom>
          <a:noFill/>
          <a:ln/>
        </p:spPr>
        <p:txBody>
          <a:bodyPr wrap="square" lIns="0" tIns="0" rIns="0" bIns="0" rtlCol="0" anchor="ctr"/>
          <a:lstStyle/>
          <a:p>
            <a:pPr marL="0" indent="0">
              <a:buNone/>
            </a:pPr>
            <a:r>
              <a:rPr lang="en-US" sz="1500" b="1">
                <a:solidFill>
                  <a:srgbClr val="12141C"/>
                </a:solidFill>
                <a:latin typeface="Calibri" pitchFamily="34" charset="0"/>
                <a:ea typeface="Calibri" pitchFamily="34" charset="-122"/>
                <a:cs typeface="Calibri" pitchFamily="34" charset="-120"/>
              </a:rPr>
              <a:t>For the student</a:t>
            </a:r>
            <a:endParaRPr lang="en-US" sz="1500"/>
          </a:p>
        </p:txBody>
      </p:sp>
      <p:sp>
        <p:nvSpPr>
          <p:cNvPr id="14" name="Text 10"/>
          <p:cNvSpPr/>
          <p:nvPr/>
        </p:nvSpPr>
        <p:spPr>
          <a:xfrm>
            <a:off x="6510528" y="3035808"/>
            <a:ext cx="4754880" cy="2240280"/>
          </a:xfrm>
          <a:prstGeom prst="rect">
            <a:avLst/>
          </a:prstGeom>
          <a:noFill/>
          <a:ln/>
        </p:spPr>
        <p:txBody>
          <a:bodyPr wrap="square" lIns="0" tIns="0" rIns="0" bIns="0" rtlCol="0" anchor="t"/>
          <a:lstStyle/>
          <a:p>
            <a:pPr marL="177800" indent="-177800">
              <a:lnSpc>
                <a:spcPts val="1650"/>
              </a:lnSpc>
              <a:spcAft>
                <a:spcPts val="900"/>
              </a:spcAft>
              <a:buSzPct val="100000"/>
              <a:buChar char="▪"/>
            </a:pPr>
            <a:r>
              <a:rPr lang="en-US" sz="1200">
                <a:solidFill>
                  <a:srgbClr val="2B303C"/>
                </a:solidFill>
                <a:latin typeface="Calibri" pitchFamily="34" charset="0"/>
                <a:ea typeface="Calibri" pitchFamily="34" charset="-122"/>
                <a:cs typeface="Calibri" pitchFamily="34" charset="-120"/>
              </a:rPr>
              <a:t>Learning-objective codes (1.1.A, 1.2.C …) match the CED exactly — revise by code.</a:t>
            </a:r>
            <a:endParaRPr lang="en-US" sz="1200"/>
          </a:p>
          <a:p>
            <a:pPr marL="177800" indent="-177800">
              <a:lnSpc>
                <a:spcPts val="1650"/>
              </a:lnSpc>
              <a:spcAft>
                <a:spcPts val="900"/>
              </a:spcAft>
              <a:buSzPct val="100000"/>
              <a:buChar char="▪"/>
            </a:pPr>
            <a:r>
              <a:rPr lang="en-US" sz="1200">
                <a:solidFill>
                  <a:srgbClr val="2B303C"/>
                </a:solidFill>
                <a:latin typeface="Calibri" pitchFamily="34" charset="0"/>
                <a:ea typeface="Calibri" pitchFamily="34" charset="-122"/>
                <a:cs typeface="Calibri" pitchFamily="34" charset="-120"/>
              </a:rPr>
              <a:t>Definition slides give the exam-safe wording; diagram slides give the mechanism.</a:t>
            </a:r>
            <a:endParaRPr lang="en-US" sz="1200"/>
          </a:p>
          <a:p>
            <a:pPr marL="177800" indent="-177800">
              <a:lnSpc>
                <a:spcPts val="1650"/>
              </a:lnSpc>
              <a:spcAft>
                <a:spcPts val="900"/>
              </a:spcAft>
              <a:buSzPct val="100000"/>
              <a:buChar char="▪"/>
            </a:pPr>
            <a:r>
              <a:rPr lang="en-US" sz="1200">
                <a:solidFill>
                  <a:srgbClr val="2B303C"/>
                </a:solidFill>
                <a:latin typeface="Calibri" pitchFamily="34" charset="0"/>
                <a:ea typeface="Calibri" pitchFamily="34" charset="-122"/>
                <a:cs typeface="Calibri" pitchFamily="34" charset="-120"/>
              </a:rPr>
              <a:t>News slides give you the concrete example to cite in a free-response answer.</a:t>
            </a:r>
            <a:endParaRPr lang="en-US" sz="1200"/>
          </a:p>
          <a:p>
            <a:pPr marL="177800" indent="-177800">
              <a:lnSpc>
                <a:spcPts val="1650"/>
              </a:lnSpc>
              <a:spcAft>
                <a:spcPts val="900"/>
              </a:spcAft>
              <a:buSzPct val="100000"/>
              <a:buChar char="▪"/>
            </a:pPr>
            <a:r>
              <a:rPr lang="en-US" sz="1200">
                <a:solidFill>
                  <a:srgbClr val="2B303C"/>
                </a:solidFill>
                <a:latin typeface="Calibri" pitchFamily="34" charset="0"/>
                <a:ea typeface="Calibri" pitchFamily="34" charset="-122"/>
                <a:cs typeface="Calibri" pitchFamily="34" charset="-120"/>
              </a:rPr>
              <a:t>Vocabulary bank on slide 7 and review on slide 62.</a:t>
            </a:r>
            <a:endParaRPr lang="en-US" sz="1200"/>
          </a:p>
        </p:txBody>
      </p:sp>
      <p:sp>
        <p:nvSpPr>
          <p:cNvPr id="15" name="Shape 11"/>
          <p:cNvSpPr/>
          <p:nvPr/>
        </p:nvSpPr>
        <p:spPr>
          <a:xfrm>
            <a:off x="566928" y="5650992"/>
            <a:ext cx="11057839" cy="512064"/>
          </a:xfrm>
          <a:prstGeom prst="roundRect">
            <a:avLst>
              <a:gd name="adj" fmla="val 14286"/>
            </a:avLst>
          </a:prstGeom>
          <a:solidFill>
            <a:srgbClr val="12141C"/>
          </a:solidFill>
          <a:ln/>
        </p:spPr>
        <p:txBody>
          <a:bodyPr/>
          <a:lstStyle/>
          <a:p>
            <a:endParaRPr lang="en-US"/>
          </a:p>
        </p:txBody>
      </p:sp>
      <p:pic>
        <p:nvPicPr>
          <p:cNvPr id="16" name="Image 2" descr="/home/claude/icons/FaRoute_w.png"/>
          <p:cNvPicPr>
            <a:picLocks noChangeAspect="1"/>
          </p:cNvPicPr>
          <p:nvPr/>
        </p:nvPicPr>
        <p:blipFill>
          <a:blip r:embed="rId5"/>
          <a:stretch>
            <a:fillRect/>
          </a:stretch>
        </p:blipFill>
        <p:spPr>
          <a:xfrm>
            <a:off x="768096" y="5792724"/>
            <a:ext cx="228600" cy="228600"/>
          </a:xfrm>
          <a:prstGeom prst="rect">
            <a:avLst/>
          </a:prstGeom>
        </p:spPr>
      </p:pic>
      <p:sp>
        <p:nvSpPr>
          <p:cNvPr id="17" name="Text 12"/>
          <p:cNvSpPr/>
          <p:nvPr/>
        </p:nvSpPr>
        <p:spPr>
          <a:xfrm>
            <a:off x="1133856" y="5650992"/>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Teaching sequence that matches the AP skills: recognize the indicator  →  explain the mechanism  →  justify the control  →  cite the evidence.</a:t>
            </a:r>
            <a:endParaRPr lang="en-US" sz="1150"/>
          </a:p>
        </p:txBody>
      </p:sp>
      <p:sp>
        <p:nvSpPr>
          <p:cNvPr id="18" name="Text 13"/>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19" name="Text 14"/>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WHERE UNIT 1 SITS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Unit 1 is the foundation the other four units build on</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course moves outward: from the person, to the room, to the network, to the device, to the data.</a:t>
            </a:r>
            <a:endParaRPr lang="en-US" sz="1400"/>
          </a:p>
        </p:txBody>
      </p:sp>
      <p:sp>
        <p:nvSpPr>
          <p:cNvPr id="5" name="Shape 3"/>
          <p:cNvSpPr/>
          <p:nvPr/>
        </p:nvSpPr>
        <p:spPr>
          <a:xfrm>
            <a:off x="566928" y="2057400"/>
            <a:ext cx="2066544" cy="2148840"/>
          </a:xfrm>
          <a:prstGeom prst="roundRect">
            <a:avLst>
              <a:gd name="adj" fmla="val 3982"/>
            </a:avLst>
          </a:prstGeom>
          <a:solidFill>
            <a:srgbClr val="12141C"/>
          </a:solidFill>
          <a:ln/>
        </p:spPr>
        <p:txBody>
          <a:bodyPr/>
          <a:lstStyle/>
          <a:p>
            <a:endParaRPr lang="en-US"/>
          </a:p>
        </p:txBody>
      </p:sp>
      <p:sp>
        <p:nvSpPr>
          <p:cNvPr id="6" name="Text 4"/>
          <p:cNvSpPr/>
          <p:nvPr/>
        </p:nvSpPr>
        <p:spPr>
          <a:xfrm>
            <a:off x="768096" y="2212848"/>
            <a:ext cx="914400" cy="566928"/>
          </a:xfrm>
          <a:prstGeom prst="rect">
            <a:avLst/>
          </a:prstGeom>
          <a:noFill/>
          <a:ln/>
        </p:spPr>
        <p:txBody>
          <a:bodyPr wrap="square" lIns="0" tIns="0" rIns="0" bIns="0" rtlCol="0" anchor="ctr"/>
          <a:lstStyle/>
          <a:p>
            <a:pPr marL="0" indent="0">
              <a:buNone/>
            </a:pPr>
            <a:r>
              <a:rPr lang="en-US" sz="3400" b="1">
                <a:solidFill>
                  <a:srgbClr val="F2A03D"/>
                </a:solidFill>
                <a:latin typeface="Cambria" pitchFamily="34" charset="0"/>
                <a:ea typeface="Cambria" pitchFamily="34" charset="-122"/>
                <a:cs typeface="Cambria" pitchFamily="34" charset="-120"/>
              </a:rPr>
              <a:t>1</a:t>
            </a:r>
            <a:endParaRPr lang="en-US" sz="3400"/>
          </a:p>
        </p:txBody>
      </p:sp>
      <p:sp>
        <p:nvSpPr>
          <p:cNvPr id="7" name="Text 5"/>
          <p:cNvSpPr/>
          <p:nvPr/>
        </p:nvSpPr>
        <p:spPr>
          <a:xfrm>
            <a:off x="768096" y="2852928"/>
            <a:ext cx="1691640" cy="685800"/>
          </a:xfrm>
          <a:prstGeom prst="rect">
            <a:avLst/>
          </a:prstGeom>
          <a:noFill/>
          <a:ln/>
        </p:spPr>
        <p:txBody>
          <a:bodyPr wrap="square" lIns="0" tIns="0" rIns="0" bIns="0" rtlCol="0" anchor="ctr"/>
          <a:lstStyle/>
          <a:p>
            <a:pPr marL="0" indent="0">
              <a:lnSpc>
                <a:spcPts val="1600"/>
              </a:lnSpc>
              <a:buNone/>
            </a:pPr>
            <a:r>
              <a:rPr lang="en-US" sz="1250" b="1">
                <a:solidFill>
                  <a:srgbClr val="FFFFFF"/>
                </a:solidFill>
                <a:latin typeface="Calibri" pitchFamily="34" charset="0"/>
                <a:ea typeface="Calibri" pitchFamily="34" charset="-122"/>
                <a:cs typeface="Calibri" pitchFamily="34" charset="-120"/>
              </a:rPr>
              <a:t>Introduction</a:t>
            </a:r>
            <a:endParaRPr lang="en-US" sz="1250"/>
          </a:p>
          <a:p>
            <a:pPr marL="0" indent="0">
              <a:lnSpc>
                <a:spcPts val="1600"/>
              </a:lnSpc>
              <a:buNone/>
            </a:pPr>
            <a:r>
              <a:rPr lang="en-US" sz="1250" b="1">
                <a:solidFill>
                  <a:srgbClr val="FFFFFF"/>
                </a:solidFill>
                <a:latin typeface="Calibri" pitchFamily="34" charset="0"/>
                <a:ea typeface="Calibri" pitchFamily="34" charset="-122"/>
                <a:cs typeface="Calibri" pitchFamily="34" charset="-120"/>
              </a:rPr>
              <a:t>to Security</a:t>
            </a:r>
            <a:endParaRPr lang="en-US" sz="1250"/>
          </a:p>
        </p:txBody>
      </p:sp>
      <p:sp>
        <p:nvSpPr>
          <p:cNvPr id="8" name="Text 6"/>
          <p:cNvSpPr/>
          <p:nvPr/>
        </p:nvSpPr>
        <p:spPr>
          <a:xfrm>
            <a:off x="768096" y="3675888"/>
            <a:ext cx="1691640" cy="274320"/>
          </a:xfrm>
          <a:prstGeom prst="rect">
            <a:avLst/>
          </a:prstGeom>
          <a:noFill/>
          <a:ln/>
        </p:spPr>
        <p:txBody>
          <a:bodyPr wrap="square" lIns="0" tIns="0" rIns="0" bIns="0" rtlCol="0" anchor="ctr"/>
          <a:lstStyle/>
          <a:p>
            <a:pPr marL="0" indent="0">
              <a:buNone/>
            </a:pPr>
            <a:r>
              <a:rPr lang="en-US" sz="1000">
                <a:solidFill>
                  <a:srgbClr val="9AA3B2"/>
                </a:solidFill>
                <a:latin typeface="Calibri" pitchFamily="34" charset="0"/>
                <a:ea typeface="Calibri" pitchFamily="34" charset="-122"/>
                <a:cs typeface="Calibri" pitchFamily="34" charset="-120"/>
              </a:rPr>
              <a:t>~10 class periods</a:t>
            </a:r>
            <a:endParaRPr lang="en-US" sz="1000"/>
          </a:p>
        </p:txBody>
      </p:sp>
      <p:sp>
        <p:nvSpPr>
          <p:cNvPr id="9" name="Shape 7"/>
          <p:cNvSpPr/>
          <p:nvPr/>
        </p:nvSpPr>
        <p:spPr>
          <a:xfrm rot="5400000">
            <a:off x="2660904" y="3017520"/>
            <a:ext cx="128016" cy="146304"/>
          </a:xfrm>
          <a:prstGeom prst="triangle">
            <a:avLst/>
          </a:prstGeom>
          <a:solidFill>
            <a:srgbClr val="9AA3B2"/>
          </a:solidFill>
          <a:ln/>
        </p:spPr>
        <p:txBody>
          <a:bodyPr/>
          <a:lstStyle/>
          <a:p>
            <a:endParaRPr lang="en-US"/>
          </a:p>
        </p:txBody>
      </p:sp>
      <p:sp>
        <p:nvSpPr>
          <p:cNvPr id="10" name="Shape 8"/>
          <p:cNvSpPr/>
          <p:nvPr/>
        </p:nvSpPr>
        <p:spPr>
          <a:xfrm>
            <a:off x="2816352" y="2057400"/>
            <a:ext cx="2066544" cy="2148840"/>
          </a:xfrm>
          <a:prstGeom prst="roundRect">
            <a:avLst>
              <a:gd name="adj" fmla="val 3982"/>
            </a:avLst>
          </a:prstGeom>
          <a:solidFill>
            <a:srgbClr val="F2F4F8"/>
          </a:solidFill>
          <a:ln/>
        </p:spPr>
        <p:txBody>
          <a:bodyPr/>
          <a:lstStyle/>
          <a:p>
            <a:endParaRPr lang="en-US"/>
          </a:p>
        </p:txBody>
      </p:sp>
      <p:sp>
        <p:nvSpPr>
          <p:cNvPr id="11" name="Text 9"/>
          <p:cNvSpPr/>
          <p:nvPr/>
        </p:nvSpPr>
        <p:spPr>
          <a:xfrm>
            <a:off x="3017520" y="2212848"/>
            <a:ext cx="914400" cy="566928"/>
          </a:xfrm>
          <a:prstGeom prst="rect">
            <a:avLst/>
          </a:prstGeom>
          <a:noFill/>
          <a:ln/>
        </p:spPr>
        <p:txBody>
          <a:bodyPr wrap="square" lIns="0" tIns="0" rIns="0" bIns="0" rtlCol="0" anchor="ctr"/>
          <a:lstStyle/>
          <a:p>
            <a:pPr marL="0" indent="0">
              <a:buNone/>
            </a:pPr>
            <a:r>
              <a:rPr lang="en-US" sz="3400" b="1">
                <a:solidFill>
                  <a:srgbClr val="9AA3B2"/>
                </a:solidFill>
                <a:latin typeface="Cambria" pitchFamily="34" charset="0"/>
                <a:ea typeface="Cambria" pitchFamily="34" charset="-122"/>
                <a:cs typeface="Cambria" pitchFamily="34" charset="-120"/>
              </a:rPr>
              <a:t>2</a:t>
            </a:r>
            <a:endParaRPr lang="en-US" sz="3400"/>
          </a:p>
        </p:txBody>
      </p:sp>
      <p:sp>
        <p:nvSpPr>
          <p:cNvPr id="12" name="Text 10"/>
          <p:cNvSpPr/>
          <p:nvPr/>
        </p:nvSpPr>
        <p:spPr>
          <a:xfrm>
            <a:off x="3017520" y="2852928"/>
            <a:ext cx="1691640" cy="685800"/>
          </a:xfrm>
          <a:prstGeom prst="rect">
            <a:avLst/>
          </a:prstGeom>
          <a:noFill/>
          <a:ln/>
        </p:spPr>
        <p:txBody>
          <a:bodyPr wrap="square" lIns="0" tIns="0" rIns="0" bIns="0" rtlCol="0" anchor="ctr"/>
          <a:lstStyle/>
          <a:p>
            <a:pPr marL="0" indent="0">
              <a:lnSpc>
                <a:spcPts val="1600"/>
              </a:lnSpc>
              <a:buNone/>
            </a:pPr>
            <a:r>
              <a:rPr lang="en-US" sz="1250" b="1">
                <a:solidFill>
                  <a:srgbClr val="2B303C"/>
                </a:solidFill>
                <a:latin typeface="Calibri" pitchFamily="34" charset="0"/>
                <a:ea typeface="Calibri" pitchFamily="34" charset="-122"/>
                <a:cs typeface="Calibri" pitchFamily="34" charset="-120"/>
              </a:rPr>
              <a:t>Securing</a:t>
            </a:r>
            <a:endParaRPr lang="en-US" sz="1250"/>
          </a:p>
          <a:p>
            <a:pPr marL="0" indent="0">
              <a:lnSpc>
                <a:spcPts val="1600"/>
              </a:lnSpc>
              <a:buNone/>
            </a:pPr>
            <a:r>
              <a:rPr lang="en-US" sz="1250" b="1">
                <a:solidFill>
                  <a:srgbClr val="2B303C"/>
                </a:solidFill>
                <a:latin typeface="Calibri" pitchFamily="34" charset="0"/>
                <a:ea typeface="Calibri" pitchFamily="34" charset="-122"/>
                <a:cs typeface="Calibri" pitchFamily="34" charset="-120"/>
              </a:rPr>
              <a:t>Spaces</a:t>
            </a:r>
            <a:endParaRPr lang="en-US" sz="1250"/>
          </a:p>
        </p:txBody>
      </p:sp>
      <p:sp>
        <p:nvSpPr>
          <p:cNvPr id="13" name="Text 11"/>
          <p:cNvSpPr/>
          <p:nvPr/>
        </p:nvSpPr>
        <p:spPr>
          <a:xfrm>
            <a:off x="3017520" y="3675888"/>
            <a:ext cx="1691640" cy="274320"/>
          </a:xfrm>
          <a:prstGeom prst="rect">
            <a:avLst/>
          </a:prstGeom>
          <a:noFill/>
          <a:ln/>
        </p:spPr>
        <p:txBody>
          <a:bodyPr wrap="square" lIns="0" tIns="0" rIns="0" bIns="0" rtlCol="0" anchor="ctr"/>
          <a:lstStyle/>
          <a:p>
            <a:pPr marL="0" indent="0">
              <a:buNone/>
            </a:pPr>
            <a:r>
              <a:rPr lang="en-US" sz="1000">
                <a:solidFill>
                  <a:srgbClr val="6B7280"/>
                </a:solidFill>
                <a:latin typeface="Calibri" pitchFamily="34" charset="0"/>
                <a:ea typeface="Calibri" pitchFamily="34" charset="-122"/>
                <a:cs typeface="Calibri" pitchFamily="34" charset="-120"/>
              </a:rPr>
              <a:t>~21 class periods</a:t>
            </a:r>
            <a:endParaRPr lang="en-US" sz="1000"/>
          </a:p>
        </p:txBody>
      </p:sp>
      <p:sp>
        <p:nvSpPr>
          <p:cNvPr id="14" name="Shape 12"/>
          <p:cNvSpPr/>
          <p:nvPr/>
        </p:nvSpPr>
        <p:spPr>
          <a:xfrm rot="5400000">
            <a:off x="4910328" y="3017520"/>
            <a:ext cx="128016" cy="146304"/>
          </a:xfrm>
          <a:prstGeom prst="triangle">
            <a:avLst/>
          </a:prstGeom>
          <a:solidFill>
            <a:srgbClr val="9AA3B2"/>
          </a:solidFill>
          <a:ln/>
        </p:spPr>
        <p:txBody>
          <a:bodyPr/>
          <a:lstStyle/>
          <a:p>
            <a:endParaRPr lang="en-US"/>
          </a:p>
        </p:txBody>
      </p:sp>
      <p:sp>
        <p:nvSpPr>
          <p:cNvPr id="15" name="Shape 13"/>
          <p:cNvSpPr/>
          <p:nvPr/>
        </p:nvSpPr>
        <p:spPr>
          <a:xfrm>
            <a:off x="5065776" y="2057400"/>
            <a:ext cx="2066544" cy="2148840"/>
          </a:xfrm>
          <a:prstGeom prst="roundRect">
            <a:avLst>
              <a:gd name="adj" fmla="val 3982"/>
            </a:avLst>
          </a:prstGeom>
          <a:solidFill>
            <a:srgbClr val="F2F4F8"/>
          </a:solidFill>
          <a:ln/>
        </p:spPr>
        <p:txBody>
          <a:bodyPr/>
          <a:lstStyle/>
          <a:p>
            <a:endParaRPr lang="en-US"/>
          </a:p>
        </p:txBody>
      </p:sp>
      <p:sp>
        <p:nvSpPr>
          <p:cNvPr id="16" name="Text 14"/>
          <p:cNvSpPr/>
          <p:nvPr/>
        </p:nvSpPr>
        <p:spPr>
          <a:xfrm>
            <a:off x="5266944" y="2212848"/>
            <a:ext cx="914400" cy="566928"/>
          </a:xfrm>
          <a:prstGeom prst="rect">
            <a:avLst/>
          </a:prstGeom>
          <a:noFill/>
          <a:ln/>
        </p:spPr>
        <p:txBody>
          <a:bodyPr wrap="square" lIns="0" tIns="0" rIns="0" bIns="0" rtlCol="0" anchor="ctr"/>
          <a:lstStyle/>
          <a:p>
            <a:pPr marL="0" indent="0">
              <a:buNone/>
            </a:pPr>
            <a:r>
              <a:rPr lang="en-US" sz="3400" b="1">
                <a:solidFill>
                  <a:srgbClr val="9AA3B2"/>
                </a:solidFill>
                <a:latin typeface="Cambria" pitchFamily="34" charset="0"/>
                <a:ea typeface="Cambria" pitchFamily="34" charset="-122"/>
                <a:cs typeface="Cambria" pitchFamily="34" charset="-120"/>
              </a:rPr>
              <a:t>3</a:t>
            </a:r>
            <a:endParaRPr lang="en-US" sz="3400"/>
          </a:p>
        </p:txBody>
      </p:sp>
      <p:sp>
        <p:nvSpPr>
          <p:cNvPr id="17" name="Text 15"/>
          <p:cNvSpPr/>
          <p:nvPr/>
        </p:nvSpPr>
        <p:spPr>
          <a:xfrm>
            <a:off x="5266944" y="2852928"/>
            <a:ext cx="1691640" cy="685800"/>
          </a:xfrm>
          <a:prstGeom prst="rect">
            <a:avLst/>
          </a:prstGeom>
          <a:noFill/>
          <a:ln/>
        </p:spPr>
        <p:txBody>
          <a:bodyPr wrap="square" lIns="0" tIns="0" rIns="0" bIns="0" rtlCol="0" anchor="ctr"/>
          <a:lstStyle/>
          <a:p>
            <a:pPr marL="0" indent="0">
              <a:lnSpc>
                <a:spcPts val="1600"/>
              </a:lnSpc>
              <a:buNone/>
            </a:pPr>
            <a:r>
              <a:rPr lang="en-US" sz="1250" b="1">
                <a:solidFill>
                  <a:srgbClr val="2B303C"/>
                </a:solidFill>
                <a:latin typeface="Calibri" pitchFamily="34" charset="0"/>
                <a:ea typeface="Calibri" pitchFamily="34" charset="-122"/>
                <a:cs typeface="Calibri" pitchFamily="34" charset="-120"/>
              </a:rPr>
              <a:t>Securing</a:t>
            </a:r>
            <a:endParaRPr lang="en-US" sz="1250"/>
          </a:p>
          <a:p>
            <a:pPr marL="0" indent="0">
              <a:lnSpc>
                <a:spcPts val="1600"/>
              </a:lnSpc>
              <a:buNone/>
            </a:pPr>
            <a:r>
              <a:rPr lang="en-US" sz="1250" b="1">
                <a:solidFill>
                  <a:srgbClr val="2B303C"/>
                </a:solidFill>
                <a:latin typeface="Calibri" pitchFamily="34" charset="0"/>
                <a:ea typeface="Calibri" pitchFamily="34" charset="-122"/>
                <a:cs typeface="Calibri" pitchFamily="34" charset="-120"/>
              </a:rPr>
              <a:t>Networks</a:t>
            </a:r>
            <a:endParaRPr lang="en-US" sz="1250"/>
          </a:p>
        </p:txBody>
      </p:sp>
      <p:sp>
        <p:nvSpPr>
          <p:cNvPr id="18" name="Text 16"/>
          <p:cNvSpPr/>
          <p:nvPr/>
        </p:nvSpPr>
        <p:spPr>
          <a:xfrm>
            <a:off x="5266944" y="3675888"/>
            <a:ext cx="1691640" cy="274320"/>
          </a:xfrm>
          <a:prstGeom prst="rect">
            <a:avLst/>
          </a:prstGeom>
          <a:noFill/>
          <a:ln/>
        </p:spPr>
        <p:txBody>
          <a:bodyPr wrap="square" lIns="0" tIns="0" rIns="0" bIns="0" rtlCol="0" anchor="ctr"/>
          <a:lstStyle/>
          <a:p>
            <a:pPr marL="0" indent="0">
              <a:buNone/>
            </a:pPr>
            <a:r>
              <a:rPr lang="en-US" sz="1000">
                <a:solidFill>
                  <a:srgbClr val="6B7280"/>
                </a:solidFill>
                <a:latin typeface="Calibri" pitchFamily="34" charset="0"/>
                <a:ea typeface="Calibri" pitchFamily="34" charset="-122"/>
                <a:cs typeface="Calibri" pitchFamily="34" charset="-120"/>
              </a:rPr>
              <a:t>~26 class periods</a:t>
            </a:r>
            <a:endParaRPr lang="en-US" sz="1000"/>
          </a:p>
        </p:txBody>
      </p:sp>
      <p:sp>
        <p:nvSpPr>
          <p:cNvPr id="19" name="Shape 17"/>
          <p:cNvSpPr/>
          <p:nvPr/>
        </p:nvSpPr>
        <p:spPr>
          <a:xfrm rot="5400000">
            <a:off x="7159752" y="3017520"/>
            <a:ext cx="128016" cy="146304"/>
          </a:xfrm>
          <a:prstGeom prst="triangle">
            <a:avLst/>
          </a:prstGeom>
          <a:solidFill>
            <a:srgbClr val="9AA3B2"/>
          </a:solidFill>
          <a:ln/>
        </p:spPr>
        <p:txBody>
          <a:bodyPr/>
          <a:lstStyle/>
          <a:p>
            <a:endParaRPr lang="en-US"/>
          </a:p>
        </p:txBody>
      </p:sp>
      <p:sp>
        <p:nvSpPr>
          <p:cNvPr id="20" name="Shape 18"/>
          <p:cNvSpPr/>
          <p:nvPr/>
        </p:nvSpPr>
        <p:spPr>
          <a:xfrm>
            <a:off x="7315200" y="2057400"/>
            <a:ext cx="2066544" cy="2148840"/>
          </a:xfrm>
          <a:prstGeom prst="roundRect">
            <a:avLst>
              <a:gd name="adj" fmla="val 3982"/>
            </a:avLst>
          </a:prstGeom>
          <a:solidFill>
            <a:srgbClr val="F2F4F8"/>
          </a:solidFill>
          <a:ln/>
        </p:spPr>
        <p:txBody>
          <a:bodyPr/>
          <a:lstStyle/>
          <a:p>
            <a:endParaRPr lang="en-US"/>
          </a:p>
        </p:txBody>
      </p:sp>
      <p:sp>
        <p:nvSpPr>
          <p:cNvPr id="21" name="Text 19"/>
          <p:cNvSpPr/>
          <p:nvPr/>
        </p:nvSpPr>
        <p:spPr>
          <a:xfrm>
            <a:off x="7516368" y="2212848"/>
            <a:ext cx="914400" cy="566928"/>
          </a:xfrm>
          <a:prstGeom prst="rect">
            <a:avLst/>
          </a:prstGeom>
          <a:noFill/>
          <a:ln/>
        </p:spPr>
        <p:txBody>
          <a:bodyPr wrap="square" lIns="0" tIns="0" rIns="0" bIns="0" rtlCol="0" anchor="ctr"/>
          <a:lstStyle/>
          <a:p>
            <a:pPr marL="0" indent="0">
              <a:buNone/>
            </a:pPr>
            <a:r>
              <a:rPr lang="en-US" sz="3400" b="1">
                <a:solidFill>
                  <a:srgbClr val="9AA3B2"/>
                </a:solidFill>
                <a:latin typeface="Cambria" pitchFamily="34" charset="0"/>
                <a:ea typeface="Cambria" pitchFamily="34" charset="-122"/>
                <a:cs typeface="Cambria" pitchFamily="34" charset="-120"/>
              </a:rPr>
              <a:t>4</a:t>
            </a:r>
            <a:endParaRPr lang="en-US" sz="3400"/>
          </a:p>
        </p:txBody>
      </p:sp>
      <p:sp>
        <p:nvSpPr>
          <p:cNvPr id="22" name="Text 20"/>
          <p:cNvSpPr/>
          <p:nvPr/>
        </p:nvSpPr>
        <p:spPr>
          <a:xfrm>
            <a:off x="7516368" y="2852928"/>
            <a:ext cx="1691640" cy="685800"/>
          </a:xfrm>
          <a:prstGeom prst="rect">
            <a:avLst/>
          </a:prstGeom>
          <a:noFill/>
          <a:ln/>
        </p:spPr>
        <p:txBody>
          <a:bodyPr wrap="square" lIns="0" tIns="0" rIns="0" bIns="0" rtlCol="0" anchor="ctr"/>
          <a:lstStyle/>
          <a:p>
            <a:pPr marL="0" indent="0">
              <a:lnSpc>
                <a:spcPts val="1600"/>
              </a:lnSpc>
              <a:buNone/>
            </a:pPr>
            <a:r>
              <a:rPr lang="en-US" sz="1250" b="1">
                <a:solidFill>
                  <a:srgbClr val="2B303C"/>
                </a:solidFill>
                <a:latin typeface="Calibri" pitchFamily="34" charset="0"/>
                <a:ea typeface="Calibri" pitchFamily="34" charset="-122"/>
                <a:cs typeface="Calibri" pitchFamily="34" charset="-120"/>
              </a:rPr>
              <a:t>Securing</a:t>
            </a:r>
            <a:endParaRPr lang="en-US" sz="1250"/>
          </a:p>
          <a:p>
            <a:pPr marL="0" indent="0">
              <a:lnSpc>
                <a:spcPts val="1600"/>
              </a:lnSpc>
              <a:buNone/>
            </a:pPr>
            <a:r>
              <a:rPr lang="en-US" sz="1250" b="1">
                <a:solidFill>
                  <a:srgbClr val="2B303C"/>
                </a:solidFill>
                <a:latin typeface="Calibri" pitchFamily="34" charset="0"/>
                <a:ea typeface="Calibri" pitchFamily="34" charset="-122"/>
                <a:cs typeface="Calibri" pitchFamily="34" charset="-120"/>
              </a:rPr>
              <a:t>Devices</a:t>
            </a:r>
            <a:endParaRPr lang="en-US" sz="1250"/>
          </a:p>
        </p:txBody>
      </p:sp>
      <p:sp>
        <p:nvSpPr>
          <p:cNvPr id="23" name="Text 21"/>
          <p:cNvSpPr/>
          <p:nvPr/>
        </p:nvSpPr>
        <p:spPr>
          <a:xfrm>
            <a:off x="7516368" y="3675888"/>
            <a:ext cx="1691640" cy="274320"/>
          </a:xfrm>
          <a:prstGeom prst="rect">
            <a:avLst/>
          </a:prstGeom>
          <a:noFill/>
          <a:ln/>
        </p:spPr>
        <p:txBody>
          <a:bodyPr wrap="square" lIns="0" tIns="0" rIns="0" bIns="0" rtlCol="0" anchor="ctr"/>
          <a:lstStyle/>
          <a:p>
            <a:pPr marL="0" indent="0">
              <a:buNone/>
            </a:pPr>
            <a:r>
              <a:rPr lang="en-US" sz="1000">
                <a:solidFill>
                  <a:srgbClr val="6B7280"/>
                </a:solidFill>
                <a:latin typeface="Calibri" pitchFamily="34" charset="0"/>
                <a:ea typeface="Calibri" pitchFamily="34" charset="-122"/>
                <a:cs typeface="Calibri" pitchFamily="34" charset="-120"/>
              </a:rPr>
              <a:t>~23 class periods</a:t>
            </a:r>
            <a:endParaRPr lang="en-US" sz="1000"/>
          </a:p>
        </p:txBody>
      </p:sp>
      <p:sp>
        <p:nvSpPr>
          <p:cNvPr id="24" name="Shape 22"/>
          <p:cNvSpPr/>
          <p:nvPr/>
        </p:nvSpPr>
        <p:spPr>
          <a:xfrm rot="5400000">
            <a:off x="9409176" y="3017520"/>
            <a:ext cx="128016" cy="146304"/>
          </a:xfrm>
          <a:prstGeom prst="triangle">
            <a:avLst/>
          </a:prstGeom>
          <a:solidFill>
            <a:srgbClr val="9AA3B2"/>
          </a:solidFill>
          <a:ln/>
        </p:spPr>
        <p:txBody>
          <a:bodyPr/>
          <a:lstStyle/>
          <a:p>
            <a:endParaRPr lang="en-US"/>
          </a:p>
        </p:txBody>
      </p:sp>
      <p:sp>
        <p:nvSpPr>
          <p:cNvPr id="25" name="Shape 23"/>
          <p:cNvSpPr/>
          <p:nvPr/>
        </p:nvSpPr>
        <p:spPr>
          <a:xfrm>
            <a:off x="9564624" y="2057400"/>
            <a:ext cx="2066544" cy="2148840"/>
          </a:xfrm>
          <a:prstGeom prst="roundRect">
            <a:avLst>
              <a:gd name="adj" fmla="val 3982"/>
            </a:avLst>
          </a:prstGeom>
          <a:solidFill>
            <a:srgbClr val="F2F4F8"/>
          </a:solidFill>
          <a:ln/>
        </p:spPr>
        <p:txBody>
          <a:bodyPr/>
          <a:lstStyle/>
          <a:p>
            <a:endParaRPr lang="en-US"/>
          </a:p>
        </p:txBody>
      </p:sp>
      <p:sp>
        <p:nvSpPr>
          <p:cNvPr id="26" name="Text 24"/>
          <p:cNvSpPr/>
          <p:nvPr/>
        </p:nvSpPr>
        <p:spPr>
          <a:xfrm>
            <a:off x="9765792" y="2212848"/>
            <a:ext cx="914400" cy="566928"/>
          </a:xfrm>
          <a:prstGeom prst="rect">
            <a:avLst/>
          </a:prstGeom>
          <a:noFill/>
          <a:ln/>
        </p:spPr>
        <p:txBody>
          <a:bodyPr wrap="square" lIns="0" tIns="0" rIns="0" bIns="0" rtlCol="0" anchor="ctr"/>
          <a:lstStyle/>
          <a:p>
            <a:pPr marL="0" indent="0">
              <a:buNone/>
            </a:pPr>
            <a:r>
              <a:rPr lang="en-US" sz="3400" b="1">
                <a:solidFill>
                  <a:srgbClr val="9AA3B2"/>
                </a:solidFill>
                <a:latin typeface="Cambria" pitchFamily="34" charset="0"/>
                <a:ea typeface="Cambria" pitchFamily="34" charset="-122"/>
                <a:cs typeface="Cambria" pitchFamily="34" charset="-120"/>
              </a:rPr>
              <a:t>5</a:t>
            </a:r>
            <a:endParaRPr lang="en-US" sz="3400"/>
          </a:p>
        </p:txBody>
      </p:sp>
      <p:sp>
        <p:nvSpPr>
          <p:cNvPr id="27" name="Text 25"/>
          <p:cNvSpPr/>
          <p:nvPr/>
        </p:nvSpPr>
        <p:spPr>
          <a:xfrm>
            <a:off x="9765792" y="2852928"/>
            <a:ext cx="1691640" cy="685800"/>
          </a:xfrm>
          <a:prstGeom prst="rect">
            <a:avLst/>
          </a:prstGeom>
          <a:noFill/>
          <a:ln/>
        </p:spPr>
        <p:txBody>
          <a:bodyPr wrap="square" lIns="0" tIns="0" rIns="0" bIns="0" rtlCol="0" anchor="ctr"/>
          <a:lstStyle/>
          <a:p>
            <a:pPr marL="0" indent="0">
              <a:lnSpc>
                <a:spcPts val="1600"/>
              </a:lnSpc>
              <a:buNone/>
            </a:pPr>
            <a:r>
              <a:rPr lang="en-US" sz="1250" b="1">
                <a:solidFill>
                  <a:srgbClr val="2B303C"/>
                </a:solidFill>
                <a:latin typeface="Calibri" pitchFamily="34" charset="0"/>
                <a:ea typeface="Calibri" pitchFamily="34" charset="-122"/>
                <a:cs typeface="Calibri" pitchFamily="34" charset="-120"/>
              </a:rPr>
              <a:t>Securing Applications</a:t>
            </a:r>
            <a:endParaRPr lang="en-US" sz="1250"/>
          </a:p>
          <a:p>
            <a:pPr marL="0" indent="0">
              <a:lnSpc>
                <a:spcPts val="1600"/>
              </a:lnSpc>
              <a:buNone/>
            </a:pPr>
            <a:r>
              <a:rPr lang="en-US" sz="1250" b="1">
                <a:solidFill>
                  <a:srgbClr val="2B303C"/>
                </a:solidFill>
                <a:latin typeface="Calibri" pitchFamily="34" charset="0"/>
                <a:ea typeface="Calibri" pitchFamily="34" charset="-122"/>
                <a:cs typeface="Calibri" pitchFamily="34" charset="-120"/>
              </a:rPr>
              <a:t>and Data</a:t>
            </a:r>
            <a:endParaRPr lang="en-US" sz="1250"/>
          </a:p>
        </p:txBody>
      </p:sp>
      <p:sp>
        <p:nvSpPr>
          <p:cNvPr id="28" name="Text 26"/>
          <p:cNvSpPr/>
          <p:nvPr/>
        </p:nvSpPr>
        <p:spPr>
          <a:xfrm>
            <a:off x="9765792" y="3675888"/>
            <a:ext cx="1691640" cy="274320"/>
          </a:xfrm>
          <a:prstGeom prst="rect">
            <a:avLst/>
          </a:prstGeom>
          <a:noFill/>
          <a:ln/>
        </p:spPr>
        <p:txBody>
          <a:bodyPr wrap="square" lIns="0" tIns="0" rIns="0" bIns="0" rtlCol="0" anchor="ctr"/>
          <a:lstStyle/>
          <a:p>
            <a:pPr marL="0" indent="0">
              <a:buNone/>
            </a:pPr>
            <a:r>
              <a:rPr lang="en-US" sz="1000">
                <a:solidFill>
                  <a:srgbClr val="6B7280"/>
                </a:solidFill>
                <a:latin typeface="Calibri" pitchFamily="34" charset="0"/>
                <a:ea typeface="Calibri" pitchFamily="34" charset="-122"/>
                <a:cs typeface="Calibri" pitchFamily="34" charset="-120"/>
              </a:rPr>
              <a:t>~30 class periods</a:t>
            </a:r>
            <a:endParaRPr lang="en-US" sz="1000"/>
          </a:p>
        </p:txBody>
      </p:sp>
      <p:sp>
        <p:nvSpPr>
          <p:cNvPr id="29" name="Shape 27"/>
          <p:cNvSpPr/>
          <p:nvPr/>
        </p:nvSpPr>
        <p:spPr>
          <a:xfrm>
            <a:off x="566928" y="4434840"/>
            <a:ext cx="11057839" cy="1051560"/>
          </a:xfrm>
          <a:prstGeom prst="roundRect">
            <a:avLst>
              <a:gd name="adj" fmla="val 7826"/>
            </a:avLst>
          </a:prstGeom>
          <a:solidFill>
            <a:srgbClr val="EAF0FA"/>
          </a:solidFill>
          <a:ln/>
        </p:spPr>
        <p:txBody>
          <a:bodyPr/>
          <a:lstStyle/>
          <a:p>
            <a:endParaRPr lang="en-US"/>
          </a:p>
        </p:txBody>
      </p:sp>
      <p:sp>
        <p:nvSpPr>
          <p:cNvPr id="30" name="Shape 28"/>
          <p:cNvSpPr/>
          <p:nvPr/>
        </p:nvSpPr>
        <p:spPr>
          <a:xfrm>
            <a:off x="841248" y="4718304"/>
            <a:ext cx="475488" cy="475488"/>
          </a:xfrm>
          <a:prstGeom prst="ellipse">
            <a:avLst/>
          </a:prstGeom>
          <a:solidFill>
            <a:srgbClr val="12141C"/>
          </a:solidFill>
          <a:ln/>
        </p:spPr>
        <p:txBody>
          <a:bodyPr/>
          <a:lstStyle/>
          <a:p>
            <a:endParaRPr lang="en-US"/>
          </a:p>
        </p:txBody>
      </p:sp>
      <p:pic>
        <p:nvPicPr>
          <p:cNvPr id="31" name="Image 0" descr="/home/claude/icons/FaSitemap_w.png"/>
          <p:cNvPicPr>
            <a:picLocks noChangeAspect="1"/>
          </p:cNvPicPr>
          <p:nvPr/>
        </p:nvPicPr>
        <p:blipFill>
          <a:blip r:embed="rId3"/>
          <a:stretch>
            <a:fillRect/>
          </a:stretch>
        </p:blipFill>
        <p:spPr>
          <a:xfrm>
            <a:off x="964875" y="4841931"/>
            <a:ext cx="228234" cy="228234"/>
          </a:xfrm>
          <a:prstGeom prst="rect">
            <a:avLst/>
          </a:prstGeom>
        </p:spPr>
      </p:pic>
      <p:sp>
        <p:nvSpPr>
          <p:cNvPr id="32" name="Text 29"/>
          <p:cNvSpPr/>
          <p:nvPr/>
        </p:nvSpPr>
        <p:spPr>
          <a:xfrm>
            <a:off x="1527048" y="4590288"/>
            <a:ext cx="10058400" cy="777240"/>
          </a:xfrm>
          <a:prstGeom prst="rect">
            <a:avLst/>
          </a:prstGeom>
          <a:noFill/>
          <a:ln/>
        </p:spPr>
        <p:txBody>
          <a:bodyPr wrap="square" lIns="0" tIns="0" rIns="0" bIns="0" rtlCol="0" anchor="t"/>
          <a:lstStyle/>
          <a:p>
            <a:pPr marL="0" indent="0">
              <a:lnSpc>
                <a:spcPts val="1550"/>
              </a:lnSpc>
              <a:buNone/>
            </a:pPr>
            <a:r>
              <a:rPr lang="en-US" sz="1150">
                <a:solidFill>
                  <a:srgbClr val="2B303C"/>
                </a:solidFill>
                <a:latin typeface="Calibri" pitchFamily="34" charset="0"/>
                <a:ea typeface="Calibri" pitchFamily="34" charset="-122"/>
                <a:cs typeface="Calibri" pitchFamily="34" charset="-120"/>
              </a:rPr>
              <a:t>Unit 1 introduces the three vocabularies every later unit reuses: vulnerability, threat and risk (Skill 1); security control (Skill 2); and indicator of compromise (Skill 3). Unit 2 applies them to a physical room; Units 3-5 apply them to networks, devices, and data. A student who cannot explain "how does this vulnerability generate risk?" in Unit 1 will struggle throughout.</a:t>
            </a:r>
            <a:endParaRPr lang="en-US" sz="1150"/>
          </a:p>
        </p:txBody>
      </p:sp>
      <p:sp>
        <p:nvSpPr>
          <p:cNvPr id="33" name="Text 30"/>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4" name="Text 31"/>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COURSE SKILLS AND ASSESSMENT</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Four skill categories — and how the exam weights them</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Unit 1 topics are tagged to Skills 1, 2 and 3. Skill 4 is assessed through classwork, not the exam.</a:t>
            </a:r>
            <a:endParaRPr lang="en-US" sz="1400"/>
          </a:p>
        </p:txBody>
      </p:sp>
      <p:sp>
        <p:nvSpPr>
          <p:cNvPr id="5" name="Shape 3"/>
          <p:cNvSpPr/>
          <p:nvPr/>
        </p:nvSpPr>
        <p:spPr>
          <a:xfrm>
            <a:off x="566928" y="2011680"/>
            <a:ext cx="6903720" cy="841248"/>
          </a:xfrm>
          <a:prstGeom prst="roundRect">
            <a:avLst>
              <a:gd name="adj" fmla="val 9783"/>
            </a:avLst>
          </a:prstGeom>
          <a:solidFill>
            <a:srgbClr val="F2F4F8"/>
          </a:solidFill>
          <a:ln/>
        </p:spPr>
        <p:txBody>
          <a:bodyPr/>
          <a:lstStyle/>
          <a:p>
            <a:endParaRPr lang="en-US"/>
          </a:p>
        </p:txBody>
      </p:sp>
      <p:sp>
        <p:nvSpPr>
          <p:cNvPr id="6" name="Shape 4"/>
          <p:cNvSpPr/>
          <p:nvPr/>
        </p:nvSpPr>
        <p:spPr>
          <a:xfrm>
            <a:off x="786384" y="2194560"/>
            <a:ext cx="475488" cy="475488"/>
          </a:xfrm>
          <a:prstGeom prst="ellipse">
            <a:avLst/>
          </a:prstGeom>
          <a:solidFill>
            <a:srgbClr val="F2A03D"/>
          </a:solidFill>
          <a:ln/>
        </p:spPr>
        <p:txBody>
          <a:bodyPr/>
          <a:lstStyle/>
          <a:p>
            <a:endParaRPr lang="en-US"/>
          </a:p>
        </p:txBody>
      </p:sp>
      <p:sp>
        <p:nvSpPr>
          <p:cNvPr id="8" name="Text 5"/>
          <p:cNvSpPr/>
          <p:nvPr/>
        </p:nvSpPr>
        <p:spPr>
          <a:xfrm>
            <a:off x="1435608" y="2139696"/>
            <a:ext cx="47548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Skill 1 · Analyze Risk</a:t>
            </a:r>
            <a:endParaRPr lang="en-US" sz="1250"/>
          </a:p>
        </p:txBody>
      </p:sp>
      <p:sp>
        <p:nvSpPr>
          <p:cNvPr id="9" name="Text 6"/>
          <p:cNvSpPr/>
          <p:nvPr/>
        </p:nvSpPr>
        <p:spPr>
          <a:xfrm>
            <a:off x="1435608" y="2423160"/>
            <a:ext cx="5760720" cy="320040"/>
          </a:xfrm>
          <a:prstGeom prst="rect">
            <a:avLst/>
          </a:prstGeom>
          <a:noFill/>
          <a:ln/>
        </p:spPr>
        <p:txBody>
          <a:bodyPr wrap="square" lIns="0" tIns="0" rIns="0" bIns="0" rtlCol="0" anchor="t"/>
          <a:lstStyle/>
          <a:p>
            <a:pPr marL="0" indent="0">
              <a:lnSpc>
                <a:spcPts val="1400"/>
              </a:lnSpc>
              <a:buNone/>
            </a:pPr>
            <a:r>
              <a:rPr lang="en-US" sz="1100">
                <a:solidFill>
                  <a:srgbClr val="6B7280"/>
                </a:solidFill>
                <a:latin typeface="Calibri" pitchFamily="34" charset="0"/>
                <a:ea typeface="Calibri" pitchFamily="34" charset="-122"/>
                <a:cs typeface="Calibri" pitchFamily="34" charset="-120"/>
              </a:rPr>
              <a:t>Evaluate risk to organizational assets.</a:t>
            </a:r>
            <a:endParaRPr lang="en-US" sz="1100"/>
          </a:p>
        </p:txBody>
      </p:sp>
      <p:sp>
        <p:nvSpPr>
          <p:cNvPr id="10" name="Shape 7"/>
          <p:cNvSpPr/>
          <p:nvPr/>
        </p:nvSpPr>
        <p:spPr>
          <a:xfrm>
            <a:off x="566928" y="2971800"/>
            <a:ext cx="6903720" cy="841248"/>
          </a:xfrm>
          <a:prstGeom prst="roundRect">
            <a:avLst>
              <a:gd name="adj" fmla="val 9783"/>
            </a:avLst>
          </a:prstGeom>
          <a:solidFill>
            <a:srgbClr val="F2F4F8"/>
          </a:solidFill>
          <a:ln/>
        </p:spPr>
        <p:txBody>
          <a:bodyPr/>
          <a:lstStyle/>
          <a:p>
            <a:endParaRPr lang="en-US"/>
          </a:p>
        </p:txBody>
      </p:sp>
      <p:sp>
        <p:nvSpPr>
          <p:cNvPr id="11" name="Shape 8"/>
          <p:cNvSpPr/>
          <p:nvPr/>
        </p:nvSpPr>
        <p:spPr>
          <a:xfrm>
            <a:off x="786384" y="3154680"/>
            <a:ext cx="475488" cy="475488"/>
          </a:xfrm>
          <a:prstGeom prst="ellipse">
            <a:avLst/>
          </a:prstGeom>
          <a:solidFill>
            <a:srgbClr val="1FA697"/>
          </a:solidFill>
          <a:ln/>
        </p:spPr>
        <p:txBody>
          <a:bodyPr/>
          <a:lstStyle/>
          <a:p>
            <a:endParaRPr lang="en-US"/>
          </a:p>
        </p:txBody>
      </p:sp>
      <p:pic>
        <p:nvPicPr>
          <p:cNvPr id="12" name="Image 1" descr="/home/claude/icons/FaShieldHalved_w.png"/>
          <p:cNvPicPr>
            <a:picLocks noChangeAspect="1"/>
          </p:cNvPicPr>
          <p:nvPr/>
        </p:nvPicPr>
        <p:blipFill>
          <a:blip r:embed="rId3"/>
          <a:stretch>
            <a:fillRect/>
          </a:stretch>
        </p:blipFill>
        <p:spPr>
          <a:xfrm>
            <a:off x="910011" y="3278307"/>
            <a:ext cx="228234" cy="228234"/>
          </a:xfrm>
          <a:prstGeom prst="rect">
            <a:avLst/>
          </a:prstGeom>
        </p:spPr>
      </p:pic>
      <p:sp>
        <p:nvSpPr>
          <p:cNvPr id="13" name="Text 9"/>
          <p:cNvSpPr/>
          <p:nvPr/>
        </p:nvSpPr>
        <p:spPr>
          <a:xfrm>
            <a:off x="1435608" y="3099816"/>
            <a:ext cx="47548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Skill 2 · Mitigate Risk</a:t>
            </a:r>
            <a:endParaRPr lang="en-US" sz="1250"/>
          </a:p>
        </p:txBody>
      </p:sp>
      <p:sp>
        <p:nvSpPr>
          <p:cNvPr id="14" name="Text 10"/>
          <p:cNvSpPr/>
          <p:nvPr/>
        </p:nvSpPr>
        <p:spPr>
          <a:xfrm>
            <a:off x="1435608" y="3383280"/>
            <a:ext cx="5760720" cy="320040"/>
          </a:xfrm>
          <a:prstGeom prst="rect">
            <a:avLst/>
          </a:prstGeom>
          <a:noFill/>
          <a:ln/>
        </p:spPr>
        <p:txBody>
          <a:bodyPr wrap="square" lIns="0" tIns="0" rIns="0" bIns="0" rtlCol="0" anchor="t"/>
          <a:lstStyle/>
          <a:p>
            <a:pPr marL="0" indent="0">
              <a:lnSpc>
                <a:spcPts val="1400"/>
              </a:lnSpc>
              <a:buNone/>
            </a:pPr>
            <a:r>
              <a:rPr lang="en-US" sz="1100">
                <a:solidFill>
                  <a:srgbClr val="6B7280"/>
                </a:solidFill>
                <a:latin typeface="Calibri" pitchFamily="34" charset="0"/>
                <a:ea typeface="Calibri" pitchFamily="34" charset="-122"/>
                <a:cs typeface="Calibri" pitchFamily="34" charset="-120"/>
              </a:rPr>
              <a:t>Implement protective and deterrent security controls.</a:t>
            </a:r>
            <a:endParaRPr lang="en-US" sz="1100"/>
          </a:p>
        </p:txBody>
      </p:sp>
      <p:sp>
        <p:nvSpPr>
          <p:cNvPr id="15" name="Shape 11"/>
          <p:cNvSpPr/>
          <p:nvPr/>
        </p:nvSpPr>
        <p:spPr>
          <a:xfrm>
            <a:off x="566928" y="3931920"/>
            <a:ext cx="6903720" cy="841248"/>
          </a:xfrm>
          <a:prstGeom prst="roundRect">
            <a:avLst>
              <a:gd name="adj" fmla="val 9783"/>
            </a:avLst>
          </a:prstGeom>
          <a:solidFill>
            <a:srgbClr val="F2F4F8"/>
          </a:solidFill>
          <a:ln/>
        </p:spPr>
        <p:txBody>
          <a:bodyPr/>
          <a:lstStyle/>
          <a:p>
            <a:endParaRPr lang="en-US"/>
          </a:p>
        </p:txBody>
      </p:sp>
      <p:sp>
        <p:nvSpPr>
          <p:cNvPr id="16" name="Shape 12"/>
          <p:cNvSpPr/>
          <p:nvPr/>
        </p:nvSpPr>
        <p:spPr>
          <a:xfrm>
            <a:off x="786384" y="4114800"/>
            <a:ext cx="475488" cy="475488"/>
          </a:xfrm>
          <a:prstGeom prst="ellipse">
            <a:avLst/>
          </a:prstGeom>
          <a:solidFill>
            <a:srgbClr val="D9483F"/>
          </a:solidFill>
          <a:ln/>
        </p:spPr>
        <p:txBody>
          <a:bodyPr/>
          <a:lstStyle/>
          <a:p>
            <a:endParaRPr lang="en-US"/>
          </a:p>
        </p:txBody>
      </p:sp>
      <p:pic>
        <p:nvPicPr>
          <p:cNvPr id="17" name="Image 2" descr="/home/claude/icons/FaMagnifyingGlassChart_w.png"/>
          <p:cNvPicPr>
            <a:picLocks noChangeAspect="1"/>
          </p:cNvPicPr>
          <p:nvPr/>
        </p:nvPicPr>
        <p:blipFill>
          <a:blip r:embed="rId4"/>
          <a:stretch>
            <a:fillRect/>
          </a:stretch>
        </p:blipFill>
        <p:spPr>
          <a:xfrm>
            <a:off x="910011" y="4238427"/>
            <a:ext cx="228234" cy="228234"/>
          </a:xfrm>
          <a:prstGeom prst="rect">
            <a:avLst/>
          </a:prstGeom>
        </p:spPr>
      </p:pic>
      <p:sp>
        <p:nvSpPr>
          <p:cNvPr id="18" name="Text 13"/>
          <p:cNvSpPr/>
          <p:nvPr/>
        </p:nvSpPr>
        <p:spPr>
          <a:xfrm>
            <a:off x="1435608" y="4059936"/>
            <a:ext cx="47548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Skill 3 · Detect Attacks</a:t>
            </a:r>
            <a:endParaRPr lang="en-US" sz="1250"/>
          </a:p>
        </p:txBody>
      </p:sp>
      <p:sp>
        <p:nvSpPr>
          <p:cNvPr id="19" name="Text 14"/>
          <p:cNvSpPr/>
          <p:nvPr/>
        </p:nvSpPr>
        <p:spPr>
          <a:xfrm>
            <a:off x="1435608" y="4343400"/>
            <a:ext cx="5760720" cy="320040"/>
          </a:xfrm>
          <a:prstGeom prst="rect">
            <a:avLst/>
          </a:prstGeom>
          <a:noFill/>
          <a:ln/>
        </p:spPr>
        <p:txBody>
          <a:bodyPr wrap="square" lIns="0" tIns="0" rIns="0" bIns="0" rtlCol="0" anchor="t"/>
          <a:lstStyle/>
          <a:p>
            <a:pPr marL="0" indent="0">
              <a:lnSpc>
                <a:spcPts val="1400"/>
              </a:lnSpc>
              <a:buNone/>
            </a:pPr>
            <a:r>
              <a:rPr lang="en-US" sz="1100">
                <a:solidFill>
                  <a:srgbClr val="6B7280"/>
                </a:solidFill>
                <a:latin typeface="Calibri" pitchFamily="34" charset="0"/>
                <a:ea typeface="Calibri" pitchFamily="34" charset="-122"/>
                <a:cs typeface="Calibri" pitchFamily="34" charset="-120"/>
              </a:rPr>
              <a:t>Implement detection methods, monitor systems, analyze evidence.</a:t>
            </a:r>
            <a:endParaRPr lang="en-US" sz="1100"/>
          </a:p>
        </p:txBody>
      </p:sp>
      <p:sp>
        <p:nvSpPr>
          <p:cNvPr id="20" name="Shape 15"/>
          <p:cNvSpPr/>
          <p:nvPr/>
        </p:nvSpPr>
        <p:spPr>
          <a:xfrm>
            <a:off x="566928" y="4892040"/>
            <a:ext cx="6903720" cy="841248"/>
          </a:xfrm>
          <a:prstGeom prst="roundRect">
            <a:avLst>
              <a:gd name="adj" fmla="val 9783"/>
            </a:avLst>
          </a:prstGeom>
          <a:solidFill>
            <a:srgbClr val="F2F4F8"/>
          </a:solidFill>
          <a:ln/>
        </p:spPr>
        <p:txBody>
          <a:bodyPr/>
          <a:lstStyle/>
          <a:p>
            <a:endParaRPr lang="en-US"/>
          </a:p>
        </p:txBody>
      </p:sp>
      <p:sp>
        <p:nvSpPr>
          <p:cNvPr id="21" name="Shape 16"/>
          <p:cNvSpPr/>
          <p:nvPr/>
        </p:nvSpPr>
        <p:spPr>
          <a:xfrm>
            <a:off x="786384" y="5074920"/>
            <a:ext cx="475488" cy="475488"/>
          </a:xfrm>
          <a:prstGeom prst="ellipse">
            <a:avLst/>
          </a:prstGeom>
          <a:solidFill>
            <a:srgbClr val="6A5AC7"/>
          </a:solidFill>
          <a:ln/>
        </p:spPr>
        <p:txBody>
          <a:bodyPr/>
          <a:lstStyle/>
          <a:p>
            <a:endParaRPr lang="en-US"/>
          </a:p>
        </p:txBody>
      </p:sp>
      <p:pic>
        <p:nvPicPr>
          <p:cNvPr id="22" name="Image 3" descr="/home/claude/icons/FaPeopleGroup_w.png"/>
          <p:cNvPicPr>
            <a:picLocks noChangeAspect="1"/>
          </p:cNvPicPr>
          <p:nvPr/>
        </p:nvPicPr>
        <p:blipFill>
          <a:blip r:embed="rId5"/>
          <a:stretch>
            <a:fillRect/>
          </a:stretch>
        </p:blipFill>
        <p:spPr>
          <a:xfrm>
            <a:off x="910011" y="5198547"/>
            <a:ext cx="228234" cy="228234"/>
          </a:xfrm>
          <a:prstGeom prst="rect">
            <a:avLst/>
          </a:prstGeom>
        </p:spPr>
      </p:pic>
      <p:sp>
        <p:nvSpPr>
          <p:cNvPr id="23" name="Text 17"/>
          <p:cNvSpPr/>
          <p:nvPr/>
        </p:nvSpPr>
        <p:spPr>
          <a:xfrm>
            <a:off x="1435608" y="5020056"/>
            <a:ext cx="47548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Skill 4 · Collaborate</a:t>
            </a:r>
            <a:endParaRPr lang="en-US" sz="1250"/>
          </a:p>
        </p:txBody>
      </p:sp>
      <p:sp>
        <p:nvSpPr>
          <p:cNvPr id="24" name="Text 18"/>
          <p:cNvSpPr/>
          <p:nvPr/>
        </p:nvSpPr>
        <p:spPr>
          <a:xfrm>
            <a:off x="1435608" y="5303520"/>
            <a:ext cx="5760720" cy="320040"/>
          </a:xfrm>
          <a:prstGeom prst="rect">
            <a:avLst/>
          </a:prstGeom>
          <a:noFill/>
          <a:ln/>
        </p:spPr>
        <p:txBody>
          <a:bodyPr wrap="square" lIns="0" tIns="0" rIns="0" bIns="0" rtlCol="0" anchor="t"/>
          <a:lstStyle/>
          <a:p>
            <a:pPr marL="0" indent="0">
              <a:lnSpc>
                <a:spcPts val="1400"/>
              </a:lnSpc>
              <a:buNone/>
            </a:pPr>
            <a:r>
              <a:rPr lang="en-US" sz="1100">
                <a:solidFill>
                  <a:srgbClr val="6B7280"/>
                </a:solidFill>
                <a:latin typeface="Calibri" pitchFamily="34" charset="0"/>
                <a:ea typeface="Calibri" pitchFamily="34" charset="-122"/>
                <a:cs typeface="Calibri" pitchFamily="34" charset="-120"/>
              </a:rPr>
              <a:t>Work with others — and with AI — to accomplish a task.</a:t>
            </a:r>
            <a:endParaRPr lang="en-US" sz="1100"/>
          </a:p>
        </p:txBody>
      </p:sp>
      <p:graphicFrame>
        <p:nvGraphicFramePr>
          <p:cNvPr id="25" name="Chart 0" descr="Chart"/>
          <p:cNvGraphicFramePr/>
          <p:nvPr>
            <p:extLst>
              <p:ext uri="{D42A27DB-BD31-4B8C-83A1-F6EECF244321}">
                <p14:modId xmlns:p14="http://schemas.microsoft.com/office/powerpoint/2010/main" val="1259709925"/>
              </p:ext>
            </p:extLst>
          </p:nvPr>
        </p:nvGraphicFramePr>
        <p:xfrm>
          <a:off x="7772400" y="1920240"/>
          <a:ext cx="388620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6" name="Text 19"/>
          <p:cNvSpPr/>
          <p:nvPr/>
        </p:nvSpPr>
        <p:spPr>
          <a:xfrm>
            <a:off x="7772400" y="4590288"/>
            <a:ext cx="3886200" cy="868680"/>
          </a:xfrm>
          <a:prstGeom prst="rect">
            <a:avLst/>
          </a:prstGeom>
          <a:noFill/>
          <a:ln/>
        </p:spPr>
        <p:txBody>
          <a:bodyPr wrap="square" lIns="0" tIns="0" rIns="0" bIns="0" rtlCol="0" anchor="t"/>
          <a:lstStyle/>
          <a:p>
            <a:pPr marL="0" indent="0">
              <a:lnSpc>
                <a:spcPts val="1450"/>
              </a:lnSpc>
              <a:buNone/>
            </a:pPr>
            <a:r>
              <a:rPr lang="en-US" sz="1050">
                <a:solidFill>
                  <a:srgbClr val="6B7280"/>
                </a:solidFill>
                <a:latin typeface="Calibri" pitchFamily="34" charset="0"/>
                <a:ea typeface="Calibri" pitchFamily="34" charset="-122"/>
                <a:cs typeface="Calibri" pitchFamily="34" charset="-120"/>
              </a:rPr>
              <a:t>2 hours 10 minutes total · 60 MCQs (80 min) · 1 free-response, Device Security Analysis (50 min).</a:t>
            </a:r>
            <a:endParaRPr lang="en-US" sz="1050"/>
          </a:p>
          <a:p>
            <a:pPr marL="0" indent="0">
              <a:lnSpc>
                <a:spcPts val="1450"/>
              </a:lnSpc>
              <a:buNone/>
            </a:pPr>
            <a:r>
              <a:rPr lang="en-US" sz="1050">
                <a:solidFill>
                  <a:srgbClr val="6B7280"/>
                </a:solidFill>
                <a:latin typeface="Calibri" pitchFamily="34" charset="0"/>
                <a:ea typeface="Calibri" pitchFamily="34" charset="-122"/>
                <a:cs typeface="Calibri" pitchFamily="34" charset="-120"/>
              </a:rPr>
              <a:t>MCQs are weighted by skill, not by unit: Skills 1, 2 and 3 each carry 25-40%.</a:t>
            </a:r>
            <a:endParaRPr lang="en-US" sz="1050"/>
          </a:p>
        </p:txBody>
      </p:sp>
      <p:sp>
        <p:nvSpPr>
          <p:cNvPr id="27" name="Shape 20"/>
          <p:cNvSpPr/>
          <p:nvPr/>
        </p:nvSpPr>
        <p:spPr>
          <a:xfrm>
            <a:off x="566928" y="5650992"/>
            <a:ext cx="11057839" cy="512064"/>
          </a:xfrm>
          <a:prstGeom prst="roundRect">
            <a:avLst>
              <a:gd name="adj" fmla="val 14286"/>
            </a:avLst>
          </a:prstGeom>
          <a:solidFill>
            <a:srgbClr val="12141C"/>
          </a:solidFill>
          <a:ln/>
        </p:spPr>
        <p:txBody>
          <a:bodyPr/>
          <a:lstStyle/>
          <a:p>
            <a:endParaRPr lang="en-US"/>
          </a:p>
        </p:txBody>
      </p:sp>
      <p:pic>
        <p:nvPicPr>
          <p:cNvPr id="28" name="Image 4" descr="/home/claude/icons/FaScaleBalanced_w.png"/>
          <p:cNvPicPr>
            <a:picLocks noChangeAspect="1"/>
          </p:cNvPicPr>
          <p:nvPr/>
        </p:nvPicPr>
        <p:blipFill>
          <a:blip r:embed="rId7"/>
          <a:stretch>
            <a:fillRect/>
          </a:stretch>
        </p:blipFill>
        <p:spPr>
          <a:xfrm>
            <a:off x="768096" y="5792724"/>
            <a:ext cx="228600" cy="228600"/>
          </a:xfrm>
          <a:prstGeom prst="rect">
            <a:avLst/>
          </a:prstGeom>
        </p:spPr>
      </p:pic>
      <p:sp>
        <p:nvSpPr>
          <p:cNvPr id="29" name="Text 21"/>
          <p:cNvSpPr/>
          <p:nvPr/>
        </p:nvSpPr>
        <p:spPr>
          <a:xfrm>
            <a:off x="1133856" y="5650992"/>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Exam consequence: almost every question asks you to do something with a concept — identify, explain, describe, or determine — never simply to recall a definition.</a:t>
            </a:r>
            <a:endParaRPr lang="en-US" sz="1150"/>
          </a:p>
        </p:txBody>
      </p:sp>
      <p:sp>
        <p:nvSpPr>
          <p:cNvPr id="30" name="Text 22"/>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1" name="Text 23"/>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UNIT 1 AT A GLANCE</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Five topics, ten class periods, five scenarios</a:t>
            </a:r>
            <a:endParaRPr lang="en-US" sz="300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0415016" cy="3941064"/>
        </p:xfrm>
        <a:graphic>
          <a:graphicData uri="http://schemas.openxmlformats.org/drawingml/2006/table">
            <a:tbl>
              <a:tblPr/>
              <a:tblGrid>
                <a:gridCol w="205740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722376">
                  <a:extLst>
                    <a:ext uri="{9D8B030D-6E8A-4147-A177-3AD203B41FA5}">
                      <a16:colId xmlns:a16="http://schemas.microsoft.com/office/drawing/2014/main" val="20004"/>
                    </a:ext>
                  </a:extLst>
                </a:gridCol>
              </a:tblGrid>
              <a:tr h="329184">
                <a:tc>
                  <a:txBody>
                    <a:bodyPr/>
                    <a:lstStyle/>
                    <a:p>
                      <a:pPr marL="0" indent="0">
                        <a:buNone/>
                      </a:pPr>
                      <a:r>
                        <a:rPr lang="en-US" sz="1050" b="1">
                          <a:solidFill>
                            <a:srgbClr val="FFFFFF"/>
                          </a:solidFill>
                          <a:latin typeface="Calibri" pitchFamily="34" charset="0"/>
                          <a:ea typeface="Calibri" pitchFamily="34" charset="-122"/>
                          <a:cs typeface="Calibri" pitchFamily="34" charset="-120"/>
                        </a:rPr>
                        <a:t>Topic</a:t>
                      </a:r>
                      <a:endParaRPr lang="en-US" sz="105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Learning objectives</a:t>
                      </a:r>
                      <a:endParaRPr lang="en-US" sz="105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Skills</a:t>
                      </a:r>
                      <a:endParaRPr lang="en-US" sz="105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CED scenario</a:t>
                      </a:r>
                      <a:endParaRPr lang="en-US" sz="105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Periods</a:t>
                      </a:r>
                      <a:endParaRPr lang="en-US" sz="105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extLst>
                  <a:ext uri="{0D108BD9-81ED-4DB2-BD59-A6C34878D82A}">
                    <a16:rowId xmlns:a16="http://schemas.microsoft.com/office/drawing/2014/main" val="10000"/>
                  </a:ext>
                </a:extLst>
              </a:tr>
              <a:tr h="777240">
                <a:tc>
                  <a:txBody>
                    <a:bodyPr/>
                    <a:lstStyle/>
                    <a:p>
                      <a:pPr marL="0" indent="0" algn="l">
                        <a:buNone/>
                      </a:pPr>
                      <a:r>
                        <a:rPr lang="en-US" sz="1000" b="1">
                          <a:solidFill>
                            <a:srgbClr val="12141C"/>
                          </a:solidFill>
                          <a:latin typeface="Calibri" pitchFamily="34" charset="0"/>
                          <a:ea typeface="Calibri" pitchFamily="34" charset="-122"/>
                          <a:cs typeface="Calibri" pitchFamily="34" charset="-120"/>
                        </a:rPr>
                        <a:t>1.1  Understanding</a:t>
                      </a:r>
                      <a:endParaRPr lang="en-US" sz="1000">
                        <a:latin typeface="Calibri" charset="0"/>
                        <a:ea typeface="Calibri" charset="0"/>
                        <a:cs typeface="Calibri" charset="0"/>
                      </a:endParaRPr>
                    </a:p>
                    <a:p>
                      <a:pPr marL="0" indent="0" algn="l">
                        <a:buNone/>
                      </a:pPr>
                      <a:r>
                        <a:rPr lang="en-US" sz="1000" b="1">
                          <a:solidFill>
                            <a:srgbClr val="12141C"/>
                          </a:solidFill>
                          <a:latin typeface="Calibri" pitchFamily="34" charset="0"/>
                          <a:ea typeface="Calibri" pitchFamily="34" charset="-122"/>
                          <a:cs typeface="Calibri" pitchFamily="34" charset="-120"/>
                        </a:rPr>
                        <a:t>Social Engineering</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l">
                        <a:buNone/>
                      </a:pPr>
                      <a:r>
                        <a:rPr lang="en-US" sz="980">
                          <a:solidFill>
                            <a:srgbClr val="2B303C"/>
                          </a:solidFill>
                          <a:latin typeface="Calibri" pitchFamily="34" charset="0"/>
                          <a:ea typeface="Calibri" pitchFamily="34" charset="-122"/>
                          <a:cs typeface="Calibri" pitchFamily="34" charset="-120"/>
                        </a:rPr>
                        <a:t>1.1.A  Identify common indicators of social engineering tactics</a:t>
                      </a:r>
                      <a:endParaRPr lang="en-US" sz="980">
                        <a:latin typeface="Calibri" charset="0"/>
                        <a:ea typeface="Calibri" charset="0"/>
                        <a:cs typeface="Calibri" charset="0"/>
                      </a:endParaRPr>
                    </a:p>
                    <a:p>
                      <a:pPr marL="0" indent="0" algn="l">
                        <a:buNone/>
                      </a:pPr>
                      <a:r>
                        <a:rPr lang="en-US" sz="980">
                          <a:solidFill>
                            <a:srgbClr val="2B303C"/>
                          </a:solidFill>
                          <a:latin typeface="Calibri" pitchFamily="34" charset="0"/>
                          <a:ea typeface="Calibri" pitchFamily="34" charset="-122"/>
                          <a:cs typeface="Calibri" pitchFamily="34" charset="-120"/>
                        </a:rPr>
                        <a:t>1.1.B  Explain how tactics influence victims to act</a:t>
                      </a:r>
                      <a:endParaRPr lang="en-US" sz="980">
                        <a:latin typeface="Calibri" charset="0"/>
                        <a:ea typeface="Calibri" charset="0"/>
                        <a:cs typeface="Calibri" charset="0"/>
                      </a:endParaRPr>
                    </a:p>
                    <a:p>
                      <a:pPr marL="0" indent="0" algn="l">
                        <a:buNone/>
                      </a:pPr>
                      <a:r>
                        <a:rPr lang="en-US" sz="980">
                          <a:solidFill>
                            <a:srgbClr val="2B303C"/>
                          </a:solidFill>
                          <a:latin typeface="Calibri" pitchFamily="34" charset="0"/>
                          <a:ea typeface="Calibri" pitchFamily="34" charset="-122"/>
                          <a:cs typeface="Calibri" pitchFamily="34" charset="-120"/>
                        </a:rPr>
                        <a:t>1.1.C  Describe possible impacts for victims</a:t>
                      </a:r>
                      <a:endParaRPr lang="en-US" sz="98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1.A</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l">
                        <a:buNone/>
                      </a:pPr>
                      <a:r>
                        <a:rPr lang="en-US" sz="1000">
                          <a:solidFill>
                            <a:srgbClr val="2B303C"/>
                          </a:solidFill>
                          <a:latin typeface="Calibri" pitchFamily="34" charset="0"/>
                          <a:ea typeface="Calibri" pitchFamily="34" charset="-122"/>
                          <a:cs typeface="Calibri" pitchFamily="34" charset="-120"/>
                        </a:rPr>
                        <a:t>1A  Detecting</a:t>
                      </a:r>
                      <a:endParaRPr lang="en-US" sz="1000">
                        <a:latin typeface="Calibri" charset="0"/>
                        <a:ea typeface="Calibri" charset="0"/>
                        <a:cs typeface="Calibri" charset="0"/>
                      </a:endParaRPr>
                    </a:p>
                    <a:p>
                      <a:pPr marL="0" indent="0" algn="l">
                        <a:buNone/>
                      </a:pPr>
                      <a:r>
                        <a:rPr lang="en-US" sz="1000">
                          <a:solidFill>
                            <a:srgbClr val="2B303C"/>
                          </a:solidFill>
                          <a:latin typeface="Calibri" pitchFamily="34" charset="0"/>
                          <a:ea typeface="Calibri" pitchFamily="34" charset="-122"/>
                          <a:cs typeface="Calibri" pitchFamily="34" charset="-120"/>
                        </a:rPr>
                        <a:t>Phishing Messages</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2</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pPr>
                      <a:r>
                        <a:rPr lang="en-US" sz="1000" b="1">
                          <a:solidFill>
                            <a:srgbClr val="12141C"/>
                          </a:solidFill>
                          <a:latin typeface="Calibri" pitchFamily="34" charset="0"/>
                          <a:ea typeface="Calibri" pitchFamily="34" charset="-122"/>
                          <a:cs typeface="Calibri" pitchFamily="34" charset="-120"/>
                        </a:rPr>
                        <a:t>1.2  Suspicious</a:t>
                      </a:r>
                      <a:endParaRPr lang="en-US" sz="1000">
                        <a:latin typeface="Calibri" charset="0"/>
                        <a:ea typeface="Calibri" charset="0"/>
                        <a:cs typeface="Calibri" charset="0"/>
                      </a:endParaRPr>
                    </a:p>
                    <a:p>
                      <a:pPr marL="0" indent="0" algn="l">
                        <a:buNone/>
                      </a:pPr>
                      <a:r>
                        <a:rPr lang="en-US" sz="1000" b="1">
                          <a:solidFill>
                            <a:srgbClr val="12141C"/>
                          </a:solidFill>
                          <a:latin typeface="Calibri" pitchFamily="34" charset="0"/>
                          <a:ea typeface="Calibri" pitchFamily="34" charset="-122"/>
                          <a:cs typeface="Calibri" pitchFamily="34" charset="-120"/>
                        </a:rPr>
                        <a:t>Website Logins</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lgn="l">
                        <a:buNone/>
                      </a:pPr>
                      <a:r>
                        <a:rPr lang="en-US" sz="980">
                          <a:solidFill>
                            <a:srgbClr val="2B303C"/>
                          </a:solidFill>
                          <a:latin typeface="Calibri" pitchFamily="34" charset="0"/>
                          <a:ea typeface="Calibri" pitchFamily="34" charset="-122"/>
                          <a:cs typeface="Calibri" pitchFamily="34" charset="-120"/>
                        </a:rPr>
                        <a:t>1.2.A  Identify common signs of a password attack</a:t>
                      </a:r>
                      <a:endParaRPr lang="en-US" sz="980">
                        <a:latin typeface="Calibri" charset="0"/>
                        <a:ea typeface="Calibri" charset="0"/>
                        <a:cs typeface="Calibri" charset="0"/>
                      </a:endParaRPr>
                    </a:p>
                    <a:p>
                      <a:pPr marL="0" indent="0" algn="l">
                        <a:buNone/>
                      </a:pPr>
                      <a:r>
                        <a:rPr lang="en-US" sz="980">
                          <a:solidFill>
                            <a:srgbClr val="2B303C"/>
                          </a:solidFill>
                          <a:latin typeface="Calibri" pitchFamily="34" charset="0"/>
                          <a:ea typeface="Calibri" pitchFamily="34" charset="-122"/>
                          <a:cs typeface="Calibri" pitchFamily="34" charset="-120"/>
                        </a:rPr>
                        <a:t>1.2.B  Explain how adversaries exploit weak authentication</a:t>
                      </a:r>
                      <a:endParaRPr lang="en-US" sz="980">
                        <a:latin typeface="Calibri" charset="0"/>
                        <a:ea typeface="Calibri" charset="0"/>
                        <a:cs typeface="Calibri" charset="0"/>
                      </a:endParaRPr>
                    </a:p>
                    <a:p>
                      <a:pPr marL="0" indent="0" algn="l">
                        <a:buNone/>
                      </a:pPr>
                      <a:r>
                        <a:rPr lang="en-US" sz="980">
                          <a:solidFill>
                            <a:srgbClr val="2B303C"/>
                          </a:solidFill>
                          <a:latin typeface="Calibri" pitchFamily="34" charset="0"/>
                          <a:ea typeface="Calibri" pitchFamily="34" charset="-122"/>
                          <a:cs typeface="Calibri" pitchFamily="34" charset="-120"/>
                        </a:rPr>
                        <a:t>1.2.C  Explain how to make authentication stronger</a:t>
                      </a:r>
                      <a:endParaRPr lang="en-US" sz="98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1.A  2.A</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lgn="l">
                        <a:buNone/>
                      </a:pPr>
                      <a:r>
                        <a:rPr lang="en-US" sz="1000">
                          <a:solidFill>
                            <a:srgbClr val="2B303C"/>
                          </a:solidFill>
                          <a:latin typeface="Calibri" pitchFamily="34" charset="0"/>
                          <a:ea typeface="Calibri" pitchFamily="34" charset="-122"/>
                          <a:cs typeface="Calibri" pitchFamily="34" charset="-120"/>
                        </a:rPr>
                        <a:t>1B  Detecting</a:t>
                      </a:r>
                      <a:endParaRPr lang="en-US" sz="1000">
                        <a:latin typeface="Calibri" charset="0"/>
                        <a:ea typeface="Calibri" charset="0"/>
                        <a:cs typeface="Calibri" charset="0"/>
                      </a:endParaRPr>
                    </a:p>
                    <a:p>
                      <a:pPr marL="0" indent="0" algn="l">
                        <a:buNone/>
                      </a:pPr>
                      <a:r>
                        <a:rPr lang="en-US" sz="1000">
                          <a:solidFill>
                            <a:srgbClr val="2B303C"/>
                          </a:solidFill>
                          <a:latin typeface="Calibri" pitchFamily="34" charset="0"/>
                          <a:ea typeface="Calibri" pitchFamily="34" charset="-122"/>
                          <a:cs typeface="Calibri" pitchFamily="34" charset="-120"/>
                        </a:rPr>
                        <a:t>Unauthorized Logins</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2</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extLst>
                  <a:ext uri="{0D108BD9-81ED-4DB2-BD59-A6C34878D82A}">
                    <a16:rowId xmlns:a16="http://schemas.microsoft.com/office/drawing/2014/main" val="10002"/>
                  </a:ext>
                </a:extLst>
              </a:tr>
              <a:tr h="777240">
                <a:tc>
                  <a:txBody>
                    <a:bodyPr/>
                    <a:lstStyle/>
                    <a:p>
                      <a:pPr marL="0" indent="0" algn="l">
                        <a:buNone/>
                      </a:pPr>
                      <a:r>
                        <a:rPr lang="en-US" sz="1000" b="1">
                          <a:solidFill>
                            <a:srgbClr val="12141C"/>
                          </a:solidFill>
                          <a:latin typeface="Calibri" pitchFamily="34" charset="0"/>
                          <a:ea typeface="Calibri" pitchFamily="34" charset="-122"/>
                          <a:cs typeface="Calibri" pitchFamily="34" charset="-120"/>
                        </a:rPr>
                        <a:t>1.3  Best Practices</a:t>
                      </a:r>
                      <a:endParaRPr lang="en-US" sz="1000">
                        <a:latin typeface="Calibri" charset="0"/>
                        <a:ea typeface="Calibri" charset="0"/>
                        <a:cs typeface="Calibri" charset="0"/>
                      </a:endParaRPr>
                    </a:p>
                    <a:p>
                      <a:pPr marL="0" indent="0" algn="l">
                        <a:buNone/>
                      </a:pPr>
                      <a:r>
                        <a:rPr lang="en-US" sz="1000" b="1">
                          <a:solidFill>
                            <a:srgbClr val="12141C"/>
                          </a:solidFill>
                          <a:latin typeface="Calibri" pitchFamily="34" charset="0"/>
                          <a:ea typeface="Calibri" pitchFamily="34" charset="-122"/>
                          <a:cs typeface="Calibri" pitchFamily="34" charset="-120"/>
                        </a:rPr>
                        <a:t>for Public Networks</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l">
                        <a:buNone/>
                      </a:pPr>
                      <a:r>
                        <a:rPr lang="en-US" sz="980">
                          <a:solidFill>
                            <a:srgbClr val="2B303C"/>
                          </a:solidFill>
                          <a:latin typeface="Calibri" pitchFamily="34" charset="0"/>
                          <a:ea typeface="Calibri" pitchFamily="34" charset="-122"/>
                          <a:cs typeface="Calibri" pitchFamily="34" charset="-120"/>
                        </a:rPr>
                        <a:t>1.3.A  Identify the type of adversary conducting an attack</a:t>
                      </a:r>
                      <a:endParaRPr lang="en-US" sz="980">
                        <a:latin typeface="Calibri" charset="0"/>
                        <a:ea typeface="Calibri" charset="0"/>
                        <a:cs typeface="Calibri" charset="0"/>
                      </a:endParaRPr>
                    </a:p>
                    <a:p>
                      <a:pPr marL="0" indent="0" algn="l">
                        <a:buNone/>
                      </a:pPr>
                      <a:r>
                        <a:rPr lang="en-US" sz="980">
                          <a:solidFill>
                            <a:srgbClr val="2B303C"/>
                          </a:solidFill>
                          <a:latin typeface="Calibri" pitchFamily="34" charset="0"/>
                          <a:ea typeface="Calibri" pitchFamily="34" charset="-122"/>
                          <a:cs typeface="Calibri" pitchFamily="34" charset="-120"/>
                        </a:rPr>
                        <a:t>1.3.B  Identify types of wireless cyberattacks</a:t>
                      </a:r>
                      <a:endParaRPr lang="en-US" sz="980">
                        <a:latin typeface="Calibri" charset="0"/>
                        <a:ea typeface="Calibri" charset="0"/>
                        <a:cs typeface="Calibri" charset="0"/>
                      </a:endParaRPr>
                    </a:p>
                    <a:p>
                      <a:pPr marL="0" indent="0" algn="l">
                        <a:buNone/>
                      </a:pPr>
                      <a:r>
                        <a:rPr lang="en-US" sz="980">
                          <a:solidFill>
                            <a:srgbClr val="2B303C"/>
                          </a:solidFill>
                          <a:latin typeface="Calibri" pitchFamily="34" charset="0"/>
                          <a:ea typeface="Calibri" pitchFamily="34" charset="-122"/>
                          <a:cs typeface="Calibri" pitchFamily="34" charset="-120"/>
                        </a:rPr>
                        <a:t>1.3.C  Describe actions that protect sensitive data online</a:t>
                      </a:r>
                      <a:endParaRPr lang="en-US" sz="98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1.A  2.A</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l">
                        <a:buNone/>
                      </a:pPr>
                      <a:r>
                        <a:rPr lang="en-US" sz="1000">
                          <a:solidFill>
                            <a:srgbClr val="2B303C"/>
                          </a:solidFill>
                          <a:latin typeface="Calibri" pitchFamily="34" charset="0"/>
                          <a:ea typeface="Calibri" pitchFamily="34" charset="-122"/>
                          <a:cs typeface="Calibri" pitchFamily="34" charset="-120"/>
                        </a:rPr>
                        <a:t>1C  Verifying</a:t>
                      </a:r>
                      <a:endParaRPr lang="en-US" sz="1000">
                        <a:latin typeface="Calibri" charset="0"/>
                        <a:ea typeface="Calibri" charset="0"/>
                        <a:cs typeface="Calibri" charset="0"/>
                      </a:endParaRPr>
                    </a:p>
                    <a:p>
                      <a:pPr marL="0" indent="0" algn="l">
                        <a:buNone/>
                      </a:pPr>
                      <a:r>
                        <a:rPr lang="en-US" sz="1000">
                          <a:solidFill>
                            <a:srgbClr val="2B303C"/>
                          </a:solidFill>
                          <a:latin typeface="Calibri" pitchFamily="34" charset="0"/>
                          <a:ea typeface="Calibri" pitchFamily="34" charset="-122"/>
                          <a:cs typeface="Calibri" pitchFamily="34" charset="-120"/>
                        </a:rPr>
                        <a:t>Network Authenticity</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2</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000" b="1">
                          <a:solidFill>
                            <a:srgbClr val="12141C"/>
                          </a:solidFill>
                          <a:latin typeface="Calibri" pitchFamily="34" charset="0"/>
                          <a:ea typeface="Calibri" pitchFamily="34" charset="-122"/>
                          <a:cs typeface="Calibri" pitchFamily="34" charset="-120"/>
                        </a:rPr>
                        <a:t>1.4  AI-Based</a:t>
                      </a:r>
                      <a:endParaRPr lang="en-US" sz="1000">
                        <a:latin typeface="Calibri" charset="0"/>
                        <a:ea typeface="Calibri" charset="0"/>
                        <a:cs typeface="Calibri" charset="0"/>
                      </a:endParaRPr>
                    </a:p>
                    <a:p>
                      <a:pPr marL="0" indent="0" algn="l">
                        <a:buNone/>
                      </a:pPr>
                      <a:r>
                        <a:rPr lang="en-US" sz="1000" b="1">
                          <a:solidFill>
                            <a:srgbClr val="12141C"/>
                          </a:solidFill>
                          <a:latin typeface="Calibri" pitchFamily="34" charset="0"/>
                          <a:ea typeface="Calibri" pitchFamily="34" charset="-122"/>
                          <a:cs typeface="Calibri" pitchFamily="34" charset="-120"/>
                        </a:rPr>
                        <a:t>Cybersecurity Attacks</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lgn="l">
                        <a:buNone/>
                      </a:pPr>
                      <a:r>
                        <a:rPr lang="en-US" sz="980">
                          <a:solidFill>
                            <a:srgbClr val="2B303C"/>
                          </a:solidFill>
                          <a:latin typeface="Calibri" pitchFamily="34" charset="0"/>
                          <a:ea typeface="Calibri" pitchFamily="34" charset="-122"/>
                          <a:cs typeface="Calibri" pitchFamily="34" charset="-120"/>
                        </a:rPr>
                        <a:t>1.4.A  Explain how adversaries use AI to augment attacks</a:t>
                      </a:r>
                      <a:endParaRPr lang="en-US" sz="980">
                        <a:latin typeface="Calibri" charset="0"/>
                        <a:ea typeface="Calibri" charset="0"/>
                        <a:cs typeface="Calibri" charset="0"/>
                      </a:endParaRPr>
                    </a:p>
                    <a:p>
                      <a:pPr marL="0" indent="0" algn="l">
                        <a:buNone/>
                      </a:pPr>
                      <a:r>
                        <a:rPr lang="en-US" sz="980">
                          <a:solidFill>
                            <a:srgbClr val="2B303C"/>
                          </a:solidFill>
                          <a:latin typeface="Calibri" pitchFamily="34" charset="0"/>
                          <a:ea typeface="Calibri" pitchFamily="34" charset="-122"/>
                          <a:cs typeface="Calibri" pitchFamily="34" charset="-120"/>
                        </a:rPr>
                        <a:t>1.4.B  Explain how to protect against AI-augmented attacks</a:t>
                      </a:r>
                      <a:endParaRPr lang="en-US" sz="98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1.A  2.A</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lgn="l">
                        <a:buNone/>
                      </a:pPr>
                      <a:r>
                        <a:rPr lang="en-US" sz="1000">
                          <a:solidFill>
                            <a:srgbClr val="2B303C"/>
                          </a:solidFill>
                          <a:latin typeface="Calibri" pitchFamily="34" charset="0"/>
                          <a:ea typeface="Calibri" pitchFamily="34" charset="-122"/>
                          <a:cs typeface="Calibri" pitchFamily="34" charset="-120"/>
                        </a:rPr>
                        <a:t>1D  AI-Powered</a:t>
                      </a:r>
                      <a:endParaRPr lang="en-US" sz="1000">
                        <a:latin typeface="Calibri" charset="0"/>
                        <a:ea typeface="Calibri" charset="0"/>
                        <a:cs typeface="Calibri" charset="0"/>
                      </a:endParaRPr>
                    </a:p>
                    <a:p>
                      <a:pPr marL="0" indent="0" algn="l">
                        <a:buNone/>
                      </a:pPr>
                      <a:r>
                        <a:rPr lang="en-US" sz="1000">
                          <a:solidFill>
                            <a:srgbClr val="2B303C"/>
                          </a:solidFill>
                          <a:latin typeface="Calibri" pitchFamily="34" charset="0"/>
                          <a:ea typeface="Calibri" pitchFamily="34" charset="-122"/>
                          <a:cs typeface="Calibri" pitchFamily="34" charset="-120"/>
                        </a:rPr>
                        <a:t>Cyberattacks</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2</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extLst>
                  <a:ext uri="{0D108BD9-81ED-4DB2-BD59-A6C34878D82A}">
                    <a16:rowId xmlns:a16="http://schemas.microsoft.com/office/drawing/2014/main" val="10004"/>
                  </a:ext>
                </a:extLst>
              </a:tr>
              <a:tr h="640080">
                <a:tc>
                  <a:txBody>
                    <a:bodyPr/>
                    <a:lstStyle/>
                    <a:p>
                      <a:pPr marL="0" indent="0" algn="l">
                        <a:buNone/>
                      </a:pPr>
                      <a:r>
                        <a:rPr lang="en-US" sz="1000" b="1">
                          <a:solidFill>
                            <a:srgbClr val="12141C"/>
                          </a:solidFill>
                          <a:latin typeface="Calibri" pitchFamily="34" charset="0"/>
                          <a:ea typeface="Calibri" pitchFamily="34" charset="-122"/>
                          <a:cs typeface="Calibri" pitchFamily="34" charset="-120"/>
                        </a:rPr>
                        <a:t>1.5  Leveraging AI</a:t>
                      </a:r>
                      <a:endParaRPr lang="en-US" sz="1000">
                        <a:latin typeface="Calibri" charset="0"/>
                        <a:ea typeface="Calibri" charset="0"/>
                        <a:cs typeface="Calibri" charset="0"/>
                      </a:endParaRPr>
                    </a:p>
                    <a:p>
                      <a:pPr marL="0" indent="0" algn="l">
                        <a:buNone/>
                      </a:pPr>
                      <a:r>
                        <a:rPr lang="en-US" sz="1000" b="1">
                          <a:solidFill>
                            <a:srgbClr val="12141C"/>
                          </a:solidFill>
                          <a:latin typeface="Calibri" pitchFamily="34" charset="0"/>
                          <a:ea typeface="Calibri" pitchFamily="34" charset="-122"/>
                          <a:cs typeface="Calibri" pitchFamily="34" charset="-120"/>
                        </a:rPr>
                        <a:t>in Cyber Defense</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l">
                        <a:buNone/>
                      </a:pPr>
                      <a:r>
                        <a:rPr lang="en-US" sz="980">
                          <a:solidFill>
                            <a:srgbClr val="2B303C"/>
                          </a:solidFill>
                          <a:latin typeface="Calibri" pitchFamily="34" charset="0"/>
                          <a:ea typeface="Calibri" pitchFamily="34" charset="-122"/>
                          <a:cs typeface="Calibri" pitchFamily="34" charset="-120"/>
                        </a:rPr>
                        <a:t>1.5.A  Explain how defenders leverage AI-powered tools</a:t>
                      </a:r>
                      <a:endParaRPr lang="en-US" sz="980">
                        <a:latin typeface="Calibri" charset="0"/>
                        <a:ea typeface="Calibri" charset="0"/>
                        <a:cs typeface="Calibri" charset="0"/>
                      </a:endParaRPr>
                    </a:p>
                    <a:p>
                      <a:pPr marL="0" indent="0" algn="l">
                        <a:buNone/>
                      </a:pPr>
                      <a:r>
                        <a:rPr lang="en-US" sz="980">
                          <a:solidFill>
                            <a:srgbClr val="2B303C"/>
                          </a:solidFill>
                          <a:latin typeface="Calibri" pitchFamily="34" charset="0"/>
                          <a:ea typeface="Calibri" pitchFamily="34" charset="-122"/>
                          <a:cs typeface="Calibri" pitchFamily="34" charset="-120"/>
                        </a:rPr>
                        <a:t>1.5.B  Explain how AI enables faster, more accurate detection</a:t>
                      </a:r>
                      <a:endParaRPr lang="en-US" sz="98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2.A  3.A</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l">
                        <a:buNone/>
                      </a:pPr>
                      <a:r>
                        <a:rPr lang="en-US" sz="1000">
                          <a:solidFill>
                            <a:srgbClr val="2B303C"/>
                          </a:solidFill>
                          <a:latin typeface="Calibri" pitchFamily="34" charset="0"/>
                          <a:ea typeface="Calibri" pitchFamily="34" charset="-122"/>
                          <a:cs typeface="Calibri" pitchFamily="34" charset="-120"/>
                        </a:rPr>
                        <a:t>1E  AI-Powered</a:t>
                      </a:r>
                      <a:endParaRPr lang="en-US" sz="1000">
                        <a:latin typeface="Calibri" charset="0"/>
                        <a:ea typeface="Calibri" charset="0"/>
                        <a:cs typeface="Calibri" charset="0"/>
                      </a:endParaRPr>
                    </a:p>
                    <a:p>
                      <a:pPr marL="0" indent="0" algn="l">
                        <a:buNone/>
                      </a:pPr>
                      <a:r>
                        <a:rPr lang="en-US" sz="1000">
                          <a:solidFill>
                            <a:srgbClr val="2B303C"/>
                          </a:solidFill>
                          <a:latin typeface="Calibri" pitchFamily="34" charset="0"/>
                          <a:ea typeface="Calibri" pitchFamily="34" charset="-122"/>
                          <a:cs typeface="Calibri" pitchFamily="34" charset="-120"/>
                        </a:rPr>
                        <a:t>Cyber Defense</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lgn="ctr">
                        <a:buNone/>
                      </a:pPr>
                      <a:r>
                        <a:rPr lang="en-US" sz="1000">
                          <a:solidFill>
                            <a:srgbClr val="2B303C"/>
                          </a:solidFill>
                          <a:latin typeface="Calibri" pitchFamily="34" charset="0"/>
                          <a:ea typeface="Calibri" pitchFamily="34" charset="-122"/>
                          <a:cs typeface="Calibri" pitchFamily="34" charset="-120"/>
                        </a:rPr>
                        <a:t>2</a:t>
                      </a:r>
                      <a:endParaRPr lang="en-US" sz="1000">
                        <a:latin typeface="Calibri" charset="0"/>
                        <a:ea typeface="Calibri" charset="0"/>
                        <a:cs typeface="Calibri" charset="0"/>
                      </a:endParaRPr>
                    </a:p>
                  </a:txBody>
                  <a:tcPr marL="64008" marR="64008" marT="64008" marB="64008"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66928" y="5687568"/>
            <a:ext cx="11057839" cy="512064"/>
          </a:xfrm>
          <a:prstGeom prst="roundRect">
            <a:avLst>
              <a:gd name="adj" fmla="val 14286"/>
            </a:avLst>
          </a:prstGeom>
          <a:solidFill>
            <a:srgbClr val="12141C"/>
          </a:solidFill>
          <a:ln/>
        </p:spPr>
        <p:txBody>
          <a:bodyPr/>
          <a:lstStyle/>
          <a:p>
            <a:endParaRPr lang="en-US"/>
          </a:p>
        </p:txBody>
      </p:sp>
      <p:pic>
        <p:nvPicPr>
          <p:cNvPr id="4" name="Image 0" descr="/home/claude/icons/FaListCheck_w.png"/>
          <p:cNvPicPr>
            <a:picLocks noChangeAspect="1"/>
          </p:cNvPicPr>
          <p:nvPr/>
        </p:nvPicPr>
        <p:blipFill>
          <a:blip r:embed="rId3"/>
          <a:stretch>
            <a:fillRect/>
          </a:stretch>
        </p:blipFill>
        <p:spPr>
          <a:xfrm>
            <a:off x="768096" y="5829300"/>
            <a:ext cx="228600" cy="228600"/>
          </a:xfrm>
          <a:prstGeom prst="rect">
            <a:avLst/>
          </a:prstGeom>
        </p:spPr>
      </p:pic>
      <p:sp>
        <p:nvSpPr>
          <p:cNvPr id="7" name="Text 3"/>
          <p:cNvSpPr/>
          <p:nvPr/>
        </p:nvSpPr>
        <p:spPr>
          <a:xfrm>
            <a:off x="1133856" y="5687568"/>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Skill tags tell you the verb the exam will use: 1.A → identify and explain risk · 2.A → identify controls and explain mitigation · 3.A → identify monitoring methods and explain detection.</a:t>
            </a:r>
            <a:endParaRPr lang="en-US" sz="1150"/>
          </a:p>
        </p:txBody>
      </p:sp>
      <p:sp>
        <p:nvSpPr>
          <p:cNvPr id="8" name="Text 4"/>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9" name="Text 5"/>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41C"/>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THE ORGANISING IDEA</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FFFFFF"/>
                </a:solidFill>
                <a:latin typeface="Cambria" pitchFamily="34" charset="0"/>
                <a:ea typeface="Cambria" pitchFamily="34" charset="-122"/>
                <a:cs typeface="Cambria" pitchFamily="34" charset="-120"/>
              </a:rPr>
              <a:t>One chain, five chances to break it</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9AA3B2"/>
                </a:solidFill>
                <a:latin typeface="Calibri" pitchFamily="34" charset="0"/>
                <a:ea typeface="Calibri" pitchFamily="34" charset="-122"/>
                <a:cs typeface="Calibri" pitchFamily="34" charset="-120"/>
              </a:rPr>
              <a:t>Every Unit 1 topic is a different link in the same chain. Defence means choosing where to cut it.</a:t>
            </a:r>
            <a:endParaRPr lang="en-US" sz="1400"/>
          </a:p>
        </p:txBody>
      </p:sp>
      <p:sp>
        <p:nvSpPr>
          <p:cNvPr id="5" name="Shape 3"/>
          <p:cNvSpPr/>
          <p:nvPr/>
        </p:nvSpPr>
        <p:spPr>
          <a:xfrm>
            <a:off x="566928" y="2148840"/>
            <a:ext cx="2048256" cy="233172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6" name="Shape 4"/>
          <p:cNvSpPr/>
          <p:nvPr/>
        </p:nvSpPr>
        <p:spPr>
          <a:xfrm>
            <a:off x="786384" y="2359152"/>
            <a:ext cx="475488" cy="475488"/>
          </a:xfrm>
          <a:prstGeom prst="ellipse">
            <a:avLst/>
          </a:prstGeom>
          <a:solidFill>
            <a:srgbClr val="F2A03D"/>
          </a:solidFill>
          <a:ln/>
        </p:spPr>
        <p:txBody>
          <a:bodyPr/>
          <a:lstStyle/>
          <a:p>
            <a:endParaRPr lang="en-US"/>
          </a:p>
        </p:txBody>
      </p:sp>
      <p:pic>
        <p:nvPicPr>
          <p:cNvPr id="7" name="Image 0" descr="/home/claude/icons/FaCommentDots_w.png"/>
          <p:cNvPicPr>
            <a:picLocks noChangeAspect="1"/>
          </p:cNvPicPr>
          <p:nvPr/>
        </p:nvPicPr>
        <p:blipFill>
          <a:blip r:embed="rId3"/>
          <a:stretch>
            <a:fillRect/>
          </a:stretch>
        </p:blipFill>
        <p:spPr>
          <a:xfrm>
            <a:off x="910011" y="2482779"/>
            <a:ext cx="228234" cy="228234"/>
          </a:xfrm>
          <a:prstGeom prst="rect">
            <a:avLst/>
          </a:prstGeom>
        </p:spPr>
      </p:pic>
      <p:sp>
        <p:nvSpPr>
          <p:cNvPr id="8" name="Text 5"/>
          <p:cNvSpPr/>
          <p:nvPr/>
        </p:nvSpPr>
        <p:spPr>
          <a:xfrm>
            <a:off x="786384" y="2944368"/>
            <a:ext cx="1691640" cy="256032"/>
          </a:xfrm>
          <a:prstGeom prst="rect">
            <a:avLst/>
          </a:prstGeom>
          <a:noFill/>
          <a:ln/>
        </p:spPr>
        <p:txBody>
          <a:bodyPr wrap="square" lIns="0" tIns="0" rIns="0" bIns="0" rtlCol="0" anchor="ctr"/>
          <a:lstStyle/>
          <a:p>
            <a:pPr marL="0" indent="0">
              <a:buNone/>
            </a:pPr>
            <a:r>
              <a:rPr lang="en-US" sz="1250" b="1" kern="0" spc="80">
                <a:solidFill>
                  <a:srgbClr val="FFFFFF"/>
                </a:solidFill>
                <a:latin typeface="Calibri" pitchFamily="34" charset="0"/>
                <a:ea typeface="Calibri" pitchFamily="34" charset="-122"/>
                <a:cs typeface="Calibri" pitchFamily="34" charset="-120"/>
              </a:rPr>
              <a:t>MESSAGE</a:t>
            </a:r>
            <a:endParaRPr lang="en-US" sz="1250"/>
          </a:p>
        </p:txBody>
      </p:sp>
      <p:sp>
        <p:nvSpPr>
          <p:cNvPr id="9" name="Text 6"/>
          <p:cNvSpPr/>
          <p:nvPr/>
        </p:nvSpPr>
        <p:spPr>
          <a:xfrm>
            <a:off x="786384" y="3246120"/>
            <a:ext cx="1737360" cy="77724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A request arrives</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and creates urgency,</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fear, or trust</a:t>
            </a:r>
            <a:endParaRPr lang="en-US" sz="1000"/>
          </a:p>
        </p:txBody>
      </p:sp>
      <p:sp>
        <p:nvSpPr>
          <p:cNvPr id="10" name="Text 7"/>
          <p:cNvSpPr/>
          <p:nvPr/>
        </p:nvSpPr>
        <p:spPr>
          <a:xfrm>
            <a:off x="786384" y="4096512"/>
            <a:ext cx="1691640" cy="228600"/>
          </a:xfrm>
          <a:prstGeom prst="rect">
            <a:avLst/>
          </a:prstGeom>
          <a:noFill/>
          <a:ln/>
        </p:spPr>
        <p:txBody>
          <a:bodyPr wrap="square" lIns="0" tIns="0" rIns="0" bIns="0" rtlCol="0" anchor="ctr"/>
          <a:lstStyle/>
          <a:p>
            <a:pPr marL="0" indent="0">
              <a:buNone/>
            </a:pPr>
            <a:r>
              <a:rPr lang="en-US" sz="950" b="1">
                <a:solidFill>
                  <a:srgbClr val="F2A03D"/>
                </a:solidFill>
                <a:latin typeface="Calibri" pitchFamily="34" charset="0"/>
                <a:ea typeface="Calibri" pitchFamily="34" charset="-122"/>
                <a:cs typeface="Calibri" pitchFamily="34" charset="-120"/>
              </a:rPr>
              <a:t>Topic 1.1</a:t>
            </a:r>
            <a:endParaRPr lang="en-US" sz="950"/>
          </a:p>
        </p:txBody>
      </p:sp>
      <p:sp>
        <p:nvSpPr>
          <p:cNvPr id="11" name="Shape 8"/>
          <p:cNvSpPr/>
          <p:nvPr/>
        </p:nvSpPr>
        <p:spPr>
          <a:xfrm rot="5400000">
            <a:off x="2642616" y="3200400"/>
            <a:ext cx="128016" cy="146304"/>
          </a:xfrm>
          <a:prstGeom prst="triangle">
            <a:avLst/>
          </a:prstGeom>
          <a:solidFill>
            <a:srgbClr val="2C3446"/>
          </a:solidFill>
          <a:ln/>
        </p:spPr>
        <p:txBody>
          <a:bodyPr/>
          <a:lstStyle/>
          <a:p>
            <a:endParaRPr lang="en-US"/>
          </a:p>
        </p:txBody>
      </p:sp>
      <p:sp>
        <p:nvSpPr>
          <p:cNvPr id="12" name="Shape 9"/>
          <p:cNvSpPr/>
          <p:nvPr/>
        </p:nvSpPr>
        <p:spPr>
          <a:xfrm>
            <a:off x="2816352" y="2148840"/>
            <a:ext cx="2048256" cy="233172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13" name="Shape 10"/>
          <p:cNvSpPr/>
          <p:nvPr/>
        </p:nvSpPr>
        <p:spPr>
          <a:xfrm>
            <a:off x="3035808" y="2359152"/>
            <a:ext cx="475488" cy="475488"/>
          </a:xfrm>
          <a:prstGeom prst="ellipse">
            <a:avLst/>
          </a:prstGeom>
          <a:solidFill>
            <a:srgbClr val="F2A03D"/>
          </a:solidFill>
          <a:ln/>
        </p:spPr>
        <p:txBody>
          <a:bodyPr/>
          <a:lstStyle/>
          <a:p>
            <a:endParaRPr lang="en-US"/>
          </a:p>
        </p:txBody>
      </p:sp>
      <p:pic>
        <p:nvPicPr>
          <p:cNvPr id="14" name="Image 1" descr="/home/claude/icons/FaHand_w.png"/>
          <p:cNvPicPr>
            <a:picLocks noChangeAspect="1"/>
          </p:cNvPicPr>
          <p:nvPr/>
        </p:nvPicPr>
        <p:blipFill>
          <a:blip r:embed="rId4"/>
          <a:stretch>
            <a:fillRect/>
          </a:stretch>
        </p:blipFill>
        <p:spPr>
          <a:xfrm>
            <a:off x="3159435" y="2482779"/>
            <a:ext cx="228234" cy="228234"/>
          </a:xfrm>
          <a:prstGeom prst="rect">
            <a:avLst/>
          </a:prstGeom>
        </p:spPr>
      </p:pic>
      <p:sp>
        <p:nvSpPr>
          <p:cNvPr id="15" name="Text 11"/>
          <p:cNvSpPr/>
          <p:nvPr/>
        </p:nvSpPr>
        <p:spPr>
          <a:xfrm>
            <a:off x="3035808" y="2944368"/>
            <a:ext cx="1691640" cy="256032"/>
          </a:xfrm>
          <a:prstGeom prst="rect">
            <a:avLst/>
          </a:prstGeom>
          <a:noFill/>
          <a:ln/>
        </p:spPr>
        <p:txBody>
          <a:bodyPr wrap="square" lIns="0" tIns="0" rIns="0" bIns="0" rtlCol="0" anchor="ctr"/>
          <a:lstStyle/>
          <a:p>
            <a:pPr marL="0" indent="0">
              <a:buNone/>
            </a:pPr>
            <a:r>
              <a:rPr lang="en-US" sz="1250" b="1" kern="0" spc="80">
                <a:solidFill>
                  <a:srgbClr val="FFFFFF"/>
                </a:solidFill>
                <a:latin typeface="Calibri" pitchFamily="34" charset="0"/>
                <a:ea typeface="Calibri" pitchFamily="34" charset="-122"/>
                <a:cs typeface="Calibri" pitchFamily="34" charset="-120"/>
              </a:rPr>
              <a:t>ACTION</a:t>
            </a:r>
            <a:endParaRPr lang="en-US" sz="1250"/>
          </a:p>
        </p:txBody>
      </p:sp>
      <p:sp>
        <p:nvSpPr>
          <p:cNvPr id="16" name="Text 12"/>
          <p:cNvSpPr/>
          <p:nvPr/>
        </p:nvSpPr>
        <p:spPr>
          <a:xfrm>
            <a:off x="3035808" y="3246120"/>
            <a:ext cx="1737360" cy="77724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The target clicks,</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replies, connects,</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or approves</a:t>
            </a:r>
            <a:endParaRPr lang="en-US" sz="1000"/>
          </a:p>
        </p:txBody>
      </p:sp>
      <p:sp>
        <p:nvSpPr>
          <p:cNvPr id="17" name="Text 13"/>
          <p:cNvSpPr/>
          <p:nvPr/>
        </p:nvSpPr>
        <p:spPr>
          <a:xfrm>
            <a:off x="3035808" y="4096512"/>
            <a:ext cx="1691640" cy="228600"/>
          </a:xfrm>
          <a:prstGeom prst="rect">
            <a:avLst/>
          </a:prstGeom>
          <a:noFill/>
          <a:ln/>
        </p:spPr>
        <p:txBody>
          <a:bodyPr wrap="square" lIns="0" tIns="0" rIns="0" bIns="0" rtlCol="0" anchor="ctr"/>
          <a:lstStyle/>
          <a:p>
            <a:pPr marL="0" indent="0">
              <a:buNone/>
            </a:pPr>
            <a:r>
              <a:rPr lang="en-US" sz="950" b="1">
                <a:solidFill>
                  <a:srgbClr val="F2A03D"/>
                </a:solidFill>
                <a:latin typeface="Calibri" pitchFamily="34" charset="0"/>
                <a:ea typeface="Calibri" pitchFamily="34" charset="-122"/>
                <a:cs typeface="Calibri" pitchFamily="34" charset="-120"/>
              </a:rPr>
              <a:t>Topic 1.1 / 1.3</a:t>
            </a:r>
            <a:endParaRPr lang="en-US" sz="950"/>
          </a:p>
        </p:txBody>
      </p:sp>
      <p:sp>
        <p:nvSpPr>
          <p:cNvPr id="18" name="Shape 14"/>
          <p:cNvSpPr/>
          <p:nvPr/>
        </p:nvSpPr>
        <p:spPr>
          <a:xfrm rot="5400000">
            <a:off x="4892040" y="3200400"/>
            <a:ext cx="128016" cy="146304"/>
          </a:xfrm>
          <a:prstGeom prst="triangle">
            <a:avLst/>
          </a:prstGeom>
          <a:solidFill>
            <a:srgbClr val="2C3446"/>
          </a:solidFill>
          <a:ln/>
        </p:spPr>
        <p:txBody>
          <a:bodyPr/>
          <a:lstStyle/>
          <a:p>
            <a:endParaRPr lang="en-US"/>
          </a:p>
        </p:txBody>
      </p:sp>
      <p:sp>
        <p:nvSpPr>
          <p:cNvPr id="19" name="Shape 15"/>
          <p:cNvSpPr/>
          <p:nvPr/>
        </p:nvSpPr>
        <p:spPr>
          <a:xfrm>
            <a:off x="5065776" y="2148840"/>
            <a:ext cx="2048256" cy="233172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20" name="Shape 16"/>
          <p:cNvSpPr/>
          <p:nvPr/>
        </p:nvSpPr>
        <p:spPr>
          <a:xfrm>
            <a:off x="5285232" y="2359152"/>
            <a:ext cx="475488" cy="475488"/>
          </a:xfrm>
          <a:prstGeom prst="ellipse">
            <a:avLst/>
          </a:prstGeom>
          <a:solidFill>
            <a:srgbClr val="D9483F"/>
          </a:solidFill>
          <a:ln/>
        </p:spPr>
        <p:txBody>
          <a:bodyPr/>
          <a:lstStyle/>
          <a:p>
            <a:endParaRPr lang="en-US"/>
          </a:p>
        </p:txBody>
      </p:sp>
      <p:pic>
        <p:nvPicPr>
          <p:cNvPr id="21" name="Image 2" descr="/home/claude/icons/FaLockOpen_w.png"/>
          <p:cNvPicPr>
            <a:picLocks noChangeAspect="1"/>
          </p:cNvPicPr>
          <p:nvPr/>
        </p:nvPicPr>
        <p:blipFill>
          <a:blip r:embed="rId5"/>
          <a:stretch>
            <a:fillRect/>
          </a:stretch>
        </p:blipFill>
        <p:spPr>
          <a:xfrm>
            <a:off x="5408859" y="2482779"/>
            <a:ext cx="228234" cy="228234"/>
          </a:xfrm>
          <a:prstGeom prst="rect">
            <a:avLst/>
          </a:prstGeom>
        </p:spPr>
      </p:pic>
      <p:sp>
        <p:nvSpPr>
          <p:cNvPr id="22" name="Text 17"/>
          <p:cNvSpPr/>
          <p:nvPr/>
        </p:nvSpPr>
        <p:spPr>
          <a:xfrm>
            <a:off x="5285232" y="2944368"/>
            <a:ext cx="1691640" cy="256032"/>
          </a:xfrm>
          <a:prstGeom prst="rect">
            <a:avLst/>
          </a:prstGeom>
          <a:noFill/>
          <a:ln/>
        </p:spPr>
        <p:txBody>
          <a:bodyPr wrap="square" lIns="0" tIns="0" rIns="0" bIns="0" rtlCol="0" anchor="ctr"/>
          <a:lstStyle/>
          <a:p>
            <a:pPr marL="0" indent="0">
              <a:buNone/>
            </a:pPr>
            <a:r>
              <a:rPr lang="en-US" sz="1250" b="1" kern="0" spc="80">
                <a:solidFill>
                  <a:srgbClr val="FFFFFF"/>
                </a:solidFill>
                <a:latin typeface="Calibri" pitchFamily="34" charset="0"/>
                <a:ea typeface="Calibri" pitchFamily="34" charset="-122"/>
                <a:cs typeface="Calibri" pitchFamily="34" charset="-120"/>
              </a:rPr>
              <a:t>ACCESS</a:t>
            </a:r>
            <a:endParaRPr lang="en-US" sz="1250"/>
          </a:p>
        </p:txBody>
      </p:sp>
      <p:sp>
        <p:nvSpPr>
          <p:cNvPr id="23" name="Text 18"/>
          <p:cNvSpPr/>
          <p:nvPr/>
        </p:nvSpPr>
        <p:spPr>
          <a:xfrm>
            <a:off x="5285232" y="3246120"/>
            <a:ext cx="1737360" cy="77724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Credentials work;</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the adversary is</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inside the account</a:t>
            </a:r>
            <a:endParaRPr lang="en-US" sz="1000"/>
          </a:p>
        </p:txBody>
      </p:sp>
      <p:sp>
        <p:nvSpPr>
          <p:cNvPr id="24" name="Text 19"/>
          <p:cNvSpPr/>
          <p:nvPr/>
        </p:nvSpPr>
        <p:spPr>
          <a:xfrm>
            <a:off x="5285232" y="4096512"/>
            <a:ext cx="1691640" cy="228600"/>
          </a:xfrm>
          <a:prstGeom prst="rect">
            <a:avLst/>
          </a:prstGeom>
          <a:noFill/>
          <a:ln/>
        </p:spPr>
        <p:txBody>
          <a:bodyPr wrap="square" lIns="0" tIns="0" rIns="0" bIns="0" rtlCol="0" anchor="ctr"/>
          <a:lstStyle/>
          <a:p>
            <a:pPr marL="0" indent="0">
              <a:buNone/>
            </a:pPr>
            <a:r>
              <a:rPr lang="en-US" sz="950" b="1">
                <a:solidFill>
                  <a:srgbClr val="D9483F"/>
                </a:solidFill>
                <a:latin typeface="Calibri" pitchFamily="34" charset="0"/>
                <a:ea typeface="Calibri" pitchFamily="34" charset="-122"/>
                <a:cs typeface="Calibri" pitchFamily="34" charset="-120"/>
              </a:rPr>
              <a:t>Topic 1.2</a:t>
            </a:r>
            <a:endParaRPr lang="en-US" sz="950"/>
          </a:p>
        </p:txBody>
      </p:sp>
      <p:sp>
        <p:nvSpPr>
          <p:cNvPr id="25" name="Shape 20"/>
          <p:cNvSpPr/>
          <p:nvPr/>
        </p:nvSpPr>
        <p:spPr>
          <a:xfrm rot="5400000">
            <a:off x="7141464" y="3200400"/>
            <a:ext cx="128016" cy="146304"/>
          </a:xfrm>
          <a:prstGeom prst="triangle">
            <a:avLst/>
          </a:prstGeom>
          <a:solidFill>
            <a:srgbClr val="2C3446"/>
          </a:solidFill>
          <a:ln/>
        </p:spPr>
        <p:txBody>
          <a:bodyPr/>
          <a:lstStyle/>
          <a:p>
            <a:endParaRPr lang="en-US"/>
          </a:p>
        </p:txBody>
      </p:sp>
      <p:sp>
        <p:nvSpPr>
          <p:cNvPr id="26" name="Shape 21"/>
          <p:cNvSpPr/>
          <p:nvPr/>
        </p:nvSpPr>
        <p:spPr>
          <a:xfrm>
            <a:off x="7315200" y="2148840"/>
            <a:ext cx="2048256" cy="233172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27" name="Shape 22"/>
          <p:cNvSpPr/>
          <p:nvPr/>
        </p:nvSpPr>
        <p:spPr>
          <a:xfrm>
            <a:off x="7534656" y="2359152"/>
            <a:ext cx="475488" cy="475488"/>
          </a:xfrm>
          <a:prstGeom prst="ellipse">
            <a:avLst/>
          </a:prstGeom>
          <a:solidFill>
            <a:srgbClr val="D9483F"/>
          </a:solidFill>
          <a:ln/>
        </p:spPr>
        <p:txBody>
          <a:bodyPr/>
          <a:lstStyle/>
          <a:p>
            <a:endParaRPr lang="en-US"/>
          </a:p>
        </p:txBody>
      </p:sp>
      <p:pic>
        <p:nvPicPr>
          <p:cNvPr id="28" name="Image 3" descr="/home/claude/icons/FaMoneyBillTransfer_w.png"/>
          <p:cNvPicPr>
            <a:picLocks noChangeAspect="1"/>
          </p:cNvPicPr>
          <p:nvPr/>
        </p:nvPicPr>
        <p:blipFill>
          <a:blip r:embed="rId6"/>
          <a:stretch>
            <a:fillRect/>
          </a:stretch>
        </p:blipFill>
        <p:spPr>
          <a:xfrm>
            <a:off x="7658283" y="2482779"/>
            <a:ext cx="228234" cy="228234"/>
          </a:xfrm>
          <a:prstGeom prst="rect">
            <a:avLst/>
          </a:prstGeom>
        </p:spPr>
      </p:pic>
      <p:sp>
        <p:nvSpPr>
          <p:cNvPr id="29" name="Text 23"/>
          <p:cNvSpPr/>
          <p:nvPr/>
        </p:nvSpPr>
        <p:spPr>
          <a:xfrm>
            <a:off x="7534656" y="2944368"/>
            <a:ext cx="1691640" cy="256032"/>
          </a:xfrm>
          <a:prstGeom prst="rect">
            <a:avLst/>
          </a:prstGeom>
          <a:noFill/>
          <a:ln/>
        </p:spPr>
        <p:txBody>
          <a:bodyPr wrap="square" lIns="0" tIns="0" rIns="0" bIns="0" rtlCol="0" anchor="ctr"/>
          <a:lstStyle/>
          <a:p>
            <a:pPr marL="0" indent="0">
              <a:buNone/>
            </a:pPr>
            <a:r>
              <a:rPr lang="en-US" sz="1250" b="1" kern="0" spc="80">
                <a:solidFill>
                  <a:srgbClr val="FFFFFF"/>
                </a:solidFill>
                <a:latin typeface="Calibri" pitchFamily="34" charset="0"/>
                <a:ea typeface="Calibri" pitchFamily="34" charset="-122"/>
                <a:cs typeface="Calibri" pitchFamily="34" charset="-120"/>
              </a:rPr>
              <a:t>IMPACT</a:t>
            </a:r>
            <a:endParaRPr lang="en-US" sz="1250"/>
          </a:p>
        </p:txBody>
      </p:sp>
      <p:sp>
        <p:nvSpPr>
          <p:cNvPr id="30" name="Text 24"/>
          <p:cNvSpPr/>
          <p:nvPr/>
        </p:nvSpPr>
        <p:spPr>
          <a:xfrm>
            <a:off x="7534656" y="3246120"/>
            <a:ext cx="1737360" cy="77724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Data, money, or</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operations are</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lost or damaged</a:t>
            </a:r>
            <a:endParaRPr lang="en-US" sz="1000"/>
          </a:p>
        </p:txBody>
      </p:sp>
      <p:sp>
        <p:nvSpPr>
          <p:cNvPr id="31" name="Text 25"/>
          <p:cNvSpPr/>
          <p:nvPr/>
        </p:nvSpPr>
        <p:spPr>
          <a:xfrm>
            <a:off x="7534656" y="4096512"/>
            <a:ext cx="1691640" cy="228600"/>
          </a:xfrm>
          <a:prstGeom prst="rect">
            <a:avLst/>
          </a:prstGeom>
          <a:noFill/>
          <a:ln/>
        </p:spPr>
        <p:txBody>
          <a:bodyPr wrap="square" lIns="0" tIns="0" rIns="0" bIns="0" rtlCol="0" anchor="ctr"/>
          <a:lstStyle/>
          <a:p>
            <a:pPr marL="0" indent="0">
              <a:buNone/>
            </a:pPr>
            <a:r>
              <a:rPr lang="en-US" sz="950" b="1">
                <a:solidFill>
                  <a:srgbClr val="D9483F"/>
                </a:solidFill>
                <a:latin typeface="Calibri" pitchFamily="34" charset="0"/>
                <a:ea typeface="Calibri" pitchFamily="34" charset="-122"/>
                <a:cs typeface="Calibri" pitchFamily="34" charset="-120"/>
              </a:rPr>
              <a:t>Topic 1.1C</a:t>
            </a:r>
            <a:endParaRPr lang="en-US" sz="950"/>
          </a:p>
        </p:txBody>
      </p:sp>
      <p:sp>
        <p:nvSpPr>
          <p:cNvPr id="32" name="Shape 26"/>
          <p:cNvSpPr/>
          <p:nvPr/>
        </p:nvSpPr>
        <p:spPr>
          <a:xfrm rot="5400000">
            <a:off x="9390888" y="3200400"/>
            <a:ext cx="128016" cy="146304"/>
          </a:xfrm>
          <a:prstGeom prst="triangle">
            <a:avLst/>
          </a:prstGeom>
          <a:solidFill>
            <a:srgbClr val="2C3446"/>
          </a:solidFill>
          <a:ln/>
        </p:spPr>
        <p:txBody>
          <a:bodyPr/>
          <a:lstStyle/>
          <a:p>
            <a:endParaRPr lang="en-US"/>
          </a:p>
        </p:txBody>
      </p:sp>
      <p:sp>
        <p:nvSpPr>
          <p:cNvPr id="33" name="Shape 27"/>
          <p:cNvSpPr/>
          <p:nvPr/>
        </p:nvSpPr>
        <p:spPr>
          <a:xfrm>
            <a:off x="9564624" y="2148840"/>
            <a:ext cx="2048256" cy="233172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34" name="Shape 28"/>
          <p:cNvSpPr/>
          <p:nvPr/>
        </p:nvSpPr>
        <p:spPr>
          <a:xfrm>
            <a:off x="9784080" y="2359152"/>
            <a:ext cx="475488" cy="475488"/>
          </a:xfrm>
          <a:prstGeom prst="ellipse">
            <a:avLst/>
          </a:prstGeom>
          <a:solidFill>
            <a:srgbClr val="1FA697"/>
          </a:solidFill>
          <a:ln/>
        </p:spPr>
        <p:txBody>
          <a:bodyPr/>
          <a:lstStyle/>
          <a:p>
            <a:endParaRPr lang="en-US"/>
          </a:p>
        </p:txBody>
      </p:sp>
      <p:pic>
        <p:nvPicPr>
          <p:cNvPr id="35" name="Image 4" descr="/home/claude/icons/FaMagnifyingGlassChart_w.png"/>
          <p:cNvPicPr>
            <a:picLocks noChangeAspect="1"/>
          </p:cNvPicPr>
          <p:nvPr/>
        </p:nvPicPr>
        <p:blipFill>
          <a:blip r:embed="rId7"/>
          <a:stretch>
            <a:fillRect/>
          </a:stretch>
        </p:blipFill>
        <p:spPr>
          <a:xfrm>
            <a:off x="9907707" y="2482779"/>
            <a:ext cx="228234" cy="228234"/>
          </a:xfrm>
          <a:prstGeom prst="rect">
            <a:avLst/>
          </a:prstGeom>
        </p:spPr>
      </p:pic>
      <p:sp>
        <p:nvSpPr>
          <p:cNvPr id="36" name="Text 29"/>
          <p:cNvSpPr/>
          <p:nvPr/>
        </p:nvSpPr>
        <p:spPr>
          <a:xfrm>
            <a:off x="9784080" y="2944368"/>
            <a:ext cx="1691640" cy="256032"/>
          </a:xfrm>
          <a:prstGeom prst="rect">
            <a:avLst/>
          </a:prstGeom>
          <a:noFill/>
          <a:ln/>
        </p:spPr>
        <p:txBody>
          <a:bodyPr wrap="square" lIns="0" tIns="0" rIns="0" bIns="0" rtlCol="0" anchor="ctr"/>
          <a:lstStyle/>
          <a:p>
            <a:pPr marL="0" indent="0">
              <a:buNone/>
            </a:pPr>
            <a:r>
              <a:rPr lang="en-US" sz="1250" b="1" kern="0" spc="80">
                <a:solidFill>
                  <a:srgbClr val="FFFFFF"/>
                </a:solidFill>
                <a:latin typeface="Calibri" pitchFamily="34" charset="0"/>
                <a:ea typeface="Calibri" pitchFamily="34" charset="-122"/>
                <a:cs typeface="Calibri" pitchFamily="34" charset="-120"/>
              </a:rPr>
              <a:t>DETECTION</a:t>
            </a:r>
            <a:endParaRPr lang="en-US" sz="1250"/>
          </a:p>
        </p:txBody>
      </p:sp>
      <p:sp>
        <p:nvSpPr>
          <p:cNvPr id="37" name="Text 30"/>
          <p:cNvSpPr/>
          <p:nvPr/>
        </p:nvSpPr>
        <p:spPr>
          <a:xfrm>
            <a:off x="9784080" y="3246120"/>
            <a:ext cx="1737360" cy="77724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Logs and monitoring</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reveal what happened</a:t>
            </a:r>
            <a:endParaRPr lang="en-US" sz="1000"/>
          </a:p>
          <a:p>
            <a:pPr marL="0" indent="0">
              <a:lnSpc>
                <a:spcPts val="1350"/>
              </a:lnSpc>
              <a:buNone/>
            </a:pPr>
            <a:r>
              <a:rPr lang="en-US" sz="1000">
                <a:solidFill>
                  <a:srgbClr val="9AA3B2"/>
                </a:solidFill>
                <a:latin typeface="Calibri" pitchFamily="34" charset="0"/>
                <a:ea typeface="Calibri" pitchFamily="34" charset="-122"/>
                <a:cs typeface="Calibri" pitchFamily="34" charset="-120"/>
              </a:rPr>
              <a:t>— fast or too late</a:t>
            </a:r>
            <a:endParaRPr lang="en-US" sz="1000"/>
          </a:p>
        </p:txBody>
      </p:sp>
      <p:sp>
        <p:nvSpPr>
          <p:cNvPr id="38" name="Text 31"/>
          <p:cNvSpPr/>
          <p:nvPr/>
        </p:nvSpPr>
        <p:spPr>
          <a:xfrm>
            <a:off x="9784080" y="4096512"/>
            <a:ext cx="1691640" cy="228600"/>
          </a:xfrm>
          <a:prstGeom prst="rect">
            <a:avLst/>
          </a:prstGeom>
          <a:noFill/>
          <a:ln/>
        </p:spPr>
        <p:txBody>
          <a:bodyPr wrap="square" lIns="0" tIns="0" rIns="0" bIns="0" rtlCol="0" anchor="ctr"/>
          <a:lstStyle/>
          <a:p>
            <a:pPr marL="0" indent="0">
              <a:buNone/>
            </a:pPr>
            <a:r>
              <a:rPr lang="en-US" sz="950" b="1">
                <a:solidFill>
                  <a:srgbClr val="1FA697"/>
                </a:solidFill>
                <a:latin typeface="Calibri" pitchFamily="34" charset="0"/>
                <a:ea typeface="Calibri" pitchFamily="34" charset="-122"/>
                <a:cs typeface="Calibri" pitchFamily="34" charset="-120"/>
              </a:rPr>
              <a:t>Topic 1.5</a:t>
            </a:r>
            <a:endParaRPr lang="en-US" sz="950"/>
          </a:p>
        </p:txBody>
      </p:sp>
      <p:sp>
        <p:nvSpPr>
          <p:cNvPr id="39" name="Shape 32"/>
          <p:cNvSpPr/>
          <p:nvPr/>
        </p:nvSpPr>
        <p:spPr>
          <a:xfrm>
            <a:off x="566928" y="4800600"/>
            <a:ext cx="11057839" cy="914400"/>
          </a:xfrm>
          <a:prstGeom prst="roundRect">
            <a:avLst>
              <a:gd name="adj" fmla="val 9000"/>
            </a:avLst>
          </a:prstGeom>
          <a:solidFill>
            <a:srgbClr val="1D2331"/>
          </a:solidFill>
          <a:ln w="15875">
            <a:solidFill>
              <a:srgbClr val="F2A03D"/>
            </a:solidFill>
            <a:prstDash val="solid"/>
          </a:ln>
        </p:spPr>
        <p:txBody>
          <a:bodyPr/>
          <a:lstStyle/>
          <a:p>
            <a:endParaRPr lang="en-US"/>
          </a:p>
        </p:txBody>
      </p:sp>
      <p:sp>
        <p:nvSpPr>
          <p:cNvPr id="40" name="Shape 33"/>
          <p:cNvSpPr/>
          <p:nvPr/>
        </p:nvSpPr>
        <p:spPr>
          <a:xfrm>
            <a:off x="822960" y="5020056"/>
            <a:ext cx="475488" cy="475488"/>
          </a:xfrm>
          <a:prstGeom prst="ellipse">
            <a:avLst/>
          </a:prstGeom>
          <a:solidFill>
            <a:srgbClr val="F2A03D"/>
          </a:solidFill>
          <a:ln/>
        </p:spPr>
        <p:txBody>
          <a:bodyPr/>
          <a:lstStyle/>
          <a:p>
            <a:endParaRPr lang="en-US"/>
          </a:p>
        </p:txBody>
      </p:sp>
      <p:pic>
        <p:nvPicPr>
          <p:cNvPr id="41" name="Image 5" descr="/home/claude/icons/FaBolt_w.png"/>
          <p:cNvPicPr>
            <a:picLocks noChangeAspect="1"/>
          </p:cNvPicPr>
          <p:nvPr/>
        </p:nvPicPr>
        <p:blipFill>
          <a:blip r:embed="rId8"/>
          <a:stretch>
            <a:fillRect/>
          </a:stretch>
        </p:blipFill>
        <p:spPr>
          <a:xfrm>
            <a:off x="946587" y="5143683"/>
            <a:ext cx="228234" cy="228234"/>
          </a:xfrm>
          <a:prstGeom prst="rect">
            <a:avLst/>
          </a:prstGeom>
        </p:spPr>
      </p:pic>
      <p:sp>
        <p:nvSpPr>
          <p:cNvPr id="42" name="Text 34"/>
          <p:cNvSpPr/>
          <p:nvPr/>
        </p:nvSpPr>
        <p:spPr>
          <a:xfrm>
            <a:off x="1481328" y="4965192"/>
            <a:ext cx="10149840" cy="640080"/>
          </a:xfrm>
          <a:prstGeom prst="rect">
            <a:avLst/>
          </a:prstGeom>
          <a:noFill/>
          <a:ln/>
        </p:spPr>
        <p:txBody>
          <a:bodyPr wrap="square" lIns="0" tIns="0" rIns="0" bIns="0" rtlCol="0" anchor="t"/>
          <a:lstStyle/>
          <a:p>
            <a:pPr marL="0" indent="0">
              <a:lnSpc>
                <a:spcPts val="1600"/>
              </a:lnSpc>
              <a:buNone/>
            </a:pPr>
            <a:r>
              <a:rPr lang="en-US" sz="1200">
                <a:solidFill>
                  <a:srgbClr val="FFFFFF"/>
                </a:solidFill>
                <a:latin typeface="Calibri" pitchFamily="34" charset="0"/>
                <a:ea typeface="Calibri" pitchFamily="34" charset="-122"/>
                <a:cs typeface="Calibri" pitchFamily="34" charset="-120"/>
              </a:rPr>
              <a:t>AI does not add a new link. It makes existing links faster, cheaper, and more convincing (Topic 1.4) — and it makes detection at the far end faster too (Topic 1.5). Whenever you meet an AI-powered attack, first name the ordinary attack underneath it.</a:t>
            </a:r>
            <a:endParaRPr lang="en-US" sz="1200"/>
          </a:p>
        </p:txBody>
      </p:sp>
      <p:sp>
        <p:nvSpPr>
          <p:cNvPr id="43" name="Text 3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4" name="Text 3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6</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CORE VOCABULARY</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Ten words that carry the whole unit</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Exam answers are marked on precision. Use these definitions, not looser everyday synonyms.</a:t>
            </a:r>
            <a:endParaRPr lang="en-US" sz="1400"/>
          </a:p>
        </p:txBody>
      </p:sp>
      <p:sp>
        <p:nvSpPr>
          <p:cNvPr id="5" name="Shape 3"/>
          <p:cNvSpPr/>
          <p:nvPr/>
        </p:nvSpPr>
        <p:spPr>
          <a:xfrm>
            <a:off x="566928" y="1938528"/>
            <a:ext cx="5394960" cy="658368"/>
          </a:xfrm>
          <a:prstGeom prst="roundRect">
            <a:avLst>
              <a:gd name="adj" fmla="val 12500"/>
            </a:avLst>
          </a:prstGeom>
          <a:solidFill>
            <a:srgbClr val="EAF0FA"/>
          </a:solidFill>
          <a:ln/>
        </p:spPr>
        <p:txBody>
          <a:bodyPr/>
          <a:lstStyle/>
          <a:p>
            <a:endParaRPr lang="en-US"/>
          </a:p>
        </p:txBody>
      </p:sp>
      <p:sp>
        <p:nvSpPr>
          <p:cNvPr id="6" name="Text 4"/>
          <p:cNvSpPr/>
          <p:nvPr/>
        </p:nvSpPr>
        <p:spPr>
          <a:xfrm>
            <a:off x="768096" y="2002536"/>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Vulnerability</a:t>
            </a:r>
            <a:endParaRPr lang="en-US" sz="1200"/>
          </a:p>
        </p:txBody>
      </p:sp>
      <p:sp>
        <p:nvSpPr>
          <p:cNvPr id="7" name="Text 5"/>
          <p:cNvSpPr/>
          <p:nvPr/>
        </p:nvSpPr>
        <p:spPr>
          <a:xfrm>
            <a:off x="768096" y="2240280"/>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A weakness in a system, process, or person that could be exploited.</a:t>
            </a:r>
            <a:endParaRPr lang="en-US" sz="1030"/>
          </a:p>
        </p:txBody>
      </p:sp>
      <p:sp>
        <p:nvSpPr>
          <p:cNvPr id="8" name="Shape 6"/>
          <p:cNvSpPr/>
          <p:nvPr/>
        </p:nvSpPr>
        <p:spPr>
          <a:xfrm>
            <a:off x="6190488" y="1938528"/>
            <a:ext cx="5394960" cy="658368"/>
          </a:xfrm>
          <a:prstGeom prst="roundRect">
            <a:avLst>
              <a:gd name="adj" fmla="val 12500"/>
            </a:avLst>
          </a:prstGeom>
          <a:solidFill>
            <a:srgbClr val="F2F4F8"/>
          </a:solidFill>
          <a:ln/>
        </p:spPr>
        <p:txBody>
          <a:bodyPr/>
          <a:lstStyle/>
          <a:p>
            <a:endParaRPr lang="en-US"/>
          </a:p>
        </p:txBody>
      </p:sp>
      <p:sp>
        <p:nvSpPr>
          <p:cNvPr id="9" name="Text 7"/>
          <p:cNvSpPr/>
          <p:nvPr/>
        </p:nvSpPr>
        <p:spPr>
          <a:xfrm>
            <a:off x="6391656" y="2002536"/>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Threat</a:t>
            </a:r>
            <a:endParaRPr lang="en-US" sz="1200"/>
          </a:p>
        </p:txBody>
      </p:sp>
      <p:sp>
        <p:nvSpPr>
          <p:cNvPr id="10" name="Text 8"/>
          <p:cNvSpPr/>
          <p:nvPr/>
        </p:nvSpPr>
        <p:spPr>
          <a:xfrm>
            <a:off x="6391656" y="2240280"/>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A person, group, or event with the potential to exploit a vulnerability.</a:t>
            </a:r>
            <a:endParaRPr lang="en-US" sz="1030"/>
          </a:p>
        </p:txBody>
      </p:sp>
      <p:sp>
        <p:nvSpPr>
          <p:cNvPr id="11" name="Shape 9"/>
          <p:cNvSpPr/>
          <p:nvPr/>
        </p:nvSpPr>
        <p:spPr>
          <a:xfrm>
            <a:off x="566928" y="2697480"/>
            <a:ext cx="5394960" cy="658368"/>
          </a:xfrm>
          <a:prstGeom prst="roundRect">
            <a:avLst>
              <a:gd name="adj" fmla="val 12500"/>
            </a:avLst>
          </a:prstGeom>
          <a:solidFill>
            <a:srgbClr val="EAF0FA"/>
          </a:solidFill>
          <a:ln/>
        </p:spPr>
        <p:txBody>
          <a:bodyPr/>
          <a:lstStyle/>
          <a:p>
            <a:endParaRPr lang="en-US"/>
          </a:p>
        </p:txBody>
      </p:sp>
      <p:sp>
        <p:nvSpPr>
          <p:cNvPr id="12" name="Text 10"/>
          <p:cNvSpPr/>
          <p:nvPr/>
        </p:nvSpPr>
        <p:spPr>
          <a:xfrm>
            <a:off x="768096" y="2761488"/>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Risk</a:t>
            </a:r>
            <a:endParaRPr lang="en-US" sz="1200"/>
          </a:p>
        </p:txBody>
      </p:sp>
      <p:sp>
        <p:nvSpPr>
          <p:cNvPr id="13" name="Text 11"/>
          <p:cNvSpPr/>
          <p:nvPr/>
        </p:nvSpPr>
        <p:spPr>
          <a:xfrm>
            <a:off x="768096" y="2999232"/>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The combination of how likely an attack is and how much harm it would cause.</a:t>
            </a:r>
            <a:endParaRPr lang="en-US" sz="1030"/>
          </a:p>
        </p:txBody>
      </p:sp>
      <p:sp>
        <p:nvSpPr>
          <p:cNvPr id="14" name="Shape 12"/>
          <p:cNvSpPr/>
          <p:nvPr/>
        </p:nvSpPr>
        <p:spPr>
          <a:xfrm>
            <a:off x="6190488" y="2697480"/>
            <a:ext cx="5394960" cy="658368"/>
          </a:xfrm>
          <a:prstGeom prst="roundRect">
            <a:avLst>
              <a:gd name="adj" fmla="val 12500"/>
            </a:avLst>
          </a:prstGeom>
          <a:solidFill>
            <a:srgbClr val="F2F4F8"/>
          </a:solidFill>
          <a:ln/>
        </p:spPr>
        <p:txBody>
          <a:bodyPr/>
          <a:lstStyle/>
          <a:p>
            <a:endParaRPr lang="en-US"/>
          </a:p>
        </p:txBody>
      </p:sp>
      <p:sp>
        <p:nvSpPr>
          <p:cNvPr id="15" name="Text 13"/>
          <p:cNvSpPr/>
          <p:nvPr/>
        </p:nvSpPr>
        <p:spPr>
          <a:xfrm>
            <a:off x="6391656" y="2761488"/>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Adversary</a:t>
            </a:r>
            <a:endParaRPr lang="en-US" sz="1200"/>
          </a:p>
        </p:txBody>
      </p:sp>
      <p:sp>
        <p:nvSpPr>
          <p:cNvPr id="16" name="Text 14"/>
          <p:cNvSpPr/>
          <p:nvPr/>
        </p:nvSpPr>
        <p:spPr>
          <a:xfrm>
            <a:off x="6391656" y="2999232"/>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The person or group carrying out the attack — the AP course's word for attacker.</a:t>
            </a:r>
            <a:endParaRPr lang="en-US" sz="1030"/>
          </a:p>
        </p:txBody>
      </p:sp>
      <p:sp>
        <p:nvSpPr>
          <p:cNvPr id="17" name="Shape 15"/>
          <p:cNvSpPr/>
          <p:nvPr/>
        </p:nvSpPr>
        <p:spPr>
          <a:xfrm>
            <a:off x="566928" y="3456432"/>
            <a:ext cx="5394960" cy="658368"/>
          </a:xfrm>
          <a:prstGeom prst="roundRect">
            <a:avLst>
              <a:gd name="adj" fmla="val 12500"/>
            </a:avLst>
          </a:prstGeom>
          <a:solidFill>
            <a:srgbClr val="EAF0FA"/>
          </a:solidFill>
          <a:ln/>
        </p:spPr>
        <p:txBody>
          <a:bodyPr/>
          <a:lstStyle/>
          <a:p>
            <a:endParaRPr lang="en-US"/>
          </a:p>
        </p:txBody>
      </p:sp>
      <p:sp>
        <p:nvSpPr>
          <p:cNvPr id="18" name="Text 16"/>
          <p:cNvSpPr/>
          <p:nvPr/>
        </p:nvSpPr>
        <p:spPr>
          <a:xfrm>
            <a:off x="768096" y="3520440"/>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Attack vector</a:t>
            </a:r>
            <a:endParaRPr lang="en-US" sz="1200"/>
          </a:p>
        </p:txBody>
      </p:sp>
      <p:sp>
        <p:nvSpPr>
          <p:cNvPr id="19" name="Text 17"/>
          <p:cNvSpPr/>
          <p:nvPr/>
        </p:nvSpPr>
        <p:spPr>
          <a:xfrm>
            <a:off x="768096" y="3758184"/>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The route the adversary uses to reach the target: email, phone, Wi-Fi, web page.</a:t>
            </a:r>
            <a:endParaRPr lang="en-US" sz="1030"/>
          </a:p>
        </p:txBody>
      </p:sp>
      <p:sp>
        <p:nvSpPr>
          <p:cNvPr id="20" name="Shape 18"/>
          <p:cNvSpPr/>
          <p:nvPr/>
        </p:nvSpPr>
        <p:spPr>
          <a:xfrm>
            <a:off x="6190488" y="3456432"/>
            <a:ext cx="5394960" cy="658368"/>
          </a:xfrm>
          <a:prstGeom prst="roundRect">
            <a:avLst>
              <a:gd name="adj" fmla="val 12500"/>
            </a:avLst>
          </a:prstGeom>
          <a:solidFill>
            <a:srgbClr val="F2F4F8"/>
          </a:solidFill>
          <a:ln/>
        </p:spPr>
        <p:txBody>
          <a:bodyPr/>
          <a:lstStyle/>
          <a:p>
            <a:endParaRPr lang="en-US"/>
          </a:p>
        </p:txBody>
      </p:sp>
      <p:sp>
        <p:nvSpPr>
          <p:cNvPr id="21" name="Text 19"/>
          <p:cNvSpPr/>
          <p:nvPr/>
        </p:nvSpPr>
        <p:spPr>
          <a:xfrm>
            <a:off x="6391656" y="3520440"/>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Security control</a:t>
            </a:r>
            <a:endParaRPr lang="en-US" sz="1200"/>
          </a:p>
        </p:txBody>
      </p:sp>
      <p:sp>
        <p:nvSpPr>
          <p:cNvPr id="22" name="Text 20"/>
          <p:cNvSpPr/>
          <p:nvPr/>
        </p:nvSpPr>
        <p:spPr>
          <a:xfrm>
            <a:off x="6391656" y="3758184"/>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A safeguard put in place to reduce risk — technical, physical, or procedural.</a:t>
            </a:r>
            <a:endParaRPr lang="en-US" sz="1030"/>
          </a:p>
        </p:txBody>
      </p:sp>
      <p:sp>
        <p:nvSpPr>
          <p:cNvPr id="23" name="Shape 21"/>
          <p:cNvSpPr/>
          <p:nvPr/>
        </p:nvSpPr>
        <p:spPr>
          <a:xfrm>
            <a:off x="566928" y="4215384"/>
            <a:ext cx="5394960" cy="658368"/>
          </a:xfrm>
          <a:prstGeom prst="roundRect">
            <a:avLst>
              <a:gd name="adj" fmla="val 12500"/>
            </a:avLst>
          </a:prstGeom>
          <a:solidFill>
            <a:srgbClr val="EAF0FA"/>
          </a:solidFill>
          <a:ln/>
        </p:spPr>
        <p:txBody>
          <a:bodyPr/>
          <a:lstStyle/>
          <a:p>
            <a:endParaRPr lang="en-US"/>
          </a:p>
        </p:txBody>
      </p:sp>
      <p:sp>
        <p:nvSpPr>
          <p:cNvPr id="24" name="Text 22"/>
          <p:cNvSpPr/>
          <p:nvPr/>
        </p:nvSpPr>
        <p:spPr>
          <a:xfrm>
            <a:off x="768096" y="4279392"/>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Authentication</a:t>
            </a:r>
            <a:endParaRPr lang="en-US" sz="1200"/>
          </a:p>
        </p:txBody>
      </p:sp>
      <p:sp>
        <p:nvSpPr>
          <p:cNvPr id="25" name="Text 23"/>
          <p:cNvSpPr/>
          <p:nvPr/>
        </p:nvSpPr>
        <p:spPr>
          <a:xfrm>
            <a:off x="768096" y="4517136"/>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Proving that a user is who they claim to be, before access is granted.</a:t>
            </a:r>
            <a:endParaRPr lang="en-US" sz="1030"/>
          </a:p>
        </p:txBody>
      </p:sp>
      <p:sp>
        <p:nvSpPr>
          <p:cNvPr id="26" name="Shape 24"/>
          <p:cNvSpPr/>
          <p:nvPr/>
        </p:nvSpPr>
        <p:spPr>
          <a:xfrm>
            <a:off x="6190488" y="4215384"/>
            <a:ext cx="5394960" cy="658368"/>
          </a:xfrm>
          <a:prstGeom prst="roundRect">
            <a:avLst>
              <a:gd name="adj" fmla="val 12500"/>
            </a:avLst>
          </a:prstGeom>
          <a:solidFill>
            <a:srgbClr val="F2F4F8"/>
          </a:solidFill>
          <a:ln/>
        </p:spPr>
        <p:txBody>
          <a:bodyPr/>
          <a:lstStyle/>
          <a:p>
            <a:endParaRPr lang="en-US"/>
          </a:p>
        </p:txBody>
      </p:sp>
      <p:sp>
        <p:nvSpPr>
          <p:cNvPr id="27" name="Text 25"/>
          <p:cNvSpPr/>
          <p:nvPr/>
        </p:nvSpPr>
        <p:spPr>
          <a:xfrm>
            <a:off x="6391656" y="4279392"/>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Indicator of compromise</a:t>
            </a:r>
            <a:endParaRPr lang="en-US" sz="1200"/>
          </a:p>
        </p:txBody>
      </p:sp>
      <p:sp>
        <p:nvSpPr>
          <p:cNvPr id="28" name="Text 26"/>
          <p:cNvSpPr/>
          <p:nvPr/>
        </p:nvSpPr>
        <p:spPr>
          <a:xfrm>
            <a:off x="6391656" y="4517136"/>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Observable evidence that an attack has been attempted or has succeeded — an IoC.</a:t>
            </a:r>
            <a:endParaRPr lang="en-US" sz="1030"/>
          </a:p>
        </p:txBody>
      </p:sp>
      <p:sp>
        <p:nvSpPr>
          <p:cNvPr id="29" name="Shape 27"/>
          <p:cNvSpPr/>
          <p:nvPr/>
        </p:nvSpPr>
        <p:spPr>
          <a:xfrm>
            <a:off x="566928" y="4974336"/>
            <a:ext cx="5394960" cy="658368"/>
          </a:xfrm>
          <a:prstGeom prst="roundRect">
            <a:avLst>
              <a:gd name="adj" fmla="val 12500"/>
            </a:avLst>
          </a:prstGeom>
          <a:solidFill>
            <a:srgbClr val="EAF0FA"/>
          </a:solidFill>
          <a:ln/>
        </p:spPr>
        <p:txBody>
          <a:bodyPr/>
          <a:lstStyle/>
          <a:p>
            <a:endParaRPr lang="en-US"/>
          </a:p>
        </p:txBody>
      </p:sp>
      <p:sp>
        <p:nvSpPr>
          <p:cNvPr id="30" name="Text 28"/>
          <p:cNvSpPr/>
          <p:nvPr/>
        </p:nvSpPr>
        <p:spPr>
          <a:xfrm>
            <a:off x="768096" y="5038344"/>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Social engineering</a:t>
            </a:r>
            <a:endParaRPr lang="en-US" sz="1200"/>
          </a:p>
        </p:txBody>
      </p:sp>
      <p:sp>
        <p:nvSpPr>
          <p:cNvPr id="31" name="Text 29"/>
          <p:cNvSpPr/>
          <p:nvPr/>
        </p:nvSpPr>
        <p:spPr>
          <a:xfrm>
            <a:off x="768096" y="5276088"/>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Manipulating a person into taking an action that helps the adversary.</a:t>
            </a:r>
            <a:endParaRPr lang="en-US" sz="1030"/>
          </a:p>
        </p:txBody>
      </p:sp>
      <p:sp>
        <p:nvSpPr>
          <p:cNvPr id="32" name="Shape 30"/>
          <p:cNvSpPr/>
          <p:nvPr/>
        </p:nvSpPr>
        <p:spPr>
          <a:xfrm>
            <a:off x="6190488" y="4974336"/>
            <a:ext cx="5394960" cy="658368"/>
          </a:xfrm>
          <a:prstGeom prst="roundRect">
            <a:avLst>
              <a:gd name="adj" fmla="val 12500"/>
            </a:avLst>
          </a:prstGeom>
          <a:solidFill>
            <a:srgbClr val="F2F4F8"/>
          </a:solidFill>
          <a:ln/>
        </p:spPr>
        <p:txBody>
          <a:bodyPr/>
          <a:lstStyle/>
          <a:p>
            <a:endParaRPr lang="en-US"/>
          </a:p>
        </p:txBody>
      </p:sp>
      <p:sp>
        <p:nvSpPr>
          <p:cNvPr id="33" name="Text 31"/>
          <p:cNvSpPr/>
          <p:nvPr/>
        </p:nvSpPr>
        <p:spPr>
          <a:xfrm>
            <a:off x="6391656" y="5038344"/>
            <a:ext cx="5029200" cy="237744"/>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Zero day</a:t>
            </a:r>
            <a:endParaRPr lang="en-US" sz="1200"/>
          </a:p>
        </p:txBody>
      </p:sp>
      <p:sp>
        <p:nvSpPr>
          <p:cNvPr id="34" name="Text 32"/>
          <p:cNvSpPr/>
          <p:nvPr/>
        </p:nvSpPr>
        <p:spPr>
          <a:xfrm>
            <a:off x="6391656" y="5276088"/>
            <a:ext cx="5029200" cy="310896"/>
          </a:xfrm>
          <a:prstGeom prst="rect">
            <a:avLst/>
          </a:prstGeom>
          <a:noFill/>
          <a:ln/>
        </p:spPr>
        <p:txBody>
          <a:bodyPr wrap="square" lIns="0" tIns="0" rIns="0" bIns="0" rtlCol="0" anchor="ctr"/>
          <a:lstStyle/>
          <a:p>
            <a:pPr marL="0" indent="0">
              <a:lnSpc>
                <a:spcPts val="1300"/>
              </a:lnSpc>
              <a:buNone/>
            </a:pPr>
            <a:r>
              <a:rPr lang="en-US" sz="1030">
                <a:solidFill>
                  <a:srgbClr val="6B7280"/>
                </a:solidFill>
                <a:latin typeface="Calibri" pitchFamily="34" charset="0"/>
                <a:ea typeface="Calibri" pitchFamily="34" charset="-122"/>
                <a:cs typeface="Calibri" pitchFamily="34" charset="-120"/>
              </a:rPr>
              <a:t>A vulnerability the defenders do not yet know about, so no patch exists.</a:t>
            </a:r>
            <a:endParaRPr lang="en-US" sz="1030"/>
          </a:p>
        </p:txBody>
      </p:sp>
      <p:sp>
        <p:nvSpPr>
          <p:cNvPr id="35" name="Shape 33"/>
          <p:cNvSpPr/>
          <p:nvPr/>
        </p:nvSpPr>
        <p:spPr>
          <a:xfrm>
            <a:off x="566928" y="5760720"/>
            <a:ext cx="11057839" cy="512064"/>
          </a:xfrm>
          <a:prstGeom prst="roundRect">
            <a:avLst>
              <a:gd name="adj" fmla="val 14286"/>
            </a:avLst>
          </a:prstGeom>
          <a:solidFill>
            <a:srgbClr val="12141C"/>
          </a:solidFill>
          <a:ln/>
        </p:spPr>
        <p:txBody>
          <a:bodyPr/>
          <a:lstStyle/>
          <a:p>
            <a:endParaRPr lang="en-US"/>
          </a:p>
        </p:txBody>
      </p:sp>
      <p:pic>
        <p:nvPicPr>
          <p:cNvPr id="36" name="Image 0" descr="/home/claude/icons/FaCircleQuestion_w.png"/>
          <p:cNvPicPr>
            <a:picLocks noChangeAspect="1"/>
          </p:cNvPicPr>
          <p:nvPr/>
        </p:nvPicPr>
        <p:blipFill>
          <a:blip r:embed="rId3"/>
          <a:stretch>
            <a:fillRect/>
          </a:stretch>
        </p:blipFill>
        <p:spPr>
          <a:xfrm>
            <a:off x="768096" y="5902452"/>
            <a:ext cx="228600" cy="228600"/>
          </a:xfrm>
          <a:prstGeom prst="rect">
            <a:avLst/>
          </a:prstGeom>
        </p:spPr>
      </p:pic>
      <p:sp>
        <p:nvSpPr>
          <p:cNvPr id="37" name="Text 34"/>
          <p:cNvSpPr/>
          <p:nvPr/>
        </p:nvSpPr>
        <p:spPr>
          <a:xfrm>
            <a:off x="1133856" y="576072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Quick test: "An unlocked door is a ___; a burglar is a ___; the chance of losing your laptop is the ___."  (vulnerability · threat · risk)</a:t>
            </a:r>
            <a:endParaRPr lang="en-US" sz="1150"/>
          </a:p>
        </p:txBody>
      </p:sp>
      <p:sp>
        <p:nvSpPr>
          <p:cNvPr id="38" name="Text 3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9" name="Text 3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7</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6720840" y="0"/>
            <a:ext cx="5468112" cy="6858000"/>
          </a:xfrm>
          <a:prstGeom prst="roundRect">
            <a:avLst/>
          </a:prstGeom>
          <a:solidFill>
            <a:srgbClr val="1D2331"/>
          </a:solidFill>
          <a:ln/>
        </p:spPr>
        <p:txBody>
          <a:bodyPr/>
          <a:lstStyle/>
          <a:p>
            <a:endParaRPr lang="en-US"/>
          </a:p>
        </p:txBody>
      </p:sp>
      <p:sp>
        <p:nvSpPr>
          <p:cNvPr id="3" name="Text 1"/>
          <p:cNvSpPr/>
          <p:nvPr/>
        </p:nvSpPr>
        <p:spPr>
          <a:xfrm>
            <a:off x="566928" y="1234440"/>
            <a:ext cx="566928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TOPIC 1.1   ·   ~2 class periods</a:t>
            </a:r>
            <a:endParaRPr lang="en-US" sz="1050"/>
          </a:p>
        </p:txBody>
      </p:sp>
      <p:sp>
        <p:nvSpPr>
          <p:cNvPr id="4" name="Text 2"/>
          <p:cNvSpPr/>
          <p:nvPr/>
        </p:nvSpPr>
        <p:spPr>
          <a:xfrm>
            <a:off x="566928" y="1627632"/>
            <a:ext cx="5760720" cy="1554480"/>
          </a:xfrm>
          <a:prstGeom prst="rect">
            <a:avLst/>
          </a:prstGeom>
          <a:noFill/>
          <a:ln/>
        </p:spPr>
        <p:txBody>
          <a:bodyPr wrap="square" lIns="0" tIns="0" rIns="0" bIns="0" rtlCol="0" anchor="ctr"/>
          <a:lstStyle/>
          <a:p>
            <a:pPr marL="0" indent="0">
              <a:lnSpc>
                <a:spcPts val="4400"/>
              </a:lnSpc>
              <a:buNone/>
            </a:pPr>
            <a:r>
              <a:rPr lang="en-US" sz="4000" b="1">
                <a:solidFill>
                  <a:srgbClr val="FFFFFF"/>
                </a:solidFill>
                <a:latin typeface="Cambria" pitchFamily="34" charset="0"/>
                <a:ea typeface="Cambria" pitchFamily="34" charset="-122"/>
                <a:cs typeface="Cambria" pitchFamily="34" charset="-120"/>
              </a:rPr>
              <a:t>Understanding</a:t>
            </a:r>
            <a:endParaRPr lang="en-US" sz="4000"/>
          </a:p>
          <a:p>
            <a:pPr marL="0" indent="0">
              <a:lnSpc>
                <a:spcPts val="4400"/>
              </a:lnSpc>
              <a:buNone/>
            </a:pPr>
            <a:r>
              <a:rPr lang="en-US" sz="4000" b="1">
                <a:solidFill>
                  <a:srgbClr val="FFFFFF"/>
                </a:solidFill>
                <a:latin typeface="Cambria" pitchFamily="34" charset="0"/>
                <a:ea typeface="Cambria" pitchFamily="34" charset="-122"/>
                <a:cs typeface="Cambria" pitchFamily="34" charset="-120"/>
              </a:rPr>
              <a:t>Social Engineering</a:t>
            </a:r>
            <a:endParaRPr lang="en-US" sz="4000"/>
          </a:p>
        </p:txBody>
      </p:sp>
      <p:sp>
        <p:nvSpPr>
          <p:cNvPr id="5" name="Shape 3"/>
          <p:cNvSpPr/>
          <p:nvPr/>
        </p:nvSpPr>
        <p:spPr>
          <a:xfrm>
            <a:off x="566928" y="3310128"/>
            <a:ext cx="4023360" cy="10973"/>
          </a:xfrm>
          <a:prstGeom prst="rect">
            <a:avLst/>
          </a:prstGeom>
          <a:solidFill>
            <a:srgbClr val="2C3446"/>
          </a:solidFill>
          <a:ln/>
        </p:spPr>
        <p:txBody>
          <a:bodyPr/>
          <a:lstStyle/>
          <a:p>
            <a:endParaRPr lang="en-US"/>
          </a:p>
        </p:txBody>
      </p:sp>
      <p:sp>
        <p:nvSpPr>
          <p:cNvPr id="6" name="Text 4"/>
          <p:cNvSpPr/>
          <p:nvPr/>
        </p:nvSpPr>
        <p:spPr>
          <a:xfrm>
            <a:off x="566928" y="3493008"/>
            <a:ext cx="5577840" cy="914400"/>
          </a:xfrm>
          <a:prstGeom prst="rect">
            <a:avLst/>
          </a:prstGeom>
          <a:noFill/>
          <a:ln/>
        </p:spPr>
        <p:txBody>
          <a:bodyPr wrap="square" lIns="0" tIns="0" rIns="0" bIns="0" rtlCol="0" anchor="ctr"/>
          <a:lstStyle/>
          <a:p>
            <a:pPr marL="0" indent="0">
              <a:lnSpc>
                <a:spcPts val="1800"/>
              </a:lnSpc>
              <a:buNone/>
            </a:pPr>
            <a:r>
              <a:rPr lang="en-US" sz="1300" i="1">
                <a:solidFill>
                  <a:srgbClr val="9AA3B2"/>
                </a:solidFill>
                <a:latin typeface="Calibri" pitchFamily="34" charset="0"/>
                <a:ea typeface="Calibri" pitchFamily="34" charset="-122"/>
                <a:cs typeface="Calibri" pitchFamily="34" charset="-120"/>
              </a:rPr>
              <a:t>Adversaries exploit human behaviour and psychology rather than technical flaws. No firewall stops a person who chooses to help.</a:t>
            </a:r>
            <a:endParaRPr lang="en-US" sz="1300"/>
          </a:p>
        </p:txBody>
      </p:sp>
      <p:sp>
        <p:nvSpPr>
          <p:cNvPr id="7" name="Shape 5"/>
          <p:cNvSpPr/>
          <p:nvPr/>
        </p:nvSpPr>
        <p:spPr>
          <a:xfrm>
            <a:off x="566928" y="4617720"/>
            <a:ext cx="566928" cy="566928"/>
          </a:xfrm>
          <a:prstGeom prst="ellipse">
            <a:avLst/>
          </a:prstGeom>
          <a:solidFill>
            <a:srgbClr val="F2A03D"/>
          </a:solidFill>
          <a:ln/>
        </p:spPr>
        <p:txBody>
          <a:bodyPr/>
          <a:lstStyle/>
          <a:p>
            <a:endParaRPr lang="en-US"/>
          </a:p>
        </p:txBody>
      </p:sp>
      <p:pic>
        <p:nvPicPr>
          <p:cNvPr id="8" name="Image 0" descr="/home/claude/icons/FaCommentDots_w.png"/>
          <p:cNvPicPr>
            <a:picLocks noChangeAspect="1"/>
          </p:cNvPicPr>
          <p:nvPr/>
        </p:nvPicPr>
        <p:blipFill>
          <a:blip r:embed="rId3"/>
          <a:stretch>
            <a:fillRect/>
          </a:stretch>
        </p:blipFill>
        <p:spPr>
          <a:xfrm>
            <a:off x="714329" y="4765121"/>
            <a:ext cx="272125" cy="272125"/>
          </a:xfrm>
          <a:prstGeom prst="rect">
            <a:avLst/>
          </a:prstGeom>
        </p:spPr>
      </p:pic>
      <p:sp>
        <p:nvSpPr>
          <p:cNvPr id="9" name="Text 6"/>
          <p:cNvSpPr/>
          <p:nvPr/>
        </p:nvSpPr>
        <p:spPr>
          <a:xfrm>
            <a:off x="1316736" y="4617720"/>
            <a:ext cx="4572000" cy="566928"/>
          </a:xfrm>
          <a:prstGeom prst="rect">
            <a:avLst/>
          </a:prstGeom>
          <a:noFill/>
          <a:ln/>
        </p:spPr>
        <p:txBody>
          <a:bodyPr wrap="square" lIns="0" tIns="0" rIns="0" bIns="0" rtlCol="0" anchor="ctr"/>
          <a:lstStyle/>
          <a:p>
            <a:pPr marL="0" indent="0">
              <a:buNone/>
            </a:pPr>
            <a:r>
              <a:rPr lang="en-US" sz="1100" b="1" kern="0" spc="120">
                <a:solidFill>
                  <a:srgbClr val="F2A03D"/>
                </a:solidFill>
                <a:latin typeface="Calibri" pitchFamily="34" charset="0"/>
                <a:ea typeface="Calibri" pitchFamily="34" charset="-122"/>
                <a:cs typeface="Calibri" pitchFamily="34" charset="-120"/>
              </a:rPr>
              <a:t>SKILL 1.A · ANALYZE RISK</a:t>
            </a:r>
            <a:endParaRPr lang="en-US" sz="1100"/>
          </a:p>
        </p:txBody>
      </p:sp>
      <p:sp>
        <p:nvSpPr>
          <p:cNvPr id="10" name="Text 7"/>
          <p:cNvSpPr/>
          <p:nvPr/>
        </p:nvSpPr>
        <p:spPr>
          <a:xfrm>
            <a:off x="7269480" y="1371600"/>
            <a:ext cx="4572000" cy="237744"/>
          </a:xfrm>
          <a:prstGeom prst="rect">
            <a:avLst/>
          </a:prstGeom>
          <a:noFill/>
          <a:ln/>
        </p:spPr>
        <p:txBody>
          <a:bodyPr wrap="square" lIns="0" tIns="0" rIns="0" bIns="0" rtlCol="0" anchor="ctr"/>
          <a:lstStyle/>
          <a:p>
            <a:pPr marL="0" indent="0">
              <a:buNone/>
            </a:pPr>
            <a:r>
              <a:rPr lang="en-US" sz="1000" b="1" kern="0" spc="150">
                <a:solidFill>
                  <a:srgbClr val="F2A03D"/>
                </a:solidFill>
                <a:latin typeface="Calibri" pitchFamily="34" charset="0"/>
                <a:ea typeface="Calibri" pitchFamily="34" charset="-122"/>
                <a:cs typeface="Calibri" pitchFamily="34" charset="-120"/>
              </a:rPr>
              <a:t>LEARNING OBJECTIVES</a:t>
            </a:r>
            <a:endParaRPr lang="en-US" sz="1000"/>
          </a:p>
        </p:txBody>
      </p:sp>
      <p:sp>
        <p:nvSpPr>
          <p:cNvPr id="11" name="Shape 8"/>
          <p:cNvSpPr/>
          <p:nvPr/>
        </p:nvSpPr>
        <p:spPr>
          <a:xfrm>
            <a:off x="7269480" y="1828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2" name="Shape 9"/>
          <p:cNvSpPr/>
          <p:nvPr/>
        </p:nvSpPr>
        <p:spPr>
          <a:xfrm>
            <a:off x="7498080" y="1993392"/>
            <a:ext cx="713232" cy="237744"/>
          </a:xfrm>
          <a:prstGeom prst="roundRect">
            <a:avLst>
              <a:gd name="adj" fmla="val 23077"/>
            </a:avLst>
          </a:prstGeom>
          <a:solidFill>
            <a:srgbClr val="F2A03D"/>
          </a:solidFill>
          <a:ln/>
        </p:spPr>
        <p:txBody>
          <a:bodyPr/>
          <a:lstStyle/>
          <a:p>
            <a:endParaRPr lang="en-US"/>
          </a:p>
        </p:txBody>
      </p:sp>
      <p:sp>
        <p:nvSpPr>
          <p:cNvPr id="13" name="Text 10"/>
          <p:cNvSpPr/>
          <p:nvPr/>
        </p:nvSpPr>
        <p:spPr>
          <a:xfrm>
            <a:off x="7498080" y="1993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1.1.A</a:t>
            </a:r>
            <a:endParaRPr lang="en-US" sz="950"/>
          </a:p>
        </p:txBody>
      </p:sp>
      <p:sp>
        <p:nvSpPr>
          <p:cNvPr id="14" name="Text 11"/>
          <p:cNvSpPr/>
          <p:nvPr/>
        </p:nvSpPr>
        <p:spPr>
          <a:xfrm>
            <a:off x="7498080" y="2286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Identify common indicators of social engineering tactics.</a:t>
            </a:r>
            <a:endParaRPr lang="en-US" sz="1100"/>
          </a:p>
        </p:txBody>
      </p:sp>
      <p:sp>
        <p:nvSpPr>
          <p:cNvPr id="15" name="Shape 12"/>
          <p:cNvSpPr/>
          <p:nvPr/>
        </p:nvSpPr>
        <p:spPr>
          <a:xfrm>
            <a:off x="7269480" y="2971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6" name="Shape 13"/>
          <p:cNvSpPr/>
          <p:nvPr/>
        </p:nvSpPr>
        <p:spPr>
          <a:xfrm>
            <a:off x="7498080" y="3136392"/>
            <a:ext cx="713232" cy="237744"/>
          </a:xfrm>
          <a:prstGeom prst="roundRect">
            <a:avLst>
              <a:gd name="adj" fmla="val 23077"/>
            </a:avLst>
          </a:prstGeom>
          <a:solidFill>
            <a:srgbClr val="F2A03D"/>
          </a:solidFill>
          <a:ln/>
        </p:spPr>
        <p:txBody>
          <a:bodyPr/>
          <a:lstStyle/>
          <a:p>
            <a:endParaRPr lang="en-US"/>
          </a:p>
        </p:txBody>
      </p:sp>
      <p:sp>
        <p:nvSpPr>
          <p:cNvPr id="17" name="Text 14"/>
          <p:cNvSpPr/>
          <p:nvPr/>
        </p:nvSpPr>
        <p:spPr>
          <a:xfrm>
            <a:off x="7498080" y="3136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1.1.B</a:t>
            </a:r>
            <a:endParaRPr lang="en-US" sz="950"/>
          </a:p>
        </p:txBody>
      </p:sp>
      <p:sp>
        <p:nvSpPr>
          <p:cNvPr id="18" name="Text 15"/>
          <p:cNvSpPr/>
          <p:nvPr/>
        </p:nvSpPr>
        <p:spPr>
          <a:xfrm>
            <a:off x="7498080" y="3429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Explain how social engineering tactics influence victims to perform a desired action.</a:t>
            </a:r>
            <a:endParaRPr lang="en-US" sz="1100"/>
          </a:p>
        </p:txBody>
      </p:sp>
      <p:sp>
        <p:nvSpPr>
          <p:cNvPr id="19" name="Shape 16"/>
          <p:cNvSpPr/>
          <p:nvPr/>
        </p:nvSpPr>
        <p:spPr>
          <a:xfrm>
            <a:off x="7269480" y="4114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20" name="Shape 17"/>
          <p:cNvSpPr/>
          <p:nvPr/>
        </p:nvSpPr>
        <p:spPr>
          <a:xfrm>
            <a:off x="7498080" y="4279392"/>
            <a:ext cx="713232" cy="237744"/>
          </a:xfrm>
          <a:prstGeom prst="roundRect">
            <a:avLst>
              <a:gd name="adj" fmla="val 23077"/>
            </a:avLst>
          </a:prstGeom>
          <a:solidFill>
            <a:srgbClr val="F2A03D"/>
          </a:solidFill>
          <a:ln/>
        </p:spPr>
        <p:txBody>
          <a:bodyPr/>
          <a:lstStyle/>
          <a:p>
            <a:endParaRPr lang="en-US"/>
          </a:p>
        </p:txBody>
      </p:sp>
      <p:sp>
        <p:nvSpPr>
          <p:cNvPr id="21" name="Text 18"/>
          <p:cNvSpPr/>
          <p:nvPr/>
        </p:nvSpPr>
        <p:spPr>
          <a:xfrm>
            <a:off x="7498080" y="4279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1.1.C</a:t>
            </a:r>
            <a:endParaRPr lang="en-US" sz="950"/>
          </a:p>
        </p:txBody>
      </p:sp>
      <p:sp>
        <p:nvSpPr>
          <p:cNvPr id="22" name="Text 19"/>
          <p:cNvSpPr/>
          <p:nvPr/>
        </p:nvSpPr>
        <p:spPr>
          <a:xfrm>
            <a:off x="7498080" y="4572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Describe possible impacts for victims of social engineering attacks.</a:t>
            </a:r>
            <a:endParaRPr lang="en-US" sz="1100"/>
          </a:p>
        </p:txBody>
      </p:sp>
      <p:sp>
        <p:nvSpPr>
          <p:cNvPr id="23" name="Text 20"/>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4" name="Text 21"/>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8</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1.1.A  ·  DEFINITION</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Social engineering attacks the decision, not the device</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Psychological tactics are used to manipulate a person into revealing information, downloading a file, or clicking a link.</a:t>
            </a:r>
            <a:endParaRPr lang="en-US" sz="1400"/>
          </a:p>
        </p:txBody>
      </p:sp>
      <p:sp>
        <p:nvSpPr>
          <p:cNvPr id="5" name="Shape 3"/>
          <p:cNvSpPr/>
          <p:nvPr/>
        </p:nvSpPr>
        <p:spPr>
          <a:xfrm>
            <a:off x="566928" y="1965960"/>
            <a:ext cx="5486400" cy="3520440"/>
          </a:xfrm>
          <a:prstGeom prst="roundRect">
            <a:avLst>
              <a:gd name="adj" fmla="val 2338"/>
            </a:avLst>
          </a:prstGeom>
          <a:solidFill>
            <a:srgbClr val="F2F4F8"/>
          </a:solidFill>
          <a:ln/>
        </p:spPr>
        <p:txBody>
          <a:bodyPr/>
          <a:lstStyle/>
          <a:p>
            <a:endParaRPr lang="en-US"/>
          </a:p>
        </p:txBody>
      </p:sp>
      <p:sp>
        <p:nvSpPr>
          <p:cNvPr id="6" name="Text 4"/>
          <p:cNvSpPr/>
          <p:nvPr/>
        </p:nvSpPr>
        <p:spPr>
          <a:xfrm>
            <a:off x="859536" y="2148840"/>
            <a:ext cx="4937760" cy="256032"/>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What the adversary is trying to achieve</a:t>
            </a:r>
            <a:endParaRPr lang="en-US" sz="1300"/>
          </a:p>
        </p:txBody>
      </p:sp>
      <p:sp>
        <p:nvSpPr>
          <p:cNvPr id="7" name="Shape 5"/>
          <p:cNvSpPr/>
          <p:nvPr/>
        </p:nvSpPr>
        <p:spPr>
          <a:xfrm>
            <a:off x="859536" y="2569464"/>
            <a:ext cx="420624" cy="420624"/>
          </a:xfrm>
          <a:prstGeom prst="ellipse">
            <a:avLst/>
          </a:prstGeom>
          <a:solidFill>
            <a:srgbClr val="F2A03D"/>
          </a:solidFill>
          <a:ln/>
        </p:spPr>
        <p:txBody>
          <a:bodyPr/>
          <a:lstStyle/>
          <a:p>
            <a:endParaRPr lang="en-US"/>
          </a:p>
        </p:txBody>
      </p:sp>
      <p:pic>
        <p:nvPicPr>
          <p:cNvPr id="8" name="Image 0" descr="/home/claude/icons/FaComments_w.png"/>
          <p:cNvPicPr>
            <a:picLocks noChangeAspect="1"/>
          </p:cNvPicPr>
          <p:nvPr/>
        </p:nvPicPr>
        <p:blipFill>
          <a:blip r:embed="rId3"/>
          <a:stretch>
            <a:fillRect/>
          </a:stretch>
        </p:blipFill>
        <p:spPr>
          <a:xfrm>
            <a:off x="968898" y="2678826"/>
            <a:ext cx="201900" cy="201900"/>
          </a:xfrm>
          <a:prstGeom prst="rect">
            <a:avLst/>
          </a:prstGeom>
        </p:spPr>
      </p:pic>
      <p:sp>
        <p:nvSpPr>
          <p:cNvPr id="9" name="Text 6"/>
          <p:cNvSpPr/>
          <p:nvPr/>
        </p:nvSpPr>
        <p:spPr>
          <a:xfrm>
            <a:off x="1426464" y="2542032"/>
            <a:ext cx="411480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Elicitation</a:t>
            </a:r>
            <a:endParaRPr lang="en-US" sz="1200"/>
          </a:p>
        </p:txBody>
      </p:sp>
      <p:sp>
        <p:nvSpPr>
          <p:cNvPr id="10" name="Text 7"/>
          <p:cNvSpPr/>
          <p:nvPr/>
        </p:nvSpPr>
        <p:spPr>
          <a:xfrm>
            <a:off x="1426464" y="2798064"/>
            <a:ext cx="4343400" cy="621792"/>
          </a:xfrm>
          <a:prstGeom prst="rect">
            <a:avLst/>
          </a:prstGeom>
          <a:noFill/>
          <a:ln/>
        </p:spPr>
        <p:txBody>
          <a:bodyPr wrap="square" lIns="0" tIns="0" rIns="0" bIns="0" rtlCol="0" anchor="t"/>
          <a:lstStyle/>
          <a:p>
            <a:pPr marL="0" indent="0">
              <a:lnSpc>
                <a:spcPts val="1400"/>
              </a:lnSpc>
              <a:buNone/>
            </a:pPr>
            <a:r>
              <a:rPr lang="en-US" sz="1080">
                <a:solidFill>
                  <a:srgbClr val="6B7280"/>
                </a:solidFill>
                <a:latin typeface="Calibri" pitchFamily="34" charset="0"/>
                <a:ea typeface="Calibri" pitchFamily="34" charset="-122"/>
                <a:cs typeface="Calibri" pitchFamily="34" charset="-120"/>
              </a:rPr>
              <a:t>Getting the target to reveal sensitive information — sometimes in conversation, without the target realising it was a request.</a:t>
            </a:r>
            <a:endParaRPr lang="en-US" sz="1080"/>
          </a:p>
        </p:txBody>
      </p:sp>
      <p:sp>
        <p:nvSpPr>
          <p:cNvPr id="11" name="Shape 8"/>
          <p:cNvSpPr/>
          <p:nvPr/>
        </p:nvSpPr>
        <p:spPr>
          <a:xfrm>
            <a:off x="859536" y="3538728"/>
            <a:ext cx="420624" cy="420624"/>
          </a:xfrm>
          <a:prstGeom prst="ellipse">
            <a:avLst/>
          </a:prstGeom>
          <a:solidFill>
            <a:srgbClr val="F2A03D"/>
          </a:solidFill>
          <a:ln/>
        </p:spPr>
        <p:txBody>
          <a:bodyPr/>
          <a:lstStyle/>
          <a:p>
            <a:endParaRPr lang="en-US"/>
          </a:p>
        </p:txBody>
      </p:sp>
      <p:pic>
        <p:nvPicPr>
          <p:cNvPr id="12" name="Image 1" descr="/home/claude/icons/FaCloudArrowDown_w.png"/>
          <p:cNvPicPr>
            <a:picLocks noChangeAspect="1"/>
          </p:cNvPicPr>
          <p:nvPr/>
        </p:nvPicPr>
        <p:blipFill>
          <a:blip r:embed="rId4"/>
          <a:stretch>
            <a:fillRect/>
          </a:stretch>
        </p:blipFill>
        <p:spPr>
          <a:xfrm>
            <a:off x="968898" y="3648090"/>
            <a:ext cx="201900" cy="201900"/>
          </a:xfrm>
          <a:prstGeom prst="rect">
            <a:avLst/>
          </a:prstGeom>
        </p:spPr>
      </p:pic>
      <p:sp>
        <p:nvSpPr>
          <p:cNvPr id="13" name="Text 9"/>
          <p:cNvSpPr/>
          <p:nvPr/>
        </p:nvSpPr>
        <p:spPr>
          <a:xfrm>
            <a:off x="1426464" y="3511296"/>
            <a:ext cx="411480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Malicious download</a:t>
            </a:r>
            <a:endParaRPr lang="en-US" sz="1200"/>
          </a:p>
        </p:txBody>
      </p:sp>
      <p:sp>
        <p:nvSpPr>
          <p:cNvPr id="14" name="Text 10"/>
          <p:cNvSpPr/>
          <p:nvPr/>
        </p:nvSpPr>
        <p:spPr>
          <a:xfrm>
            <a:off x="1426464" y="3767328"/>
            <a:ext cx="4343400" cy="621792"/>
          </a:xfrm>
          <a:prstGeom prst="rect">
            <a:avLst/>
          </a:prstGeom>
          <a:noFill/>
          <a:ln/>
        </p:spPr>
        <p:txBody>
          <a:bodyPr wrap="square" lIns="0" tIns="0" rIns="0" bIns="0" rtlCol="0" anchor="t"/>
          <a:lstStyle/>
          <a:p>
            <a:pPr marL="0" indent="0">
              <a:lnSpc>
                <a:spcPts val="1400"/>
              </a:lnSpc>
              <a:buNone/>
            </a:pPr>
            <a:r>
              <a:rPr lang="en-US" sz="1080">
                <a:solidFill>
                  <a:srgbClr val="6B7280"/>
                </a:solidFill>
                <a:latin typeface="Calibri" pitchFamily="34" charset="0"/>
                <a:ea typeface="Calibri" pitchFamily="34" charset="-122"/>
                <a:cs typeface="Calibri" pitchFamily="34" charset="-120"/>
              </a:rPr>
              <a:t>Persuading the target to open an attachment or install software that gives the adversary a foothold.</a:t>
            </a:r>
            <a:endParaRPr lang="en-US" sz="1080"/>
          </a:p>
        </p:txBody>
      </p:sp>
      <p:sp>
        <p:nvSpPr>
          <p:cNvPr id="15" name="Shape 11"/>
          <p:cNvSpPr/>
          <p:nvPr/>
        </p:nvSpPr>
        <p:spPr>
          <a:xfrm>
            <a:off x="859536" y="4507992"/>
            <a:ext cx="420624" cy="420624"/>
          </a:xfrm>
          <a:prstGeom prst="ellipse">
            <a:avLst/>
          </a:prstGeom>
          <a:solidFill>
            <a:srgbClr val="F2A03D"/>
          </a:solidFill>
          <a:ln/>
        </p:spPr>
        <p:txBody>
          <a:bodyPr/>
          <a:lstStyle/>
          <a:p>
            <a:endParaRPr lang="en-US"/>
          </a:p>
        </p:txBody>
      </p:sp>
      <p:pic>
        <p:nvPicPr>
          <p:cNvPr id="16" name="Image 2" descr="/home/claude/icons/FaLink_w.png"/>
          <p:cNvPicPr>
            <a:picLocks noChangeAspect="1"/>
          </p:cNvPicPr>
          <p:nvPr/>
        </p:nvPicPr>
        <p:blipFill>
          <a:blip r:embed="rId5"/>
          <a:stretch>
            <a:fillRect/>
          </a:stretch>
        </p:blipFill>
        <p:spPr>
          <a:xfrm>
            <a:off x="968898" y="4617354"/>
            <a:ext cx="201900" cy="201900"/>
          </a:xfrm>
          <a:prstGeom prst="rect">
            <a:avLst/>
          </a:prstGeom>
        </p:spPr>
      </p:pic>
      <p:sp>
        <p:nvSpPr>
          <p:cNvPr id="17" name="Text 12"/>
          <p:cNvSpPr/>
          <p:nvPr/>
        </p:nvSpPr>
        <p:spPr>
          <a:xfrm>
            <a:off x="1426464" y="4480560"/>
            <a:ext cx="411480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Malicious link</a:t>
            </a:r>
            <a:endParaRPr lang="en-US" sz="1200"/>
          </a:p>
        </p:txBody>
      </p:sp>
      <p:sp>
        <p:nvSpPr>
          <p:cNvPr id="18" name="Text 13"/>
          <p:cNvSpPr/>
          <p:nvPr/>
        </p:nvSpPr>
        <p:spPr>
          <a:xfrm>
            <a:off x="1426464" y="4736592"/>
            <a:ext cx="4343400" cy="621792"/>
          </a:xfrm>
          <a:prstGeom prst="rect">
            <a:avLst/>
          </a:prstGeom>
          <a:noFill/>
          <a:ln/>
        </p:spPr>
        <p:txBody>
          <a:bodyPr wrap="square" lIns="0" tIns="0" rIns="0" bIns="0" rtlCol="0" anchor="t"/>
          <a:lstStyle/>
          <a:p>
            <a:pPr marL="0" indent="0">
              <a:lnSpc>
                <a:spcPts val="1400"/>
              </a:lnSpc>
              <a:buNone/>
            </a:pPr>
            <a:r>
              <a:rPr lang="en-US" sz="1080">
                <a:solidFill>
                  <a:srgbClr val="6B7280"/>
                </a:solidFill>
                <a:latin typeface="Calibri" pitchFamily="34" charset="0"/>
                <a:ea typeface="Calibri" pitchFamily="34" charset="-122"/>
                <a:cs typeface="Calibri" pitchFamily="34" charset="-120"/>
              </a:rPr>
              <a:t>Sending the target to a page that captures credentials or silently delivers malware.</a:t>
            </a:r>
            <a:endParaRPr lang="en-US" sz="1080"/>
          </a:p>
        </p:txBody>
      </p:sp>
      <p:sp>
        <p:nvSpPr>
          <p:cNvPr id="19" name="Shape 14"/>
          <p:cNvSpPr/>
          <p:nvPr/>
        </p:nvSpPr>
        <p:spPr>
          <a:xfrm>
            <a:off x="6263640" y="1965960"/>
            <a:ext cx="5358384" cy="1600200"/>
          </a:xfrm>
          <a:prstGeom prst="roundRect">
            <a:avLst>
              <a:gd name="adj" fmla="val 5143"/>
            </a:avLst>
          </a:prstGeom>
          <a:solidFill>
            <a:srgbClr val="12141C"/>
          </a:solidFill>
          <a:ln/>
        </p:spPr>
        <p:txBody>
          <a:bodyPr/>
          <a:lstStyle/>
          <a:p>
            <a:endParaRPr lang="en-US"/>
          </a:p>
        </p:txBody>
      </p:sp>
      <p:sp>
        <p:nvSpPr>
          <p:cNvPr id="20" name="Text 15"/>
          <p:cNvSpPr/>
          <p:nvPr/>
        </p:nvSpPr>
        <p:spPr>
          <a:xfrm>
            <a:off x="6556248" y="2121408"/>
            <a:ext cx="4754880" cy="256032"/>
          </a:xfrm>
          <a:prstGeom prst="rect">
            <a:avLst/>
          </a:prstGeom>
          <a:noFill/>
          <a:ln/>
        </p:spPr>
        <p:txBody>
          <a:bodyPr wrap="square" lIns="0" tIns="0" rIns="0" bIns="0" rtlCol="0" anchor="ctr"/>
          <a:lstStyle/>
          <a:p>
            <a:pPr marL="0" indent="0">
              <a:buNone/>
            </a:pPr>
            <a:r>
              <a:rPr lang="en-US" sz="1250" b="1">
                <a:solidFill>
                  <a:srgbClr val="FFFFFF"/>
                </a:solidFill>
                <a:latin typeface="Calibri" pitchFamily="34" charset="0"/>
                <a:ea typeface="Calibri" pitchFamily="34" charset="-122"/>
                <a:cs typeface="Calibri" pitchFamily="34" charset="-120"/>
              </a:rPr>
              <a:t>Where it happens</a:t>
            </a:r>
            <a:endParaRPr lang="en-US" sz="1250"/>
          </a:p>
        </p:txBody>
      </p:sp>
      <p:sp>
        <p:nvSpPr>
          <p:cNvPr id="21" name="Text 16"/>
          <p:cNvSpPr/>
          <p:nvPr/>
        </p:nvSpPr>
        <p:spPr>
          <a:xfrm>
            <a:off x="6556248" y="2450592"/>
            <a:ext cx="4754880" cy="960120"/>
          </a:xfrm>
          <a:prstGeom prst="rect">
            <a:avLst/>
          </a:prstGeom>
          <a:noFill/>
          <a:ln/>
        </p:spPr>
        <p:txBody>
          <a:bodyPr wrap="square" lIns="0" tIns="0" rIns="0" bIns="0" rtlCol="0" anchor="t"/>
          <a:lstStyle/>
          <a:p>
            <a:pPr marL="0" indent="0">
              <a:lnSpc>
                <a:spcPts val="1550"/>
              </a:lnSpc>
              <a:buNone/>
            </a:pPr>
            <a:r>
              <a:rPr lang="en-US" sz="1150">
                <a:solidFill>
                  <a:srgbClr val="9AA3B2"/>
                </a:solidFill>
                <a:latin typeface="Calibri" pitchFamily="34" charset="0"/>
                <a:ea typeface="Calibri" pitchFamily="34" charset="-122"/>
                <a:cs typeface="Calibri" pitchFamily="34" charset="-120"/>
              </a:rPr>
              <a:t>Social engineering can be done face to face, but it is most often delivered by email, by text message, or through social media messages — channels that let one adversary reach thousands of targets at almost no cost.</a:t>
            </a:r>
            <a:endParaRPr lang="en-US" sz="1150"/>
          </a:p>
        </p:txBody>
      </p:sp>
      <p:sp>
        <p:nvSpPr>
          <p:cNvPr id="22" name="Shape 17"/>
          <p:cNvSpPr/>
          <p:nvPr/>
        </p:nvSpPr>
        <p:spPr>
          <a:xfrm>
            <a:off x="6263640" y="3730752"/>
            <a:ext cx="5358384" cy="1755648"/>
          </a:xfrm>
          <a:prstGeom prst="roundRect">
            <a:avLst>
              <a:gd name="adj" fmla="val 4688"/>
            </a:avLst>
          </a:prstGeom>
          <a:solidFill>
            <a:srgbClr val="FDF2E2"/>
          </a:solidFill>
          <a:ln/>
        </p:spPr>
        <p:txBody>
          <a:bodyPr/>
          <a:lstStyle/>
          <a:p>
            <a:endParaRPr lang="en-US"/>
          </a:p>
        </p:txBody>
      </p:sp>
      <p:sp>
        <p:nvSpPr>
          <p:cNvPr id="23" name="Text 18"/>
          <p:cNvSpPr/>
          <p:nvPr/>
        </p:nvSpPr>
        <p:spPr>
          <a:xfrm>
            <a:off x="6556248" y="3895344"/>
            <a:ext cx="47548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Why technical defences do not stop it</a:t>
            </a:r>
            <a:endParaRPr lang="en-US" sz="1250"/>
          </a:p>
        </p:txBody>
      </p:sp>
      <p:sp>
        <p:nvSpPr>
          <p:cNvPr id="24" name="Text 19"/>
          <p:cNvSpPr/>
          <p:nvPr/>
        </p:nvSpPr>
        <p:spPr>
          <a:xfrm>
            <a:off x="6556248" y="4224528"/>
            <a:ext cx="4754880" cy="1143000"/>
          </a:xfrm>
          <a:prstGeom prst="rect">
            <a:avLst/>
          </a:prstGeom>
          <a:noFill/>
          <a:ln/>
        </p:spPr>
        <p:txBody>
          <a:bodyPr wrap="square" lIns="0" tIns="0" rIns="0" bIns="0" rtlCol="0" anchor="t"/>
          <a:lstStyle/>
          <a:p>
            <a:pPr marL="177800" indent="-177800">
              <a:lnSpc>
                <a:spcPts val="1650"/>
              </a:lnSpc>
              <a:spcAft>
                <a:spcPts val="600"/>
              </a:spcAft>
              <a:buSzPct val="100000"/>
              <a:buChar char="▪"/>
            </a:pPr>
            <a:r>
              <a:rPr lang="en-US" sz="1100">
                <a:solidFill>
                  <a:srgbClr val="2B303C"/>
                </a:solidFill>
                <a:latin typeface="Calibri" pitchFamily="34" charset="0"/>
                <a:ea typeface="Calibri" pitchFamily="34" charset="-122"/>
                <a:cs typeface="Calibri" pitchFamily="34" charset="-120"/>
              </a:rPr>
              <a:t>The victim's actions are authorised — they are allowed to click, log in, and send files.</a:t>
            </a:r>
            <a:endParaRPr lang="en-US" sz="1100"/>
          </a:p>
          <a:p>
            <a:pPr marL="177800" indent="-177800">
              <a:lnSpc>
                <a:spcPts val="1650"/>
              </a:lnSpc>
              <a:spcAft>
                <a:spcPts val="600"/>
              </a:spcAft>
              <a:buSzPct val="100000"/>
              <a:buChar char="▪"/>
            </a:pPr>
            <a:r>
              <a:rPr lang="en-US" sz="1100">
                <a:solidFill>
                  <a:srgbClr val="2B303C"/>
                </a:solidFill>
                <a:latin typeface="Calibri" pitchFamily="34" charset="0"/>
                <a:ea typeface="Calibri" pitchFamily="34" charset="-122"/>
                <a:cs typeface="Calibri" pitchFamily="34" charset="-120"/>
              </a:rPr>
              <a:t>No software vulnerability is exploited, so patching changes nothing.</a:t>
            </a:r>
            <a:endParaRPr lang="en-US" sz="1100"/>
          </a:p>
          <a:p>
            <a:pPr marL="177800" indent="-177800">
              <a:lnSpc>
                <a:spcPts val="1650"/>
              </a:lnSpc>
              <a:spcAft>
                <a:spcPts val="600"/>
              </a:spcAft>
              <a:buSzPct val="100000"/>
              <a:buChar char="▪"/>
            </a:pPr>
            <a:r>
              <a:rPr lang="en-US" sz="1100">
                <a:solidFill>
                  <a:srgbClr val="2B303C"/>
                </a:solidFill>
                <a:latin typeface="Calibri" pitchFamily="34" charset="0"/>
                <a:ea typeface="Calibri" pitchFamily="34" charset="-122"/>
                <a:cs typeface="Calibri" pitchFamily="34" charset="-120"/>
              </a:rPr>
              <a:t>The adversary borrows the victim's legitimate access instead of building their own.</a:t>
            </a:r>
            <a:endParaRPr lang="en-US" sz="1100"/>
          </a:p>
        </p:txBody>
      </p:sp>
      <p:sp>
        <p:nvSpPr>
          <p:cNvPr id="25" name="Text 20"/>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6" name="Text 21"/>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9</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1.1.A  ·  ATTACK VECTORS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Same manipulation, four delivery channels</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channel changes the indicators you can check. The psychology underneath does not change at all.</a:t>
            </a:r>
            <a:endParaRPr lang="en-US" sz="1400"/>
          </a:p>
        </p:txBody>
      </p:sp>
      <p:sp>
        <p:nvSpPr>
          <p:cNvPr id="5" name="Shape 3"/>
          <p:cNvSpPr/>
          <p:nvPr/>
        </p:nvSpPr>
        <p:spPr>
          <a:xfrm>
            <a:off x="566928" y="1965960"/>
            <a:ext cx="5394960" cy="1700784"/>
          </a:xfrm>
          <a:prstGeom prst="roundRect">
            <a:avLst>
              <a:gd name="adj" fmla="val 4839"/>
            </a:avLst>
          </a:prstGeom>
          <a:solidFill>
            <a:srgbClr val="F2F4F8"/>
          </a:solidFill>
          <a:ln/>
        </p:spPr>
        <p:txBody>
          <a:bodyPr/>
          <a:lstStyle/>
          <a:p>
            <a:endParaRPr lang="en-US"/>
          </a:p>
        </p:txBody>
      </p:sp>
      <p:sp>
        <p:nvSpPr>
          <p:cNvPr id="6" name="Shape 4"/>
          <p:cNvSpPr/>
          <p:nvPr/>
        </p:nvSpPr>
        <p:spPr>
          <a:xfrm>
            <a:off x="841248" y="2221992"/>
            <a:ext cx="512064" cy="512064"/>
          </a:xfrm>
          <a:prstGeom prst="ellipse">
            <a:avLst/>
          </a:prstGeom>
          <a:solidFill>
            <a:srgbClr val="F2A03D"/>
          </a:solidFill>
          <a:ln/>
        </p:spPr>
        <p:txBody>
          <a:bodyPr/>
          <a:lstStyle/>
          <a:p>
            <a:endParaRPr lang="en-US"/>
          </a:p>
        </p:txBody>
      </p:sp>
      <p:pic>
        <p:nvPicPr>
          <p:cNvPr id="7" name="Image 0" descr="/home/claude/icons/FaEnvelopeOpenText_w.png"/>
          <p:cNvPicPr>
            <a:picLocks noChangeAspect="1"/>
          </p:cNvPicPr>
          <p:nvPr/>
        </p:nvPicPr>
        <p:blipFill>
          <a:blip r:embed="rId3"/>
          <a:stretch>
            <a:fillRect/>
          </a:stretch>
        </p:blipFill>
        <p:spPr>
          <a:xfrm>
            <a:off x="974385" y="2355129"/>
            <a:ext cx="245791" cy="245791"/>
          </a:xfrm>
          <a:prstGeom prst="rect">
            <a:avLst/>
          </a:prstGeom>
        </p:spPr>
      </p:pic>
      <p:sp>
        <p:nvSpPr>
          <p:cNvPr id="8" name="Text 5"/>
          <p:cNvSpPr/>
          <p:nvPr/>
        </p:nvSpPr>
        <p:spPr>
          <a:xfrm>
            <a:off x="1499616" y="2221992"/>
            <a:ext cx="411480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Phishing</a:t>
            </a:r>
            <a:endParaRPr lang="en-US" sz="1400"/>
          </a:p>
        </p:txBody>
      </p:sp>
      <p:sp>
        <p:nvSpPr>
          <p:cNvPr id="9" name="Text 6"/>
          <p:cNvSpPr/>
          <p:nvPr/>
        </p:nvSpPr>
        <p:spPr>
          <a:xfrm>
            <a:off x="1499616" y="2542032"/>
            <a:ext cx="4224528" cy="502920"/>
          </a:xfrm>
          <a:prstGeom prst="rect">
            <a:avLst/>
          </a:prstGeom>
          <a:noFill/>
          <a:ln/>
        </p:spPr>
        <p:txBody>
          <a:bodyPr wrap="square" lIns="0" tIns="0" rIns="0" bIns="0" rtlCol="0" anchor="t"/>
          <a:lstStyle/>
          <a:p>
            <a:pPr marL="0" indent="0">
              <a:lnSpc>
                <a:spcPts val="1450"/>
              </a:lnSpc>
              <a:buNone/>
            </a:pPr>
            <a:r>
              <a:rPr lang="en-US" sz="1120">
                <a:solidFill>
                  <a:srgbClr val="2B303C"/>
                </a:solidFill>
                <a:latin typeface="Calibri" pitchFamily="34" charset="0"/>
                <a:ea typeface="Calibri" pitchFamily="34" charset="-122"/>
                <a:cs typeface="Calibri" pitchFamily="34" charset="-120"/>
              </a:rPr>
              <a:t>Email. Broadcast to many targets, or tailored to one (spear phishing).</a:t>
            </a:r>
            <a:endParaRPr lang="en-US" sz="1120"/>
          </a:p>
        </p:txBody>
      </p:sp>
      <p:sp>
        <p:nvSpPr>
          <p:cNvPr id="10" name="Shape 7"/>
          <p:cNvSpPr/>
          <p:nvPr/>
        </p:nvSpPr>
        <p:spPr>
          <a:xfrm>
            <a:off x="841248" y="3136392"/>
            <a:ext cx="4846320" cy="9144"/>
          </a:xfrm>
          <a:prstGeom prst="rect">
            <a:avLst/>
          </a:prstGeom>
          <a:solidFill>
            <a:srgbClr val="E7EBF2"/>
          </a:solidFill>
          <a:ln/>
        </p:spPr>
        <p:txBody>
          <a:bodyPr/>
          <a:lstStyle/>
          <a:p>
            <a:endParaRPr lang="en-US"/>
          </a:p>
        </p:txBody>
      </p:sp>
      <p:sp>
        <p:nvSpPr>
          <p:cNvPr id="11" name="Text 8"/>
          <p:cNvSpPr/>
          <p:nvPr/>
        </p:nvSpPr>
        <p:spPr>
          <a:xfrm>
            <a:off x="841248" y="3227832"/>
            <a:ext cx="4846320" cy="347472"/>
          </a:xfrm>
          <a:prstGeom prst="rect">
            <a:avLst/>
          </a:prstGeom>
          <a:noFill/>
          <a:ln/>
        </p:spPr>
        <p:txBody>
          <a:bodyPr wrap="square" lIns="0" tIns="0" rIns="0" bIns="0" rtlCol="0" anchor="t"/>
          <a:lstStyle/>
          <a:p>
            <a:pPr marL="0" indent="0">
              <a:lnSpc>
                <a:spcPts val="1300"/>
              </a:lnSpc>
              <a:buNone/>
            </a:pPr>
            <a:r>
              <a:rPr lang="en-US" sz="1030" i="1">
                <a:solidFill>
                  <a:srgbClr val="B9721F"/>
                </a:solidFill>
                <a:latin typeface="Calibri" pitchFamily="34" charset="0"/>
                <a:ea typeface="Calibri" pitchFamily="34" charset="-122"/>
                <a:cs typeface="Calibri" pitchFamily="34" charset="-120"/>
              </a:rPr>
              <a:t>Check: sender domain, link destination, unexpected attachment.</a:t>
            </a:r>
            <a:endParaRPr lang="en-US" sz="1030"/>
          </a:p>
        </p:txBody>
      </p:sp>
      <p:sp>
        <p:nvSpPr>
          <p:cNvPr id="12" name="Shape 9"/>
          <p:cNvSpPr/>
          <p:nvPr/>
        </p:nvSpPr>
        <p:spPr>
          <a:xfrm>
            <a:off x="6190488" y="1965960"/>
            <a:ext cx="5394960" cy="1700784"/>
          </a:xfrm>
          <a:prstGeom prst="roundRect">
            <a:avLst>
              <a:gd name="adj" fmla="val 4839"/>
            </a:avLst>
          </a:prstGeom>
          <a:solidFill>
            <a:srgbClr val="F2F4F8"/>
          </a:solidFill>
          <a:ln/>
        </p:spPr>
        <p:txBody>
          <a:bodyPr/>
          <a:lstStyle/>
          <a:p>
            <a:endParaRPr lang="en-US"/>
          </a:p>
        </p:txBody>
      </p:sp>
      <p:sp>
        <p:nvSpPr>
          <p:cNvPr id="13" name="Shape 10"/>
          <p:cNvSpPr/>
          <p:nvPr/>
        </p:nvSpPr>
        <p:spPr>
          <a:xfrm>
            <a:off x="6464808" y="2221992"/>
            <a:ext cx="512064" cy="512064"/>
          </a:xfrm>
          <a:prstGeom prst="ellipse">
            <a:avLst/>
          </a:prstGeom>
          <a:solidFill>
            <a:srgbClr val="F2A03D"/>
          </a:solidFill>
          <a:ln/>
        </p:spPr>
        <p:txBody>
          <a:bodyPr/>
          <a:lstStyle/>
          <a:p>
            <a:endParaRPr lang="en-US"/>
          </a:p>
        </p:txBody>
      </p:sp>
      <p:pic>
        <p:nvPicPr>
          <p:cNvPr id="14" name="Image 1" descr="/home/claude/icons/FaPhoneVolume_w.png"/>
          <p:cNvPicPr>
            <a:picLocks noChangeAspect="1"/>
          </p:cNvPicPr>
          <p:nvPr/>
        </p:nvPicPr>
        <p:blipFill>
          <a:blip r:embed="rId4"/>
          <a:stretch>
            <a:fillRect/>
          </a:stretch>
        </p:blipFill>
        <p:spPr>
          <a:xfrm>
            <a:off x="6597945" y="2355129"/>
            <a:ext cx="245791" cy="245791"/>
          </a:xfrm>
          <a:prstGeom prst="rect">
            <a:avLst/>
          </a:prstGeom>
        </p:spPr>
      </p:pic>
      <p:sp>
        <p:nvSpPr>
          <p:cNvPr id="15" name="Text 11"/>
          <p:cNvSpPr/>
          <p:nvPr/>
        </p:nvSpPr>
        <p:spPr>
          <a:xfrm>
            <a:off x="7123176" y="2221992"/>
            <a:ext cx="411480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Vishing</a:t>
            </a:r>
            <a:endParaRPr lang="en-US" sz="1400"/>
          </a:p>
        </p:txBody>
      </p:sp>
      <p:sp>
        <p:nvSpPr>
          <p:cNvPr id="16" name="Text 12"/>
          <p:cNvSpPr/>
          <p:nvPr/>
        </p:nvSpPr>
        <p:spPr>
          <a:xfrm>
            <a:off x="7123176" y="2542032"/>
            <a:ext cx="4224528" cy="502920"/>
          </a:xfrm>
          <a:prstGeom prst="rect">
            <a:avLst/>
          </a:prstGeom>
          <a:noFill/>
          <a:ln/>
        </p:spPr>
        <p:txBody>
          <a:bodyPr wrap="square" lIns="0" tIns="0" rIns="0" bIns="0" rtlCol="0" anchor="t"/>
          <a:lstStyle/>
          <a:p>
            <a:pPr marL="0" indent="0">
              <a:lnSpc>
                <a:spcPts val="1450"/>
              </a:lnSpc>
              <a:buNone/>
            </a:pPr>
            <a:r>
              <a:rPr lang="en-US" sz="1120">
                <a:solidFill>
                  <a:srgbClr val="2B303C"/>
                </a:solidFill>
                <a:latin typeface="Calibri" pitchFamily="34" charset="0"/>
                <a:ea typeface="Calibri" pitchFamily="34" charset="-122"/>
                <a:cs typeface="Calibri" pitchFamily="34" charset="-120"/>
              </a:rPr>
              <a:t>Voice call. A live human applies pressure in real time and improvises.</a:t>
            </a:r>
            <a:endParaRPr lang="en-US" sz="1120"/>
          </a:p>
        </p:txBody>
      </p:sp>
      <p:sp>
        <p:nvSpPr>
          <p:cNvPr id="17" name="Shape 13"/>
          <p:cNvSpPr/>
          <p:nvPr/>
        </p:nvSpPr>
        <p:spPr>
          <a:xfrm>
            <a:off x="6464808" y="3136392"/>
            <a:ext cx="4846320" cy="9144"/>
          </a:xfrm>
          <a:prstGeom prst="rect">
            <a:avLst/>
          </a:prstGeom>
          <a:solidFill>
            <a:srgbClr val="E7EBF2"/>
          </a:solidFill>
          <a:ln/>
        </p:spPr>
        <p:txBody>
          <a:bodyPr/>
          <a:lstStyle/>
          <a:p>
            <a:endParaRPr lang="en-US"/>
          </a:p>
        </p:txBody>
      </p:sp>
      <p:sp>
        <p:nvSpPr>
          <p:cNvPr id="18" name="Text 14"/>
          <p:cNvSpPr/>
          <p:nvPr/>
        </p:nvSpPr>
        <p:spPr>
          <a:xfrm>
            <a:off x="6464808" y="3227832"/>
            <a:ext cx="4846320" cy="347472"/>
          </a:xfrm>
          <a:prstGeom prst="rect">
            <a:avLst/>
          </a:prstGeom>
          <a:noFill/>
          <a:ln/>
        </p:spPr>
        <p:txBody>
          <a:bodyPr wrap="square" lIns="0" tIns="0" rIns="0" bIns="0" rtlCol="0" anchor="t"/>
          <a:lstStyle/>
          <a:p>
            <a:pPr marL="0" indent="0">
              <a:lnSpc>
                <a:spcPts val="1300"/>
              </a:lnSpc>
              <a:buNone/>
            </a:pPr>
            <a:r>
              <a:rPr lang="en-US" sz="1030" i="1">
                <a:solidFill>
                  <a:srgbClr val="B9721F"/>
                </a:solidFill>
                <a:latin typeface="Calibri" pitchFamily="34" charset="0"/>
                <a:ea typeface="Calibri" pitchFamily="34" charset="-122"/>
                <a:cs typeface="Calibri" pitchFamily="34" charset="-120"/>
              </a:rPr>
              <a:t>Check: caller ID can be spoofed — hang up and call the official number.</a:t>
            </a:r>
            <a:endParaRPr lang="en-US" sz="1030"/>
          </a:p>
        </p:txBody>
      </p:sp>
      <p:sp>
        <p:nvSpPr>
          <p:cNvPr id="19" name="Shape 15"/>
          <p:cNvSpPr/>
          <p:nvPr/>
        </p:nvSpPr>
        <p:spPr>
          <a:xfrm>
            <a:off x="566928" y="3813048"/>
            <a:ext cx="5394960" cy="1700784"/>
          </a:xfrm>
          <a:prstGeom prst="roundRect">
            <a:avLst>
              <a:gd name="adj" fmla="val 4839"/>
            </a:avLst>
          </a:prstGeom>
          <a:solidFill>
            <a:srgbClr val="F2F4F8"/>
          </a:solidFill>
          <a:ln/>
        </p:spPr>
        <p:txBody>
          <a:bodyPr/>
          <a:lstStyle/>
          <a:p>
            <a:endParaRPr lang="en-US"/>
          </a:p>
        </p:txBody>
      </p:sp>
      <p:sp>
        <p:nvSpPr>
          <p:cNvPr id="20" name="Shape 16"/>
          <p:cNvSpPr/>
          <p:nvPr/>
        </p:nvSpPr>
        <p:spPr>
          <a:xfrm>
            <a:off x="841248" y="4069080"/>
            <a:ext cx="512064" cy="512064"/>
          </a:xfrm>
          <a:prstGeom prst="ellipse">
            <a:avLst/>
          </a:prstGeom>
          <a:solidFill>
            <a:srgbClr val="F2A03D"/>
          </a:solidFill>
          <a:ln/>
        </p:spPr>
        <p:txBody>
          <a:bodyPr/>
          <a:lstStyle/>
          <a:p>
            <a:endParaRPr lang="en-US"/>
          </a:p>
        </p:txBody>
      </p:sp>
      <p:pic>
        <p:nvPicPr>
          <p:cNvPr id="21" name="Image 2" descr="/home/claude/icons/FaCommentSms_w.png"/>
          <p:cNvPicPr>
            <a:picLocks noChangeAspect="1"/>
          </p:cNvPicPr>
          <p:nvPr/>
        </p:nvPicPr>
        <p:blipFill>
          <a:blip r:embed="rId5"/>
          <a:stretch>
            <a:fillRect/>
          </a:stretch>
        </p:blipFill>
        <p:spPr>
          <a:xfrm>
            <a:off x="974385" y="4202217"/>
            <a:ext cx="245791" cy="245791"/>
          </a:xfrm>
          <a:prstGeom prst="rect">
            <a:avLst/>
          </a:prstGeom>
        </p:spPr>
      </p:pic>
      <p:sp>
        <p:nvSpPr>
          <p:cNvPr id="22" name="Text 17"/>
          <p:cNvSpPr/>
          <p:nvPr/>
        </p:nvSpPr>
        <p:spPr>
          <a:xfrm>
            <a:off x="1499616" y="4069080"/>
            <a:ext cx="411480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Smishing</a:t>
            </a:r>
            <a:endParaRPr lang="en-US" sz="1400"/>
          </a:p>
        </p:txBody>
      </p:sp>
      <p:sp>
        <p:nvSpPr>
          <p:cNvPr id="23" name="Text 18"/>
          <p:cNvSpPr/>
          <p:nvPr/>
        </p:nvSpPr>
        <p:spPr>
          <a:xfrm>
            <a:off x="1499616" y="4389120"/>
            <a:ext cx="4224528" cy="502920"/>
          </a:xfrm>
          <a:prstGeom prst="rect">
            <a:avLst/>
          </a:prstGeom>
          <a:noFill/>
          <a:ln/>
        </p:spPr>
        <p:txBody>
          <a:bodyPr wrap="square" lIns="0" tIns="0" rIns="0" bIns="0" rtlCol="0" anchor="t"/>
          <a:lstStyle/>
          <a:p>
            <a:pPr marL="0" indent="0">
              <a:lnSpc>
                <a:spcPts val="1450"/>
              </a:lnSpc>
              <a:buNone/>
            </a:pPr>
            <a:r>
              <a:rPr lang="en-US" sz="1120">
                <a:solidFill>
                  <a:srgbClr val="2B303C"/>
                </a:solidFill>
                <a:latin typeface="Calibri" pitchFamily="34" charset="0"/>
                <a:ea typeface="Calibri" pitchFamily="34" charset="-122"/>
                <a:cs typeface="Calibri" pitchFamily="34" charset="-120"/>
              </a:rPr>
              <a:t>SMS or messaging app. Short, urgent, and stripped of the clues an email carries.</a:t>
            </a:r>
            <a:endParaRPr lang="en-US" sz="1120"/>
          </a:p>
        </p:txBody>
      </p:sp>
      <p:sp>
        <p:nvSpPr>
          <p:cNvPr id="24" name="Shape 19"/>
          <p:cNvSpPr/>
          <p:nvPr/>
        </p:nvSpPr>
        <p:spPr>
          <a:xfrm>
            <a:off x="841248" y="4983480"/>
            <a:ext cx="4846320" cy="9144"/>
          </a:xfrm>
          <a:prstGeom prst="rect">
            <a:avLst/>
          </a:prstGeom>
          <a:solidFill>
            <a:srgbClr val="E7EBF2"/>
          </a:solidFill>
          <a:ln/>
        </p:spPr>
        <p:txBody>
          <a:bodyPr/>
          <a:lstStyle/>
          <a:p>
            <a:endParaRPr lang="en-US"/>
          </a:p>
        </p:txBody>
      </p:sp>
      <p:sp>
        <p:nvSpPr>
          <p:cNvPr id="25" name="Text 20"/>
          <p:cNvSpPr/>
          <p:nvPr/>
        </p:nvSpPr>
        <p:spPr>
          <a:xfrm>
            <a:off x="841248" y="5074920"/>
            <a:ext cx="4846320" cy="347472"/>
          </a:xfrm>
          <a:prstGeom prst="rect">
            <a:avLst/>
          </a:prstGeom>
          <a:noFill/>
          <a:ln/>
        </p:spPr>
        <p:txBody>
          <a:bodyPr wrap="square" lIns="0" tIns="0" rIns="0" bIns="0" rtlCol="0" anchor="t"/>
          <a:lstStyle/>
          <a:p>
            <a:pPr marL="0" indent="0">
              <a:lnSpc>
                <a:spcPts val="1300"/>
              </a:lnSpc>
              <a:buNone/>
            </a:pPr>
            <a:r>
              <a:rPr lang="en-US" sz="1030" i="1">
                <a:solidFill>
                  <a:srgbClr val="B9721F"/>
                </a:solidFill>
                <a:latin typeface="Calibri" pitchFamily="34" charset="0"/>
                <a:ea typeface="Calibri" pitchFamily="34" charset="-122"/>
                <a:cs typeface="Calibri" pitchFamily="34" charset="-120"/>
              </a:rPr>
              <a:t>Check: shortened links, unfamiliar numbers, delivery or toll pretexts.</a:t>
            </a:r>
            <a:endParaRPr lang="en-US" sz="1030"/>
          </a:p>
        </p:txBody>
      </p:sp>
      <p:sp>
        <p:nvSpPr>
          <p:cNvPr id="26" name="Shape 21"/>
          <p:cNvSpPr/>
          <p:nvPr/>
        </p:nvSpPr>
        <p:spPr>
          <a:xfrm>
            <a:off x="6190488" y="3813048"/>
            <a:ext cx="5394960" cy="1700784"/>
          </a:xfrm>
          <a:prstGeom prst="roundRect">
            <a:avLst>
              <a:gd name="adj" fmla="val 4839"/>
            </a:avLst>
          </a:prstGeom>
          <a:solidFill>
            <a:srgbClr val="F2F4F8"/>
          </a:solidFill>
          <a:ln/>
        </p:spPr>
        <p:txBody>
          <a:bodyPr/>
          <a:lstStyle/>
          <a:p>
            <a:endParaRPr lang="en-US"/>
          </a:p>
        </p:txBody>
      </p:sp>
      <p:sp>
        <p:nvSpPr>
          <p:cNvPr id="27" name="Shape 22"/>
          <p:cNvSpPr/>
          <p:nvPr/>
        </p:nvSpPr>
        <p:spPr>
          <a:xfrm>
            <a:off x="6464808" y="4069080"/>
            <a:ext cx="512064" cy="512064"/>
          </a:xfrm>
          <a:prstGeom prst="ellipse">
            <a:avLst/>
          </a:prstGeom>
          <a:solidFill>
            <a:srgbClr val="F2A03D"/>
          </a:solidFill>
          <a:ln/>
        </p:spPr>
        <p:txBody>
          <a:bodyPr/>
          <a:lstStyle/>
          <a:p>
            <a:endParaRPr lang="en-US"/>
          </a:p>
        </p:txBody>
      </p:sp>
      <p:pic>
        <p:nvPicPr>
          <p:cNvPr id="28" name="Image 3" descr="/home/claude/icons/FaUserSecret_w.png"/>
          <p:cNvPicPr>
            <a:picLocks noChangeAspect="1"/>
          </p:cNvPicPr>
          <p:nvPr/>
        </p:nvPicPr>
        <p:blipFill>
          <a:blip r:embed="rId6"/>
          <a:stretch>
            <a:fillRect/>
          </a:stretch>
        </p:blipFill>
        <p:spPr>
          <a:xfrm>
            <a:off x="6597945" y="4202217"/>
            <a:ext cx="245791" cy="245791"/>
          </a:xfrm>
          <a:prstGeom prst="rect">
            <a:avLst/>
          </a:prstGeom>
        </p:spPr>
      </p:pic>
      <p:sp>
        <p:nvSpPr>
          <p:cNvPr id="29" name="Text 23"/>
          <p:cNvSpPr/>
          <p:nvPr/>
        </p:nvSpPr>
        <p:spPr>
          <a:xfrm>
            <a:off x="7123176" y="4069080"/>
            <a:ext cx="411480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Pretexting</a:t>
            </a:r>
            <a:endParaRPr lang="en-US" sz="1400"/>
          </a:p>
        </p:txBody>
      </p:sp>
      <p:sp>
        <p:nvSpPr>
          <p:cNvPr id="30" name="Text 24"/>
          <p:cNvSpPr/>
          <p:nvPr/>
        </p:nvSpPr>
        <p:spPr>
          <a:xfrm>
            <a:off x="7123176" y="4389120"/>
            <a:ext cx="4224528" cy="502920"/>
          </a:xfrm>
          <a:prstGeom prst="rect">
            <a:avLst/>
          </a:prstGeom>
          <a:noFill/>
          <a:ln/>
        </p:spPr>
        <p:txBody>
          <a:bodyPr wrap="square" lIns="0" tIns="0" rIns="0" bIns="0" rtlCol="0" anchor="t"/>
          <a:lstStyle/>
          <a:p>
            <a:pPr marL="0" indent="0">
              <a:lnSpc>
                <a:spcPts val="1450"/>
              </a:lnSpc>
              <a:buNone/>
            </a:pPr>
            <a:r>
              <a:rPr lang="en-US" sz="1120">
                <a:solidFill>
                  <a:srgbClr val="2B303C"/>
                </a:solidFill>
                <a:latin typeface="Calibri" pitchFamily="34" charset="0"/>
                <a:ea typeface="Calibri" pitchFamily="34" charset="-122"/>
                <a:cs typeface="Calibri" pitchFamily="34" charset="-120"/>
              </a:rPr>
              <a:t>An invented scenario and identity that makes the request seem routine.</a:t>
            </a:r>
            <a:endParaRPr lang="en-US" sz="1120"/>
          </a:p>
        </p:txBody>
      </p:sp>
      <p:sp>
        <p:nvSpPr>
          <p:cNvPr id="31" name="Shape 25"/>
          <p:cNvSpPr/>
          <p:nvPr/>
        </p:nvSpPr>
        <p:spPr>
          <a:xfrm>
            <a:off x="6464808" y="4983480"/>
            <a:ext cx="4846320" cy="9144"/>
          </a:xfrm>
          <a:prstGeom prst="rect">
            <a:avLst/>
          </a:prstGeom>
          <a:solidFill>
            <a:srgbClr val="E7EBF2"/>
          </a:solidFill>
          <a:ln/>
        </p:spPr>
        <p:txBody>
          <a:bodyPr/>
          <a:lstStyle/>
          <a:p>
            <a:endParaRPr lang="en-US"/>
          </a:p>
        </p:txBody>
      </p:sp>
      <p:sp>
        <p:nvSpPr>
          <p:cNvPr id="32" name="Text 26"/>
          <p:cNvSpPr/>
          <p:nvPr/>
        </p:nvSpPr>
        <p:spPr>
          <a:xfrm>
            <a:off x="6464808" y="5074920"/>
            <a:ext cx="4846320" cy="347472"/>
          </a:xfrm>
          <a:prstGeom prst="rect">
            <a:avLst/>
          </a:prstGeom>
          <a:noFill/>
          <a:ln/>
        </p:spPr>
        <p:txBody>
          <a:bodyPr wrap="square" lIns="0" tIns="0" rIns="0" bIns="0" rtlCol="0" anchor="t"/>
          <a:lstStyle/>
          <a:p>
            <a:pPr marL="0" indent="0">
              <a:lnSpc>
                <a:spcPts val="1300"/>
              </a:lnSpc>
              <a:buNone/>
            </a:pPr>
            <a:r>
              <a:rPr lang="en-US" sz="1030" i="1">
                <a:solidFill>
                  <a:srgbClr val="B9721F"/>
                </a:solidFill>
                <a:latin typeface="Calibri" pitchFamily="34" charset="0"/>
                <a:ea typeface="Calibri" pitchFamily="34" charset="-122"/>
                <a:cs typeface="Calibri" pitchFamily="34" charset="-120"/>
              </a:rPr>
              <a:t>Check: does this role normally make this request through this channel?</a:t>
            </a:r>
            <a:endParaRPr lang="en-US" sz="1030"/>
          </a:p>
        </p:txBody>
      </p:sp>
      <p:sp>
        <p:nvSpPr>
          <p:cNvPr id="33" name="Shape 27"/>
          <p:cNvSpPr/>
          <p:nvPr/>
        </p:nvSpPr>
        <p:spPr>
          <a:xfrm>
            <a:off x="566928" y="5650992"/>
            <a:ext cx="11057839" cy="512064"/>
          </a:xfrm>
          <a:prstGeom prst="roundRect">
            <a:avLst>
              <a:gd name="adj" fmla="val 14286"/>
            </a:avLst>
          </a:prstGeom>
          <a:solidFill>
            <a:srgbClr val="12141C"/>
          </a:solidFill>
          <a:ln/>
        </p:spPr>
        <p:txBody>
          <a:bodyPr/>
          <a:lstStyle/>
          <a:p>
            <a:endParaRPr lang="en-US"/>
          </a:p>
        </p:txBody>
      </p:sp>
      <p:sp>
        <p:nvSpPr>
          <p:cNvPr id="35" name="Text 28"/>
          <p:cNvSpPr/>
          <p:nvPr/>
        </p:nvSpPr>
        <p:spPr>
          <a:xfrm>
            <a:off x="1133856" y="5650992"/>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Naming the vector is one mark. The mark that follows comes from naming the indicator that channel makes visible.</a:t>
            </a:r>
            <a:endParaRPr lang="en-US" sz="1150"/>
          </a:p>
        </p:txBody>
      </p:sp>
      <p:sp>
        <p:nvSpPr>
          <p:cNvPr id="36" name="Text 29"/>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7" name="Text 30"/>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10</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1.1.B  ·  WHY IT WORKS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The psychological lever explains the victim's behaviour</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CED names two levers explicitly. Four more appear routinely in real campaigns and in exam stems.</a:t>
            </a:r>
            <a:endParaRPr lang="en-US" sz="1400"/>
          </a:p>
        </p:txBody>
      </p:sp>
      <p:sp>
        <p:nvSpPr>
          <p:cNvPr id="5" name="Shape 3"/>
          <p:cNvSpPr/>
          <p:nvPr/>
        </p:nvSpPr>
        <p:spPr>
          <a:xfrm>
            <a:off x="566928" y="1938528"/>
            <a:ext cx="5486400" cy="2331720"/>
          </a:xfrm>
          <a:prstGeom prst="roundRect">
            <a:avLst>
              <a:gd name="adj" fmla="val 3529"/>
            </a:avLst>
          </a:prstGeom>
          <a:solidFill>
            <a:srgbClr val="12141C"/>
          </a:solidFill>
          <a:ln/>
        </p:spPr>
        <p:txBody>
          <a:bodyPr/>
          <a:lstStyle/>
          <a:p>
            <a:endParaRPr lang="en-US"/>
          </a:p>
        </p:txBody>
      </p:sp>
      <p:sp>
        <p:nvSpPr>
          <p:cNvPr id="6" name="Text 4"/>
          <p:cNvSpPr/>
          <p:nvPr/>
        </p:nvSpPr>
        <p:spPr>
          <a:xfrm>
            <a:off x="841248" y="2103120"/>
            <a:ext cx="274320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NAMED IN THE CED</a:t>
            </a:r>
            <a:endParaRPr lang="en-US" sz="900"/>
          </a:p>
        </p:txBody>
      </p:sp>
      <p:sp>
        <p:nvSpPr>
          <p:cNvPr id="7" name="Shape 5"/>
          <p:cNvSpPr/>
          <p:nvPr/>
        </p:nvSpPr>
        <p:spPr>
          <a:xfrm>
            <a:off x="841248" y="2423160"/>
            <a:ext cx="420624" cy="420624"/>
          </a:xfrm>
          <a:prstGeom prst="ellipse">
            <a:avLst/>
          </a:prstGeom>
          <a:solidFill>
            <a:srgbClr val="F2A03D"/>
          </a:solidFill>
          <a:ln/>
        </p:spPr>
        <p:txBody>
          <a:bodyPr/>
          <a:lstStyle/>
          <a:p>
            <a:endParaRPr lang="en-US"/>
          </a:p>
        </p:txBody>
      </p:sp>
      <p:pic>
        <p:nvPicPr>
          <p:cNvPr id="8" name="Image 0" descr="/home/claude/icons/FaTriangleExclamation_w.png"/>
          <p:cNvPicPr>
            <a:picLocks noChangeAspect="1"/>
          </p:cNvPicPr>
          <p:nvPr/>
        </p:nvPicPr>
        <p:blipFill>
          <a:blip r:embed="rId3"/>
          <a:stretch>
            <a:fillRect/>
          </a:stretch>
        </p:blipFill>
        <p:spPr>
          <a:xfrm>
            <a:off x="950610" y="2532522"/>
            <a:ext cx="201900" cy="201900"/>
          </a:xfrm>
          <a:prstGeom prst="rect">
            <a:avLst/>
          </a:prstGeom>
        </p:spPr>
      </p:pic>
      <p:sp>
        <p:nvSpPr>
          <p:cNvPr id="9" name="Text 6"/>
          <p:cNvSpPr/>
          <p:nvPr/>
        </p:nvSpPr>
        <p:spPr>
          <a:xfrm>
            <a:off x="1408176" y="2404872"/>
            <a:ext cx="4114800" cy="256032"/>
          </a:xfrm>
          <a:prstGeom prst="rect">
            <a:avLst/>
          </a:prstGeom>
          <a:noFill/>
          <a:ln/>
        </p:spPr>
        <p:txBody>
          <a:bodyPr wrap="square" lIns="0" tIns="0" rIns="0" bIns="0" rtlCol="0" anchor="ctr"/>
          <a:lstStyle/>
          <a:p>
            <a:pPr marL="0" indent="0">
              <a:buNone/>
            </a:pPr>
            <a:r>
              <a:rPr lang="en-US" sz="1250" b="1">
                <a:solidFill>
                  <a:srgbClr val="FFFFFF"/>
                </a:solidFill>
                <a:latin typeface="Calibri" pitchFamily="34" charset="0"/>
                <a:ea typeface="Calibri" pitchFamily="34" charset="-122"/>
                <a:cs typeface="Calibri" pitchFamily="34" charset="-120"/>
              </a:rPr>
              <a:t>Intimidation</a:t>
            </a:r>
            <a:endParaRPr lang="en-US" sz="1250"/>
          </a:p>
        </p:txBody>
      </p:sp>
      <p:sp>
        <p:nvSpPr>
          <p:cNvPr id="10" name="Text 7"/>
          <p:cNvSpPr/>
          <p:nvPr/>
        </p:nvSpPr>
        <p:spPr>
          <a:xfrm>
            <a:off x="1408176" y="2651760"/>
            <a:ext cx="4370832" cy="621792"/>
          </a:xfrm>
          <a:prstGeom prst="rect">
            <a:avLst/>
          </a:prstGeom>
          <a:noFill/>
          <a:ln/>
        </p:spPr>
        <p:txBody>
          <a:bodyPr wrap="square" lIns="0" tIns="0" rIns="0" bIns="0" rtlCol="0" anchor="t"/>
          <a:lstStyle/>
          <a:p>
            <a:pPr marL="0" indent="0">
              <a:lnSpc>
                <a:spcPts val="1380"/>
              </a:lnSpc>
              <a:buNone/>
            </a:pPr>
            <a:r>
              <a:rPr lang="en-US" sz="1060">
                <a:solidFill>
                  <a:srgbClr val="9AA3B2"/>
                </a:solidFill>
                <a:latin typeface="Calibri" pitchFamily="34" charset="0"/>
                <a:ea typeface="Calibri" pitchFamily="34" charset="-122"/>
                <a:cs typeface="Calibri" pitchFamily="34" charset="-120"/>
              </a:rPr>
              <a:t>The adversary threatens negative consequences if the target does not comply. It works because humans are naturally averse to harm, and fear pushes people to act.</a:t>
            </a:r>
            <a:endParaRPr lang="en-US" sz="1060"/>
          </a:p>
        </p:txBody>
      </p:sp>
      <p:sp>
        <p:nvSpPr>
          <p:cNvPr id="11" name="Shape 8"/>
          <p:cNvSpPr/>
          <p:nvPr/>
        </p:nvSpPr>
        <p:spPr>
          <a:xfrm>
            <a:off x="841248" y="3328416"/>
            <a:ext cx="420624" cy="420624"/>
          </a:xfrm>
          <a:prstGeom prst="ellipse">
            <a:avLst/>
          </a:prstGeom>
          <a:solidFill>
            <a:srgbClr val="F2A03D"/>
          </a:solidFill>
          <a:ln/>
        </p:spPr>
        <p:txBody>
          <a:bodyPr/>
          <a:lstStyle/>
          <a:p>
            <a:endParaRPr lang="en-US"/>
          </a:p>
        </p:txBody>
      </p:sp>
      <p:pic>
        <p:nvPicPr>
          <p:cNvPr id="12" name="Image 1" descr="/home/claude/icons/FaClock_w.png"/>
          <p:cNvPicPr>
            <a:picLocks noChangeAspect="1"/>
          </p:cNvPicPr>
          <p:nvPr/>
        </p:nvPicPr>
        <p:blipFill>
          <a:blip r:embed="rId4"/>
          <a:stretch>
            <a:fillRect/>
          </a:stretch>
        </p:blipFill>
        <p:spPr>
          <a:xfrm>
            <a:off x="950610" y="3437778"/>
            <a:ext cx="201900" cy="201900"/>
          </a:xfrm>
          <a:prstGeom prst="rect">
            <a:avLst/>
          </a:prstGeom>
        </p:spPr>
      </p:pic>
      <p:sp>
        <p:nvSpPr>
          <p:cNvPr id="13" name="Text 9"/>
          <p:cNvSpPr/>
          <p:nvPr/>
        </p:nvSpPr>
        <p:spPr>
          <a:xfrm>
            <a:off x="1408176" y="3310128"/>
            <a:ext cx="4114800" cy="256032"/>
          </a:xfrm>
          <a:prstGeom prst="rect">
            <a:avLst/>
          </a:prstGeom>
          <a:noFill/>
          <a:ln/>
        </p:spPr>
        <p:txBody>
          <a:bodyPr wrap="square" lIns="0" tIns="0" rIns="0" bIns="0" rtlCol="0" anchor="ctr"/>
          <a:lstStyle/>
          <a:p>
            <a:pPr marL="0" indent="0">
              <a:buNone/>
            </a:pPr>
            <a:r>
              <a:rPr lang="en-US" sz="1250" b="1">
                <a:solidFill>
                  <a:srgbClr val="FFFFFF"/>
                </a:solidFill>
                <a:latin typeface="Calibri" pitchFamily="34" charset="0"/>
                <a:ea typeface="Calibri" pitchFamily="34" charset="-122"/>
                <a:cs typeface="Calibri" pitchFamily="34" charset="-120"/>
              </a:rPr>
              <a:t>Urgency</a:t>
            </a:r>
            <a:endParaRPr lang="en-US" sz="1250"/>
          </a:p>
        </p:txBody>
      </p:sp>
      <p:sp>
        <p:nvSpPr>
          <p:cNvPr id="14" name="Text 10"/>
          <p:cNvSpPr/>
          <p:nvPr/>
        </p:nvSpPr>
        <p:spPr>
          <a:xfrm>
            <a:off x="1408176" y="3557016"/>
            <a:ext cx="4370832" cy="621792"/>
          </a:xfrm>
          <a:prstGeom prst="rect">
            <a:avLst/>
          </a:prstGeom>
          <a:noFill/>
          <a:ln/>
        </p:spPr>
        <p:txBody>
          <a:bodyPr wrap="square" lIns="0" tIns="0" rIns="0" bIns="0" rtlCol="0" anchor="t"/>
          <a:lstStyle/>
          <a:p>
            <a:pPr marL="0" indent="0">
              <a:lnSpc>
                <a:spcPts val="1380"/>
              </a:lnSpc>
              <a:buNone/>
            </a:pPr>
            <a:r>
              <a:rPr lang="en-US" sz="1060">
                <a:solidFill>
                  <a:srgbClr val="9AA3B2"/>
                </a:solidFill>
                <a:latin typeface="Calibri" pitchFamily="34" charset="0"/>
                <a:ea typeface="Calibri" pitchFamily="34" charset="-122"/>
                <a:cs typeface="Calibri" pitchFamily="34" charset="-120"/>
              </a:rPr>
              <a:t>The adversary manufactures a reason to act immediately. It works because time pressure removes the pause in which the target would otherwise evaluate the request.</a:t>
            </a:r>
            <a:endParaRPr lang="en-US" sz="1060"/>
          </a:p>
        </p:txBody>
      </p:sp>
      <p:sp>
        <p:nvSpPr>
          <p:cNvPr id="15" name="Shape 11"/>
          <p:cNvSpPr/>
          <p:nvPr/>
        </p:nvSpPr>
        <p:spPr>
          <a:xfrm>
            <a:off x="6263640" y="1938528"/>
            <a:ext cx="5358384" cy="2331720"/>
          </a:xfrm>
          <a:prstGeom prst="roundRect">
            <a:avLst>
              <a:gd name="adj" fmla="val 3529"/>
            </a:avLst>
          </a:prstGeom>
          <a:solidFill>
            <a:srgbClr val="F2F4F8"/>
          </a:solidFill>
          <a:ln/>
        </p:spPr>
        <p:txBody>
          <a:bodyPr/>
          <a:lstStyle/>
          <a:p>
            <a:endParaRPr lang="en-US"/>
          </a:p>
        </p:txBody>
      </p:sp>
      <p:sp>
        <p:nvSpPr>
          <p:cNvPr id="16" name="Text 12"/>
          <p:cNvSpPr/>
          <p:nvPr/>
        </p:nvSpPr>
        <p:spPr>
          <a:xfrm>
            <a:off x="6537960" y="2103120"/>
            <a:ext cx="3657600" cy="201168"/>
          </a:xfrm>
          <a:prstGeom prst="rect">
            <a:avLst/>
          </a:prstGeom>
          <a:noFill/>
          <a:ln/>
        </p:spPr>
        <p:txBody>
          <a:bodyPr wrap="square" lIns="0" tIns="0" rIns="0" bIns="0" rtlCol="0" anchor="ctr"/>
          <a:lstStyle/>
          <a:p>
            <a:pPr marL="0" indent="0">
              <a:buNone/>
            </a:pPr>
            <a:r>
              <a:rPr lang="en-US" sz="900" b="1" kern="0" spc="120">
                <a:solidFill>
                  <a:srgbClr val="6B7280"/>
                </a:solidFill>
                <a:latin typeface="Calibri" pitchFamily="34" charset="0"/>
                <a:ea typeface="Calibri" pitchFamily="34" charset="-122"/>
                <a:cs typeface="Calibri" pitchFamily="34" charset="-120"/>
              </a:rPr>
              <a:t>ALSO COMMON IN PRACTICE</a:t>
            </a:r>
            <a:endParaRPr lang="en-US" sz="900"/>
          </a:p>
        </p:txBody>
      </p:sp>
      <p:sp>
        <p:nvSpPr>
          <p:cNvPr id="17" name="Shape 13"/>
          <p:cNvSpPr/>
          <p:nvPr/>
        </p:nvSpPr>
        <p:spPr>
          <a:xfrm>
            <a:off x="6537960" y="2450592"/>
            <a:ext cx="329184" cy="329184"/>
          </a:xfrm>
          <a:prstGeom prst="ellipse">
            <a:avLst/>
          </a:prstGeom>
          <a:solidFill>
            <a:srgbClr val="12141C"/>
          </a:solidFill>
          <a:ln/>
        </p:spPr>
        <p:txBody>
          <a:bodyPr/>
          <a:lstStyle/>
          <a:p>
            <a:endParaRPr lang="en-US"/>
          </a:p>
        </p:txBody>
      </p:sp>
      <p:pic>
        <p:nvPicPr>
          <p:cNvPr id="18" name="Image 2" descr="/home/claude/icons/FaUserTie_w.png"/>
          <p:cNvPicPr>
            <a:picLocks noChangeAspect="1"/>
          </p:cNvPicPr>
          <p:nvPr/>
        </p:nvPicPr>
        <p:blipFill>
          <a:blip r:embed="rId5"/>
          <a:stretch>
            <a:fillRect/>
          </a:stretch>
        </p:blipFill>
        <p:spPr>
          <a:xfrm>
            <a:off x="6623548" y="2536180"/>
            <a:ext cx="158008" cy="158008"/>
          </a:xfrm>
          <a:prstGeom prst="rect">
            <a:avLst/>
          </a:prstGeom>
        </p:spPr>
      </p:pic>
      <p:sp>
        <p:nvSpPr>
          <p:cNvPr id="19" name="Text 14"/>
          <p:cNvSpPr/>
          <p:nvPr/>
        </p:nvSpPr>
        <p:spPr>
          <a:xfrm>
            <a:off x="6976872" y="2432304"/>
            <a:ext cx="4526280" cy="384048"/>
          </a:xfrm>
          <a:prstGeom prst="rect">
            <a:avLst/>
          </a:prstGeom>
          <a:noFill/>
          <a:ln/>
        </p:spPr>
        <p:txBody>
          <a:bodyPr wrap="square" lIns="0" tIns="0" rIns="0" bIns="0" rtlCol="0" anchor="ctr"/>
          <a:lstStyle/>
          <a:p>
            <a:pPr marL="0" indent="0">
              <a:lnSpc>
                <a:spcPts val="1300"/>
              </a:lnSpc>
              <a:buNone/>
            </a:pPr>
            <a:r>
              <a:rPr lang="en-US" sz="1050" b="1">
                <a:solidFill>
                  <a:srgbClr val="12141C"/>
                </a:solidFill>
                <a:latin typeface="Calibri" pitchFamily="34" charset="0"/>
                <a:ea typeface="Calibri" pitchFamily="34" charset="-122"/>
                <a:cs typeface="Calibri" pitchFamily="34" charset="-120"/>
              </a:rPr>
              <a:t>Authority  </a:t>
            </a:r>
            <a:r>
              <a:rPr lang="en-US" sz="1050">
                <a:solidFill>
                  <a:srgbClr val="6B7280"/>
                </a:solidFill>
                <a:latin typeface="Calibri" pitchFamily="34" charset="0"/>
                <a:ea typeface="Calibri" pitchFamily="34" charset="-122"/>
                <a:cs typeface="Calibri" pitchFamily="34" charset="-120"/>
              </a:rPr>
              <a:t>A request appears to come from a principal, manager, or the IT department.</a:t>
            </a:r>
            <a:endParaRPr lang="en-US" sz="1050"/>
          </a:p>
        </p:txBody>
      </p:sp>
      <p:sp>
        <p:nvSpPr>
          <p:cNvPr id="20" name="Shape 15"/>
          <p:cNvSpPr/>
          <p:nvPr/>
        </p:nvSpPr>
        <p:spPr>
          <a:xfrm>
            <a:off x="6537960" y="2889504"/>
            <a:ext cx="329184" cy="329184"/>
          </a:xfrm>
          <a:prstGeom prst="ellipse">
            <a:avLst/>
          </a:prstGeom>
          <a:solidFill>
            <a:srgbClr val="12141C"/>
          </a:solidFill>
          <a:ln/>
        </p:spPr>
        <p:txBody>
          <a:bodyPr/>
          <a:lstStyle/>
          <a:p>
            <a:endParaRPr lang="en-US"/>
          </a:p>
        </p:txBody>
      </p:sp>
      <p:pic>
        <p:nvPicPr>
          <p:cNvPr id="21" name="Image 3" descr="/home/claude/icons/FaUsers_w.png"/>
          <p:cNvPicPr>
            <a:picLocks noChangeAspect="1"/>
          </p:cNvPicPr>
          <p:nvPr/>
        </p:nvPicPr>
        <p:blipFill>
          <a:blip r:embed="rId6"/>
          <a:stretch>
            <a:fillRect/>
          </a:stretch>
        </p:blipFill>
        <p:spPr>
          <a:xfrm>
            <a:off x="6623548" y="2975092"/>
            <a:ext cx="158008" cy="158008"/>
          </a:xfrm>
          <a:prstGeom prst="rect">
            <a:avLst/>
          </a:prstGeom>
        </p:spPr>
      </p:pic>
      <p:sp>
        <p:nvSpPr>
          <p:cNvPr id="22" name="Text 16"/>
          <p:cNvSpPr/>
          <p:nvPr/>
        </p:nvSpPr>
        <p:spPr>
          <a:xfrm>
            <a:off x="6976872" y="2871216"/>
            <a:ext cx="4526280" cy="384048"/>
          </a:xfrm>
          <a:prstGeom prst="rect">
            <a:avLst/>
          </a:prstGeom>
          <a:noFill/>
          <a:ln/>
        </p:spPr>
        <p:txBody>
          <a:bodyPr wrap="square" lIns="0" tIns="0" rIns="0" bIns="0" rtlCol="0" anchor="ctr"/>
          <a:lstStyle/>
          <a:p>
            <a:pPr marL="0" indent="0">
              <a:lnSpc>
                <a:spcPts val="1300"/>
              </a:lnSpc>
              <a:buNone/>
            </a:pPr>
            <a:r>
              <a:rPr lang="en-US" sz="1050" b="1">
                <a:solidFill>
                  <a:srgbClr val="12141C"/>
                </a:solidFill>
                <a:latin typeface="Calibri" pitchFamily="34" charset="0"/>
                <a:ea typeface="Calibri" pitchFamily="34" charset="-122"/>
                <a:cs typeface="Calibri" pitchFamily="34" charset="-120"/>
              </a:rPr>
              <a:t>Consensus  </a:t>
            </a:r>
            <a:r>
              <a:rPr lang="en-US" sz="1050">
                <a:solidFill>
                  <a:srgbClr val="6B7280"/>
                </a:solidFill>
                <a:latin typeface="Calibri" pitchFamily="34" charset="0"/>
                <a:ea typeface="Calibri" pitchFamily="34" charset="-122"/>
                <a:cs typeface="Calibri" pitchFamily="34" charset="-120"/>
              </a:rPr>
              <a:t>"Everyone on your team has already done this."</a:t>
            </a:r>
            <a:endParaRPr lang="en-US" sz="1050"/>
          </a:p>
        </p:txBody>
      </p:sp>
      <p:sp>
        <p:nvSpPr>
          <p:cNvPr id="23" name="Shape 17"/>
          <p:cNvSpPr/>
          <p:nvPr/>
        </p:nvSpPr>
        <p:spPr>
          <a:xfrm>
            <a:off x="6537960" y="3328416"/>
            <a:ext cx="329184" cy="329184"/>
          </a:xfrm>
          <a:prstGeom prst="ellipse">
            <a:avLst/>
          </a:prstGeom>
          <a:solidFill>
            <a:srgbClr val="12141C"/>
          </a:solidFill>
          <a:ln/>
        </p:spPr>
        <p:txBody>
          <a:bodyPr/>
          <a:lstStyle/>
          <a:p>
            <a:endParaRPr lang="en-US"/>
          </a:p>
        </p:txBody>
      </p:sp>
      <p:pic>
        <p:nvPicPr>
          <p:cNvPr id="24" name="Image 4" descr="/home/claude/icons/FaHourglassHalf_w.png"/>
          <p:cNvPicPr>
            <a:picLocks noChangeAspect="1"/>
          </p:cNvPicPr>
          <p:nvPr/>
        </p:nvPicPr>
        <p:blipFill>
          <a:blip r:embed="rId7"/>
          <a:stretch>
            <a:fillRect/>
          </a:stretch>
        </p:blipFill>
        <p:spPr>
          <a:xfrm>
            <a:off x="6623548" y="3414004"/>
            <a:ext cx="158008" cy="158008"/>
          </a:xfrm>
          <a:prstGeom prst="rect">
            <a:avLst/>
          </a:prstGeom>
        </p:spPr>
      </p:pic>
      <p:sp>
        <p:nvSpPr>
          <p:cNvPr id="25" name="Text 18"/>
          <p:cNvSpPr/>
          <p:nvPr/>
        </p:nvSpPr>
        <p:spPr>
          <a:xfrm>
            <a:off x="6976872" y="3310128"/>
            <a:ext cx="4526280" cy="384048"/>
          </a:xfrm>
          <a:prstGeom prst="rect">
            <a:avLst/>
          </a:prstGeom>
          <a:noFill/>
          <a:ln/>
        </p:spPr>
        <p:txBody>
          <a:bodyPr wrap="square" lIns="0" tIns="0" rIns="0" bIns="0" rtlCol="0" anchor="ctr"/>
          <a:lstStyle/>
          <a:p>
            <a:pPr marL="0" indent="0">
              <a:lnSpc>
                <a:spcPts val="1300"/>
              </a:lnSpc>
              <a:buNone/>
            </a:pPr>
            <a:r>
              <a:rPr lang="en-US" sz="1050" b="1">
                <a:solidFill>
                  <a:srgbClr val="12141C"/>
                </a:solidFill>
                <a:latin typeface="Calibri" pitchFamily="34" charset="0"/>
                <a:ea typeface="Calibri" pitchFamily="34" charset="-122"/>
                <a:cs typeface="Calibri" pitchFamily="34" charset="-120"/>
              </a:rPr>
              <a:t>Scarcity  </a:t>
            </a:r>
            <a:r>
              <a:rPr lang="en-US" sz="1050">
                <a:solidFill>
                  <a:srgbClr val="6B7280"/>
                </a:solidFill>
                <a:latin typeface="Calibri" pitchFamily="34" charset="0"/>
                <a:ea typeface="Calibri" pitchFamily="34" charset="-122"/>
                <a:cs typeface="Calibri" pitchFamily="34" charset="-120"/>
              </a:rPr>
              <a:t>A limited number of places, refunds, or tickets remain.</a:t>
            </a:r>
            <a:endParaRPr lang="en-US" sz="1050"/>
          </a:p>
        </p:txBody>
      </p:sp>
      <p:sp>
        <p:nvSpPr>
          <p:cNvPr id="26" name="Shape 19"/>
          <p:cNvSpPr/>
          <p:nvPr/>
        </p:nvSpPr>
        <p:spPr>
          <a:xfrm>
            <a:off x="6537960" y="3767328"/>
            <a:ext cx="329184" cy="329184"/>
          </a:xfrm>
          <a:prstGeom prst="ellipse">
            <a:avLst/>
          </a:prstGeom>
          <a:solidFill>
            <a:srgbClr val="12141C"/>
          </a:solidFill>
          <a:ln/>
        </p:spPr>
        <p:txBody>
          <a:bodyPr/>
          <a:lstStyle/>
          <a:p>
            <a:endParaRPr lang="en-US"/>
          </a:p>
        </p:txBody>
      </p:sp>
      <p:pic>
        <p:nvPicPr>
          <p:cNvPr id="27" name="Image 5" descr="/home/claude/icons/FaComments_w.png"/>
          <p:cNvPicPr>
            <a:picLocks noChangeAspect="1"/>
          </p:cNvPicPr>
          <p:nvPr/>
        </p:nvPicPr>
        <p:blipFill>
          <a:blip r:embed="rId8"/>
          <a:stretch>
            <a:fillRect/>
          </a:stretch>
        </p:blipFill>
        <p:spPr>
          <a:xfrm>
            <a:off x="6623548" y="3852916"/>
            <a:ext cx="158008" cy="158008"/>
          </a:xfrm>
          <a:prstGeom prst="rect">
            <a:avLst/>
          </a:prstGeom>
        </p:spPr>
      </p:pic>
      <p:sp>
        <p:nvSpPr>
          <p:cNvPr id="28" name="Text 20"/>
          <p:cNvSpPr/>
          <p:nvPr/>
        </p:nvSpPr>
        <p:spPr>
          <a:xfrm>
            <a:off x="6976872" y="3749040"/>
            <a:ext cx="4526280" cy="384048"/>
          </a:xfrm>
          <a:prstGeom prst="rect">
            <a:avLst/>
          </a:prstGeom>
          <a:noFill/>
          <a:ln/>
        </p:spPr>
        <p:txBody>
          <a:bodyPr wrap="square" lIns="0" tIns="0" rIns="0" bIns="0" rtlCol="0" anchor="ctr"/>
          <a:lstStyle/>
          <a:p>
            <a:pPr marL="0" indent="0">
              <a:lnSpc>
                <a:spcPts val="1300"/>
              </a:lnSpc>
              <a:buNone/>
            </a:pPr>
            <a:r>
              <a:rPr lang="en-US" sz="1050" b="1">
                <a:solidFill>
                  <a:srgbClr val="12141C"/>
                </a:solidFill>
                <a:latin typeface="Calibri" pitchFamily="34" charset="0"/>
                <a:ea typeface="Calibri" pitchFamily="34" charset="-122"/>
                <a:cs typeface="Calibri" pitchFamily="34" charset="-120"/>
              </a:rPr>
              <a:t>Elicitation  </a:t>
            </a:r>
            <a:r>
              <a:rPr lang="en-US" sz="1050">
                <a:solidFill>
                  <a:srgbClr val="6B7280"/>
                </a:solidFill>
                <a:latin typeface="Calibri" pitchFamily="34" charset="0"/>
                <a:ea typeface="Calibri" pitchFamily="34" charset="-122"/>
                <a:cs typeface="Calibri" pitchFamily="34" charset="-120"/>
              </a:rPr>
              <a:t>Friendly conversation that quietly harvests answers to security questions.</a:t>
            </a:r>
            <a:endParaRPr lang="en-US" sz="1050"/>
          </a:p>
        </p:txBody>
      </p:sp>
      <p:sp>
        <p:nvSpPr>
          <p:cNvPr id="29" name="Shape 21"/>
          <p:cNvSpPr/>
          <p:nvPr/>
        </p:nvSpPr>
        <p:spPr>
          <a:xfrm>
            <a:off x="566928" y="4434840"/>
            <a:ext cx="11057839" cy="1097280"/>
          </a:xfrm>
          <a:prstGeom prst="roundRect">
            <a:avLst>
              <a:gd name="adj" fmla="val 7500"/>
            </a:avLst>
          </a:prstGeom>
          <a:solidFill>
            <a:srgbClr val="FDF2E2"/>
          </a:solidFill>
          <a:ln/>
        </p:spPr>
        <p:txBody>
          <a:bodyPr/>
          <a:lstStyle/>
          <a:p>
            <a:endParaRPr lang="en-US"/>
          </a:p>
        </p:txBody>
      </p:sp>
      <p:sp>
        <p:nvSpPr>
          <p:cNvPr id="30" name="Text 22"/>
          <p:cNvSpPr/>
          <p:nvPr/>
        </p:nvSpPr>
        <p:spPr>
          <a:xfrm>
            <a:off x="841248" y="4553712"/>
            <a:ext cx="457200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The exam move for 1.1.B</a:t>
            </a:r>
            <a:endParaRPr lang="en-US" sz="1200"/>
          </a:p>
        </p:txBody>
      </p:sp>
      <p:sp>
        <p:nvSpPr>
          <p:cNvPr id="31" name="Text 23"/>
          <p:cNvSpPr/>
          <p:nvPr/>
        </p:nvSpPr>
        <p:spPr>
          <a:xfrm>
            <a:off x="841248" y="4846320"/>
            <a:ext cx="10515600" cy="640080"/>
          </a:xfrm>
          <a:prstGeom prst="rect">
            <a:avLst/>
          </a:prstGeom>
          <a:noFill/>
          <a:ln/>
        </p:spPr>
        <p:txBody>
          <a:bodyPr wrap="square" lIns="0" tIns="0" rIns="0" bIns="0" rtlCol="0" anchor="t"/>
          <a:lstStyle/>
          <a:p>
            <a:pPr marL="0" indent="0">
              <a:lnSpc>
                <a:spcPts val="1500"/>
              </a:lnSpc>
              <a:buNone/>
            </a:pPr>
            <a:r>
              <a:rPr lang="en-US" sz="1130">
                <a:solidFill>
                  <a:srgbClr val="2B303C"/>
                </a:solidFill>
                <a:latin typeface="Calibri" pitchFamily="34" charset="0"/>
                <a:ea typeface="Calibri" pitchFamily="34" charset="-122"/>
                <a:cs typeface="Calibri" pitchFamily="34" charset="-120"/>
              </a:rPr>
              <a:t>Do not stop at naming the lever. Complete the sentence: the tactic is X, which works because it exploits the human tendency to Y, in order to make the target do Z before verifying. Example: "The message uses urgency — a 24-hour deadline — which exploits the tendency to act quickly under time pressure, so the target enters credentials before checking the sender's domain."</a:t>
            </a:r>
            <a:endParaRPr lang="en-US" sz="1130"/>
          </a:p>
        </p:txBody>
      </p:sp>
      <p:sp>
        <p:nvSpPr>
          <p:cNvPr id="32" name="Text 24"/>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3" name="Text 25"/>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11</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1.1.A  ·  INDICATORS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Anatomy of a phishing message</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Adapted from CED Scenario 1A. Six indicators are visible before you touch the link.</a:t>
            </a:r>
            <a:endParaRPr lang="en-US" sz="1400"/>
          </a:p>
        </p:txBody>
      </p:sp>
      <p:sp>
        <p:nvSpPr>
          <p:cNvPr id="5" name="Shape 3"/>
          <p:cNvSpPr/>
          <p:nvPr/>
        </p:nvSpPr>
        <p:spPr>
          <a:xfrm>
            <a:off x="566928" y="1920240"/>
            <a:ext cx="5989320" cy="3566160"/>
          </a:xfrm>
          <a:prstGeom prst="roundRect">
            <a:avLst>
              <a:gd name="adj" fmla="val 2308"/>
            </a:avLst>
          </a:prstGeom>
          <a:solidFill>
            <a:srgbClr val="FFFFFF"/>
          </a:solidFill>
          <a:ln w="15875">
            <a:solidFill>
              <a:srgbClr val="E7EBF2"/>
            </a:solidFill>
            <a:prstDash val="solid"/>
          </a:ln>
          <a:effectLst>
            <a:outerShdw blurRad="101600" dist="12700" dir="5400000" algn="bl" rotWithShape="0">
              <a:srgbClr val="8A93A5">
                <a:alpha val="22000"/>
              </a:srgbClr>
            </a:outerShdw>
          </a:effectLst>
        </p:spPr>
        <p:txBody>
          <a:bodyPr/>
          <a:lstStyle/>
          <a:p>
            <a:endParaRPr lang="en-US"/>
          </a:p>
        </p:txBody>
      </p:sp>
      <p:sp>
        <p:nvSpPr>
          <p:cNvPr id="6" name="Shape 4"/>
          <p:cNvSpPr/>
          <p:nvPr/>
        </p:nvSpPr>
        <p:spPr>
          <a:xfrm>
            <a:off x="566928" y="1920240"/>
            <a:ext cx="5989320" cy="384048"/>
          </a:xfrm>
          <a:prstGeom prst="roundRect">
            <a:avLst>
              <a:gd name="adj" fmla="val 16667"/>
            </a:avLst>
          </a:prstGeom>
          <a:solidFill>
            <a:srgbClr val="F2F4F8"/>
          </a:solidFill>
          <a:ln/>
        </p:spPr>
        <p:txBody>
          <a:bodyPr/>
          <a:lstStyle/>
          <a:p>
            <a:endParaRPr lang="en-US"/>
          </a:p>
        </p:txBody>
      </p:sp>
      <p:sp>
        <p:nvSpPr>
          <p:cNvPr id="7" name="Text 5"/>
          <p:cNvSpPr/>
          <p:nvPr/>
        </p:nvSpPr>
        <p:spPr>
          <a:xfrm>
            <a:off x="768096" y="1920240"/>
            <a:ext cx="3657600" cy="384048"/>
          </a:xfrm>
          <a:prstGeom prst="rect">
            <a:avLst/>
          </a:prstGeom>
          <a:noFill/>
          <a:ln/>
        </p:spPr>
        <p:txBody>
          <a:bodyPr wrap="square" lIns="0" tIns="0" rIns="0" bIns="0" rtlCol="0" anchor="ctr"/>
          <a:lstStyle/>
          <a:p>
            <a:pPr marL="0" indent="0">
              <a:lnSpc>
                <a:spcPts val="1700"/>
              </a:lnSpc>
              <a:buNone/>
            </a:pPr>
            <a:r>
              <a:rPr lang="en-US" sz="1000">
                <a:solidFill>
                  <a:srgbClr val="6B7280"/>
                </a:solidFill>
                <a:latin typeface="Calibri" pitchFamily="34" charset="0"/>
                <a:ea typeface="Calibri" pitchFamily="34" charset="-122"/>
                <a:cs typeface="Calibri" pitchFamily="34" charset="-120"/>
              </a:rPr>
              <a:t>Inbox   ·   1 new message</a:t>
            </a:r>
            <a:endParaRPr lang="en-US" sz="1000"/>
          </a:p>
        </p:txBody>
      </p:sp>
      <p:sp>
        <p:nvSpPr>
          <p:cNvPr id="8" name="Text 6"/>
          <p:cNvSpPr/>
          <p:nvPr/>
        </p:nvSpPr>
        <p:spPr>
          <a:xfrm>
            <a:off x="822960" y="2450592"/>
            <a:ext cx="685800" cy="256032"/>
          </a:xfrm>
          <a:prstGeom prst="rect">
            <a:avLst/>
          </a:prstGeom>
          <a:noFill/>
          <a:ln/>
        </p:spPr>
        <p:txBody>
          <a:bodyPr wrap="square" lIns="0" tIns="0" rIns="0" bIns="0" rtlCol="0" anchor="ctr"/>
          <a:lstStyle/>
          <a:p>
            <a:pPr marL="0" indent="0">
              <a:buNone/>
            </a:pPr>
            <a:r>
              <a:rPr lang="en-US" sz="1050">
                <a:solidFill>
                  <a:srgbClr val="6B7280"/>
                </a:solidFill>
                <a:latin typeface="Courier New" pitchFamily="34" charset="0"/>
                <a:ea typeface="Courier New" pitchFamily="34" charset="-122"/>
                <a:cs typeface="Courier New" pitchFamily="34" charset="-120"/>
              </a:rPr>
              <a:t>To:</a:t>
            </a:r>
            <a:endParaRPr lang="en-US" sz="1050"/>
          </a:p>
        </p:txBody>
      </p:sp>
      <p:sp>
        <p:nvSpPr>
          <p:cNvPr id="9" name="Text 7"/>
          <p:cNvSpPr/>
          <p:nvPr/>
        </p:nvSpPr>
        <p:spPr>
          <a:xfrm>
            <a:off x="1499616" y="2450592"/>
            <a:ext cx="4754880" cy="256032"/>
          </a:xfrm>
          <a:prstGeom prst="rect">
            <a:avLst/>
          </a:prstGeom>
          <a:noFill/>
          <a:ln/>
        </p:spPr>
        <p:txBody>
          <a:bodyPr wrap="square" lIns="0" tIns="0" rIns="0" bIns="0" rtlCol="0" anchor="ctr"/>
          <a:lstStyle/>
          <a:p>
            <a:pPr marL="0" indent="0">
              <a:buNone/>
            </a:pPr>
            <a:r>
              <a:rPr lang="en-US" sz="1050">
                <a:solidFill>
                  <a:srgbClr val="2B303C"/>
                </a:solidFill>
                <a:latin typeface="Courier New" pitchFamily="34" charset="0"/>
                <a:ea typeface="Courier New" pitchFamily="34" charset="-122"/>
                <a:cs typeface="Courier New" pitchFamily="34" charset="-120"/>
              </a:rPr>
              <a:t>ljones@school.edu</a:t>
            </a:r>
            <a:endParaRPr lang="en-US" sz="1050"/>
          </a:p>
        </p:txBody>
      </p:sp>
      <p:sp>
        <p:nvSpPr>
          <p:cNvPr id="10" name="Text 8"/>
          <p:cNvSpPr/>
          <p:nvPr/>
        </p:nvSpPr>
        <p:spPr>
          <a:xfrm>
            <a:off x="822960" y="2761488"/>
            <a:ext cx="685800" cy="256032"/>
          </a:xfrm>
          <a:prstGeom prst="rect">
            <a:avLst/>
          </a:prstGeom>
          <a:noFill/>
          <a:ln/>
        </p:spPr>
        <p:txBody>
          <a:bodyPr wrap="square" lIns="0" tIns="0" rIns="0" bIns="0" rtlCol="0" anchor="ctr"/>
          <a:lstStyle/>
          <a:p>
            <a:pPr marL="0" indent="0">
              <a:buNone/>
            </a:pPr>
            <a:r>
              <a:rPr lang="en-US" sz="1050">
                <a:solidFill>
                  <a:srgbClr val="6B7280"/>
                </a:solidFill>
                <a:latin typeface="Courier New" pitchFamily="34" charset="0"/>
                <a:ea typeface="Courier New" pitchFamily="34" charset="-122"/>
                <a:cs typeface="Courier New" pitchFamily="34" charset="-120"/>
              </a:rPr>
              <a:t>From:</a:t>
            </a:r>
            <a:endParaRPr lang="en-US" sz="1050"/>
          </a:p>
        </p:txBody>
      </p:sp>
      <p:sp>
        <p:nvSpPr>
          <p:cNvPr id="11" name="Text 9"/>
          <p:cNvSpPr/>
          <p:nvPr/>
        </p:nvSpPr>
        <p:spPr>
          <a:xfrm>
            <a:off x="1499616" y="2761488"/>
            <a:ext cx="4754880" cy="256032"/>
          </a:xfrm>
          <a:prstGeom prst="rect">
            <a:avLst/>
          </a:prstGeom>
          <a:noFill/>
          <a:ln/>
        </p:spPr>
        <p:txBody>
          <a:bodyPr wrap="square" lIns="0" tIns="0" rIns="0" bIns="0" rtlCol="0" anchor="ctr"/>
          <a:lstStyle/>
          <a:p>
            <a:pPr marL="0" indent="0">
              <a:buNone/>
            </a:pPr>
            <a:r>
              <a:rPr lang="en-US" sz="1050" b="1">
                <a:solidFill>
                  <a:srgbClr val="D9483F"/>
                </a:solidFill>
                <a:latin typeface="Courier New" pitchFamily="34" charset="0"/>
                <a:ea typeface="Courier New" pitchFamily="34" charset="-122"/>
                <a:cs typeface="Courier New" pitchFamily="34" charset="-120"/>
              </a:rPr>
              <a:t>do-not-reply@g00gle.com</a:t>
            </a:r>
            <a:endParaRPr lang="en-US" sz="1050"/>
          </a:p>
        </p:txBody>
      </p:sp>
      <p:sp>
        <p:nvSpPr>
          <p:cNvPr id="12" name="Text 10"/>
          <p:cNvSpPr/>
          <p:nvPr/>
        </p:nvSpPr>
        <p:spPr>
          <a:xfrm>
            <a:off x="822960" y="3072384"/>
            <a:ext cx="685800" cy="256032"/>
          </a:xfrm>
          <a:prstGeom prst="rect">
            <a:avLst/>
          </a:prstGeom>
          <a:noFill/>
          <a:ln/>
        </p:spPr>
        <p:txBody>
          <a:bodyPr wrap="square" lIns="0" tIns="0" rIns="0" bIns="0" rtlCol="0" anchor="ctr"/>
          <a:lstStyle/>
          <a:p>
            <a:pPr marL="0" indent="0">
              <a:buNone/>
            </a:pPr>
            <a:r>
              <a:rPr lang="en-US" sz="1050">
                <a:solidFill>
                  <a:srgbClr val="6B7280"/>
                </a:solidFill>
                <a:latin typeface="Courier New" pitchFamily="34" charset="0"/>
                <a:ea typeface="Courier New" pitchFamily="34" charset="-122"/>
                <a:cs typeface="Courier New" pitchFamily="34" charset="-120"/>
              </a:rPr>
              <a:t>Subject:</a:t>
            </a:r>
            <a:endParaRPr lang="en-US" sz="1050"/>
          </a:p>
        </p:txBody>
      </p:sp>
      <p:sp>
        <p:nvSpPr>
          <p:cNvPr id="13" name="Text 11"/>
          <p:cNvSpPr/>
          <p:nvPr/>
        </p:nvSpPr>
        <p:spPr>
          <a:xfrm>
            <a:off x="1499616" y="3072384"/>
            <a:ext cx="4754880" cy="256032"/>
          </a:xfrm>
          <a:prstGeom prst="rect">
            <a:avLst/>
          </a:prstGeom>
          <a:noFill/>
          <a:ln/>
        </p:spPr>
        <p:txBody>
          <a:bodyPr wrap="square" lIns="0" tIns="0" rIns="0" bIns="0" rtlCol="0" anchor="ctr"/>
          <a:lstStyle/>
          <a:p>
            <a:pPr marL="0" indent="0">
              <a:buNone/>
            </a:pPr>
            <a:r>
              <a:rPr lang="en-US" sz="1050" b="1">
                <a:solidFill>
                  <a:srgbClr val="D9483F"/>
                </a:solidFill>
                <a:latin typeface="Courier New" pitchFamily="34" charset="0"/>
                <a:ea typeface="Courier New" pitchFamily="34" charset="-122"/>
                <a:cs typeface="Courier New" pitchFamily="34" charset="-120"/>
              </a:rPr>
              <a:t>[Urgent!] Access Requested</a:t>
            </a:r>
            <a:endParaRPr lang="en-US" sz="1050"/>
          </a:p>
        </p:txBody>
      </p:sp>
      <p:sp>
        <p:nvSpPr>
          <p:cNvPr id="14" name="Shape 12"/>
          <p:cNvSpPr/>
          <p:nvPr/>
        </p:nvSpPr>
        <p:spPr>
          <a:xfrm>
            <a:off x="822960" y="3456432"/>
            <a:ext cx="5486400" cy="9144"/>
          </a:xfrm>
          <a:prstGeom prst="rect">
            <a:avLst/>
          </a:prstGeom>
          <a:solidFill>
            <a:srgbClr val="E7EBF2"/>
          </a:solidFill>
          <a:ln/>
        </p:spPr>
        <p:txBody>
          <a:bodyPr/>
          <a:lstStyle/>
          <a:p>
            <a:endParaRPr lang="en-US"/>
          </a:p>
        </p:txBody>
      </p:sp>
      <p:sp>
        <p:nvSpPr>
          <p:cNvPr id="15" name="Text 13"/>
          <p:cNvSpPr/>
          <p:nvPr/>
        </p:nvSpPr>
        <p:spPr>
          <a:xfrm>
            <a:off x="822960" y="3584448"/>
            <a:ext cx="5486400" cy="1371600"/>
          </a:xfrm>
          <a:prstGeom prst="rect">
            <a:avLst/>
          </a:prstGeom>
          <a:noFill/>
          <a:ln/>
        </p:spPr>
        <p:txBody>
          <a:bodyPr wrap="square" lIns="0" tIns="0" rIns="0" bIns="0" rtlCol="0" anchor="t"/>
          <a:lstStyle/>
          <a:p>
            <a:pPr marL="0" indent="0">
              <a:lnSpc>
                <a:spcPts val="1450"/>
              </a:lnSpc>
              <a:buNone/>
            </a:pPr>
            <a:r>
              <a:rPr lang="en-US" sz="1080">
                <a:solidFill>
                  <a:srgbClr val="2B303C"/>
                </a:solidFill>
                <a:latin typeface="Calibri" pitchFamily="34" charset="0"/>
                <a:ea typeface="Calibri" pitchFamily="34" charset="-122"/>
                <a:cs typeface="Calibri" pitchFamily="34" charset="-120"/>
              </a:rPr>
              <a:t>One of your students has requested access to make a copy of a document. Click this link to authorize your student to copy your document.</a:t>
            </a:r>
            <a:endParaRPr lang="en-US" sz="1080"/>
          </a:p>
          <a:p>
            <a:pPr marL="0" indent="0">
              <a:lnSpc>
                <a:spcPts val="1450"/>
              </a:lnSpc>
              <a:buNone/>
            </a:pPr>
            <a:endParaRPr lang="en-US" sz="1080"/>
          </a:p>
          <a:p>
            <a:pPr marL="0" indent="0">
              <a:lnSpc>
                <a:spcPts val="1450"/>
              </a:lnSpc>
              <a:buNone/>
            </a:pPr>
            <a:r>
              <a:rPr lang="en-US" sz="1080">
                <a:solidFill>
                  <a:srgbClr val="2B303C"/>
                </a:solidFill>
                <a:latin typeface="Calibri" pitchFamily="34" charset="0"/>
                <a:ea typeface="Calibri" pitchFamily="34" charset="-122"/>
                <a:cs typeface="Calibri" pitchFamily="34" charset="-120"/>
              </a:rPr>
              <a:t>If you don't click the link, your student won't be able to complete their assignment. Research shows the faster teachers respond, the more likely students submit on time.</a:t>
            </a:r>
            <a:endParaRPr lang="en-US" sz="1080"/>
          </a:p>
          <a:p>
            <a:pPr marL="0" indent="0">
              <a:lnSpc>
                <a:spcPts val="1450"/>
              </a:lnSpc>
              <a:buNone/>
            </a:pPr>
            <a:endParaRPr lang="en-US" sz="1080"/>
          </a:p>
          <a:p>
            <a:pPr marL="0" indent="0">
              <a:lnSpc>
                <a:spcPts val="1450"/>
              </a:lnSpc>
              <a:buNone/>
            </a:pPr>
            <a:r>
              <a:rPr lang="en-US" sz="1080">
                <a:solidFill>
                  <a:srgbClr val="2B303C"/>
                </a:solidFill>
                <a:latin typeface="Calibri" pitchFamily="34" charset="0"/>
                <a:ea typeface="Calibri" pitchFamily="34" charset="-122"/>
                <a:cs typeface="Calibri" pitchFamily="34" charset="-120"/>
              </a:rPr>
              <a:t>The Google Drive Team</a:t>
            </a:r>
            <a:endParaRPr lang="en-US" sz="1080"/>
          </a:p>
        </p:txBody>
      </p:sp>
      <p:sp>
        <p:nvSpPr>
          <p:cNvPr id="16" name="Shape 14"/>
          <p:cNvSpPr/>
          <p:nvPr/>
        </p:nvSpPr>
        <p:spPr>
          <a:xfrm>
            <a:off x="822960" y="4983480"/>
            <a:ext cx="1691640" cy="329184"/>
          </a:xfrm>
          <a:prstGeom prst="roundRect">
            <a:avLst>
              <a:gd name="adj" fmla="val 13889"/>
            </a:avLst>
          </a:prstGeom>
          <a:solidFill>
            <a:srgbClr val="3B7DDD"/>
          </a:solidFill>
          <a:ln/>
        </p:spPr>
        <p:txBody>
          <a:bodyPr/>
          <a:lstStyle/>
          <a:p>
            <a:endParaRPr lang="en-US"/>
          </a:p>
        </p:txBody>
      </p:sp>
      <p:sp>
        <p:nvSpPr>
          <p:cNvPr id="17" name="Text 15"/>
          <p:cNvSpPr/>
          <p:nvPr/>
        </p:nvSpPr>
        <p:spPr>
          <a:xfrm>
            <a:off x="822960" y="4983480"/>
            <a:ext cx="1691640" cy="329184"/>
          </a:xfrm>
          <a:prstGeom prst="rect">
            <a:avLst/>
          </a:prstGeom>
          <a:noFill/>
          <a:ln/>
        </p:spPr>
        <p:txBody>
          <a:bodyPr wrap="square" lIns="0" tIns="0" rIns="0" bIns="0" rtlCol="0" anchor="ctr"/>
          <a:lstStyle/>
          <a:p>
            <a:pPr marL="0" indent="0" algn="ctr">
              <a:lnSpc>
                <a:spcPts val="1700"/>
              </a:lnSpc>
              <a:buNone/>
            </a:pPr>
            <a:r>
              <a:rPr lang="en-US" sz="950" b="1">
                <a:solidFill>
                  <a:srgbClr val="FFFFFF"/>
                </a:solidFill>
                <a:latin typeface="Calibri" pitchFamily="34" charset="0"/>
                <a:ea typeface="Calibri" pitchFamily="34" charset="-122"/>
                <a:cs typeface="Calibri" pitchFamily="34" charset="-120"/>
              </a:rPr>
              <a:t>AUTHORIZE ACCESS</a:t>
            </a:r>
            <a:endParaRPr lang="en-US" sz="950"/>
          </a:p>
        </p:txBody>
      </p:sp>
      <p:sp>
        <p:nvSpPr>
          <p:cNvPr id="18" name="Text 16"/>
          <p:cNvSpPr/>
          <p:nvPr/>
        </p:nvSpPr>
        <p:spPr>
          <a:xfrm>
            <a:off x="6858000" y="1956816"/>
            <a:ext cx="3657600" cy="201168"/>
          </a:xfrm>
          <a:prstGeom prst="rect">
            <a:avLst/>
          </a:prstGeom>
          <a:noFill/>
          <a:ln/>
        </p:spPr>
        <p:txBody>
          <a:bodyPr wrap="square" lIns="0" tIns="0" rIns="0" bIns="0" rtlCol="0" anchor="ctr"/>
          <a:lstStyle/>
          <a:p>
            <a:pPr marL="0" indent="0">
              <a:buNone/>
            </a:pPr>
            <a:r>
              <a:rPr lang="en-US" sz="900" b="1" kern="0" spc="120">
                <a:solidFill>
                  <a:srgbClr val="B9721F"/>
                </a:solidFill>
                <a:latin typeface="Calibri" pitchFamily="34" charset="0"/>
                <a:ea typeface="Calibri" pitchFamily="34" charset="-122"/>
                <a:cs typeface="Calibri" pitchFamily="34" charset="-120"/>
              </a:rPr>
              <a:t>SIX INDICATORS</a:t>
            </a:r>
            <a:endParaRPr lang="en-US" sz="900"/>
          </a:p>
        </p:txBody>
      </p:sp>
      <p:sp>
        <p:nvSpPr>
          <p:cNvPr id="19" name="Shape 17"/>
          <p:cNvSpPr/>
          <p:nvPr/>
        </p:nvSpPr>
        <p:spPr>
          <a:xfrm>
            <a:off x="6858000" y="2286000"/>
            <a:ext cx="256032" cy="256032"/>
          </a:xfrm>
          <a:prstGeom prst="ellipse">
            <a:avLst/>
          </a:prstGeom>
          <a:solidFill>
            <a:srgbClr val="F2A03D"/>
          </a:solidFill>
          <a:ln/>
        </p:spPr>
        <p:txBody>
          <a:bodyPr/>
          <a:lstStyle/>
          <a:p>
            <a:endParaRPr lang="en-US"/>
          </a:p>
        </p:txBody>
      </p:sp>
      <p:sp>
        <p:nvSpPr>
          <p:cNvPr id="20" name="Text 18"/>
          <p:cNvSpPr/>
          <p:nvPr/>
        </p:nvSpPr>
        <p:spPr>
          <a:xfrm>
            <a:off x="6858000" y="2286000"/>
            <a:ext cx="256032" cy="256032"/>
          </a:xfrm>
          <a:prstGeom prst="rect">
            <a:avLst/>
          </a:prstGeom>
          <a:noFill/>
          <a:ln/>
        </p:spPr>
        <p:txBody>
          <a:bodyPr wrap="square" lIns="0" tIns="0" rIns="0" bIns="0" rtlCol="0" anchor="ctr"/>
          <a:lstStyle/>
          <a:p>
            <a:pPr marL="0" indent="0" algn="ctr">
              <a:buNone/>
            </a:pPr>
            <a:r>
              <a:rPr lang="en-US" sz="950" b="1">
                <a:solidFill>
                  <a:srgbClr val="12141C"/>
                </a:solidFill>
                <a:latin typeface="Calibri" pitchFamily="34" charset="0"/>
                <a:ea typeface="Calibri" pitchFamily="34" charset="-122"/>
                <a:cs typeface="Calibri" pitchFamily="34" charset="-120"/>
              </a:rPr>
              <a:t>1</a:t>
            </a:r>
            <a:endParaRPr lang="en-US" sz="950"/>
          </a:p>
        </p:txBody>
      </p:sp>
      <p:sp>
        <p:nvSpPr>
          <p:cNvPr id="21" name="Text 19"/>
          <p:cNvSpPr/>
          <p:nvPr/>
        </p:nvSpPr>
        <p:spPr>
          <a:xfrm>
            <a:off x="7223760" y="2249424"/>
            <a:ext cx="4389120" cy="219456"/>
          </a:xfrm>
          <a:prstGeom prst="rect">
            <a:avLst/>
          </a:prstGeom>
          <a:noFill/>
          <a:ln/>
        </p:spPr>
        <p:txBody>
          <a:bodyPr wrap="square" lIns="0" tIns="0" rIns="0" bIns="0" rtlCol="0" anchor="ctr"/>
          <a:lstStyle/>
          <a:p>
            <a:pPr marL="0" indent="0">
              <a:buNone/>
            </a:pPr>
            <a:r>
              <a:rPr lang="en-US" sz="1120" b="1">
                <a:solidFill>
                  <a:srgbClr val="12141C"/>
                </a:solidFill>
                <a:latin typeface="Calibri" pitchFamily="34" charset="0"/>
                <a:ea typeface="Calibri" pitchFamily="34" charset="-122"/>
                <a:cs typeface="Calibri" pitchFamily="34" charset="-120"/>
              </a:rPr>
              <a:t>Look-alike domain</a:t>
            </a:r>
            <a:endParaRPr lang="en-US" sz="1120"/>
          </a:p>
        </p:txBody>
      </p:sp>
      <p:sp>
        <p:nvSpPr>
          <p:cNvPr id="22" name="Text 20"/>
          <p:cNvSpPr/>
          <p:nvPr/>
        </p:nvSpPr>
        <p:spPr>
          <a:xfrm>
            <a:off x="7223760" y="2459736"/>
            <a:ext cx="4434840" cy="310896"/>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g00gle.com uses zeros for the letter o. Real Google messages do not come from this domain.</a:t>
            </a:r>
            <a:endParaRPr lang="en-US" sz="980"/>
          </a:p>
        </p:txBody>
      </p:sp>
      <p:sp>
        <p:nvSpPr>
          <p:cNvPr id="23" name="Shape 21"/>
          <p:cNvSpPr/>
          <p:nvPr/>
        </p:nvSpPr>
        <p:spPr>
          <a:xfrm>
            <a:off x="6858000" y="2834640"/>
            <a:ext cx="256032" cy="256032"/>
          </a:xfrm>
          <a:prstGeom prst="ellipse">
            <a:avLst/>
          </a:prstGeom>
          <a:solidFill>
            <a:srgbClr val="F2A03D"/>
          </a:solidFill>
          <a:ln/>
        </p:spPr>
        <p:txBody>
          <a:bodyPr/>
          <a:lstStyle/>
          <a:p>
            <a:endParaRPr lang="en-US"/>
          </a:p>
        </p:txBody>
      </p:sp>
      <p:sp>
        <p:nvSpPr>
          <p:cNvPr id="24" name="Text 22"/>
          <p:cNvSpPr/>
          <p:nvPr/>
        </p:nvSpPr>
        <p:spPr>
          <a:xfrm>
            <a:off x="6858000" y="2834640"/>
            <a:ext cx="256032" cy="256032"/>
          </a:xfrm>
          <a:prstGeom prst="rect">
            <a:avLst/>
          </a:prstGeom>
          <a:noFill/>
          <a:ln/>
        </p:spPr>
        <p:txBody>
          <a:bodyPr wrap="square" lIns="0" tIns="0" rIns="0" bIns="0" rtlCol="0" anchor="ctr"/>
          <a:lstStyle/>
          <a:p>
            <a:pPr marL="0" indent="0" algn="ctr">
              <a:buNone/>
            </a:pPr>
            <a:r>
              <a:rPr lang="en-US" sz="950" b="1">
                <a:solidFill>
                  <a:srgbClr val="12141C"/>
                </a:solidFill>
                <a:latin typeface="Calibri" pitchFamily="34" charset="0"/>
                <a:ea typeface="Calibri" pitchFamily="34" charset="-122"/>
                <a:cs typeface="Calibri" pitchFamily="34" charset="-120"/>
              </a:rPr>
              <a:t>2</a:t>
            </a:r>
            <a:endParaRPr lang="en-US" sz="950"/>
          </a:p>
        </p:txBody>
      </p:sp>
      <p:sp>
        <p:nvSpPr>
          <p:cNvPr id="25" name="Text 23"/>
          <p:cNvSpPr/>
          <p:nvPr/>
        </p:nvSpPr>
        <p:spPr>
          <a:xfrm>
            <a:off x="7223760" y="2798064"/>
            <a:ext cx="4389120" cy="219456"/>
          </a:xfrm>
          <a:prstGeom prst="rect">
            <a:avLst/>
          </a:prstGeom>
          <a:noFill/>
          <a:ln/>
        </p:spPr>
        <p:txBody>
          <a:bodyPr wrap="square" lIns="0" tIns="0" rIns="0" bIns="0" rtlCol="0" anchor="ctr"/>
          <a:lstStyle/>
          <a:p>
            <a:pPr marL="0" indent="0">
              <a:buNone/>
            </a:pPr>
            <a:r>
              <a:rPr lang="en-US" sz="1120" b="1">
                <a:solidFill>
                  <a:srgbClr val="12141C"/>
                </a:solidFill>
                <a:latin typeface="Calibri" pitchFamily="34" charset="0"/>
                <a:ea typeface="Calibri" pitchFamily="34" charset="-122"/>
                <a:cs typeface="Calibri" pitchFamily="34" charset="-120"/>
              </a:rPr>
              <a:t>Urgency in the subject</a:t>
            </a:r>
            <a:endParaRPr lang="en-US" sz="1120"/>
          </a:p>
        </p:txBody>
      </p:sp>
      <p:sp>
        <p:nvSpPr>
          <p:cNvPr id="26" name="Text 24"/>
          <p:cNvSpPr/>
          <p:nvPr/>
        </p:nvSpPr>
        <p:spPr>
          <a:xfrm>
            <a:off x="7223760" y="3008376"/>
            <a:ext cx="4434840" cy="310896"/>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"[Urgent!]" is doing work before the message is even opened.</a:t>
            </a:r>
            <a:endParaRPr lang="en-US" sz="980"/>
          </a:p>
        </p:txBody>
      </p:sp>
      <p:sp>
        <p:nvSpPr>
          <p:cNvPr id="27" name="Shape 25"/>
          <p:cNvSpPr/>
          <p:nvPr/>
        </p:nvSpPr>
        <p:spPr>
          <a:xfrm>
            <a:off x="6858000" y="3383280"/>
            <a:ext cx="256032" cy="256032"/>
          </a:xfrm>
          <a:prstGeom prst="ellipse">
            <a:avLst/>
          </a:prstGeom>
          <a:solidFill>
            <a:srgbClr val="F2A03D"/>
          </a:solidFill>
          <a:ln/>
        </p:spPr>
        <p:txBody>
          <a:bodyPr/>
          <a:lstStyle/>
          <a:p>
            <a:endParaRPr lang="en-US"/>
          </a:p>
        </p:txBody>
      </p:sp>
      <p:sp>
        <p:nvSpPr>
          <p:cNvPr id="28" name="Text 26"/>
          <p:cNvSpPr/>
          <p:nvPr/>
        </p:nvSpPr>
        <p:spPr>
          <a:xfrm>
            <a:off x="6858000" y="3383280"/>
            <a:ext cx="256032" cy="256032"/>
          </a:xfrm>
          <a:prstGeom prst="rect">
            <a:avLst/>
          </a:prstGeom>
          <a:noFill/>
          <a:ln/>
        </p:spPr>
        <p:txBody>
          <a:bodyPr wrap="square" lIns="0" tIns="0" rIns="0" bIns="0" rtlCol="0" anchor="ctr"/>
          <a:lstStyle/>
          <a:p>
            <a:pPr marL="0" indent="0" algn="ctr">
              <a:buNone/>
            </a:pPr>
            <a:r>
              <a:rPr lang="en-US" sz="950" b="1">
                <a:solidFill>
                  <a:srgbClr val="12141C"/>
                </a:solidFill>
                <a:latin typeface="Calibri" pitchFamily="34" charset="0"/>
                <a:ea typeface="Calibri" pitchFamily="34" charset="-122"/>
                <a:cs typeface="Calibri" pitchFamily="34" charset="-120"/>
              </a:rPr>
              <a:t>3</a:t>
            </a:r>
            <a:endParaRPr lang="en-US" sz="950"/>
          </a:p>
        </p:txBody>
      </p:sp>
      <p:sp>
        <p:nvSpPr>
          <p:cNvPr id="29" name="Text 27"/>
          <p:cNvSpPr/>
          <p:nvPr/>
        </p:nvSpPr>
        <p:spPr>
          <a:xfrm>
            <a:off x="7223760" y="3346704"/>
            <a:ext cx="4389120" cy="219456"/>
          </a:xfrm>
          <a:prstGeom prst="rect">
            <a:avLst/>
          </a:prstGeom>
          <a:noFill/>
          <a:ln/>
        </p:spPr>
        <p:txBody>
          <a:bodyPr wrap="square" lIns="0" tIns="0" rIns="0" bIns="0" rtlCol="0" anchor="ctr"/>
          <a:lstStyle/>
          <a:p>
            <a:pPr marL="0" indent="0">
              <a:buNone/>
            </a:pPr>
            <a:r>
              <a:rPr lang="en-US" sz="1120" b="1">
                <a:solidFill>
                  <a:srgbClr val="12141C"/>
                </a:solidFill>
                <a:latin typeface="Calibri" pitchFamily="34" charset="0"/>
                <a:ea typeface="Calibri" pitchFamily="34" charset="-122"/>
                <a:cs typeface="Calibri" pitchFamily="34" charset="-120"/>
              </a:rPr>
              <a:t>Manufactured consequence</a:t>
            </a:r>
            <a:endParaRPr lang="en-US" sz="1120"/>
          </a:p>
        </p:txBody>
      </p:sp>
      <p:sp>
        <p:nvSpPr>
          <p:cNvPr id="30" name="Text 28"/>
          <p:cNvSpPr/>
          <p:nvPr/>
        </p:nvSpPr>
        <p:spPr>
          <a:xfrm>
            <a:off x="7223760" y="3557016"/>
            <a:ext cx="4434840" cy="310896"/>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A student will be harmed if the teacher does not act — pressure, not information.</a:t>
            </a:r>
            <a:endParaRPr lang="en-US" sz="980"/>
          </a:p>
        </p:txBody>
      </p:sp>
      <p:sp>
        <p:nvSpPr>
          <p:cNvPr id="31" name="Shape 29"/>
          <p:cNvSpPr/>
          <p:nvPr/>
        </p:nvSpPr>
        <p:spPr>
          <a:xfrm>
            <a:off x="6858000" y="3931920"/>
            <a:ext cx="256032" cy="256032"/>
          </a:xfrm>
          <a:prstGeom prst="ellipse">
            <a:avLst/>
          </a:prstGeom>
          <a:solidFill>
            <a:srgbClr val="F2A03D"/>
          </a:solidFill>
          <a:ln/>
        </p:spPr>
        <p:txBody>
          <a:bodyPr/>
          <a:lstStyle/>
          <a:p>
            <a:endParaRPr lang="en-US"/>
          </a:p>
        </p:txBody>
      </p:sp>
      <p:sp>
        <p:nvSpPr>
          <p:cNvPr id="32" name="Text 30"/>
          <p:cNvSpPr/>
          <p:nvPr/>
        </p:nvSpPr>
        <p:spPr>
          <a:xfrm>
            <a:off x="6858000" y="3931920"/>
            <a:ext cx="256032" cy="256032"/>
          </a:xfrm>
          <a:prstGeom prst="rect">
            <a:avLst/>
          </a:prstGeom>
          <a:noFill/>
          <a:ln/>
        </p:spPr>
        <p:txBody>
          <a:bodyPr wrap="square" lIns="0" tIns="0" rIns="0" bIns="0" rtlCol="0" anchor="ctr"/>
          <a:lstStyle/>
          <a:p>
            <a:pPr marL="0" indent="0" algn="ctr">
              <a:buNone/>
            </a:pPr>
            <a:r>
              <a:rPr lang="en-US" sz="950" b="1">
                <a:solidFill>
                  <a:srgbClr val="12141C"/>
                </a:solidFill>
                <a:latin typeface="Calibri" pitchFamily="34" charset="0"/>
                <a:ea typeface="Calibri" pitchFamily="34" charset="-122"/>
                <a:cs typeface="Calibri" pitchFamily="34" charset="-120"/>
              </a:rPr>
              <a:t>4</a:t>
            </a:r>
            <a:endParaRPr lang="en-US" sz="950"/>
          </a:p>
        </p:txBody>
      </p:sp>
      <p:sp>
        <p:nvSpPr>
          <p:cNvPr id="33" name="Text 31"/>
          <p:cNvSpPr/>
          <p:nvPr/>
        </p:nvSpPr>
        <p:spPr>
          <a:xfrm>
            <a:off x="7223760" y="3895344"/>
            <a:ext cx="4389120" cy="219456"/>
          </a:xfrm>
          <a:prstGeom prst="rect">
            <a:avLst/>
          </a:prstGeom>
          <a:noFill/>
          <a:ln/>
        </p:spPr>
        <p:txBody>
          <a:bodyPr wrap="square" lIns="0" tIns="0" rIns="0" bIns="0" rtlCol="0" anchor="ctr"/>
          <a:lstStyle/>
          <a:p>
            <a:pPr marL="0" indent="0">
              <a:buNone/>
            </a:pPr>
            <a:r>
              <a:rPr lang="en-US" sz="1120" b="1">
                <a:solidFill>
                  <a:srgbClr val="12141C"/>
                </a:solidFill>
                <a:latin typeface="Calibri" pitchFamily="34" charset="0"/>
                <a:ea typeface="Calibri" pitchFamily="34" charset="-122"/>
                <a:cs typeface="Calibri" pitchFamily="34" charset="-120"/>
              </a:rPr>
              <a:t>Fabricated authority</a:t>
            </a:r>
            <a:endParaRPr lang="en-US" sz="1120"/>
          </a:p>
        </p:txBody>
      </p:sp>
      <p:sp>
        <p:nvSpPr>
          <p:cNvPr id="34" name="Text 32"/>
          <p:cNvSpPr/>
          <p:nvPr/>
        </p:nvSpPr>
        <p:spPr>
          <a:xfrm>
            <a:off x="7223760" y="4105656"/>
            <a:ext cx="4434840" cy="310896"/>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An invented "research shows" claim borrows the credibility of evidence.</a:t>
            </a:r>
            <a:endParaRPr lang="en-US" sz="980"/>
          </a:p>
        </p:txBody>
      </p:sp>
      <p:sp>
        <p:nvSpPr>
          <p:cNvPr id="35" name="Shape 33"/>
          <p:cNvSpPr/>
          <p:nvPr/>
        </p:nvSpPr>
        <p:spPr>
          <a:xfrm>
            <a:off x="6858000" y="4480560"/>
            <a:ext cx="256032" cy="256032"/>
          </a:xfrm>
          <a:prstGeom prst="ellipse">
            <a:avLst/>
          </a:prstGeom>
          <a:solidFill>
            <a:srgbClr val="F2A03D"/>
          </a:solidFill>
          <a:ln/>
        </p:spPr>
        <p:txBody>
          <a:bodyPr/>
          <a:lstStyle/>
          <a:p>
            <a:endParaRPr lang="en-US"/>
          </a:p>
        </p:txBody>
      </p:sp>
      <p:sp>
        <p:nvSpPr>
          <p:cNvPr id="36" name="Text 34"/>
          <p:cNvSpPr/>
          <p:nvPr/>
        </p:nvSpPr>
        <p:spPr>
          <a:xfrm>
            <a:off x="6858000" y="4480560"/>
            <a:ext cx="256032" cy="256032"/>
          </a:xfrm>
          <a:prstGeom prst="rect">
            <a:avLst/>
          </a:prstGeom>
          <a:noFill/>
          <a:ln/>
        </p:spPr>
        <p:txBody>
          <a:bodyPr wrap="square" lIns="0" tIns="0" rIns="0" bIns="0" rtlCol="0" anchor="ctr"/>
          <a:lstStyle/>
          <a:p>
            <a:pPr marL="0" indent="0" algn="ctr">
              <a:buNone/>
            </a:pPr>
            <a:r>
              <a:rPr lang="en-US" sz="950" b="1">
                <a:solidFill>
                  <a:srgbClr val="12141C"/>
                </a:solidFill>
                <a:latin typeface="Calibri" pitchFamily="34" charset="0"/>
                <a:ea typeface="Calibri" pitchFamily="34" charset="-122"/>
                <a:cs typeface="Calibri" pitchFamily="34" charset="-120"/>
              </a:rPr>
              <a:t>5</a:t>
            </a:r>
            <a:endParaRPr lang="en-US" sz="950"/>
          </a:p>
        </p:txBody>
      </p:sp>
      <p:sp>
        <p:nvSpPr>
          <p:cNvPr id="37" name="Text 35"/>
          <p:cNvSpPr/>
          <p:nvPr/>
        </p:nvSpPr>
        <p:spPr>
          <a:xfrm>
            <a:off x="7223760" y="4443984"/>
            <a:ext cx="4389120" cy="219456"/>
          </a:xfrm>
          <a:prstGeom prst="rect">
            <a:avLst/>
          </a:prstGeom>
          <a:noFill/>
          <a:ln/>
        </p:spPr>
        <p:txBody>
          <a:bodyPr wrap="square" lIns="0" tIns="0" rIns="0" bIns="0" rtlCol="0" anchor="ctr"/>
          <a:lstStyle/>
          <a:p>
            <a:pPr marL="0" indent="0">
              <a:buNone/>
            </a:pPr>
            <a:r>
              <a:rPr lang="en-US" sz="1120" b="1">
                <a:solidFill>
                  <a:srgbClr val="12141C"/>
                </a:solidFill>
                <a:latin typeface="Calibri" pitchFamily="34" charset="0"/>
                <a:ea typeface="Calibri" pitchFamily="34" charset="-122"/>
                <a:cs typeface="Calibri" pitchFamily="34" charset="-120"/>
              </a:rPr>
              <a:t>Unexpected request</a:t>
            </a:r>
            <a:endParaRPr lang="en-US" sz="1120"/>
          </a:p>
        </p:txBody>
      </p:sp>
      <p:sp>
        <p:nvSpPr>
          <p:cNvPr id="38" name="Text 36"/>
          <p:cNvSpPr/>
          <p:nvPr/>
        </p:nvSpPr>
        <p:spPr>
          <a:xfrm>
            <a:off x="7223760" y="4654296"/>
            <a:ext cx="4434840" cy="310896"/>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Drive sharing does not require a teacher to authorise copying by email.</a:t>
            </a:r>
            <a:endParaRPr lang="en-US" sz="980"/>
          </a:p>
        </p:txBody>
      </p:sp>
      <p:sp>
        <p:nvSpPr>
          <p:cNvPr id="39" name="Shape 37"/>
          <p:cNvSpPr/>
          <p:nvPr/>
        </p:nvSpPr>
        <p:spPr>
          <a:xfrm>
            <a:off x="6858000" y="5029200"/>
            <a:ext cx="256032" cy="256032"/>
          </a:xfrm>
          <a:prstGeom prst="ellipse">
            <a:avLst/>
          </a:prstGeom>
          <a:solidFill>
            <a:srgbClr val="F2A03D"/>
          </a:solidFill>
          <a:ln/>
        </p:spPr>
        <p:txBody>
          <a:bodyPr/>
          <a:lstStyle/>
          <a:p>
            <a:endParaRPr lang="en-US"/>
          </a:p>
        </p:txBody>
      </p:sp>
      <p:sp>
        <p:nvSpPr>
          <p:cNvPr id="40" name="Text 38"/>
          <p:cNvSpPr/>
          <p:nvPr/>
        </p:nvSpPr>
        <p:spPr>
          <a:xfrm>
            <a:off x="6858000" y="5029200"/>
            <a:ext cx="256032" cy="256032"/>
          </a:xfrm>
          <a:prstGeom prst="rect">
            <a:avLst/>
          </a:prstGeom>
          <a:noFill/>
          <a:ln/>
        </p:spPr>
        <p:txBody>
          <a:bodyPr wrap="square" lIns="0" tIns="0" rIns="0" bIns="0" rtlCol="0" anchor="ctr"/>
          <a:lstStyle/>
          <a:p>
            <a:pPr marL="0" indent="0" algn="ctr">
              <a:buNone/>
            </a:pPr>
            <a:r>
              <a:rPr lang="en-US" sz="950" b="1">
                <a:solidFill>
                  <a:srgbClr val="12141C"/>
                </a:solidFill>
                <a:latin typeface="Calibri" pitchFamily="34" charset="0"/>
                <a:ea typeface="Calibri" pitchFamily="34" charset="-122"/>
                <a:cs typeface="Calibri" pitchFamily="34" charset="-120"/>
              </a:rPr>
              <a:t>6</a:t>
            </a:r>
            <a:endParaRPr lang="en-US" sz="950"/>
          </a:p>
        </p:txBody>
      </p:sp>
      <p:sp>
        <p:nvSpPr>
          <p:cNvPr id="41" name="Text 39"/>
          <p:cNvSpPr/>
          <p:nvPr/>
        </p:nvSpPr>
        <p:spPr>
          <a:xfrm>
            <a:off x="7223760" y="4992624"/>
            <a:ext cx="4389120" cy="219456"/>
          </a:xfrm>
          <a:prstGeom prst="rect">
            <a:avLst/>
          </a:prstGeom>
          <a:noFill/>
          <a:ln/>
        </p:spPr>
        <p:txBody>
          <a:bodyPr wrap="square" lIns="0" tIns="0" rIns="0" bIns="0" rtlCol="0" anchor="ctr"/>
          <a:lstStyle/>
          <a:p>
            <a:pPr marL="0" indent="0">
              <a:buNone/>
            </a:pPr>
            <a:r>
              <a:rPr lang="en-US" sz="1120" b="1">
                <a:solidFill>
                  <a:srgbClr val="12141C"/>
                </a:solidFill>
                <a:latin typeface="Calibri" pitchFamily="34" charset="0"/>
                <a:ea typeface="Calibri" pitchFamily="34" charset="-122"/>
                <a:cs typeface="Calibri" pitchFamily="34" charset="-120"/>
              </a:rPr>
              <a:t>Action funnelled to a link</a:t>
            </a:r>
            <a:endParaRPr lang="en-US" sz="1120"/>
          </a:p>
        </p:txBody>
      </p:sp>
      <p:sp>
        <p:nvSpPr>
          <p:cNvPr id="42" name="Text 40"/>
          <p:cNvSpPr/>
          <p:nvPr/>
        </p:nvSpPr>
        <p:spPr>
          <a:xfrm>
            <a:off x="7223760" y="5202936"/>
            <a:ext cx="4434840" cy="310896"/>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Every path forward runs through the adversary's button.</a:t>
            </a:r>
            <a:endParaRPr lang="en-US" sz="980"/>
          </a:p>
        </p:txBody>
      </p:sp>
      <p:sp>
        <p:nvSpPr>
          <p:cNvPr id="43" name="Text 41"/>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4" name="Text 42"/>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12</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1.1.A  ·  MITIGATION</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A checklist you can apply in fifteen seconds</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Recognising the red flag is Skill 1. Knowing the reporting procedure is Skill 2.</a:t>
            </a:r>
            <a:endParaRPr lang="en-US" sz="1400"/>
          </a:p>
        </p:txBody>
      </p:sp>
      <p:sp>
        <p:nvSpPr>
          <p:cNvPr id="5" name="Shape 3"/>
          <p:cNvSpPr/>
          <p:nvPr/>
        </p:nvSpPr>
        <p:spPr>
          <a:xfrm>
            <a:off x="566928" y="1938528"/>
            <a:ext cx="3529584" cy="1097280"/>
          </a:xfrm>
          <a:prstGeom prst="roundRect">
            <a:avLst>
              <a:gd name="adj" fmla="val 7500"/>
            </a:avLst>
          </a:prstGeom>
          <a:solidFill>
            <a:srgbClr val="F2F4F8"/>
          </a:solidFill>
          <a:ln/>
        </p:spPr>
        <p:txBody>
          <a:bodyPr/>
          <a:lstStyle/>
          <a:p>
            <a:endParaRPr lang="en-US"/>
          </a:p>
        </p:txBody>
      </p:sp>
      <p:sp>
        <p:nvSpPr>
          <p:cNvPr id="6" name="Shape 4"/>
          <p:cNvSpPr/>
          <p:nvPr/>
        </p:nvSpPr>
        <p:spPr>
          <a:xfrm>
            <a:off x="786384" y="2121408"/>
            <a:ext cx="402336" cy="402336"/>
          </a:xfrm>
          <a:prstGeom prst="ellipse">
            <a:avLst/>
          </a:prstGeom>
          <a:solidFill>
            <a:srgbClr val="F2A03D"/>
          </a:solidFill>
          <a:ln/>
        </p:spPr>
        <p:txBody>
          <a:bodyPr/>
          <a:lstStyle/>
          <a:p>
            <a:endParaRPr lang="en-US"/>
          </a:p>
        </p:txBody>
      </p:sp>
      <p:pic>
        <p:nvPicPr>
          <p:cNvPr id="7" name="Image 0" descr="/home/claude/icons/FaIdCard_w.png"/>
          <p:cNvPicPr>
            <a:picLocks noChangeAspect="1"/>
          </p:cNvPicPr>
          <p:nvPr/>
        </p:nvPicPr>
        <p:blipFill>
          <a:blip r:embed="rId3"/>
          <a:stretch>
            <a:fillRect/>
          </a:stretch>
        </p:blipFill>
        <p:spPr>
          <a:xfrm>
            <a:off x="890991" y="2226015"/>
            <a:ext cx="193121" cy="193121"/>
          </a:xfrm>
          <a:prstGeom prst="rect">
            <a:avLst/>
          </a:prstGeom>
        </p:spPr>
      </p:pic>
      <p:sp>
        <p:nvSpPr>
          <p:cNvPr id="8" name="Text 5"/>
          <p:cNvSpPr/>
          <p:nvPr/>
        </p:nvSpPr>
        <p:spPr>
          <a:xfrm>
            <a:off x="1316736" y="2121408"/>
            <a:ext cx="25603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Sender</a:t>
            </a:r>
            <a:endParaRPr lang="en-US" sz="1200"/>
          </a:p>
        </p:txBody>
      </p:sp>
      <p:sp>
        <p:nvSpPr>
          <p:cNvPr id="9" name="Text 6"/>
          <p:cNvSpPr/>
          <p:nvPr/>
        </p:nvSpPr>
        <p:spPr>
          <a:xfrm>
            <a:off x="786384" y="2560320"/>
            <a:ext cx="3108960" cy="402336"/>
          </a:xfrm>
          <a:prstGeom prst="rect">
            <a:avLst/>
          </a:prstGeom>
          <a:noFill/>
          <a:ln/>
        </p:spPr>
        <p:txBody>
          <a:bodyPr wrap="square" lIns="0" tIns="0" rIns="0" bIns="0" rtlCol="0" anchor="t"/>
          <a:lstStyle/>
          <a:p>
            <a:pPr marL="0" indent="0">
              <a:lnSpc>
                <a:spcPts val="1280"/>
              </a:lnSpc>
              <a:buNone/>
            </a:pPr>
            <a:r>
              <a:rPr lang="en-US" sz="1000">
                <a:solidFill>
                  <a:srgbClr val="6B7280"/>
                </a:solidFill>
                <a:latin typeface="Calibri" pitchFamily="34" charset="0"/>
                <a:ea typeface="Calibri" pitchFamily="34" charset="-122"/>
                <a:cs typeface="Calibri" pitchFamily="34" charset="-120"/>
              </a:rPr>
              <a:t>Display name and actual address disagree, or the domain is a near-miss of a real one.</a:t>
            </a:r>
            <a:endParaRPr lang="en-US" sz="1000"/>
          </a:p>
        </p:txBody>
      </p:sp>
      <p:sp>
        <p:nvSpPr>
          <p:cNvPr id="10" name="Shape 7"/>
          <p:cNvSpPr/>
          <p:nvPr/>
        </p:nvSpPr>
        <p:spPr>
          <a:xfrm>
            <a:off x="4325112" y="1938528"/>
            <a:ext cx="3529584" cy="1097280"/>
          </a:xfrm>
          <a:prstGeom prst="roundRect">
            <a:avLst>
              <a:gd name="adj" fmla="val 7500"/>
            </a:avLst>
          </a:prstGeom>
          <a:solidFill>
            <a:srgbClr val="F2F4F8"/>
          </a:solidFill>
          <a:ln/>
        </p:spPr>
        <p:txBody>
          <a:bodyPr/>
          <a:lstStyle/>
          <a:p>
            <a:endParaRPr lang="en-US"/>
          </a:p>
        </p:txBody>
      </p:sp>
      <p:sp>
        <p:nvSpPr>
          <p:cNvPr id="11" name="Shape 8"/>
          <p:cNvSpPr/>
          <p:nvPr/>
        </p:nvSpPr>
        <p:spPr>
          <a:xfrm>
            <a:off x="4544568" y="2121408"/>
            <a:ext cx="402336" cy="402336"/>
          </a:xfrm>
          <a:prstGeom prst="ellipse">
            <a:avLst/>
          </a:prstGeom>
          <a:solidFill>
            <a:srgbClr val="F2A03D"/>
          </a:solidFill>
          <a:ln/>
        </p:spPr>
        <p:txBody>
          <a:bodyPr/>
          <a:lstStyle/>
          <a:p>
            <a:endParaRPr lang="en-US"/>
          </a:p>
        </p:txBody>
      </p:sp>
      <p:pic>
        <p:nvPicPr>
          <p:cNvPr id="12" name="Image 1" descr="/home/claude/icons/FaLink_w.png"/>
          <p:cNvPicPr>
            <a:picLocks noChangeAspect="1"/>
          </p:cNvPicPr>
          <p:nvPr/>
        </p:nvPicPr>
        <p:blipFill>
          <a:blip r:embed="rId4"/>
          <a:stretch>
            <a:fillRect/>
          </a:stretch>
        </p:blipFill>
        <p:spPr>
          <a:xfrm>
            <a:off x="4649175" y="2226015"/>
            <a:ext cx="193121" cy="193121"/>
          </a:xfrm>
          <a:prstGeom prst="rect">
            <a:avLst/>
          </a:prstGeom>
        </p:spPr>
      </p:pic>
      <p:sp>
        <p:nvSpPr>
          <p:cNvPr id="13" name="Text 9"/>
          <p:cNvSpPr/>
          <p:nvPr/>
        </p:nvSpPr>
        <p:spPr>
          <a:xfrm>
            <a:off x="5074920" y="2121408"/>
            <a:ext cx="25603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Links</a:t>
            </a:r>
            <a:endParaRPr lang="en-US" sz="1200"/>
          </a:p>
        </p:txBody>
      </p:sp>
      <p:sp>
        <p:nvSpPr>
          <p:cNvPr id="14" name="Text 10"/>
          <p:cNvSpPr/>
          <p:nvPr/>
        </p:nvSpPr>
        <p:spPr>
          <a:xfrm>
            <a:off x="4544568" y="2560320"/>
            <a:ext cx="3108960" cy="402336"/>
          </a:xfrm>
          <a:prstGeom prst="rect">
            <a:avLst/>
          </a:prstGeom>
          <a:noFill/>
          <a:ln/>
        </p:spPr>
        <p:txBody>
          <a:bodyPr wrap="square" lIns="0" tIns="0" rIns="0" bIns="0" rtlCol="0" anchor="t"/>
          <a:lstStyle/>
          <a:p>
            <a:pPr marL="0" indent="0">
              <a:lnSpc>
                <a:spcPts val="1280"/>
              </a:lnSpc>
              <a:buNone/>
            </a:pPr>
            <a:r>
              <a:rPr lang="en-US" sz="1000">
                <a:solidFill>
                  <a:srgbClr val="6B7280"/>
                </a:solidFill>
                <a:latin typeface="Calibri" pitchFamily="34" charset="0"/>
                <a:ea typeface="Calibri" pitchFamily="34" charset="-122"/>
                <a:cs typeface="Calibri" pitchFamily="34" charset="-120"/>
              </a:rPr>
              <a:t>The visible text and the real destination differ; shortened or unfamiliar domains.</a:t>
            </a:r>
            <a:endParaRPr lang="en-US" sz="1000"/>
          </a:p>
        </p:txBody>
      </p:sp>
      <p:sp>
        <p:nvSpPr>
          <p:cNvPr id="15" name="Shape 11"/>
          <p:cNvSpPr/>
          <p:nvPr/>
        </p:nvSpPr>
        <p:spPr>
          <a:xfrm>
            <a:off x="8083296" y="1938528"/>
            <a:ext cx="3529584" cy="1097280"/>
          </a:xfrm>
          <a:prstGeom prst="roundRect">
            <a:avLst>
              <a:gd name="adj" fmla="val 7500"/>
            </a:avLst>
          </a:prstGeom>
          <a:solidFill>
            <a:srgbClr val="F2F4F8"/>
          </a:solidFill>
          <a:ln/>
        </p:spPr>
        <p:txBody>
          <a:bodyPr/>
          <a:lstStyle/>
          <a:p>
            <a:endParaRPr lang="en-US"/>
          </a:p>
        </p:txBody>
      </p:sp>
      <p:sp>
        <p:nvSpPr>
          <p:cNvPr id="16" name="Shape 12"/>
          <p:cNvSpPr/>
          <p:nvPr/>
        </p:nvSpPr>
        <p:spPr>
          <a:xfrm>
            <a:off x="8302752" y="2121408"/>
            <a:ext cx="402336" cy="402336"/>
          </a:xfrm>
          <a:prstGeom prst="ellipse">
            <a:avLst/>
          </a:prstGeom>
          <a:solidFill>
            <a:srgbClr val="F2A03D"/>
          </a:solidFill>
          <a:ln/>
        </p:spPr>
        <p:txBody>
          <a:bodyPr/>
          <a:lstStyle/>
          <a:p>
            <a:endParaRPr lang="en-US"/>
          </a:p>
        </p:txBody>
      </p:sp>
      <p:pic>
        <p:nvPicPr>
          <p:cNvPr id="17" name="Image 2" descr="/home/claude/icons/FaPaperclip_w.png"/>
          <p:cNvPicPr>
            <a:picLocks noChangeAspect="1"/>
          </p:cNvPicPr>
          <p:nvPr/>
        </p:nvPicPr>
        <p:blipFill>
          <a:blip r:embed="rId5"/>
          <a:stretch>
            <a:fillRect/>
          </a:stretch>
        </p:blipFill>
        <p:spPr>
          <a:xfrm>
            <a:off x="8407359" y="2226015"/>
            <a:ext cx="193121" cy="193121"/>
          </a:xfrm>
          <a:prstGeom prst="rect">
            <a:avLst/>
          </a:prstGeom>
        </p:spPr>
      </p:pic>
      <p:sp>
        <p:nvSpPr>
          <p:cNvPr id="18" name="Text 13"/>
          <p:cNvSpPr/>
          <p:nvPr/>
        </p:nvSpPr>
        <p:spPr>
          <a:xfrm>
            <a:off x="8833104" y="2121408"/>
            <a:ext cx="25603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Attachments</a:t>
            </a:r>
            <a:endParaRPr lang="en-US" sz="1200"/>
          </a:p>
        </p:txBody>
      </p:sp>
      <p:sp>
        <p:nvSpPr>
          <p:cNvPr id="19" name="Text 14"/>
          <p:cNvSpPr/>
          <p:nvPr/>
        </p:nvSpPr>
        <p:spPr>
          <a:xfrm>
            <a:off x="8302752" y="2560320"/>
            <a:ext cx="3108960" cy="402336"/>
          </a:xfrm>
          <a:prstGeom prst="rect">
            <a:avLst/>
          </a:prstGeom>
          <a:noFill/>
          <a:ln/>
        </p:spPr>
        <p:txBody>
          <a:bodyPr wrap="square" lIns="0" tIns="0" rIns="0" bIns="0" rtlCol="0" anchor="t"/>
          <a:lstStyle/>
          <a:p>
            <a:pPr marL="0" indent="0">
              <a:lnSpc>
                <a:spcPts val="1280"/>
              </a:lnSpc>
              <a:buNone/>
            </a:pPr>
            <a:r>
              <a:rPr lang="en-US" sz="1000">
                <a:solidFill>
                  <a:srgbClr val="6B7280"/>
                </a:solidFill>
                <a:latin typeface="Calibri" pitchFamily="34" charset="0"/>
                <a:ea typeface="Calibri" pitchFamily="34" charset="-122"/>
                <a:cs typeface="Calibri" pitchFamily="34" charset="-120"/>
              </a:rPr>
              <a:t>Unexpected files, especially installers, archives, or documents demanding macros.</a:t>
            </a:r>
            <a:endParaRPr lang="en-US" sz="1000"/>
          </a:p>
        </p:txBody>
      </p:sp>
      <p:sp>
        <p:nvSpPr>
          <p:cNvPr id="20" name="Shape 15"/>
          <p:cNvSpPr/>
          <p:nvPr/>
        </p:nvSpPr>
        <p:spPr>
          <a:xfrm>
            <a:off x="566928" y="3172968"/>
            <a:ext cx="3529584" cy="1097280"/>
          </a:xfrm>
          <a:prstGeom prst="roundRect">
            <a:avLst>
              <a:gd name="adj" fmla="val 7500"/>
            </a:avLst>
          </a:prstGeom>
          <a:solidFill>
            <a:srgbClr val="F2F4F8"/>
          </a:solidFill>
          <a:ln/>
        </p:spPr>
        <p:txBody>
          <a:bodyPr/>
          <a:lstStyle/>
          <a:p>
            <a:endParaRPr lang="en-US"/>
          </a:p>
        </p:txBody>
      </p:sp>
      <p:sp>
        <p:nvSpPr>
          <p:cNvPr id="21" name="Shape 16"/>
          <p:cNvSpPr/>
          <p:nvPr/>
        </p:nvSpPr>
        <p:spPr>
          <a:xfrm>
            <a:off x="786384" y="3355848"/>
            <a:ext cx="402336" cy="402336"/>
          </a:xfrm>
          <a:prstGeom prst="ellipse">
            <a:avLst/>
          </a:prstGeom>
          <a:solidFill>
            <a:srgbClr val="F2A03D"/>
          </a:solidFill>
          <a:ln/>
        </p:spPr>
        <p:txBody>
          <a:bodyPr/>
          <a:lstStyle/>
          <a:p>
            <a:endParaRPr lang="en-US"/>
          </a:p>
        </p:txBody>
      </p:sp>
      <p:pic>
        <p:nvPicPr>
          <p:cNvPr id="22" name="Image 3" descr="/home/claude/icons/FaStopwatch_w.png"/>
          <p:cNvPicPr>
            <a:picLocks noChangeAspect="1"/>
          </p:cNvPicPr>
          <p:nvPr/>
        </p:nvPicPr>
        <p:blipFill>
          <a:blip r:embed="rId6"/>
          <a:stretch>
            <a:fillRect/>
          </a:stretch>
        </p:blipFill>
        <p:spPr>
          <a:xfrm>
            <a:off x="890991" y="3460455"/>
            <a:ext cx="193121" cy="193121"/>
          </a:xfrm>
          <a:prstGeom prst="rect">
            <a:avLst/>
          </a:prstGeom>
        </p:spPr>
      </p:pic>
      <p:sp>
        <p:nvSpPr>
          <p:cNvPr id="23" name="Text 17"/>
          <p:cNvSpPr/>
          <p:nvPr/>
        </p:nvSpPr>
        <p:spPr>
          <a:xfrm>
            <a:off x="1316736" y="3355848"/>
            <a:ext cx="25603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Timing</a:t>
            </a:r>
            <a:endParaRPr lang="en-US" sz="1200"/>
          </a:p>
        </p:txBody>
      </p:sp>
      <p:sp>
        <p:nvSpPr>
          <p:cNvPr id="24" name="Text 18"/>
          <p:cNvSpPr/>
          <p:nvPr/>
        </p:nvSpPr>
        <p:spPr>
          <a:xfrm>
            <a:off x="786384" y="3794760"/>
            <a:ext cx="3108960" cy="402336"/>
          </a:xfrm>
          <a:prstGeom prst="rect">
            <a:avLst/>
          </a:prstGeom>
          <a:noFill/>
          <a:ln/>
        </p:spPr>
        <p:txBody>
          <a:bodyPr wrap="square" lIns="0" tIns="0" rIns="0" bIns="0" rtlCol="0" anchor="t"/>
          <a:lstStyle/>
          <a:p>
            <a:pPr marL="0" indent="0">
              <a:lnSpc>
                <a:spcPts val="1280"/>
              </a:lnSpc>
              <a:buNone/>
            </a:pPr>
            <a:r>
              <a:rPr lang="en-US" sz="1000">
                <a:solidFill>
                  <a:srgbClr val="6B7280"/>
                </a:solidFill>
                <a:latin typeface="Calibri" pitchFamily="34" charset="0"/>
                <a:ea typeface="Calibri" pitchFamily="34" charset="-122"/>
                <a:cs typeface="Calibri" pitchFamily="34" charset="-120"/>
              </a:rPr>
              <a:t>A deadline, a threat, or a consequence attached to not acting immediately.</a:t>
            </a:r>
            <a:endParaRPr lang="en-US" sz="1000"/>
          </a:p>
        </p:txBody>
      </p:sp>
      <p:sp>
        <p:nvSpPr>
          <p:cNvPr id="25" name="Shape 19"/>
          <p:cNvSpPr/>
          <p:nvPr/>
        </p:nvSpPr>
        <p:spPr>
          <a:xfrm>
            <a:off x="4325112" y="3172968"/>
            <a:ext cx="3529584" cy="1097280"/>
          </a:xfrm>
          <a:prstGeom prst="roundRect">
            <a:avLst>
              <a:gd name="adj" fmla="val 7500"/>
            </a:avLst>
          </a:prstGeom>
          <a:solidFill>
            <a:srgbClr val="F2F4F8"/>
          </a:solidFill>
          <a:ln/>
        </p:spPr>
        <p:txBody>
          <a:bodyPr/>
          <a:lstStyle/>
          <a:p>
            <a:endParaRPr lang="en-US"/>
          </a:p>
        </p:txBody>
      </p:sp>
      <p:sp>
        <p:nvSpPr>
          <p:cNvPr id="26" name="Shape 20"/>
          <p:cNvSpPr/>
          <p:nvPr/>
        </p:nvSpPr>
        <p:spPr>
          <a:xfrm>
            <a:off x="4544568" y="3355848"/>
            <a:ext cx="402336" cy="402336"/>
          </a:xfrm>
          <a:prstGeom prst="ellipse">
            <a:avLst/>
          </a:prstGeom>
          <a:solidFill>
            <a:srgbClr val="F2A03D"/>
          </a:solidFill>
          <a:ln/>
        </p:spPr>
        <p:txBody>
          <a:bodyPr/>
          <a:lstStyle/>
          <a:p>
            <a:endParaRPr lang="en-US"/>
          </a:p>
        </p:txBody>
      </p:sp>
      <p:pic>
        <p:nvPicPr>
          <p:cNvPr id="27" name="Image 4" descr="/home/claude/icons/FaKey_w.png"/>
          <p:cNvPicPr>
            <a:picLocks noChangeAspect="1"/>
          </p:cNvPicPr>
          <p:nvPr/>
        </p:nvPicPr>
        <p:blipFill>
          <a:blip r:embed="rId7"/>
          <a:stretch>
            <a:fillRect/>
          </a:stretch>
        </p:blipFill>
        <p:spPr>
          <a:xfrm>
            <a:off x="4649175" y="3460455"/>
            <a:ext cx="193121" cy="193121"/>
          </a:xfrm>
          <a:prstGeom prst="rect">
            <a:avLst/>
          </a:prstGeom>
        </p:spPr>
      </p:pic>
      <p:sp>
        <p:nvSpPr>
          <p:cNvPr id="28" name="Text 21"/>
          <p:cNvSpPr/>
          <p:nvPr/>
        </p:nvSpPr>
        <p:spPr>
          <a:xfrm>
            <a:off x="5074920" y="3355848"/>
            <a:ext cx="25603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Ask</a:t>
            </a:r>
            <a:endParaRPr lang="en-US" sz="1200"/>
          </a:p>
        </p:txBody>
      </p:sp>
      <p:sp>
        <p:nvSpPr>
          <p:cNvPr id="29" name="Text 22"/>
          <p:cNvSpPr/>
          <p:nvPr/>
        </p:nvSpPr>
        <p:spPr>
          <a:xfrm>
            <a:off x="4544568" y="3794760"/>
            <a:ext cx="3108960" cy="402336"/>
          </a:xfrm>
          <a:prstGeom prst="rect">
            <a:avLst/>
          </a:prstGeom>
          <a:noFill/>
          <a:ln/>
        </p:spPr>
        <p:txBody>
          <a:bodyPr wrap="square" lIns="0" tIns="0" rIns="0" bIns="0" rtlCol="0" anchor="t"/>
          <a:lstStyle/>
          <a:p>
            <a:pPr marL="0" indent="0">
              <a:lnSpc>
                <a:spcPts val="1280"/>
              </a:lnSpc>
              <a:buNone/>
            </a:pPr>
            <a:r>
              <a:rPr lang="en-US" sz="1000">
                <a:solidFill>
                  <a:srgbClr val="6B7280"/>
                </a:solidFill>
                <a:latin typeface="Calibri" pitchFamily="34" charset="0"/>
                <a:ea typeface="Calibri" pitchFamily="34" charset="-122"/>
                <a:cs typeface="Calibri" pitchFamily="34" charset="-120"/>
              </a:rPr>
              <a:t>Any request for a password, a one-time code, payment, or gift cards.</a:t>
            </a:r>
            <a:endParaRPr lang="en-US" sz="1000"/>
          </a:p>
        </p:txBody>
      </p:sp>
      <p:sp>
        <p:nvSpPr>
          <p:cNvPr id="30" name="Shape 23"/>
          <p:cNvSpPr/>
          <p:nvPr/>
        </p:nvSpPr>
        <p:spPr>
          <a:xfrm>
            <a:off x="8083296" y="3172968"/>
            <a:ext cx="3529584" cy="1097280"/>
          </a:xfrm>
          <a:prstGeom prst="roundRect">
            <a:avLst>
              <a:gd name="adj" fmla="val 7500"/>
            </a:avLst>
          </a:prstGeom>
          <a:solidFill>
            <a:srgbClr val="F2F4F8"/>
          </a:solidFill>
          <a:ln/>
        </p:spPr>
        <p:txBody>
          <a:bodyPr/>
          <a:lstStyle/>
          <a:p>
            <a:endParaRPr lang="en-US"/>
          </a:p>
        </p:txBody>
      </p:sp>
      <p:sp>
        <p:nvSpPr>
          <p:cNvPr id="31" name="Shape 24"/>
          <p:cNvSpPr/>
          <p:nvPr/>
        </p:nvSpPr>
        <p:spPr>
          <a:xfrm>
            <a:off x="8302752" y="3355848"/>
            <a:ext cx="402336" cy="402336"/>
          </a:xfrm>
          <a:prstGeom prst="ellipse">
            <a:avLst/>
          </a:prstGeom>
          <a:solidFill>
            <a:srgbClr val="F2A03D"/>
          </a:solidFill>
          <a:ln/>
        </p:spPr>
        <p:txBody>
          <a:bodyPr/>
          <a:lstStyle/>
          <a:p>
            <a:endParaRPr lang="en-US"/>
          </a:p>
        </p:txBody>
      </p:sp>
      <p:pic>
        <p:nvPicPr>
          <p:cNvPr id="32" name="Image 5" descr="/home/claude/icons/FaPuzzlePiece_w.png"/>
          <p:cNvPicPr>
            <a:picLocks noChangeAspect="1"/>
          </p:cNvPicPr>
          <p:nvPr/>
        </p:nvPicPr>
        <p:blipFill>
          <a:blip r:embed="rId8"/>
          <a:stretch>
            <a:fillRect/>
          </a:stretch>
        </p:blipFill>
        <p:spPr>
          <a:xfrm>
            <a:off x="8407359" y="3460455"/>
            <a:ext cx="193121" cy="193121"/>
          </a:xfrm>
          <a:prstGeom prst="rect">
            <a:avLst/>
          </a:prstGeom>
        </p:spPr>
      </p:pic>
      <p:sp>
        <p:nvSpPr>
          <p:cNvPr id="33" name="Text 25"/>
          <p:cNvSpPr/>
          <p:nvPr/>
        </p:nvSpPr>
        <p:spPr>
          <a:xfrm>
            <a:off x="8833104" y="3355848"/>
            <a:ext cx="25603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Context</a:t>
            </a:r>
            <a:endParaRPr lang="en-US" sz="1200"/>
          </a:p>
        </p:txBody>
      </p:sp>
      <p:sp>
        <p:nvSpPr>
          <p:cNvPr id="34" name="Text 26"/>
          <p:cNvSpPr/>
          <p:nvPr/>
        </p:nvSpPr>
        <p:spPr>
          <a:xfrm>
            <a:off x="8302752" y="3794760"/>
            <a:ext cx="3108960" cy="402336"/>
          </a:xfrm>
          <a:prstGeom prst="rect">
            <a:avLst/>
          </a:prstGeom>
          <a:noFill/>
          <a:ln/>
        </p:spPr>
        <p:txBody>
          <a:bodyPr wrap="square" lIns="0" tIns="0" rIns="0" bIns="0" rtlCol="0" anchor="t"/>
          <a:lstStyle/>
          <a:p>
            <a:pPr marL="0" indent="0">
              <a:lnSpc>
                <a:spcPts val="1280"/>
              </a:lnSpc>
              <a:buNone/>
            </a:pPr>
            <a:r>
              <a:rPr lang="en-US" sz="1000">
                <a:solidFill>
                  <a:srgbClr val="6B7280"/>
                </a:solidFill>
                <a:latin typeface="Calibri" pitchFamily="34" charset="0"/>
                <a:ea typeface="Calibri" pitchFamily="34" charset="-122"/>
                <a:cs typeface="Calibri" pitchFamily="34" charset="-120"/>
              </a:rPr>
              <a:t>Wrong channel, wrong person, or a request the real service would never make.</a:t>
            </a:r>
            <a:endParaRPr lang="en-US" sz="1000"/>
          </a:p>
        </p:txBody>
      </p:sp>
      <p:sp>
        <p:nvSpPr>
          <p:cNvPr id="35" name="Shape 27"/>
          <p:cNvSpPr/>
          <p:nvPr/>
        </p:nvSpPr>
        <p:spPr>
          <a:xfrm>
            <a:off x="566928" y="4443984"/>
            <a:ext cx="11057839" cy="1097280"/>
          </a:xfrm>
          <a:prstGeom prst="roundRect">
            <a:avLst>
              <a:gd name="adj" fmla="val 7500"/>
            </a:avLst>
          </a:prstGeom>
          <a:solidFill>
            <a:srgbClr val="12141C"/>
          </a:solidFill>
          <a:ln/>
        </p:spPr>
        <p:txBody>
          <a:bodyPr/>
          <a:lstStyle/>
          <a:p>
            <a:endParaRPr lang="en-US"/>
          </a:p>
        </p:txBody>
      </p:sp>
      <p:sp>
        <p:nvSpPr>
          <p:cNvPr id="36" name="Text 28"/>
          <p:cNvSpPr/>
          <p:nvPr/>
        </p:nvSpPr>
        <p:spPr>
          <a:xfrm>
            <a:off x="841248" y="4562856"/>
            <a:ext cx="548640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IF YOU SUSPECT A MESSAGE — THE PROCEDURE</a:t>
            </a:r>
            <a:endParaRPr lang="en-US" sz="900"/>
          </a:p>
        </p:txBody>
      </p:sp>
      <p:sp>
        <p:nvSpPr>
          <p:cNvPr id="37" name="Text 29"/>
          <p:cNvSpPr/>
          <p:nvPr/>
        </p:nvSpPr>
        <p:spPr>
          <a:xfrm>
            <a:off x="566928" y="4864608"/>
            <a:ext cx="237744" cy="237744"/>
          </a:xfrm>
          <a:prstGeom prst="rect">
            <a:avLst/>
          </a:prstGeom>
          <a:noFill/>
          <a:ln/>
        </p:spPr>
        <p:txBody>
          <a:bodyPr wrap="square" lIns="0" tIns="0" rIns="0" bIns="0" rtlCol="0" anchor="ctr"/>
          <a:lstStyle/>
          <a:p>
            <a:pPr marL="0" indent="0">
              <a:buNone/>
            </a:pPr>
            <a:r>
              <a:rPr lang="en-US" sz="1100" b="1">
                <a:solidFill>
                  <a:srgbClr val="F2A03D"/>
                </a:solidFill>
                <a:latin typeface="Calibri" pitchFamily="34" charset="0"/>
                <a:ea typeface="Calibri" pitchFamily="34" charset="-122"/>
                <a:cs typeface="Calibri" pitchFamily="34" charset="-120"/>
              </a:rPr>
              <a:t>1</a:t>
            </a:r>
            <a:endParaRPr lang="en-US" sz="1100"/>
          </a:p>
        </p:txBody>
      </p:sp>
      <p:sp>
        <p:nvSpPr>
          <p:cNvPr id="38" name="Text 30"/>
          <p:cNvSpPr/>
          <p:nvPr/>
        </p:nvSpPr>
        <p:spPr>
          <a:xfrm>
            <a:off x="822960" y="4846320"/>
            <a:ext cx="2468880" cy="566928"/>
          </a:xfrm>
          <a:prstGeom prst="rect">
            <a:avLst/>
          </a:prstGeom>
          <a:noFill/>
          <a:ln/>
        </p:spPr>
        <p:txBody>
          <a:bodyPr wrap="square" lIns="0" tIns="0" rIns="0" bIns="0" rtlCol="0" anchor="ctr"/>
          <a:lstStyle/>
          <a:p>
            <a:pPr marL="0" indent="0">
              <a:lnSpc>
                <a:spcPts val="1300"/>
              </a:lnSpc>
              <a:buNone/>
            </a:pPr>
            <a:r>
              <a:rPr lang="en-US" sz="1000">
                <a:solidFill>
                  <a:srgbClr val="9AA3B2"/>
                </a:solidFill>
                <a:latin typeface="Calibri" pitchFamily="34" charset="0"/>
                <a:ea typeface="Calibri" pitchFamily="34" charset="-122"/>
                <a:cs typeface="Calibri" pitchFamily="34" charset="-120"/>
              </a:rPr>
              <a:t>Do not click, reply, or open the attachment</a:t>
            </a:r>
            <a:endParaRPr lang="en-US" sz="1000"/>
          </a:p>
        </p:txBody>
      </p:sp>
      <p:sp>
        <p:nvSpPr>
          <p:cNvPr id="39" name="Text 31"/>
          <p:cNvSpPr/>
          <p:nvPr/>
        </p:nvSpPr>
        <p:spPr>
          <a:xfrm>
            <a:off x="3355848" y="4864608"/>
            <a:ext cx="237744" cy="237744"/>
          </a:xfrm>
          <a:prstGeom prst="rect">
            <a:avLst/>
          </a:prstGeom>
          <a:noFill/>
          <a:ln/>
        </p:spPr>
        <p:txBody>
          <a:bodyPr wrap="square" lIns="0" tIns="0" rIns="0" bIns="0" rtlCol="0" anchor="ctr"/>
          <a:lstStyle/>
          <a:p>
            <a:pPr marL="0" indent="0">
              <a:buNone/>
            </a:pPr>
            <a:r>
              <a:rPr lang="en-US" sz="1100" b="1">
                <a:solidFill>
                  <a:srgbClr val="F2A03D"/>
                </a:solidFill>
                <a:latin typeface="Calibri" pitchFamily="34" charset="0"/>
                <a:ea typeface="Calibri" pitchFamily="34" charset="-122"/>
                <a:cs typeface="Calibri" pitchFamily="34" charset="-120"/>
              </a:rPr>
              <a:t>2</a:t>
            </a:r>
            <a:endParaRPr lang="en-US" sz="1100"/>
          </a:p>
        </p:txBody>
      </p:sp>
      <p:sp>
        <p:nvSpPr>
          <p:cNvPr id="40" name="Text 32"/>
          <p:cNvSpPr/>
          <p:nvPr/>
        </p:nvSpPr>
        <p:spPr>
          <a:xfrm>
            <a:off x="3611880" y="4846320"/>
            <a:ext cx="2468880" cy="566928"/>
          </a:xfrm>
          <a:prstGeom prst="rect">
            <a:avLst/>
          </a:prstGeom>
          <a:noFill/>
          <a:ln/>
        </p:spPr>
        <p:txBody>
          <a:bodyPr wrap="square" lIns="0" tIns="0" rIns="0" bIns="0" rtlCol="0" anchor="ctr"/>
          <a:lstStyle/>
          <a:p>
            <a:pPr marL="0" indent="0">
              <a:lnSpc>
                <a:spcPts val="1300"/>
              </a:lnSpc>
              <a:buNone/>
            </a:pPr>
            <a:r>
              <a:rPr lang="en-US" sz="1000">
                <a:solidFill>
                  <a:srgbClr val="9AA3B2"/>
                </a:solidFill>
                <a:latin typeface="Calibri" pitchFamily="34" charset="0"/>
                <a:ea typeface="Calibri" pitchFamily="34" charset="-122"/>
                <a:cs typeface="Calibri" pitchFamily="34" charset="-120"/>
              </a:rPr>
              <a:t>Verify through a channel you chose yourself</a:t>
            </a:r>
            <a:endParaRPr lang="en-US" sz="1000"/>
          </a:p>
        </p:txBody>
      </p:sp>
      <p:sp>
        <p:nvSpPr>
          <p:cNvPr id="41" name="Text 33"/>
          <p:cNvSpPr/>
          <p:nvPr/>
        </p:nvSpPr>
        <p:spPr>
          <a:xfrm>
            <a:off x="6144768" y="4864608"/>
            <a:ext cx="237744" cy="237744"/>
          </a:xfrm>
          <a:prstGeom prst="rect">
            <a:avLst/>
          </a:prstGeom>
          <a:noFill/>
          <a:ln/>
        </p:spPr>
        <p:txBody>
          <a:bodyPr wrap="square" lIns="0" tIns="0" rIns="0" bIns="0" rtlCol="0" anchor="ctr"/>
          <a:lstStyle/>
          <a:p>
            <a:pPr marL="0" indent="0">
              <a:buNone/>
            </a:pPr>
            <a:r>
              <a:rPr lang="en-US" sz="1100" b="1">
                <a:solidFill>
                  <a:srgbClr val="F2A03D"/>
                </a:solidFill>
                <a:latin typeface="Calibri" pitchFamily="34" charset="0"/>
                <a:ea typeface="Calibri" pitchFamily="34" charset="-122"/>
                <a:cs typeface="Calibri" pitchFamily="34" charset="-120"/>
              </a:rPr>
              <a:t>3</a:t>
            </a:r>
            <a:endParaRPr lang="en-US" sz="1100"/>
          </a:p>
        </p:txBody>
      </p:sp>
      <p:sp>
        <p:nvSpPr>
          <p:cNvPr id="42" name="Text 34"/>
          <p:cNvSpPr/>
          <p:nvPr/>
        </p:nvSpPr>
        <p:spPr>
          <a:xfrm>
            <a:off x="6400800" y="4846320"/>
            <a:ext cx="2468880" cy="566928"/>
          </a:xfrm>
          <a:prstGeom prst="rect">
            <a:avLst/>
          </a:prstGeom>
          <a:noFill/>
          <a:ln/>
        </p:spPr>
        <p:txBody>
          <a:bodyPr wrap="square" lIns="0" tIns="0" rIns="0" bIns="0" rtlCol="0" anchor="ctr"/>
          <a:lstStyle/>
          <a:p>
            <a:pPr marL="0" indent="0">
              <a:lnSpc>
                <a:spcPts val="1300"/>
              </a:lnSpc>
              <a:buNone/>
            </a:pPr>
            <a:r>
              <a:rPr lang="en-US" sz="1000">
                <a:solidFill>
                  <a:srgbClr val="9AA3B2"/>
                </a:solidFill>
                <a:latin typeface="Calibri" pitchFamily="34" charset="0"/>
                <a:ea typeface="Calibri" pitchFamily="34" charset="-122"/>
                <a:cs typeface="Calibri" pitchFamily="34" charset="-120"/>
              </a:rPr>
              <a:t>Report it to the school or organisation</a:t>
            </a:r>
            <a:endParaRPr lang="en-US" sz="1000"/>
          </a:p>
        </p:txBody>
      </p:sp>
      <p:sp>
        <p:nvSpPr>
          <p:cNvPr id="43" name="Text 35"/>
          <p:cNvSpPr/>
          <p:nvPr/>
        </p:nvSpPr>
        <p:spPr>
          <a:xfrm>
            <a:off x="8933688" y="4864608"/>
            <a:ext cx="237744" cy="237744"/>
          </a:xfrm>
          <a:prstGeom prst="rect">
            <a:avLst/>
          </a:prstGeom>
          <a:noFill/>
          <a:ln/>
        </p:spPr>
        <p:txBody>
          <a:bodyPr wrap="square" lIns="0" tIns="0" rIns="0" bIns="0" rtlCol="0" anchor="ctr"/>
          <a:lstStyle/>
          <a:p>
            <a:pPr marL="0" indent="0">
              <a:buNone/>
            </a:pPr>
            <a:r>
              <a:rPr lang="en-US" sz="1100" b="1">
                <a:solidFill>
                  <a:srgbClr val="F2A03D"/>
                </a:solidFill>
                <a:latin typeface="Calibri" pitchFamily="34" charset="0"/>
                <a:ea typeface="Calibri" pitchFamily="34" charset="-122"/>
                <a:cs typeface="Calibri" pitchFamily="34" charset="-120"/>
              </a:rPr>
              <a:t>4</a:t>
            </a:r>
            <a:endParaRPr lang="en-US" sz="1100"/>
          </a:p>
        </p:txBody>
      </p:sp>
      <p:sp>
        <p:nvSpPr>
          <p:cNvPr id="44" name="Text 36"/>
          <p:cNvSpPr/>
          <p:nvPr/>
        </p:nvSpPr>
        <p:spPr>
          <a:xfrm>
            <a:off x="9189720" y="4846320"/>
            <a:ext cx="2468880" cy="566928"/>
          </a:xfrm>
          <a:prstGeom prst="rect">
            <a:avLst/>
          </a:prstGeom>
          <a:noFill/>
          <a:ln/>
        </p:spPr>
        <p:txBody>
          <a:bodyPr wrap="square" lIns="0" tIns="0" rIns="0" bIns="0" rtlCol="0" anchor="ctr"/>
          <a:lstStyle/>
          <a:p>
            <a:pPr marL="0" indent="0">
              <a:lnSpc>
                <a:spcPts val="1300"/>
              </a:lnSpc>
              <a:buNone/>
            </a:pPr>
            <a:r>
              <a:rPr lang="en-US" sz="1000">
                <a:solidFill>
                  <a:srgbClr val="9AA3B2"/>
                </a:solidFill>
                <a:latin typeface="Calibri" pitchFamily="34" charset="0"/>
                <a:ea typeface="Calibri" pitchFamily="34" charset="-122"/>
                <a:cs typeface="Calibri" pitchFamily="34" charset="-120"/>
              </a:rPr>
              <a:t>Delete — and if you already clicked, change the password and tell someone immediately</a:t>
            </a:r>
            <a:endParaRPr lang="en-US" sz="1000"/>
          </a:p>
        </p:txBody>
      </p:sp>
      <p:sp>
        <p:nvSpPr>
          <p:cNvPr id="45" name="Text 37"/>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6" name="Text 38"/>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13</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D9483F"/>
                </a:solidFill>
                <a:latin typeface="Calibri" pitchFamily="34" charset="0"/>
                <a:ea typeface="Calibri" pitchFamily="34" charset="-122"/>
                <a:cs typeface="Calibri" pitchFamily="34" charset="-120"/>
              </a:rPr>
              <a:t>1.1.C  ·  IMPACTS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What the victim actually loses</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CED names three categories of impact. Each one opens a different follow-on attack.</a:t>
            </a:r>
            <a:endParaRPr lang="en-US" sz="1400"/>
          </a:p>
        </p:txBody>
      </p:sp>
      <p:sp>
        <p:nvSpPr>
          <p:cNvPr id="5" name="Shape 3"/>
          <p:cNvSpPr/>
          <p:nvPr/>
        </p:nvSpPr>
        <p:spPr>
          <a:xfrm>
            <a:off x="566928" y="1938528"/>
            <a:ext cx="3529584" cy="3566160"/>
          </a:xfrm>
          <a:prstGeom prst="roundRect">
            <a:avLst>
              <a:gd name="adj" fmla="val 2332"/>
            </a:avLst>
          </a:prstGeom>
          <a:solidFill>
            <a:srgbClr val="F2F4F8"/>
          </a:solidFill>
          <a:ln/>
        </p:spPr>
        <p:txBody>
          <a:bodyPr/>
          <a:lstStyle/>
          <a:p>
            <a:endParaRPr lang="en-US"/>
          </a:p>
        </p:txBody>
      </p:sp>
      <p:sp>
        <p:nvSpPr>
          <p:cNvPr id="6" name="Shape 4"/>
          <p:cNvSpPr/>
          <p:nvPr/>
        </p:nvSpPr>
        <p:spPr>
          <a:xfrm>
            <a:off x="822960" y="2176272"/>
            <a:ext cx="530352" cy="530352"/>
          </a:xfrm>
          <a:prstGeom prst="ellipse">
            <a:avLst/>
          </a:prstGeom>
          <a:solidFill>
            <a:srgbClr val="F2A03D"/>
          </a:solidFill>
          <a:ln/>
        </p:spPr>
        <p:txBody>
          <a:bodyPr/>
          <a:lstStyle/>
          <a:p>
            <a:endParaRPr lang="en-US"/>
          </a:p>
        </p:txBody>
      </p:sp>
      <p:pic>
        <p:nvPicPr>
          <p:cNvPr id="7" name="Image 0" descr="/home/claude/icons/FaIdCard_w.png"/>
          <p:cNvPicPr>
            <a:picLocks noChangeAspect="1"/>
          </p:cNvPicPr>
          <p:nvPr/>
        </p:nvPicPr>
        <p:blipFill>
          <a:blip r:embed="rId3"/>
          <a:stretch>
            <a:fillRect/>
          </a:stretch>
        </p:blipFill>
        <p:spPr>
          <a:xfrm>
            <a:off x="960852" y="2314164"/>
            <a:ext cx="254569" cy="254569"/>
          </a:xfrm>
          <a:prstGeom prst="rect">
            <a:avLst/>
          </a:prstGeom>
        </p:spPr>
      </p:pic>
      <p:sp>
        <p:nvSpPr>
          <p:cNvPr id="8" name="Text 5"/>
          <p:cNvSpPr/>
          <p:nvPr/>
        </p:nvSpPr>
        <p:spPr>
          <a:xfrm>
            <a:off x="822960" y="2834640"/>
            <a:ext cx="3017520" cy="256032"/>
          </a:xfrm>
          <a:prstGeom prst="rect">
            <a:avLst/>
          </a:prstGeom>
          <a:noFill/>
          <a:ln/>
        </p:spPr>
        <p:txBody>
          <a:bodyPr wrap="square" lIns="0" tIns="0" rIns="0" bIns="0" rtlCol="0" anchor="ctr"/>
          <a:lstStyle/>
          <a:p>
            <a:pPr marL="0" indent="0">
              <a:buNone/>
            </a:pPr>
            <a:r>
              <a:rPr lang="en-US" sz="1350" b="1">
                <a:solidFill>
                  <a:srgbClr val="12141C"/>
                </a:solidFill>
                <a:latin typeface="Calibri" pitchFamily="34" charset="0"/>
                <a:ea typeface="Calibri" pitchFamily="34" charset="-122"/>
                <a:cs typeface="Calibri" pitchFamily="34" charset="-120"/>
              </a:rPr>
              <a:t>Personal information</a:t>
            </a:r>
            <a:endParaRPr lang="en-US" sz="1350"/>
          </a:p>
        </p:txBody>
      </p:sp>
      <p:sp>
        <p:nvSpPr>
          <p:cNvPr id="9" name="Text 6"/>
          <p:cNvSpPr/>
          <p:nvPr/>
        </p:nvSpPr>
        <p:spPr>
          <a:xfrm>
            <a:off x="822960" y="3145536"/>
            <a:ext cx="3017520" cy="566928"/>
          </a:xfrm>
          <a:prstGeom prst="rect">
            <a:avLst/>
          </a:prstGeom>
          <a:noFill/>
          <a:ln/>
        </p:spPr>
        <p:txBody>
          <a:bodyPr wrap="square" lIns="0" tIns="0" rIns="0" bIns="0" rtlCol="0" anchor="t"/>
          <a:lstStyle/>
          <a:p>
            <a:pPr marL="0" indent="0">
              <a:lnSpc>
                <a:spcPts val="1400"/>
              </a:lnSpc>
              <a:buNone/>
            </a:pPr>
            <a:r>
              <a:rPr lang="en-US" sz="1100">
                <a:solidFill>
                  <a:srgbClr val="2B303C"/>
                </a:solidFill>
                <a:latin typeface="Calibri" pitchFamily="34" charset="0"/>
                <a:ea typeface="Calibri" pitchFamily="34" charset="-122"/>
                <a:cs typeface="Calibri" pitchFamily="34" charset="-120"/>
              </a:rPr>
              <a:t>Name, phone number, address, workplace, pets' names, birthdate.</a:t>
            </a:r>
            <a:endParaRPr lang="en-US" sz="1100"/>
          </a:p>
        </p:txBody>
      </p:sp>
      <p:sp>
        <p:nvSpPr>
          <p:cNvPr id="10" name="Shape 7"/>
          <p:cNvSpPr/>
          <p:nvPr/>
        </p:nvSpPr>
        <p:spPr>
          <a:xfrm>
            <a:off x="822960" y="3767328"/>
            <a:ext cx="3017520" cy="9144"/>
          </a:xfrm>
          <a:prstGeom prst="rect">
            <a:avLst/>
          </a:prstGeom>
          <a:solidFill>
            <a:srgbClr val="E7EBF2"/>
          </a:solidFill>
          <a:ln/>
        </p:spPr>
        <p:txBody>
          <a:bodyPr/>
          <a:lstStyle/>
          <a:p>
            <a:endParaRPr lang="en-US"/>
          </a:p>
        </p:txBody>
      </p:sp>
      <p:sp>
        <p:nvSpPr>
          <p:cNvPr id="11" name="Text 8"/>
          <p:cNvSpPr/>
          <p:nvPr/>
        </p:nvSpPr>
        <p:spPr>
          <a:xfrm>
            <a:off x="822960" y="3877056"/>
            <a:ext cx="3035808" cy="1463040"/>
          </a:xfrm>
          <a:prstGeom prst="rect">
            <a:avLst/>
          </a:prstGeom>
          <a:noFill/>
          <a:ln/>
        </p:spPr>
        <p:txBody>
          <a:bodyPr wrap="square" lIns="0" tIns="0" rIns="0" bIns="0" rtlCol="0" anchor="t"/>
          <a:lstStyle/>
          <a:p>
            <a:pPr marL="0" indent="0">
              <a:lnSpc>
                <a:spcPts val="1340"/>
              </a:lnSpc>
              <a:buNone/>
            </a:pPr>
            <a:r>
              <a:rPr lang="en-US" sz="1020">
                <a:solidFill>
                  <a:srgbClr val="6B7280"/>
                </a:solidFill>
                <a:latin typeface="Calibri" pitchFamily="34" charset="0"/>
                <a:ea typeface="Calibri" pitchFamily="34" charset="-122"/>
                <a:cs typeface="Calibri" pitchFamily="34" charset="-120"/>
              </a:rPr>
              <a:t>Why it matters: these are exactly the answers used as challenge questions to verify identity on other websites — so the adversary can reset accounts you never mentioned.</a:t>
            </a:r>
            <a:endParaRPr lang="en-US" sz="1020"/>
          </a:p>
        </p:txBody>
      </p:sp>
      <p:sp>
        <p:nvSpPr>
          <p:cNvPr id="12" name="Shape 9"/>
          <p:cNvSpPr/>
          <p:nvPr/>
        </p:nvSpPr>
        <p:spPr>
          <a:xfrm>
            <a:off x="4325112" y="1938528"/>
            <a:ext cx="3529584" cy="3566160"/>
          </a:xfrm>
          <a:prstGeom prst="roundRect">
            <a:avLst>
              <a:gd name="adj" fmla="val 2332"/>
            </a:avLst>
          </a:prstGeom>
          <a:solidFill>
            <a:srgbClr val="F2F4F8"/>
          </a:solidFill>
          <a:ln/>
        </p:spPr>
        <p:txBody>
          <a:bodyPr/>
          <a:lstStyle/>
          <a:p>
            <a:endParaRPr lang="en-US"/>
          </a:p>
        </p:txBody>
      </p:sp>
      <p:sp>
        <p:nvSpPr>
          <p:cNvPr id="13" name="Shape 10"/>
          <p:cNvSpPr/>
          <p:nvPr/>
        </p:nvSpPr>
        <p:spPr>
          <a:xfrm>
            <a:off x="4581144" y="2176272"/>
            <a:ext cx="530352" cy="530352"/>
          </a:xfrm>
          <a:prstGeom prst="ellipse">
            <a:avLst/>
          </a:prstGeom>
          <a:solidFill>
            <a:srgbClr val="D9483F"/>
          </a:solidFill>
          <a:ln/>
        </p:spPr>
        <p:txBody>
          <a:bodyPr/>
          <a:lstStyle/>
          <a:p>
            <a:endParaRPr lang="en-US"/>
          </a:p>
        </p:txBody>
      </p:sp>
      <p:pic>
        <p:nvPicPr>
          <p:cNvPr id="14" name="Image 1" descr="/home/claude/icons/FaMobileScreenButton_w.png"/>
          <p:cNvPicPr>
            <a:picLocks noChangeAspect="1"/>
          </p:cNvPicPr>
          <p:nvPr/>
        </p:nvPicPr>
        <p:blipFill>
          <a:blip r:embed="rId4"/>
          <a:stretch>
            <a:fillRect/>
          </a:stretch>
        </p:blipFill>
        <p:spPr>
          <a:xfrm>
            <a:off x="4719036" y="2314164"/>
            <a:ext cx="254569" cy="254569"/>
          </a:xfrm>
          <a:prstGeom prst="rect">
            <a:avLst/>
          </a:prstGeom>
        </p:spPr>
      </p:pic>
      <p:sp>
        <p:nvSpPr>
          <p:cNvPr id="15" name="Text 11"/>
          <p:cNvSpPr/>
          <p:nvPr/>
        </p:nvSpPr>
        <p:spPr>
          <a:xfrm>
            <a:off x="4581144" y="2834640"/>
            <a:ext cx="3017520" cy="256032"/>
          </a:xfrm>
          <a:prstGeom prst="rect">
            <a:avLst/>
          </a:prstGeom>
          <a:noFill/>
          <a:ln/>
        </p:spPr>
        <p:txBody>
          <a:bodyPr wrap="square" lIns="0" tIns="0" rIns="0" bIns="0" rtlCol="0" anchor="ctr"/>
          <a:lstStyle/>
          <a:p>
            <a:pPr marL="0" indent="0">
              <a:buNone/>
            </a:pPr>
            <a:r>
              <a:rPr lang="en-US" sz="1350" b="1">
                <a:solidFill>
                  <a:srgbClr val="12141C"/>
                </a:solidFill>
                <a:latin typeface="Calibri" pitchFamily="34" charset="0"/>
                <a:ea typeface="Calibri" pitchFamily="34" charset="-122"/>
                <a:cs typeface="Calibri" pitchFamily="34" charset="-120"/>
              </a:rPr>
              <a:t>Secure information</a:t>
            </a:r>
            <a:endParaRPr lang="en-US" sz="1350"/>
          </a:p>
        </p:txBody>
      </p:sp>
      <p:sp>
        <p:nvSpPr>
          <p:cNvPr id="16" name="Text 12"/>
          <p:cNvSpPr/>
          <p:nvPr/>
        </p:nvSpPr>
        <p:spPr>
          <a:xfrm>
            <a:off x="4581144" y="3145536"/>
            <a:ext cx="3017520" cy="566928"/>
          </a:xfrm>
          <a:prstGeom prst="rect">
            <a:avLst/>
          </a:prstGeom>
          <a:noFill/>
          <a:ln/>
        </p:spPr>
        <p:txBody>
          <a:bodyPr wrap="square" lIns="0" tIns="0" rIns="0" bIns="0" rtlCol="0" anchor="t"/>
          <a:lstStyle/>
          <a:p>
            <a:pPr marL="0" indent="0">
              <a:lnSpc>
                <a:spcPts val="1400"/>
              </a:lnSpc>
              <a:buNone/>
            </a:pPr>
            <a:r>
              <a:rPr lang="en-US" sz="1100">
                <a:solidFill>
                  <a:srgbClr val="2B303C"/>
                </a:solidFill>
                <a:latin typeface="Calibri" pitchFamily="34" charset="0"/>
                <a:ea typeface="Calibri" pitchFamily="34" charset="-122"/>
                <a:cs typeface="Calibri" pitchFamily="34" charset="-120"/>
              </a:rPr>
              <a:t>A one-time password (OTP) or authentication login code.</a:t>
            </a:r>
            <a:endParaRPr lang="en-US" sz="1100"/>
          </a:p>
        </p:txBody>
      </p:sp>
      <p:sp>
        <p:nvSpPr>
          <p:cNvPr id="17" name="Shape 13"/>
          <p:cNvSpPr/>
          <p:nvPr/>
        </p:nvSpPr>
        <p:spPr>
          <a:xfrm>
            <a:off x="4581144" y="3767328"/>
            <a:ext cx="3017520" cy="9144"/>
          </a:xfrm>
          <a:prstGeom prst="rect">
            <a:avLst/>
          </a:prstGeom>
          <a:solidFill>
            <a:srgbClr val="E7EBF2"/>
          </a:solidFill>
          <a:ln/>
        </p:spPr>
        <p:txBody>
          <a:bodyPr/>
          <a:lstStyle/>
          <a:p>
            <a:endParaRPr lang="en-US"/>
          </a:p>
        </p:txBody>
      </p:sp>
      <p:sp>
        <p:nvSpPr>
          <p:cNvPr id="18" name="Text 14"/>
          <p:cNvSpPr/>
          <p:nvPr/>
        </p:nvSpPr>
        <p:spPr>
          <a:xfrm>
            <a:off x="4581144" y="3877056"/>
            <a:ext cx="3035808" cy="1463040"/>
          </a:xfrm>
          <a:prstGeom prst="rect">
            <a:avLst/>
          </a:prstGeom>
          <a:noFill/>
          <a:ln/>
        </p:spPr>
        <p:txBody>
          <a:bodyPr wrap="square" lIns="0" tIns="0" rIns="0" bIns="0" rtlCol="0" anchor="t"/>
          <a:lstStyle/>
          <a:p>
            <a:pPr marL="0" indent="0">
              <a:lnSpc>
                <a:spcPts val="1340"/>
              </a:lnSpc>
              <a:buNone/>
            </a:pPr>
            <a:r>
              <a:rPr lang="en-US" sz="1020">
                <a:solidFill>
                  <a:srgbClr val="6B7280"/>
                </a:solidFill>
                <a:latin typeface="Calibri" pitchFamily="34" charset="0"/>
                <a:ea typeface="Calibri" pitchFamily="34" charset="-122"/>
                <a:cs typeface="Calibri" pitchFamily="34" charset="-120"/>
              </a:rPr>
              <a:t>Why it matters: with the password already stolen, the code is the last barrier. Handing it over lets the adversary sign in as you, in real time.</a:t>
            </a:r>
            <a:endParaRPr lang="en-US" sz="1020"/>
          </a:p>
        </p:txBody>
      </p:sp>
      <p:sp>
        <p:nvSpPr>
          <p:cNvPr id="19" name="Shape 15"/>
          <p:cNvSpPr/>
          <p:nvPr/>
        </p:nvSpPr>
        <p:spPr>
          <a:xfrm>
            <a:off x="8083296" y="1938528"/>
            <a:ext cx="3529584" cy="3566160"/>
          </a:xfrm>
          <a:prstGeom prst="roundRect">
            <a:avLst>
              <a:gd name="adj" fmla="val 2332"/>
            </a:avLst>
          </a:prstGeom>
          <a:solidFill>
            <a:srgbClr val="F2F4F8"/>
          </a:solidFill>
          <a:ln/>
        </p:spPr>
        <p:txBody>
          <a:bodyPr/>
          <a:lstStyle/>
          <a:p>
            <a:endParaRPr lang="en-US"/>
          </a:p>
        </p:txBody>
      </p:sp>
      <p:sp>
        <p:nvSpPr>
          <p:cNvPr id="20" name="Shape 16"/>
          <p:cNvSpPr/>
          <p:nvPr/>
        </p:nvSpPr>
        <p:spPr>
          <a:xfrm>
            <a:off x="8339328" y="2176272"/>
            <a:ext cx="530352" cy="530352"/>
          </a:xfrm>
          <a:prstGeom prst="ellipse">
            <a:avLst/>
          </a:prstGeom>
          <a:solidFill>
            <a:srgbClr val="6A5AC7"/>
          </a:solidFill>
          <a:ln/>
        </p:spPr>
        <p:txBody>
          <a:bodyPr/>
          <a:lstStyle/>
          <a:p>
            <a:endParaRPr lang="en-US"/>
          </a:p>
        </p:txBody>
      </p:sp>
      <p:pic>
        <p:nvPicPr>
          <p:cNvPr id="21" name="Image 2" descr="/home/claude/icons/FaBug_w.png"/>
          <p:cNvPicPr>
            <a:picLocks noChangeAspect="1"/>
          </p:cNvPicPr>
          <p:nvPr/>
        </p:nvPicPr>
        <p:blipFill>
          <a:blip r:embed="rId5"/>
          <a:stretch>
            <a:fillRect/>
          </a:stretch>
        </p:blipFill>
        <p:spPr>
          <a:xfrm>
            <a:off x="8477220" y="2314164"/>
            <a:ext cx="254569" cy="254569"/>
          </a:xfrm>
          <a:prstGeom prst="rect">
            <a:avLst/>
          </a:prstGeom>
        </p:spPr>
      </p:pic>
      <p:sp>
        <p:nvSpPr>
          <p:cNvPr id="22" name="Text 17"/>
          <p:cNvSpPr/>
          <p:nvPr/>
        </p:nvSpPr>
        <p:spPr>
          <a:xfrm>
            <a:off x="8339328" y="2834640"/>
            <a:ext cx="3017520" cy="256032"/>
          </a:xfrm>
          <a:prstGeom prst="rect">
            <a:avLst/>
          </a:prstGeom>
          <a:noFill/>
          <a:ln/>
        </p:spPr>
        <p:txBody>
          <a:bodyPr wrap="square" lIns="0" tIns="0" rIns="0" bIns="0" rtlCol="0" anchor="ctr"/>
          <a:lstStyle/>
          <a:p>
            <a:pPr marL="0" indent="0">
              <a:buNone/>
            </a:pPr>
            <a:r>
              <a:rPr lang="en-US" sz="1350" b="1">
                <a:solidFill>
                  <a:srgbClr val="12141C"/>
                </a:solidFill>
                <a:latin typeface="Calibri" pitchFamily="34" charset="0"/>
                <a:ea typeface="Calibri" pitchFamily="34" charset="-122"/>
                <a:cs typeface="Calibri" pitchFamily="34" charset="-120"/>
              </a:rPr>
              <a:t>Malware or credential capture</a:t>
            </a:r>
            <a:endParaRPr lang="en-US" sz="1350"/>
          </a:p>
        </p:txBody>
      </p:sp>
      <p:sp>
        <p:nvSpPr>
          <p:cNvPr id="23" name="Text 18"/>
          <p:cNvSpPr/>
          <p:nvPr/>
        </p:nvSpPr>
        <p:spPr>
          <a:xfrm>
            <a:off x="8339328" y="3145536"/>
            <a:ext cx="3017520" cy="566928"/>
          </a:xfrm>
          <a:prstGeom prst="rect">
            <a:avLst/>
          </a:prstGeom>
          <a:noFill/>
          <a:ln/>
        </p:spPr>
        <p:txBody>
          <a:bodyPr wrap="square" lIns="0" tIns="0" rIns="0" bIns="0" rtlCol="0" anchor="t"/>
          <a:lstStyle/>
          <a:p>
            <a:pPr marL="0" indent="0">
              <a:lnSpc>
                <a:spcPts val="1400"/>
              </a:lnSpc>
              <a:buNone/>
            </a:pPr>
            <a:r>
              <a:rPr lang="en-US" sz="1100">
                <a:solidFill>
                  <a:srgbClr val="2B303C"/>
                </a:solidFill>
                <a:latin typeface="Calibri" pitchFamily="34" charset="0"/>
                <a:ea typeface="Calibri" pitchFamily="34" charset="-122"/>
                <a:cs typeface="Calibri" pitchFamily="34" charset="-120"/>
              </a:rPr>
              <a:t>A downloaded file, or a link to a credential-harvesting page.</a:t>
            </a:r>
            <a:endParaRPr lang="en-US" sz="1100"/>
          </a:p>
        </p:txBody>
      </p:sp>
      <p:sp>
        <p:nvSpPr>
          <p:cNvPr id="24" name="Shape 19"/>
          <p:cNvSpPr/>
          <p:nvPr/>
        </p:nvSpPr>
        <p:spPr>
          <a:xfrm>
            <a:off x="8339328" y="3767328"/>
            <a:ext cx="3017520" cy="9144"/>
          </a:xfrm>
          <a:prstGeom prst="rect">
            <a:avLst/>
          </a:prstGeom>
          <a:solidFill>
            <a:srgbClr val="E7EBF2"/>
          </a:solidFill>
          <a:ln/>
        </p:spPr>
        <p:txBody>
          <a:bodyPr/>
          <a:lstStyle/>
          <a:p>
            <a:endParaRPr lang="en-US"/>
          </a:p>
        </p:txBody>
      </p:sp>
      <p:sp>
        <p:nvSpPr>
          <p:cNvPr id="25" name="Text 20"/>
          <p:cNvSpPr/>
          <p:nvPr/>
        </p:nvSpPr>
        <p:spPr>
          <a:xfrm>
            <a:off x="8339328" y="3877056"/>
            <a:ext cx="3035808" cy="1463040"/>
          </a:xfrm>
          <a:prstGeom prst="rect">
            <a:avLst/>
          </a:prstGeom>
          <a:noFill/>
          <a:ln/>
        </p:spPr>
        <p:txBody>
          <a:bodyPr wrap="square" lIns="0" tIns="0" rIns="0" bIns="0" rtlCol="0" anchor="t"/>
          <a:lstStyle/>
          <a:p>
            <a:pPr marL="0" indent="0">
              <a:lnSpc>
                <a:spcPts val="1340"/>
              </a:lnSpc>
              <a:buNone/>
            </a:pPr>
            <a:r>
              <a:rPr lang="en-US" sz="1020">
                <a:solidFill>
                  <a:srgbClr val="6B7280"/>
                </a:solidFill>
                <a:latin typeface="Calibri" pitchFamily="34" charset="0"/>
                <a:ea typeface="Calibri" pitchFamily="34" charset="-122"/>
                <a:cs typeface="Calibri" pitchFamily="34" charset="-120"/>
              </a:rPr>
              <a:t>Why it matters: malware can steal saved browser data and persist after the message is deleted; a fake login page captures the password directly.</a:t>
            </a:r>
            <a:endParaRPr lang="en-US" sz="1020"/>
          </a:p>
        </p:txBody>
      </p:sp>
      <p:sp>
        <p:nvSpPr>
          <p:cNvPr id="26" name="Shape 21"/>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27" name="Image 3" descr="/home/claude/icons/FaRoute_w.png"/>
          <p:cNvPicPr>
            <a:picLocks noChangeAspect="1"/>
          </p:cNvPicPr>
          <p:nvPr/>
        </p:nvPicPr>
        <p:blipFill>
          <a:blip r:embed="rId6"/>
          <a:stretch>
            <a:fillRect/>
          </a:stretch>
        </p:blipFill>
        <p:spPr>
          <a:xfrm>
            <a:off x="768096" y="5811012"/>
            <a:ext cx="228600" cy="228600"/>
          </a:xfrm>
          <a:prstGeom prst="rect">
            <a:avLst/>
          </a:prstGeom>
        </p:spPr>
      </p:pic>
      <p:sp>
        <p:nvSpPr>
          <p:cNvPr id="28" name="Text 22"/>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Impact questions expect a chain, not a label: information disclosed  →  what the adversary can now do  →  who is harmed and how.</a:t>
            </a:r>
            <a:endParaRPr lang="en-US" sz="1150"/>
          </a:p>
        </p:txBody>
      </p:sp>
      <p:sp>
        <p:nvSpPr>
          <p:cNvPr id="29" name="Text 23"/>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0" name="Text 24"/>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14</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66928" y="347472"/>
            <a:ext cx="1481328" cy="274320"/>
          </a:xfrm>
          <a:prstGeom prst="roundRect">
            <a:avLst>
              <a:gd name="adj" fmla="val 20000"/>
            </a:avLst>
          </a:prstGeom>
          <a:solidFill>
            <a:srgbClr val="D9483F"/>
          </a:solidFill>
          <a:ln/>
        </p:spPr>
        <p:txBody>
          <a:bodyPr/>
          <a:lstStyle/>
          <a:p>
            <a:endParaRPr lang="en-US"/>
          </a:p>
        </p:txBody>
      </p:sp>
      <p:sp>
        <p:nvSpPr>
          <p:cNvPr id="3" name="Text 1"/>
          <p:cNvSpPr/>
          <p:nvPr/>
        </p:nvSpPr>
        <p:spPr>
          <a:xfrm>
            <a:off x="566928" y="347472"/>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NEWS CASE</a:t>
            </a:r>
            <a:endParaRPr lang="en-US" sz="950"/>
          </a:p>
        </p:txBody>
      </p:sp>
      <p:sp>
        <p:nvSpPr>
          <p:cNvPr id="4" name="Text 2"/>
          <p:cNvSpPr/>
          <p:nvPr/>
        </p:nvSpPr>
        <p:spPr>
          <a:xfrm>
            <a:off x="2231136" y="347472"/>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IN THE NEWS  ·  TOPIC 1.1</a:t>
            </a:r>
            <a:endParaRPr lang="en-US" sz="1050"/>
          </a:p>
        </p:txBody>
      </p:sp>
      <p:sp>
        <p:nvSpPr>
          <p:cNvPr id="5" name="Text 3"/>
          <p:cNvSpPr/>
          <p:nvPr/>
        </p:nvSpPr>
        <p:spPr>
          <a:xfrm>
            <a:off x="566928" y="768096"/>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Talking your way in: the help desk as the front door</a:t>
            </a:r>
            <a:endParaRPr lang="en-US" sz="3000"/>
          </a:p>
        </p:txBody>
      </p:sp>
      <p:sp>
        <p:nvSpPr>
          <p:cNvPr id="6" name="Text 4"/>
          <p:cNvSpPr/>
          <p:nvPr/>
        </p:nvSpPr>
        <p:spPr>
          <a:xfrm>
            <a:off x="566928" y="1417320"/>
            <a:ext cx="11057839" cy="365760"/>
          </a:xfrm>
          <a:prstGeom prst="rect">
            <a:avLst/>
          </a:prstGeom>
          <a:noFill/>
          <a:ln/>
        </p:spPr>
        <p:txBody>
          <a:bodyPr wrap="square" lIns="0" tIns="0" rIns="0" bIns="0" rtlCol="0" anchor="t"/>
          <a:lstStyle/>
          <a:p>
            <a:pPr marL="0" indent="0">
              <a:lnSpc>
                <a:spcPts val="1900"/>
              </a:lnSpc>
              <a:buNone/>
            </a:pPr>
            <a:r>
              <a:rPr lang="en-US" sz="1250" i="1">
                <a:solidFill>
                  <a:srgbClr val="6B7280"/>
                </a:solidFill>
                <a:latin typeface="Calibri" pitchFamily="34" charset="0"/>
                <a:ea typeface="Calibri" pitchFamily="34" charset="-122"/>
                <a:cs typeface="Calibri" pitchFamily="34" charset="-120"/>
              </a:rPr>
              <a:t>Scattered Spider (also tracked as UNC3944 / Octo Tempest) is a criminal group whose signature technique is a phone call, not an exploit.</a:t>
            </a:r>
            <a:endParaRPr lang="en-US" sz="1250"/>
          </a:p>
        </p:txBody>
      </p:sp>
      <p:sp>
        <p:nvSpPr>
          <p:cNvPr id="7" name="Shape 5"/>
          <p:cNvSpPr/>
          <p:nvPr/>
        </p:nvSpPr>
        <p:spPr>
          <a:xfrm>
            <a:off x="566928" y="2212848"/>
            <a:ext cx="6949440" cy="749808"/>
          </a:xfrm>
          <a:prstGeom prst="roundRect">
            <a:avLst>
              <a:gd name="adj" fmla="val 10976"/>
            </a:avLst>
          </a:prstGeom>
          <a:solidFill>
            <a:srgbClr val="F2F4F8"/>
          </a:solidFill>
          <a:ln/>
        </p:spPr>
        <p:txBody>
          <a:bodyPr/>
          <a:lstStyle/>
          <a:p>
            <a:endParaRPr lang="en-US"/>
          </a:p>
        </p:txBody>
      </p:sp>
      <p:sp>
        <p:nvSpPr>
          <p:cNvPr id="8" name="Text 6"/>
          <p:cNvSpPr/>
          <p:nvPr/>
        </p:nvSpPr>
        <p:spPr>
          <a:xfrm>
            <a:off x="768096" y="2267712"/>
            <a:ext cx="1234440" cy="219456"/>
          </a:xfrm>
          <a:prstGeom prst="rect">
            <a:avLst/>
          </a:prstGeom>
          <a:noFill/>
          <a:ln/>
        </p:spPr>
        <p:txBody>
          <a:bodyPr wrap="square" lIns="0" tIns="0" rIns="0" bIns="0" rtlCol="0" anchor="ctr"/>
          <a:lstStyle/>
          <a:p>
            <a:pPr marL="0" indent="0">
              <a:buNone/>
            </a:pPr>
            <a:r>
              <a:rPr lang="en-US" sz="1000" b="1">
                <a:solidFill>
                  <a:srgbClr val="D9483F"/>
                </a:solidFill>
                <a:latin typeface="Calibri" pitchFamily="34" charset="0"/>
                <a:ea typeface="Calibri" pitchFamily="34" charset="-122"/>
                <a:cs typeface="Calibri" pitchFamily="34" charset="-120"/>
              </a:rPr>
              <a:t>Sept 2023</a:t>
            </a:r>
            <a:endParaRPr lang="en-US" sz="1000"/>
          </a:p>
        </p:txBody>
      </p:sp>
      <p:sp>
        <p:nvSpPr>
          <p:cNvPr id="9" name="Text 7"/>
          <p:cNvSpPr/>
          <p:nvPr/>
        </p:nvSpPr>
        <p:spPr>
          <a:xfrm>
            <a:off x="768096" y="2505456"/>
            <a:ext cx="1371600" cy="219456"/>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MGM Resorts</a:t>
            </a:r>
            <a:endParaRPr lang="en-US" sz="1100"/>
          </a:p>
        </p:txBody>
      </p:sp>
      <p:sp>
        <p:nvSpPr>
          <p:cNvPr id="10" name="Text 8"/>
          <p:cNvSpPr/>
          <p:nvPr/>
        </p:nvSpPr>
        <p:spPr>
          <a:xfrm>
            <a:off x="2258568" y="2304288"/>
            <a:ext cx="512064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Phone-based social engineering of internal support was used to bypass multi-factor authentication; ransomware followed and casino operations were disrupted for days.</a:t>
            </a:r>
            <a:endParaRPr lang="en-US" sz="1020"/>
          </a:p>
        </p:txBody>
      </p:sp>
      <p:sp>
        <p:nvSpPr>
          <p:cNvPr id="11" name="Shape 9"/>
          <p:cNvSpPr/>
          <p:nvPr/>
        </p:nvSpPr>
        <p:spPr>
          <a:xfrm>
            <a:off x="566928" y="3054096"/>
            <a:ext cx="6949440" cy="749808"/>
          </a:xfrm>
          <a:prstGeom prst="roundRect">
            <a:avLst>
              <a:gd name="adj" fmla="val 10976"/>
            </a:avLst>
          </a:prstGeom>
          <a:solidFill>
            <a:srgbClr val="FFFFFF"/>
          </a:solidFill>
          <a:ln/>
        </p:spPr>
        <p:txBody>
          <a:bodyPr/>
          <a:lstStyle/>
          <a:p>
            <a:endParaRPr lang="en-US"/>
          </a:p>
        </p:txBody>
      </p:sp>
      <p:sp>
        <p:nvSpPr>
          <p:cNvPr id="12" name="Text 10"/>
          <p:cNvSpPr/>
          <p:nvPr/>
        </p:nvSpPr>
        <p:spPr>
          <a:xfrm>
            <a:off x="768096" y="3108960"/>
            <a:ext cx="1234440" cy="219456"/>
          </a:xfrm>
          <a:prstGeom prst="rect">
            <a:avLst/>
          </a:prstGeom>
          <a:noFill/>
          <a:ln/>
        </p:spPr>
        <p:txBody>
          <a:bodyPr wrap="square" lIns="0" tIns="0" rIns="0" bIns="0" rtlCol="0" anchor="ctr"/>
          <a:lstStyle/>
          <a:p>
            <a:pPr marL="0" indent="0">
              <a:buNone/>
            </a:pPr>
            <a:r>
              <a:rPr lang="en-US" sz="1000" b="1">
                <a:solidFill>
                  <a:srgbClr val="D9483F"/>
                </a:solidFill>
                <a:latin typeface="Calibri" pitchFamily="34" charset="0"/>
                <a:ea typeface="Calibri" pitchFamily="34" charset="-122"/>
                <a:cs typeface="Calibri" pitchFamily="34" charset="-120"/>
              </a:rPr>
              <a:t>Apr-May 2025</a:t>
            </a:r>
            <a:endParaRPr lang="en-US" sz="1000"/>
          </a:p>
        </p:txBody>
      </p:sp>
      <p:sp>
        <p:nvSpPr>
          <p:cNvPr id="13" name="Text 11"/>
          <p:cNvSpPr/>
          <p:nvPr/>
        </p:nvSpPr>
        <p:spPr>
          <a:xfrm>
            <a:off x="768096" y="3346704"/>
            <a:ext cx="1371600" cy="219456"/>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UK retail</a:t>
            </a:r>
            <a:endParaRPr lang="en-US" sz="1100"/>
          </a:p>
        </p:txBody>
      </p:sp>
      <p:sp>
        <p:nvSpPr>
          <p:cNvPr id="14" name="Text 12"/>
          <p:cNvSpPr/>
          <p:nvPr/>
        </p:nvSpPr>
        <p:spPr>
          <a:xfrm>
            <a:off x="2258568" y="3145536"/>
            <a:ext cx="512064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Marks &amp; Spencer disclosed a ransomware attack after attackers persuaded its IT help desk to reset employee credentials. Co-op and Harrods disclosed related incidents within days.</a:t>
            </a:r>
            <a:endParaRPr lang="en-US" sz="1020"/>
          </a:p>
        </p:txBody>
      </p:sp>
      <p:sp>
        <p:nvSpPr>
          <p:cNvPr id="15" name="Shape 13"/>
          <p:cNvSpPr/>
          <p:nvPr/>
        </p:nvSpPr>
        <p:spPr>
          <a:xfrm>
            <a:off x="566928" y="3895344"/>
            <a:ext cx="6949440" cy="749808"/>
          </a:xfrm>
          <a:prstGeom prst="roundRect">
            <a:avLst>
              <a:gd name="adj" fmla="val 10976"/>
            </a:avLst>
          </a:prstGeom>
          <a:solidFill>
            <a:srgbClr val="F2F4F8"/>
          </a:solidFill>
          <a:ln/>
        </p:spPr>
        <p:txBody>
          <a:bodyPr/>
          <a:lstStyle/>
          <a:p>
            <a:endParaRPr lang="en-US"/>
          </a:p>
        </p:txBody>
      </p:sp>
      <p:sp>
        <p:nvSpPr>
          <p:cNvPr id="16" name="Text 14"/>
          <p:cNvSpPr/>
          <p:nvPr/>
        </p:nvSpPr>
        <p:spPr>
          <a:xfrm>
            <a:off x="768096" y="3950208"/>
            <a:ext cx="1234440" cy="219456"/>
          </a:xfrm>
          <a:prstGeom prst="rect">
            <a:avLst/>
          </a:prstGeom>
          <a:noFill/>
          <a:ln/>
        </p:spPr>
        <p:txBody>
          <a:bodyPr wrap="square" lIns="0" tIns="0" rIns="0" bIns="0" rtlCol="0" anchor="ctr"/>
          <a:lstStyle/>
          <a:p>
            <a:pPr marL="0" indent="0">
              <a:buNone/>
            </a:pPr>
            <a:r>
              <a:rPr lang="en-US" sz="1000" b="1">
                <a:solidFill>
                  <a:srgbClr val="D9483F"/>
                </a:solidFill>
                <a:latin typeface="Calibri" pitchFamily="34" charset="0"/>
                <a:ea typeface="Calibri" pitchFamily="34" charset="-122"/>
                <a:cs typeface="Calibri" pitchFamily="34" charset="-120"/>
              </a:rPr>
              <a:t>June 2025</a:t>
            </a:r>
            <a:endParaRPr lang="en-US" sz="1000"/>
          </a:p>
        </p:txBody>
      </p:sp>
      <p:sp>
        <p:nvSpPr>
          <p:cNvPr id="17" name="Text 15"/>
          <p:cNvSpPr/>
          <p:nvPr/>
        </p:nvSpPr>
        <p:spPr>
          <a:xfrm>
            <a:off x="768096" y="4187952"/>
            <a:ext cx="1371600" cy="219456"/>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Insurance &amp; airlines</a:t>
            </a:r>
            <a:endParaRPr lang="en-US" sz="1100"/>
          </a:p>
        </p:txBody>
      </p:sp>
      <p:sp>
        <p:nvSpPr>
          <p:cNvPr id="18" name="Text 16"/>
          <p:cNvSpPr/>
          <p:nvPr/>
        </p:nvSpPr>
        <p:spPr>
          <a:xfrm>
            <a:off x="2258568" y="3986784"/>
            <a:ext cx="512064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The same playbook — impersonate an employee, request a credential or MFA reset — was reported against insurers and aviation targets.</a:t>
            </a:r>
            <a:endParaRPr lang="en-US" sz="1020"/>
          </a:p>
        </p:txBody>
      </p:sp>
      <p:sp>
        <p:nvSpPr>
          <p:cNvPr id="19" name="Shape 17"/>
          <p:cNvSpPr/>
          <p:nvPr/>
        </p:nvSpPr>
        <p:spPr>
          <a:xfrm>
            <a:off x="566928" y="4736592"/>
            <a:ext cx="6949440" cy="749808"/>
          </a:xfrm>
          <a:prstGeom prst="roundRect">
            <a:avLst>
              <a:gd name="adj" fmla="val 10976"/>
            </a:avLst>
          </a:prstGeom>
          <a:solidFill>
            <a:srgbClr val="FFFFFF"/>
          </a:solidFill>
          <a:ln/>
        </p:spPr>
        <p:txBody>
          <a:bodyPr/>
          <a:lstStyle/>
          <a:p>
            <a:endParaRPr lang="en-US"/>
          </a:p>
        </p:txBody>
      </p:sp>
      <p:sp>
        <p:nvSpPr>
          <p:cNvPr id="20" name="Text 18"/>
          <p:cNvSpPr/>
          <p:nvPr/>
        </p:nvSpPr>
        <p:spPr>
          <a:xfrm>
            <a:off x="768096" y="4791456"/>
            <a:ext cx="1234440" cy="219456"/>
          </a:xfrm>
          <a:prstGeom prst="rect">
            <a:avLst/>
          </a:prstGeom>
          <a:noFill/>
          <a:ln/>
        </p:spPr>
        <p:txBody>
          <a:bodyPr wrap="square" lIns="0" tIns="0" rIns="0" bIns="0" rtlCol="0" anchor="ctr"/>
          <a:lstStyle/>
          <a:p>
            <a:pPr marL="0" indent="0">
              <a:buNone/>
            </a:pPr>
            <a:r>
              <a:rPr lang="en-US" sz="1000" b="1">
                <a:solidFill>
                  <a:srgbClr val="D9483F"/>
                </a:solidFill>
                <a:latin typeface="Calibri" pitchFamily="34" charset="0"/>
                <a:ea typeface="Calibri" pitchFamily="34" charset="-122"/>
                <a:cs typeface="Calibri" pitchFamily="34" charset="-120"/>
              </a:rPr>
              <a:t>2026</a:t>
            </a:r>
            <a:endParaRPr lang="en-US" sz="1000"/>
          </a:p>
        </p:txBody>
      </p:sp>
      <p:sp>
        <p:nvSpPr>
          <p:cNvPr id="21" name="Text 19"/>
          <p:cNvSpPr/>
          <p:nvPr/>
        </p:nvSpPr>
        <p:spPr>
          <a:xfrm>
            <a:off x="768096" y="5029200"/>
            <a:ext cx="1371600" cy="219456"/>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Financial services</a:t>
            </a:r>
            <a:endParaRPr lang="en-US" sz="1100"/>
          </a:p>
        </p:txBody>
      </p:sp>
      <p:sp>
        <p:nvSpPr>
          <p:cNvPr id="22" name="Text 20"/>
          <p:cNvSpPr/>
          <p:nvPr/>
        </p:nvSpPr>
        <p:spPr>
          <a:xfrm>
            <a:off x="2258568" y="4828032"/>
            <a:ext cx="512064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Security reporting through 2026 describes account-recovery and contact-centre channels as among the most successful account-takeover routes against banks.</a:t>
            </a:r>
            <a:endParaRPr lang="en-US" sz="1020"/>
          </a:p>
        </p:txBody>
      </p:sp>
      <p:sp>
        <p:nvSpPr>
          <p:cNvPr id="23" name="Shape 21"/>
          <p:cNvSpPr/>
          <p:nvPr/>
        </p:nvSpPr>
        <p:spPr>
          <a:xfrm>
            <a:off x="7699248" y="2212848"/>
            <a:ext cx="3922776" cy="3310128"/>
          </a:xfrm>
          <a:prstGeom prst="roundRect">
            <a:avLst>
              <a:gd name="adj" fmla="val 2486"/>
            </a:avLst>
          </a:prstGeom>
          <a:solidFill>
            <a:srgbClr val="12141C"/>
          </a:solidFill>
          <a:ln/>
        </p:spPr>
        <p:txBody>
          <a:bodyPr/>
          <a:lstStyle/>
          <a:p>
            <a:endParaRPr lang="en-US"/>
          </a:p>
        </p:txBody>
      </p:sp>
      <p:sp>
        <p:nvSpPr>
          <p:cNvPr id="24" name="Text 22"/>
          <p:cNvSpPr/>
          <p:nvPr/>
        </p:nvSpPr>
        <p:spPr>
          <a:xfrm>
            <a:off x="7973568" y="2377440"/>
            <a:ext cx="329184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WHY IT IS ON THIS SLIDE</a:t>
            </a:r>
            <a:endParaRPr lang="en-US" sz="900"/>
          </a:p>
        </p:txBody>
      </p:sp>
      <p:sp>
        <p:nvSpPr>
          <p:cNvPr id="25" name="Text 23"/>
          <p:cNvSpPr/>
          <p:nvPr/>
        </p:nvSpPr>
        <p:spPr>
          <a:xfrm>
            <a:off x="7973568" y="2697480"/>
            <a:ext cx="3383280" cy="1920240"/>
          </a:xfrm>
          <a:prstGeom prst="rect">
            <a:avLst/>
          </a:prstGeom>
          <a:noFill/>
          <a:ln/>
        </p:spPr>
        <p:txBody>
          <a:bodyPr wrap="square" lIns="0" tIns="0" rIns="0" bIns="0" rtlCol="0" anchor="t"/>
          <a:lstStyle/>
          <a:p>
            <a:pPr marL="177800" indent="-177800">
              <a:lnSpc>
                <a:spcPts val="1650"/>
              </a:lnSpc>
              <a:spcAft>
                <a:spcPts val="800"/>
              </a:spcAft>
              <a:buSzPct val="100000"/>
              <a:buChar char="▪"/>
            </a:pPr>
            <a:r>
              <a:rPr lang="en-US" sz="1080">
                <a:solidFill>
                  <a:srgbClr val="9AA3B2"/>
                </a:solidFill>
                <a:latin typeface="Calibri" pitchFamily="34" charset="0"/>
                <a:ea typeface="Calibri" pitchFamily="34" charset="-122"/>
                <a:cs typeface="Calibri" pitchFamily="34" charset="-120"/>
              </a:rPr>
              <a:t>No malware is needed for initial access — the first step is a convincing phone call.</a:t>
            </a:r>
            <a:endParaRPr lang="en-US" sz="1080"/>
          </a:p>
          <a:p>
            <a:pPr marL="177800" indent="-177800">
              <a:lnSpc>
                <a:spcPts val="1650"/>
              </a:lnSpc>
              <a:spcAft>
                <a:spcPts val="800"/>
              </a:spcAft>
              <a:buSzPct val="100000"/>
              <a:buChar char="▪"/>
            </a:pPr>
            <a:r>
              <a:rPr lang="en-US" sz="1080">
                <a:solidFill>
                  <a:srgbClr val="9AA3B2"/>
                </a:solidFill>
                <a:latin typeface="Calibri" pitchFamily="34" charset="0"/>
                <a:ea typeface="Calibri" pitchFamily="34" charset="-122"/>
                <a:cs typeface="Calibri" pitchFamily="34" charset="-120"/>
              </a:rPr>
              <a:t>Authority + urgency: "I'm locked out before a client meeting."</a:t>
            </a:r>
            <a:endParaRPr lang="en-US" sz="1080"/>
          </a:p>
          <a:p>
            <a:pPr marL="177800" indent="-177800">
              <a:lnSpc>
                <a:spcPts val="1650"/>
              </a:lnSpc>
              <a:spcAft>
                <a:spcPts val="800"/>
              </a:spcAft>
              <a:buSzPct val="100000"/>
              <a:buChar char="▪"/>
            </a:pPr>
            <a:r>
              <a:rPr lang="en-US" sz="1080">
                <a:solidFill>
                  <a:srgbClr val="9AA3B2"/>
                </a:solidFill>
                <a:latin typeface="Calibri" pitchFamily="34" charset="0"/>
                <a:ea typeface="Calibri" pitchFamily="34" charset="-122"/>
                <a:cs typeface="Calibri" pitchFamily="34" charset="-120"/>
              </a:rPr>
              <a:t>It defeats MFA by attacking the reset process rather than the code.</a:t>
            </a:r>
            <a:endParaRPr lang="en-US" sz="1080"/>
          </a:p>
          <a:p>
            <a:pPr marL="177800" indent="-177800">
              <a:lnSpc>
                <a:spcPts val="1650"/>
              </a:lnSpc>
              <a:spcAft>
                <a:spcPts val="800"/>
              </a:spcAft>
              <a:buSzPct val="100000"/>
              <a:buChar char="▪"/>
            </a:pPr>
            <a:r>
              <a:rPr lang="en-US" sz="1080">
                <a:solidFill>
                  <a:srgbClr val="9AA3B2"/>
                </a:solidFill>
                <a:latin typeface="Calibri" pitchFamily="34" charset="0"/>
                <a:ea typeface="Calibri" pitchFamily="34" charset="-122"/>
                <a:cs typeface="Calibri" pitchFamily="34" charset="-120"/>
              </a:rPr>
              <a:t>The fix is procedural: verify the caller through an independent channel before any reset.</a:t>
            </a:r>
            <a:endParaRPr lang="en-US" sz="1080"/>
          </a:p>
        </p:txBody>
      </p:sp>
      <p:sp>
        <p:nvSpPr>
          <p:cNvPr id="26" name="Text 24"/>
          <p:cNvSpPr/>
          <p:nvPr/>
        </p:nvSpPr>
        <p:spPr>
          <a:xfrm>
            <a:off x="7973568" y="4663440"/>
            <a:ext cx="3383280" cy="749808"/>
          </a:xfrm>
          <a:prstGeom prst="rect">
            <a:avLst/>
          </a:prstGeom>
          <a:noFill/>
          <a:ln/>
        </p:spPr>
        <p:txBody>
          <a:bodyPr wrap="square" lIns="0" tIns="0" rIns="0" bIns="0" rtlCol="0" anchor="t"/>
          <a:lstStyle/>
          <a:p>
            <a:pPr marL="0" indent="0">
              <a:lnSpc>
                <a:spcPts val="1350"/>
              </a:lnSpc>
              <a:buNone/>
            </a:pPr>
            <a:r>
              <a:rPr lang="en-US" sz="1020" i="1">
                <a:solidFill>
                  <a:srgbClr val="F2A03D"/>
                </a:solidFill>
                <a:latin typeface="Calibri" pitchFamily="34" charset="0"/>
                <a:ea typeface="Calibri" pitchFamily="34" charset="-122"/>
                <a:cs typeface="Calibri" pitchFamily="34" charset="-120"/>
              </a:rPr>
              <a:t>Discussion: your school help desk gets a call from "a teacher" who cannot log in and has a class in five minutes. What should the operator require before resetting?</a:t>
            </a:r>
            <a:endParaRPr lang="en-US" sz="1020"/>
          </a:p>
        </p:txBody>
      </p:sp>
      <p:sp>
        <p:nvSpPr>
          <p:cNvPr id="27" name="Shape 25"/>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28" name="Image 0" descr="/home/claude/icons/FaNewspaper_w.png"/>
          <p:cNvPicPr>
            <a:picLocks noChangeAspect="1"/>
          </p:cNvPicPr>
          <p:nvPr/>
        </p:nvPicPr>
        <p:blipFill>
          <a:blip r:embed="rId3"/>
          <a:stretch>
            <a:fillRect/>
          </a:stretch>
        </p:blipFill>
        <p:spPr>
          <a:xfrm>
            <a:off x="768096" y="5811012"/>
            <a:ext cx="228600" cy="228600"/>
          </a:xfrm>
          <a:prstGeom prst="rect">
            <a:avLst/>
          </a:prstGeom>
        </p:spPr>
      </p:pic>
      <p:sp>
        <p:nvSpPr>
          <p:cNvPr id="29" name="Text 26"/>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Sources: MITRE ATT&amp;CK Group G1015 (Scattered Spider) · CISA/FBI advisories · reporting by ReliaQuest, Splunk and The Register, 2023-2026.</a:t>
            </a:r>
            <a:endParaRPr lang="en-US" sz="1150"/>
          </a:p>
        </p:txBody>
      </p:sp>
      <p:sp>
        <p:nvSpPr>
          <p:cNvPr id="30" name="Text 27"/>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1" name="Text 28"/>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15</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D9483F"/>
                </a:solidFill>
                <a:latin typeface="Calibri" pitchFamily="34" charset="0"/>
                <a:ea typeface="Calibri" pitchFamily="34" charset="-122"/>
                <a:cs typeface="Calibri" pitchFamily="34" charset="-120"/>
              </a:rPr>
              <a:t>THE NUMBERS  ·  TOPIC 1.1</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Phishing is the most-reported crime — and losses are climbing</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FBI Internet Crime Complaint Center (IC3), 2025 Internet Crime Report, published April 2026.</a:t>
            </a:r>
            <a:endParaRPr lang="en-US" sz="1400"/>
          </a:p>
        </p:txBody>
      </p:sp>
      <p:graphicFrame>
        <p:nvGraphicFramePr>
          <p:cNvPr id="5" name="Chart 0"/>
          <p:cNvGraphicFramePr/>
          <p:nvPr/>
        </p:nvGraphicFramePr>
        <p:xfrm>
          <a:off x="566928" y="1965960"/>
          <a:ext cx="63093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059168" y="1965960"/>
            <a:ext cx="4562856" cy="932688"/>
          </a:xfrm>
          <a:prstGeom prst="roundRect">
            <a:avLst>
              <a:gd name="adj" fmla="val 8824"/>
            </a:avLst>
          </a:prstGeom>
          <a:solidFill>
            <a:srgbClr val="F2F4F8"/>
          </a:solidFill>
          <a:ln/>
        </p:spPr>
        <p:txBody>
          <a:bodyPr/>
          <a:lstStyle/>
          <a:p>
            <a:endParaRPr lang="en-US"/>
          </a:p>
        </p:txBody>
      </p:sp>
      <p:sp>
        <p:nvSpPr>
          <p:cNvPr id="7" name="Text 4"/>
          <p:cNvSpPr/>
          <p:nvPr/>
        </p:nvSpPr>
        <p:spPr>
          <a:xfrm>
            <a:off x="7278624" y="2039112"/>
            <a:ext cx="1828800" cy="411480"/>
          </a:xfrm>
          <a:prstGeom prst="rect">
            <a:avLst/>
          </a:prstGeom>
          <a:noFill/>
          <a:ln/>
        </p:spPr>
        <p:txBody>
          <a:bodyPr wrap="square" lIns="0" tIns="0" rIns="0" bIns="0" rtlCol="0" anchor="ctr"/>
          <a:lstStyle/>
          <a:p>
            <a:pPr marL="0" indent="0">
              <a:buNone/>
            </a:pPr>
            <a:r>
              <a:rPr lang="en-US" sz="2400" b="1">
                <a:solidFill>
                  <a:srgbClr val="12141C"/>
                </a:solidFill>
                <a:latin typeface="Cambria" pitchFamily="34" charset="0"/>
                <a:ea typeface="Cambria" pitchFamily="34" charset="-122"/>
                <a:cs typeface="Cambria" pitchFamily="34" charset="-120"/>
              </a:rPr>
              <a:t>1,008,597</a:t>
            </a:r>
            <a:endParaRPr lang="en-US" sz="2400"/>
          </a:p>
        </p:txBody>
      </p:sp>
      <p:sp>
        <p:nvSpPr>
          <p:cNvPr id="8" name="Text 5"/>
          <p:cNvSpPr/>
          <p:nvPr/>
        </p:nvSpPr>
        <p:spPr>
          <a:xfrm>
            <a:off x="7278624" y="2459736"/>
            <a:ext cx="4114800" cy="384048"/>
          </a:xfrm>
          <a:prstGeom prst="rect">
            <a:avLst/>
          </a:prstGeom>
          <a:noFill/>
          <a:ln/>
        </p:spPr>
        <p:txBody>
          <a:bodyPr wrap="square" lIns="0" tIns="0" rIns="0" bIns="0" rtlCol="0" anchor="t"/>
          <a:lstStyle/>
          <a:p>
            <a:pPr marL="0" indent="0">
              <a:lnSpc>
                <a:spcPts val="1250"/>
              </a:lnSpc>
              <a:buNone/>
            </a:pPr>
            <a:r>
              <a:rPr lang="en-US" sz="1000">
                <a:solidFill>
                  <a:srgbClr val="6B7280"/>
                </a:solidFill>
                <a:latin typeface="Calibri" pitchFamily="34" charset="0"/>
                <a:ea typeface="Calibri" pitchFamily="34" charset="-122"/>
                <a:cs typeface="Calibri" pitchFamily="34" charset="-120"/>
              </a:rPr>
              <a:t>complaints filed with IC3 in 2025 — the first year above one million, about 3,000 a day.</a:t>
            </a:r>
            <a:endParaRPr lang="en-US" sz="1000"/>
          </a:p>
        </p:txBody>
      </p:sp>
      <p:sp>
        <p:nvSpPr>
          <p:cNvPr id="9" name="Shape 6"/>
          <p:cNvSpPr/>
          <p:nvPr/>
        </p:nvSpPr>
        <p:spPr>
          <a:xfrm>
            <a:off x="7059168" y="3026664"/>
            <a:ext cx="4562856" cy="932688"/>
          </a:xfrm>
          <a:prstGeom prst="roundRect">
            <a:avLst>
              <a:gd name="adj" fmla="val 8824"/>
            </a:avLst>
          </a:prstGeom>
          <a:solidFill>
            <a:srgbClr val="F2F4F8"/>
          </a:solidFill>
          <a:ln/>
        </p:spPr>
        <p:txBody>
          <a:bodyPr/>
          <a:lstStyle/>
          <a:p>
            <a:endParaRPr lang="en-US"/>
          </a:p>
        </p:txBody>
      </p:sp>
      <p:sp>
        <p:nvSpPr>
          <p:cNvPr id="10" name="Text 7"/>
          <p:cNvSpPr/>
          <p:nvPr/>
        </p:nvSpPr>
        <p:spPr>
          <a:xfrm>
            <a:off x="7278624" y="3099816"/>
            <a:ext cx="1828800" cy="411480"/>
          </a:xfrm>
          <a:prstGeom prst="rect">
            <a:avLst/>
          </a:prstGeom>
          <a:noFill/>
          <a:ln/>
        </p:spPr>
        <p:txBody>
          <a:bodyPr wrap="square" lIns="0" tIns="0" rIns="0" bIns="0" rtlCol="0" anchor="ctr"/>
          <a:lstStyle/>
          <a:p>
            <a:pPr marL="0" indent="0">
              <a:buNone/>
            </a:pPr>
            <a:r>
              <a:rPr lang="en-US" sz="2400" b="1">
                <a:solidFill>
                  <a:srgbClr val="12141C"/>
                </a:solidFill>
                <a:latin typeface="Cambria" pitchFamily="34" charset="0"/>
                <a:ea typeface="Cambria" pitchFamily="34" charset="-122"/>
                <a:cs typeface="Cambria" pitchFamily="34" charset="-120"/>
              </a:rPr>
              <a:t>191,561</a:t>
            </a:r>
            <a:endParaRPr lang="en-US" sz="2400"/>
          </a:p>
        </p:txBody>
      </p:sp>
      <p:sp>
        <p:nvSpPr>
          <p:cNvPr id="11" name="Text 8"/>
          <p:cNvSpPr/>
          <p:nvPr/>
        </p:nvSpPr>
        <p:spPr>
          <a:xfrm>
            <a:off x="7278624" y="3520440"/>
            <a:ext cx="4114800" cy="384048"/>
          </a:xfrm>
          <a:prstGeom prst="rect">
            <a:avLst/>
          </a:prstGeom>
          <a:noFill/>
          <a:ln/>
        </p:spPr>
        <p:txBody>
          <a:bodyPr wrap="square" lIns="0" tIns="0" rIns="0" bIns="0" rtlCol="0" anchor="t"/>
          <a:lstStyle/>
          <a:p>
            <a:pPr marL="0" indent="0">
              <a:lnSpc>
                <a:spcPts val="1250"/>
              </a:lnSpc>
              <a:buNone/>
            </a:pPr>
            <a:r>
              <a:rPr lang="en-US" sz="1000">
                <a:solidFill>
                  <a:srgbClr val="6B7280"/>
                </a:solidFill>
                <a:latin typeface="Calibri" pitchFamily="34" charset="0"/>
                <a:ea typeface="Calibri" pitchFamily="34" charset="-122"/>
                <a:cs typeface="Calibri" pitchFamily="34" charset="-120"/>
              </a:rPr>
              <a:t>of those were phishing or spoofing: the single largest complaint category by volume.</a:t>
            </a:r>
            <a:endParaRPr lang="en-US" sz="1000"/>
          </a:p>
        </p:txBody>
      </p:sp>
      <p:sp>
        <p:nvSpPr>
          <p:cNvPr id="12" name="Shape 9"/>
          <p:cNvSpPr/>
          <p:nvPr/>
        </p:nvSpPr>
        <p:spPr>
          <a:xfrm>
            <a:off x="7059168" y="4087368"/>
            <a:ext cx="4562856" cy="932688"/>
          </a:xfrm>
          <a:prstGeom prst="roundRect">
            <a:avLst>
              <a:gd name="adj" fmla="val 8824"/>
            </a:avLst>
          </a:prstGeom>
          <a:solidFill>
            <a:srgbClr val="F2F4F8"/>
          </a:solidFill>
          <a:ln/>
        </p:spPr>
        <p:txBody>
          <a:bodyPr/>
          <a:lstStyle/>
          <a:p>
            <a:endParaRPr lang="en-US"/>
          </a:p>
        </p:txBody>
      </p:sp>
      <p:sp>
        <p:nvSpPr>
          <p:cNvPr id="13" name="Text 10"/>
          <p:cNvSpPr/>
          <p:nvPr/>
        </p:nvSpPr>
        <p:spPr>
          <a:xfrm>
            <a:off x="7278624" y="4160520"/>
            <a:ext cx="1828800" cy="411480"/>
          </a:xfrm>
          <a:prstGeom prst="rect">
            <a:avLst/>
          </a:prstGeom>
          <a:noFill/>
          <a:ln/>
        </p:spPr>
        <p:txBody>
          <a:bodyPr wrap="square" lIns="0" tIns="0" rIns="0" bIns="0" rtlCol="0" anchor="ctr"/>
          <a:lstStyle/>
          <a:p>
            <a:pPr marL="0" indent="0">
              <a:buNone/>
            </a:pPr>
            <a:r>
              <a:rPr lang="en-US" sz="2400" b="1">
                <a:solidFill>
                  <a:srgbClr val="12141C"/>
                </a:solidFill>
                <a:latin typeface="Cambria" pitchFamily="34" charset="0"/>
                <a:ea typeface="Cambria" pitchFamily="34" charset="-122"/>
                <a:cs typeface="Cambria" pitchFamily="34" charset="-120"/>
              </a:rPr>
              <a:t>$20.9bn</a:t>
            </a:r>
            <a:endParaRPr lang="en-US" sz="2400"/>
          </a:p>
        </p:txBody>
      </p:sp>
      <p:sp>
        <p:nvSpPr>
          <p:cNvPr id="14" name="Text 11"/>
          <p:cNvSpPr/>
          <p:nvPr/>
        </p:nvSpPr>
        <p:spPr>
          <a:xfrm>
            <a:off x="7278624" y="4581144"/>
            <a:ext cx="4114800" cy="384048"/>
          </a:xfrm>
          <a:prstGeom prst="rect">
            <a:avLst/>
          </a:prstGeom>
          <a:noFill/>
          <a:ln/>
        </p:spPr>
        <p:txBody>
          <a:bodyPr wrap="square" lIns="0" tIns="0" rIns="0" bIns="0" rtlCol="0" anchor="t"/>
          <a:lstStyle/>
          <a:p>
            <a:pPr marL="0" indent="0">
              <a:lnSpc>
                <a:spcPts val="1250"/>
              </a:lnSpc>
              <a:buNone/>
            </a:pPr>
            <a:r>
              <a:rPr lang="en-US" sz="1000">
                <a:solidFill>
                  <a:srgbClr val="6B7280"/>
                </a:solidFill>
                <a:latin typeface="Calibri" pitchFamily="34" charset="0"/>
                <a:ea typeface="Calibri" pitchFamily="34" charset="-122"/>
                <a:cs typeface="Calibri" pitchFamily="34" charset="-120"/>
              </a:rPr>
              <a:t>total reported losses across all cybercrime categories, up 26% year on year.</a:t>
            </a:r>
            <a:endParaRPr lang="en-US" sz="1000"/>
          </a:p>
        </p:txBody>
      </p:sp>
      <p:sp>
        <p:nvSpPr>
          <p:cNvPr id="15" name="Shape 12"/>
          <p:cNvSpPr/>
          <p:nvPr/>
        </p:nvSpPr>
        <p:spPr>
          <a:xfrm>
            <a:off x="7059168" y="5148072"/>
            <a:ext cx="4562856" cy="384048"/>
          </a:xfrm>
          <a:prstGeom prst="roundRect">
            <a:avLst>
              <a:gd name="adj" fmla="val 21429"/>
            </a:avLst>
          </a:prstGeom>
          <a:solidFill>
            <a:srgbClr val="FDF2E2"/>
          </a:solidFill>
          <a:ln/>
        </p:spPr>
        <p:txBody>
          <a:bodyPr/>
          <a:lstStyle/>
          <a:p>
            <a:endParaRPr lang="en-US"/>
          </a:p>
        </p:txBody>
      </p:sp>
      <p:sp>
        <p:nvSpPr>
          <p:cNvPr id="16" name="Text 13"/>
          <p:cNvSpPr/>
          <p:nvPr/>
        </p:nvSpPr>
        <p:spPr>
          <a:xfrm>
            <a:off x="7242048" y="5148072"/>
            <a:ext cx="4206240" cy="384048"/>
          </a:xfrm>
          <a:prstGeom prst="rect">
            <a:avLst/>
          </a:prstGeom>
          <a:noFill/>
          <a:ln/>
        </p:spPr>
        <p:txBody>
          <a:bodyPr wrap="square" lIns="0" tIns="0" rIns="0" bIns="0" rtlCol="0" anchor="ctr"/>
          <a:lstStyle/>
          <a:p>
            <a:pPr marL="0" indent="0">
              <a:lnSpc>
                <a:spcPts val="1700"/>
              </a:lnSpc>
              <a:buNone/>
            </a:pPr>
            <a:r>
              <a:rPr lang="en-US" sz="1000" i="1">
                <a:solidFill>
                  <a:srgbClr val="B9721F"/>
                </a:solidFill>
                <a:latin typeface="Calibri" pitchFamily="34" charset="0"/>
                <a:ea typeface="Calibri" pitchFamily="34" charset="-122"/>
                <a:cs typeface="Calibri" pitchFamily="34" charset="-120"/>
              </a:rPr>
              <a:t>Note: volume was flat, losses were not — each successful attack is doing more damage.</a:t>
            </a:r>
            <a:endParaRPr lang="en-US" sz="1000"/>
          </a:p>
        </p:txBody>
      </p:sp>
      <p:sp>
        <p:nvSpPr>
          <p:cNvPr id="17" name="Text 14"/>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18" name="Text 15"/>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16</a:t>
            </a:r>
            <a:endParaRPr lang="en-US"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566928" y="384048"/>
            <a:ext cx="1737360" cy="274320"/>
          </a:xfrm>
          <a:prstGeom prst="roundRect">
            <a:avLst>
              <a:gd name="adj" fmla="val 20000"/>
            </a:avLst>
          </a:prstGeom>
          <a:solidFill>
            <a:srgbClr val="F2A03D"/>
          </a:solidFill>
          <a:ln/>
        </p:spPr>
        <p:txBody>
          <a:bodyPr/>
          <a:lstStyle/>
          <a:p>
            <a:endParaRPr lang="en-US"/>
          </a:p>
        </p:txBody>
      </p:sp>
      <p:sp>
        <p:nvSpPr>
          <p:cNvPr id="3" name="Text 1"/>
          <p:cNvSpPr/>
          <p:nvPr/>
        </p:nvSpPr>
        <p:spPr>
          <a:xfrm>
            <a:off x="566928" y="384048"/>
            <a:ext cx="1737360" cy="274320"/>
          </a:xfrm>
          <a:prstGeom prst="rect">
            <a:avLst/>
          </a:prstGeom>
          <a:noFill/>
          <a:ln/>
        </p:spPr>
        <p:txBody>
          <a:bodyPr wrap="square" lIns="0" tIns="0" rIns="0" bIns="0" rtlCol="0" anchor="ctr"/>
          <a:lstStyle/>
          <a:p>
            <a:pPr marL="0" indent="0" algn="ctr">
              <a:buNone/>
            </a:pPr>
            <a:r>
              <a:rPr lang="en-US" sz="950" b="1" kern="0" spc="100">
                <a:solidFill>
                  <a:srgbClr val="12141C"/>
                </a:solidFill>
                <a:latin typeface="Calibri" pitchFamily="34" charset="0"/>
                <a:ea typeface="Calibri" pitchFamily="34" charset="-122"/>
                <a:cs typeface="Calibri" pitchFamily="34" charset="-120"/>
              </a:rPr>
              <a:t>SCENARIO 1A</a:t>
            </a:r>
            <a:endParaRPr lang="en-US" sz="950"/>
          </a:p>
        </p:txBody>
      </p:sp>
      <p:sp>
        <p:nvSpPr>
          <p:cNvPr id="4" name="Text 2"/>
          <p:cNvSpPr/>
          <p:nvPr/>
        </p:nvSpPr>
        <p:spPr>
          <a:xfrm>
            <a:off x="2487168" y="384048"/>
            <a:ext cx="7315200" cy="274320"/>
          </a:xfrm>
          <a:prstGeom prst="rect">
            <a:avLst/>
          </a:prstGeom>
          <a:noFill/>
          <a:ln/>
        </p:spPr>
        <p:txBody>
          <a:bodyPr wrap="square" lIns="0" tIns="0" rIns="0" bIns="0" rtlCol="0" anchor="ctr"/>
          <a:lstStyle/>
          <a:p>
            <a:pPr marL="0" indent="0">
              <a:buNone/>
            </a:pPr>
            <a:r>
              <a:rPr lang="en-US" sz="950" b="1" kern="0" spc="130">
                <a:solidFill>
                  <a:srgbClr val="9AA3B2"/>
                </a:solidFill>
                <a:latin typeface="Calibri" pitchFamily="34" charset="0"/>
                <a:ea typeface="Calibri" pitchFamily="34" charset="-122"/>
                <a:cs typeface="Calibri" pitchFamily="34" charset="-120"/>
              </a:rPr>
              <a:t>FROM THE COURSE AND EXAM DESCRIPTION</a:t>
            </a:r>
            <a:endParaRPr lang="en-US" sz="950"/>
          </a:p>
        </p:txBody>
      </p:sp>
      <p:sp>
        <p:nvSpPr>
          <p:cNvPr id="5" name="Text 3"/>
          <p:cNvSpPr/>
          <p:nvPr/>
        </p:nvSpPr>
        <p:spPr>
          <a:xfrm>
            <a:off x="566928" y="841248"/>
            <a:ext cx="10058400" cy="54864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Detecting Phishing Messages</a:t>
            </a:r>
            <a:endParaRPr lang="en-US" sz="3000"/>
          </a:p>
        </p:txBody>
      </p:sp>
      <p:sp>
        <p:nvSpPr>
          <p:cNvPr id="6" name="Shape 4"/>
          <p:cNvSpPr/>
          <p:nvPr/>
        </p:nvSpPr>
        <p:spPr>
          <a:xfrm>
            <a:off x="566928" y="1572768"/>
            <a:ext cx="5806440" cy="1920240"/>
          </a:xfrm>
          <a:prstGeom prst="roundRect">
            <a:avLst>
              <a:gd name="adj" fmla="val 4286"/>
            </a:avLst>
          </a:prstGeom>
          <a:solidFill>
            <a:srgbClr val="1D2331"/>
          </a:solidFill>
          <a:ln/>
        </p:spPr>
        <p:txBody>
          <a:bodyPr/>
          <a:lstStyle/>
          <a:p>
            <a:endParaRPr lang="en-US"/>
          </a:p>
        </p:txBody>
      </p:sp>
      <p:sp>
        <p:nvSpPr>
          <p:cNvPr id="7" name="Text 5"/>
          <p:cNvSpPr/>
          <p:nvPr/>
        </p:nvSpPr>
        <p:spPr>
          <a:xfrm>
            <a:off x="822960" y="1719072"/>
            <a:ext cx="274320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THE SITUATION</a:t>
            </a:r>
            <a:endParaRPr lang="en-US" sz="900"/>
          </a:p>
        </p:txBody>
      </p:sp>
      <p:sp>
        <p:nvSpPr>
          <p:cNvPr id="8" name="Text 6"/>
          <p:cNvSpPr/>
          <p:nvPr/>
        </p:nvSpPr>
        <p:spPr>
          <a:xfrm>
            <a:off x="822960" y="2011680"/>
            <a:ext cx="5303520" cy="1325880"/>
          </a:xfrm>
          <a:prstGeom prst="rect">
            <a:avLst/>
          </a:prstGeom>
          <a:noFill/>
          <a:ln/>
        </p:spPr>
        <p:txBody>
          <a:bodyPr wrap="square" lIns="0" tIns="0" rIns="0" bIns="0" rtlCol="0" anchor="ctr"/>
          <a:lstStyle/>
          <a:p>
            <a:pPr marL="0" indent="0">
              <a:lnSpc>
                <a:spcPts val="1700"/>
              </a:lnSpc>
              <a:buNone/>
            </a:pPr>
            <a:r>
              <a:rPr lang="en-US" sz="1200">
                <a:solidFill>
                  <a:srgbClr val="FFFFFF"/>
                </a:solidFill>
                <a:latin typeface="Calibri" pitchFamily="34" charset="0"/>
                <a:ea typeface="Calibri" pitchFamily="34" charset="-122"/>
                <a:cs typeface="Calibri" pitchFamily="34" charset="-120"/>
              </a:rPr>
              <a:t>You are sitting with your teacher at their desk when an email arrives asking them to click a link so a student can copy a document. Your teacher is about to click. You are not convinced the message is real.</a:t>
            </a:r>
            <a:endParaRPr lang="en-US" sz="1200"/>
          </a:p>
        </p:txBody>
      </p:sp>
      <p:sp>
        <p:nvSpPr>
          <p:cNvPr id="9" name="Shape 7"/>
          <p:cNvSpPr/>
          <p:nvPr/>
        </p:nvSpPr>
        <p:spPr>
          <a:xfrm>
            <a:off x="566928" y="3639312"/>
            <a:ext cx="5806440" cy="1874520"/>
          </a:xfrm>
          <a:prstGeom prst="roundRect">
            <a:avLst>
              <a:gd name="adj" fmla="val 4390"/>
            </a:avLst>
          </a:prstGeom>
          <a:solidFill>
            <a:srgbClr val="1D2331"/>
          </a:solidFill>
          <a:ln/>
        </p:spPr>
        <p:txBody>
          <a:bodyPr/>
          <a:lstStyle/>
          <a:p>
            <a:endParaRPr lang="en-US"/>
          </a:p>
        </p:txBody>
      </p:sp>
      <p:sp>
        <p:nvSpPr>
          <p:cNvPr id="10" name="Text 8"/>
          <p:cNvSpPr/>
          <p:nvPr/>
        </p:nvSpPr>
        <p:spPr>
          <a:xfrm>
            <a:off x="822960" y="3785616"/>
            <a:ext cx="365760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CONSIDER THE FOLLOWING</a:t>
            </a:r>
            <a:endParaRPr lang="en-US" sz="900"/>
          </a:p>
        </p:txBody>
      </p:sp>
      <p:sp>
        <p:nvSpPr>
          <p:cNvPr id="11" name="Text 9"/>
          <p:cNvSpPr/>
          <p:nvPr/>
        </p:nvSpPr>
        <p:spPr>
          <a:xfrm>
            <a:off x="822960" y="4078224"/>
            <a:ext cx="228600" cy="219456"/>
          </a:xfrm>
          <a:prstGeom prst="rect">
            <a:avLst/>
          </a:prstGeom>
          <a:noFill/>
          <a:ln/>
        </p:spPr>
        <p:txBody>
          <a:bodyPr wrap="square" lIns="0" tIns="0" rIns="0" bIns="0" rtlCol="0" anchor="ctr"/>
          <a:lstStyle/>
          <a:p>
            <a:pPr marL="0" indent="0">
              <a:buNone/>
            </a:pPr>
            <a:r>
              <a:rPr lang="en-US" sz="1050" b="1">
                <a:solidFill>
                  <a:srgbClr val="F2A03D"/>
                </a:solidFill>
                <a:latin typeface="Calibri" pitchFamily="34" charset="0"/>
                <a:ea typeface="Calibri" pitchFamily="34" charset="-122"/>
                <a:cs typeface="Calibri" pitchFamily="34" charset="-120"/>
              </a:rPr>
              <a:t>1</a:t>
            </a:r>
            <a:endParaRPr lang="en-US" sz="1050"/>
          </a:p>
        </p:txBody>
      </p:sp>
      <p:sp>
        <p:nvSpPr>
          <p:cNvPr id="12" name="Text 10"/>
          <p:cNvSpPr/>
          <p:nvPr/>
        </p:nvSpPr>
        <p:spPr>
          <a:xfrm>
            <a:off x="1097280" y="40782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What evidence could you use to convince your teacher that this email is not legitimate?</a:t>
            </a:r>
            <a:endParaRPr lang="en-US" sz="1100"/>
          </a:p>
        </p:txBody>
      </p:sp>
      <p:sp>
        <p:nvSpPr>
          <p:cNvPr id="13" name="Text 11"/>
          <p:cNvSpPr/>
          <p:nvPr/>
        </p:nvSpPr>
        <p:spPr>
          <a:xfrm>
            <a:off x="822960" y="4535424"/>
            <a:ext cx="228600" cy="219456"/>
          </a:xfrm>
          <a:prstGeom prst="rect">
            <a:avLst/>
          </a:prstGeom>
          <a:noFill/>
          <a:ln/>
        </p:spPr>
        <p:txBody>
          <a:bodyPr wrap="square" lIns="0" tIns="0" rIns="0" bIns="0" rtlCol="0" anchor="ctr"/>
          <a:lstStyle/>
          <a:p>
            <a:pPr marL="0" indent="0">
              <a:buNone/>
            </a:pPr>
            <a:r>
              <a:rPr lang="en-US" sz="1050" b="1">
                <a:solidFill>
                  <a:srgbClr val="F2A03D"/>
                </a:solidFill>
                <a:latin typeface="Calibri" pitchFamily="34" charset="0"/>
                <a:ea typeface="Calibri" pitchFamily="34" charset="-122"/>
                <a:cs typeface="Calibri" pitchFamily="34" charset="-120"/>
              </a:rPr>
              <a:t>2</a:t>
            </a:r>
            <a:endParaRPr lang="en-US" sz="1050"/>
          </a:p>
        </p:txBody>
      </p:sp>
      <p:sp>
        <p:nvSpPr>
          <p:cNvPr id="14" name="Text 12"/>
          <p:cNvSpPr/>
          <p:nvPr/>
        </p:nvSpPr>
        <p:spPr>
          <a:xfrm>
            <a:off x="1097280" y="45354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What elements of the email might cause someone to act impulsively?</a:t>
            </a:r>
            <a:endParaRPr lang="en-US" sz="1100"/>
          </a:p>
        </p:txBody>
      </p:sp>
      <p:sp>
        <p:nvSpPr>
          <p:cNvPr id="15" name="Text 13"/>
          <p:cNvSpPr/>
          <p:nvPr/>
        </p:nvSpPr>
        <p:spPr>
          <a:xfrm>
            <a:off x="822960" y="4992624"/>
            <a:ext cx="228600" cy="219456"/>
          </a:xfrm>
          <a:prstGeom prst="rect">
            <a:avLst/>
          </a:prstGeom>
          <a:noFill/>
          <a:ln/>
        </p:spPr>
        <p:txBody>
          <a:bodyPr wrap="square" lIns="0" tIns="0" rIns="0" bIns="0" rtlCol="0" anchor="ctr"/>
          <a:lstStyle/>
          <a:p>
            <a:pPr marL="0" indent="0">
              <a:buNone/>
            </a:pPr>
            <a:r>
              <a:rPr lang="en-US" sz="1050" b="1">
                <a:solidFill>
                  <a:srgbClr val="F2A03D"/>
                </a:solidFill>
                <a:latin typeface="Calibri" pitchFamily="34" charset="0"/>
                <a:ea typeface="Calibri" pitchFamily="34" charset="-122"/>
                <a:cs typeface="Calibri" pitchFamily="34" charset="-120"/>
              </a:rPr>
              <a:t>3</a:t>
            </a:r>
            <a:endParaRPr lang="en-US" sz="1050"/>
          </a:p>
        </p:txBody>
      </p:sp>
      <p:sp>
        <p:nvSpPr>
          <p:cNvPr id="16" name="Text 14"/>
          <p:cNvSpPr/>
          <p:nvPr/>
        </p:nvSpPr>
        <p:spPr>
          <a:xfrm>
            <a:off x="1097280" y="49926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What are some potential consequences for someone who clicked the link?</a:t>
            </a:r>
            <a:endParaRPr lang="en-US" sz="1100"/>
          </a:p>
        </p:txBody>
      </p:sp>
      <p:sp>
        <p:nvSpPr>
          <p:cNvPr id="17" name="Shape 15"/>
          <p:cNvSpPr/>
          <p:nvPr/>
        </p:nvSpPr>
        <p:spPr>
          <a:xfrm>
            <a:off x="6656832" y="1572768"/>
            <a:ext cx="4965192" cy="3941064"/>
          </a:xfrm>
          <a:prstGeom prst="roundRect">
            <a:avLst>
              <a:gd name="adj" fmla="val 2088"/>
            </a:avLst>
          </a:prstGeom>
          <a:solidFill>
            <a:srgbClr val="1D2331"/>
          </a:solidFill>
          <a:ln w="12700">
            <a:solidFill>
              <a:srgbClr val="2C3446"/>
            </a:solidFill>
            <a:prstDash val="solid"/>
          </a:ln>
        </p:spPr>
        <p:txBody>
          <a:bodyPr/>
          <a:lstStyle/>
          <a:p>
            <a:endParaRPr lang="en-US"/>
          </a:p>
        </p:txBody>
      </p:sp>
      <p:sp>
        <p:nvSpPr>
          <p:cNvPr id="18" name="Text 16"/>
          <p:cNvSpPr/>
          <p:nvPr/>
        </p:nvSpPr>
        <p:spPr>
          <a:xfrm>
            <a:off x="6912864" y="1737360"/>
            <a:ext cx="411480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WHAT A STRONG ANSWER DOES</a:t>
            </a:r>
            <a:endParaRPr lang="en-US" sz="900"/>
          </a:p>
        </p:txBody>
      </p:sp>
      <p:sp>
        <p:nvSpPr>
          <p:cNvPr id="19" name="Text 17"/>
          <p:cNvSpPr/>
          <p:nvPr/>
        </p:nvSpPr>
        <p:spPr>
          <a:xfrm>
            <a:off x="6912864" y="2084832"/>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Strong answers cite the artefact</a:t>
            </a:r>
            <a:endParaRPr lang="en-US" sz="1200"/>
          </a:p>
        </p:txBody>
      </p:sp>
      <p:sp>
        <p:nvSpPr>
          <p:cNvPr id="20" name="Text 18"/>
          <p:cNvSpPr/>
          <p:nvPr/>
        </p:nvSpPr>
        <p:spPr>
          <a:xfrm>
            <a:off x="6912864" y="2377440"/>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Point at the domain, the subject line, the manufactured consequence — not a general feeling that it "looks fake".</a:t>
            </a:r>
            <a:endParaRPr lang="en-US" sz="1060"/>
          </a:p>
        </p:txBody>
      </p:sp>
      <p:sp>
        <p:nvSpPr>
          <p:cNvPr id="21" name="Text 19"/>
          <p:cNvSpPr/>
          <p:nvPr/>
        </p:nvSpPr>
        <p:spPr>
          <a:xfrm>
            <a:off x="6912864" y="3255264"/>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Strong answers name the lever</a:t>
            </a:r>
            <a:endParaRPr lang="en-US" sz="1200"/>
          </a:p>
        </p:txBody>
      </p:sp>
      <p:sp>
        <p:nvSpPr>
          <p:cNvPr id="22" name="Text 20"/>
          <p:cNvSpPr/>
          <p:nvPr/>
        </p:nvSpPr>
        <p:spPr>
          <a:xfrm>
            <a:off x="6912864" y="3547872"/>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Urgency and the harm-to-a-student framing, tied explicitly to the behaviour they produce.</a:t>
            </a:r>
            <a:endParaRPr lang="en-US" sz="1060"/>
          </a:p>
        </p:txBody>
      </p:sp>
      <p:sp>
        <p:nvSpPr>
          <p:cNvPr id="23" name="Text 21"/>
          <p:cNvSpPr/>
          <p:nvPr/>
        </p:nvSpPr>
        <p:spPr>
          <a:xfrm>
            <a:off x="6912864" y="4425696"/>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Strong answers chain the impact</a:t>
            </a:r>
            <a:endParaRPr lang="en-US" sz="1200"/>
          </a:p>
        </p:txBody>
      </p:sp>
      <p:sp>
        <p:nvSpPr>
          <p:cNvPr id="24" name="Text 22"/>
          <p:cNvSpPr/>
          <p:nvPr/>
        </p:nvSpPr>
        <p:spPr>
          <a:xfrm>
            <a:off x="6912864" y="4718304"/>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Credential capture → account access → the teacher's Drive, gradebook, and contact list.</a:t>
            </a:r>
            <a:endParaRPr lang="en-US" sz="1060"/>
          </a:p>
        </p:txBody>
      </p:sp>
      <p:sp>
        <p:nvSpPr>
          <p:cNvPr id="25" name="Text 23"/>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6" name="Text 24"/>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17</a:t>
            </a:r>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66928" y="384048"/>
            <a:ext cx="1481328" cy="274320"/>
          </a:xfrm>
          <a:prstGeom prst="roundRect">
            <a:avLst>
              <a:gd name="adj" fmla="val 20000"/>
            </a:avLst>
          </a:prstGeom>
          <a:solidFill>
            <a:srgbClr val="12141C"/>
          </a:solidFill>
          <a:ln/>
        </p:spPr>
        <p:txBody>
          <a:bodyPr/>
          <a:lstStyle/>
          <a:p>
            <a:endParaRPr lang="en-US"/>
          </a:p>
        </p:txBody>
      </p:sp>
      <p:sp>
        <p:nvSpPr>
          <p:cNvPr id="3" name="Text 1"/>
          <p:cNvSpPr/>
          <p:nvPr/>
        </p:nvSpPr>
        <p:spPr>
          <a:xfrm>
            <a:off x="566928" y="384048"/>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CHECK</a:t>
            </a:r>
            <a:endParaRPr lang="en-US" sz="950"/>
          </a:p>
        </p:txBody>
      </p:sp>
      <p:sp>
        <p:nvSpPr>
          <p:cNvPr id="4" name="Text 2"/>
          <p:cNvSpPr/>
          <p:nvPr/>
        </p:nvSpPr>
        <p:spPr>
          <a:xfrm>
            <a:off x="2231136" y="384048"/>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TOPIC 1.1</a:t>
            </a:r>
            <a:endParaRPr lang="en-US" sz="1050"/>
          </a:p>
        </p:txBody>
      </p:sp>
      <p:sp>
        <p:nvSpPr>
          <p:cNvPr id="5" name="Text 3"/>
          <p:cNvSpPr/>
          <p:nvPr/>
        </p:nvSpPr>
        <p:spPr>
          <a:xfrm>
            <a:off x="566928" y="804672"/>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Check for understanding</a:t>
            </a:r>
            <a:endParaRPr lang="en-US" sz="3000"/>
          </a:p>
        </p:txBody>
      </p:sp>
      <p:sp>
        <p:nvSpPr>
          <p:cNvPr id="6" name="Shape 4"/>
          <p:cNvSpPr/>
          <p:nvPr/>
        </p:nvSpPr>
        <p:spPr>
          <a:xfrm>
            <a:off x="566928" y="1627632"/>
            <a:ext cx="11057839" cy="914400"/>
          </a:xfrm>
          <a:prstGeom prst="roundRect">
            <a:avLst>
              <a:gd name="adj" fmla="val 9000"/>
            </a:avLst>
          </a:prstGeom>
          <a:solidFill>
            <a:srgbClr val="EAF0FA"/>
          </a:solidFill>
          <a:ln/>
        </p:spPr>
        <p:txBody>
          <a:bodyPr/>
          <a:lstStyle/>
          <a:p>
            <a:endParaRPr lang="en-US"/>
          </a:p>
        </p:txBody>
      </p:sp>
      <p:sp>
        <p:nvSpPr>
          <p:cNvPr id="7" name="Shape 5"/>
          <p:cNvSpPr/>
          <p:nvPr/>
        </p:nvSpPr>
        <p:spPr>
          <a:xfrm>
            <a:off x="804672" y="1773936"/>
            <a:ext cx="868680" cy="237744"/>
          </a:xfrm>
          <a:prstGeom prst="roundRect">
            <a:avLst>
              <a:gd name="adj" fmla="val 23077"/>
            </a:avLst>
          </a:prstGeom>
          <a:solidFill>
            <a:srgbClr val="F2A03D"/>
          </a:solidFill>
          <a:ln/>
        </p:spPr>
        <p:txBody>
          <a:bodyPr/>
          <a:lstStyle/>
          <a:p>
            <a:endParaRPr lang="en-US"/>
          </a:p>
        </p:txBody>
      </p:sp>
      <p:sp>
        <p:nvSpPr>
          <p:cNvPr id="8" name="Text 6"/>
          <p:cNvSpPr/>
          <p:nvPr/>
        </p:nvSpPr>
        <p:spPr>
          <a:xfrm>
            <a:off x="804672" y="1773936"/>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Recall</a:t>
            </a:r>
            <a:endParaRPr lang="en-US" sz="900"/>
          </a:p>
        </p:txBody>
      </p:sp>
      <p:sp>
        <p:nvSpPr>
          <p:cNvPr id="9" name="Text 7"/>
          <p:cNvSpPr/>
          <p:nvPr/>
        </p:nvSpPr>
        <p:spPr>
          <a:xfrm>
            <a:off x="1828800" y="1755648"/>
            <a:ext cx="274320" cy="274320"/>
          </a:xfrm>
          <a:prstGeom prst="rect">
            <a:avLst/>
          </a:prstGeom>
          <a:noFill/>
          <a:ln/>
        </p:spPr>
        <p:txBody>
          <a:bodyPr wrap="square" lIns="0" tIns="0" rIns="0" bIns="0" rtlCol="0" anchor="ctr"/>
          <a:lstStyle/>
          <a:p>
            <a:pPr marL="0" indent="0">
              <a:buNone/>
            </a:pPr>
            <a:r>
              <a:rPr lang="en-US" sz="1500" b="1">
                <a:solidFill>
                  <a:srgbClr val="F2A03D"/>
                </a:solidFill>
                <a:latin typeface="Cambria" pitchFamily="34" charset="0"/>
                <a:ea typeface="Cambria" pitchFamily="34" charset="-122"/>
                <a:cs typeface="Cambria" pitchFamily="34" charset="-120"/>
              </a:rPr>
              <a:t>1</a:t>
            </a:r>
            <a:endParaRPr lang="en-US" sz="1500"/>
          </a:p>
        </p:txBody>
      </p:sp>
      <p:sp>
        <p:nvSpPr>
          <p:cNvPr id="10" name="Text 8"/>
          <p:cNvSpPr/>
          <p:nvPr/>
        </p:nvSpPr>
        <p:spPr>
          <a:xfrm>
            <a:off x="2194560" y="1773936"/>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Name the four delivery channels for social engineering and state one indicator you can check on each.</a:t>
            </a:r>
            <a:endParaRPr lang="en-US" sz="1180"/>
          </a:p>
        </p:txBody>
      </p:sp>
      <p:sp>
        <p:nvSpPr>
          <p:cNvPr id="11" name="Shape 9"/>
          <p:cNvSpPr/>
          <p:nvPr/>
        </p:nvSpPr>
        <p:spPr>
          <a:xfrm>
            <a:off x="566928" y="2651760"/>
            <a:ext cx="11057839" cy="914400"/>
          </a:xfrm>
          <a:prstGeom prst="roundRect">
            <a:avLst>
              <a:gd name="adj" fmla="val 9000"/>
            </a:avLst>
          </a:prstGeom>
          <a:solidFill>
            <a:srgbClr val="E6F5F3"/>
          </a:solidFill>
          <a:ln/>
        </p:spPr>
        <p:txBody>
          <a:bodyPr/>
          <a:lstStyle/>
          <a:p>
            <a:endParaRPr lang="en-US"/>
          </a:p>
        </p:txBody>
      </p:sp>
      <p:sp>
        <p:nvSpPr>
          <p:cNvPr id="12" name="Shape 10"/>
          <p:cNvSpPr/>
          <p:nvPr/>
        </p:nvSpPr>
        <p:spPr>
          <a:xfrm>
            <a:off x="804672" y="2798064"/>
            <a:ext cx="868680" cy="237744"/>
          </a:xfrm>
          <a:prstGeom prst="roundRect">
            <a:avLst>
              <a:gd name="adj" fmla="val 23077"/>
            </a:avLst>
          </a:prstGeom>
          <a:solidFill>
            <a:srgbClr val="F2A03D"/>
          </a:solidFill>
          <a:ln/>
        </p:spPr>
        <p:txBody>
          <a:bodyPr/>
          <a:lstStyle/>
          <a:p>
            <a:endParaRPr lang="en-US"/>
          </a:p>
        </p:txBody>
      </p:sp>
      <p:sp>
        <p:nvSpPr>
          <p:cNvPr id="13" name="Text 11"/>
          <p:cNvSpPr/>
          <p:nvPr/>
        </p:nvSpPr>
        <p:spPr>
          <a:xfrm>
            <a:off x="804672" y="2798064"/>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Explain</a:t>
            </a:r>
            <a:endParaRPr lang="en-US" sz="900"/>
          </a:p>
        </p:txBody>
      </p:sp>
      <p:sp>
        <p:nvSpPr>
          <p:cNvPr id="14" name="Text 12"/>
          <p:cNvSpPr/>
          <p:nvPr/>
        </p:nvSpPr>
        <p:spPr>
          <a:xfrm>
            <a:off x="1828800" y="2779776"/>
            <a:ext cx="274320" cy="274320"/>
          </a:xfrm>
          <a:prstGeom prst="rect">
            <a:avLst/>
          </a:prstGeom>
          <a:noFill/>
          <a:ln/>
        </p:spPr>
        <p:txBody>
          <a:bodyPr wrap="square" lIns="0" tIns="0" rIns="0" bIns="0" rtlCol="0" anchor="ctr"/>
          <a:lstStyle/>
          <a:p>
            <a:pPr marL="0" indent="0">
              <a:buNone/>
            </a:pPr>
            <a:r>
              <a:rPr lang="en-US" sz="1500" b="1">
                <a:solidFill>
                  <a:srgbClr val="F2A03D"/>
                </a:solidFill>
                <a:latin typeface="Cambria" pitchFamily="34" charset="0"/>
                <a:ea typeface="Cambria" pitchFamily="34" charset="-122"/>
                <a:cs typeface="Cambria" pitchFamily="34" charset="-120"/>
              </a:rPr>
              <a:t>2</a:t>
            </a:r>
            <a:endParaRPr lang="en-US" sz="1500"/>
          </a:p>
        </p:txBody>
      </p:sp>
      <p:sp>
        <p:nvSpPr>
          <p:cNvPr id="15" name="Text 13"/>
          <p:cNvSpPr/>
          <p:nvPr/>
        </p:nvSpPr>
        <p:spPr>
          <a:xfrm>
            <a:off x="2194560" y="2798064"/>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 text says a package is held pending a $1.95 fee. Identify the psychological lever and explain, in one sentence, why it produces the action the adversary wants.</a:t>
            </a:r>
            <a:endParaRPr lang="en-US" sz="1180"/>
          </a:p>
        </p:txBody>
      </p:sp>
      <p:sp>
        <p:nvSpPr>
          <p:cNvPr id="16" name="Shape 14"/>
          <p:cNvSpPr/>
          <p:nvPr/>
        </p:nvSpPr>
        <p:spPr>
          <a:xfrm>
            <a:off x="566928" y="3675888"/>
            <a:ext cx="11057839" cy="914400"/>
          </a:xfrm>
          <a:prstGeom prst="roundRect">
            <a:avLst>
              <a:gd name="adj" fmla="val 9000"/>
            </a:avLst>
          </a:prstGeom>
          <a:solidFill>
            <a:srgbClr val="FDF2E2"/>
          </a:solidFill>
          <a:ln/>
        </p:spPr>
        <p:txBody>
          <a:bodyPr/>
          <a:lstStyle/>
          <a:p>
            <a:endParaRPr lang="en-US"/>
          </a:p>
        </p:txBody>
      </p:sp>
      <p:sp>
        <p:nvSpPr>
          <p:cNvPr id="17" name="Shape 15"/>
          <p:cNvSpPr/>
          <p:nvPr/>
        </p:nvSpPr>
        <p:spPr>
          <a:xfrm>
            <a:off x="804672" y="3822192"/>
            <a:ext cx="868680" cy="237744"/>
          </a:xfrm>
          <a:prstGeom prst="roundRect">
            <a:avLst>
              <a:gd name="adj" fmla="val 23077"/>
            </a:avLst>
          </a:prstGeom>
          <a:solidFill>
            <a:srgbClr val="F2A03D"/>
          </a:solidFill>
          <a:ln/>
        </p:spPr>
        <p:txBody>
          <a:bodyPr/>
          <a:lstStyle/>
          <a:p>
            <a:endParaRPr lang="en-US"/>
          </a:p>
        </p:txBody>
      </p:sp>
      <p:sp>
        <p:nvSpPr>
          <p:cNvPr id="18" name="Text 16"/>
          <p:cNvSpPr/>
          <p:nvPr/>
        </p:nvSpPr>
        <p:spPr>
          <a:xfrm>
            <a:off x="804672" y="3822192"/>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Apply</a:t>
            </a:r>
            <a:endParaRPr lang="en-US" sz="900"/>
          </a:p>
        </p:txBody>
      </p:sp>
      <p:sp>
        <p:nvSpPr>
          <p:cNvPr id="19" name="Text 17"/>
          <p:cNvSpPr/>
          <p:nvPr/>
        </p:nvSpPr>
        <p:spPr>
          <a:xfrm>
            <a:off x="1828800" y="3803904"/>
            <a:ext cx="274320" cy="274320"/>
          </a:xfrm>
          <a:prstGeom prst="rect">
            <a:avLst/>
          </a:prstGeom>
          <a:noFill/>
          <a:ln/>
        </p:spPr>
        <p:txBody>
          <a:bodyPr wrap="square" lIns="0" tIns="0" rIns="0" bIns="0" rtlCol="0" anchor="ctr"/>
          <a:lstStyle/>
          <a:p>
            <a:pPr marL="0" indent="0">
              <a:buNone/>
            </a:pPr>
            <a:r>
              <a:rPr lang="en-US" sz="1500" b="1">
                <a:solidFill>
                  <a:srgbClr val="F2A03D"/>
                </a:solidFill>
                <a:latin typeface="Cambria" pitchFamily="34" charset="0"/>
                <a:ea typeface="Cambria" pitchFamily="34" charset="-122"/>
                <a:cs typeface="Cambria" pitchFamily="34" charset="-120"/>
              </a:rPr>
              <a:t>3</a:t>
            </a:r>
            <a:endParaRPr lang="en-US" sz="1500"/>
          </a:p>
        </p:txBody>
      </p:sp>
      <p:sp>
        <p:nvSpPr>
          <p:cNvPr id="20" name="Text 18"/>
          <p:cNvSpPr/>
          <p:nvPr/>
        </p:nvSpPr>
        <p:spPr>
          <a:xfrm>
            <a:off x="2194560" y="3822192"/>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 caller says they are from the school IT department and asks you to read back the six-digit code just texted to you. State what you would do and justify it using the idea of out-of-band verification.</a:t>
            </a:r>
            <a:endParaRPr lang="en-US" sz="1180"/>
          </a:p>
        </p:txBody>
      </p:sp>
      <p:sp>
        <p:nvSpPr>
          <p:cNvPr id="21" name="Shape 19"/>
          <p:cNvSpPr/>
          <p:nvPr/>
        </p:nvSpPr>
        <p:spPr>
          <a:xfrm>
            <a:off x="566928" y="4700016"/>
            <a:ext cx="11057839" cy="914400"/>
          </a:xfrm>
          <a:prstGeom prst="roundRect">
            <a:avLst>
              <a:gd name="adj" fmla="val 9000"/>
            </a:avLst>
          </a:prstGeom>
          <a:solidFill>
            <a:srgbClr val="EFEDFA"/>
          </a:solidFill>
          <a:ln/>
        </p:spPr>
        <p:txBody>
          <a:bodyPr/>
          <a:lstStyle/>
          <a:p>
            <a:endParaRPr lang="en-US"/>
          </a:p>
        </p:txBody>
      </p:sp>
      <p:sp>
        <p:nvSpPr>
          <p:cNvPr id="22" name="Shape 20"/>
          <p:cNvSpPr/>
          <p:nvPr/>
        </p:nvSpPr>
        <p:spPr>
          <a:xfrm>
            <a:off x="804672" y="4846320"/>
            <a:ext cx="868680" cy="237744"/>
          </a:xfrm>
          <a:prstGeom prst="roundRect">
            <a:avLst>
              <a:gd name="adj" fmla="val 23077"/>
            </a:avLst>
          </a:prstGeom>
          <a:solidFill>
            <a:srgbClr val="F2A03D"/>
          </a:solidFill>
          <a:ln/>
        </p:spPr>
        <p:txBody>
          <a:bodyPr/>
          <a:lstStyle/>
          <a:p>
            <a:endParaRPr lang="en-US"/>
          </a:p>
        </p:txBody>
      </p:sp>
      <p:sp>
        <p:nvSpPr>
          <p:cNvPr id="23" name="Text 21"/>
          <p:cNvSpPr/>
          <p:nvPr/>
        </p:nvSpPr>
        <p:spPr>
          <a:xfrm>
            <a:off x="804672" y="4846320"/>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Stretch</a:t>
            </a:r>
            <a:endParaRPr lang="en-US" sz="900"/>
          </a:p>
        </p:txBody>
      </p:sp>
      <p:sp>
        <p:nvSpPr>
          <p:cNvPr id="24" name="Text 22"/>
          <p:cNvSpPr/>
          <p:nvPr/>
        </p:nvSpPr>
        <p:spPr>
          <a:xfrm>
            <a:off x="1828800" y="4828032"/>
            <a:ext cx="274320" cy="274320"/>
          </a:xfrm>
          <a:prstGeom prst="rect">
            <a:avLst/>
          </a:prstGeom>
          <a:noFill/>
          <a:ln/>
        </p:spPr>
        <p:txBody>
          <a:bodyPr wrap="square" lIns="0" tIns="0" rIns="0" bIns="0" rtlCol="0" anchor="ctr"/>
          <a:lstStyle/>
          <a:p>
            <a:pPr marL="0" indent="0">
              <a:buNone/>
            </a:pPr>
            <a:r>
              <a:rPr lang="en-US" sz="1500" b="1">
                <a:solidFill>
                  <a:srgbClr val="F2A03D"/>
                </a:solidFill>
                <a:latin typeface="Cambria" pitchFamily="34" charset="0"/>
                <a:ea typeface="Cambria" pitchFamily="34" charset="-122"/>
                <a:cs typeface="Cambria" pitchFamily="34" charset="-120"/>
              </a:rPr>
              <a:t>4</a:t>
            </a:r>
            <a:endParaRPr lang="en-US" sz="1500"/>
          </a:p>
        </p:txBody>
      </p:sp>
      <p:sp>
        <p:nvSpPr>
          <p:cNvPr id="25" name="Text 23"/>
          <p:cNvSpPr/>
          <p:nvPr/>
        </p:nvSpPr>
        <p:spPr>
          <a:xfrm>
            <a:off x="2194560" y="4846320"/>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Explain why disclosing your pet's name to a stranger online can be a security incident even though a pet's name is not secret.</a:t>
            </a:r>
            <a:endParaRPr lang="en-US" sz="1180"/>
          </a:p>
        </p:txBody>
      </p:sp>
      <p:sp>
        <p:nvSpPr>
          <p:cNvPr id="26" name="Shape 24"/>
          <p:cNvSpPr/>
          <p:nvPr/>
        </p:nvSpPr>
        <p:spPr>
          <a:xfrm>
            <a:off x="566928" y="5779008"/>
            <a:ext cx="11057839" cy="512064"/>
          </a:xfrm>
          <a:prstGeom prst="roundRect">
            <a:avLst>
              <a:gd name="adj" fmla="val 14286"/>
            </a:avLst>
          </a:prstGeom>
          <a:solidFill>
            <a:srgbClr val="12141C"/>
          </a:solidFill>
          <a:ln/>
        </p:spPr>
        <p:txBody>
          <a:bodyPr/>
          <a:lstStyle/>
          <a:p>
            <a:endParaRPr lang="en-US"/>
          </a:p>
        </p:txBody>
      </p:sp>
      <p:pic>
        <p:nvPicPr>
          <p:cNvPr id="27" name="Image 0" descr="/home/claude/icons/FaClipboardCheck_w.png"/>
          <p:cNvPicPr>
            <a:picLocks noChangeAspect="1"/>
          </p:cNvPicPr>
          <p:nvPr/>
        </p:nvPicPr>
        <p:blipFill>
          <a:blip r:embed="rId3"/>
          <a:stretch>
            <a:fillRect/>
          </a:stretch>
        </p:blipFill>
        <p:spPr>
          <a:xfrm>
            <a:off x="768096" y="5920740"/>
            <a:ext cx="228600" cy="228600"/>
          </a:xfrm>
          <a:prstGeom prst="rect">
            <a:avLst/>
          </a:prstGeom>
        </p:spPr>
      </p:pic>
      <p:sp>
        <p:nvSpPr>
          <p:cNvPr id="28" name="Text 25"/>
          <p:cNvSpPr/>
          <p:nvPr/>
        </p:nvSpPr>
        <p:spPr>
          <a:xfrm>
            <a:off x="1133856" y="5779008"/>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Exit ticket: in fewer than 40 words, describe an impact of social engineering that harms someone other than the victim.</a:t>
            </a:r>
            <a:endParaRPr lang="en-US" sz="1150"/>
          </a:p>
        </p:txBody>
      </p:sp>
      <p:sp>
        <p:nvSpPr>
          <p:cNvPr id="29" name="Text 2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0" name="Text 2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18</a:t>
            </a:r>
            <a:endParaRPr lang="en-US" sz="9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6720840" y="0"/>
            <a:ext cx="5468112" cy="6858000"/>
          </a:xfrm>
          <a:prstGeom prst="roundRect">
            <a:avLst/>
          </a:prstGeom>
          <a:solidFill>
            <a:srgbClr val="1D2331"/>
          </a:solidFill>
          <a:ln/>
        </p:spPr>
        <p:txBody>
          <a:bodyPr/>
          <a:lstStyle/>
          <a:p>
            <a:endParaRPr lang="en-US"/>
          </a:p>
        </p:txBody>
      </p:sp>
      <p:sp>
        <p:nvSpPr>
          <p:cNvPr id="3" name="Text 1"/>
          <p:cNvSpPr/>
          <p:nvPr/>
        </p:nvSpPr>
        <p:spPr>
          <a:xfrm>
            <a:off x="566928" y="1234440"/>
            <a:ext cx="566928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TOPIC 1.2   ·   ~2 class periods</a:t>
            </a:r>
            <a:endParaRPr lang="en-US" sz="1050"/>
          </a:p>
        </p:txBody>
      </p:sp>
      <p:sp>
        <p:nvSpPr>
          <p:cNvPr id="4" name="Text 2"/>
          <p:cNvSpPr/>
          <p:nvPr/>
        </p:nvSpPr>
        <p:spPr>
          <a:xfrm>
            <a:off x="566928" y="1627632"/>
            <a:ext cx="5760720" cy="1554480"/>
          </a:xfrm>
          <a:prstGeom prst="rect">
            <a:avLst/>
          </a:prstGeom>
          <a:noFill/>
          <a:ln/>
        </p:spPr>
        <p:txBody>
          <a:bodyPr wrap="square" lIns="0" tIns="0" rIns="0" bIns="0" rtlCol="0" anchor="ctr"/>
          <a:lstStyle/>
          <a:p>
            <a:pPr marL="0" indent="0">
              <a:lnSpc>
                <a:spcPts val="4400"/>
              </a:lnSpc>
              <a:buNone/>
            </a:pPr>
            <a:r>
              <a:rPr lang="en-US" sz="4000" b="1">
                <a:solidFill>
                  <a:srgbClr val="FFFFFF"/>
                </a:solidFill>
                <a:latin typeface="Cambria" pitchFamily="34" charset="0"/>
                <a:ea typeface="Cambria" pitchFamily="34" charset="-122"/>
                <a:cs typeface="Cambria" pitchFamily="34" charset="-120"/>
              </a:rPr>
              <a:t>Suspicious</a:t>
            </a:r>
            <a:endParaRPr lang="en-US" sz="4000"/>
          </a:p>
          <a:p>
            <a:pPr marL="0" indent="0">
              <a:lnSpc>
                <a:spcPts val="4400"/>
              </a:lnSpc>
              <a:buNone/>
            </a:pPr>
            <a:r>
              <a:rPr lang="en-US" sz="4000" b="1">
                <a:solidFill>
                  <a:srgbClr val="FFFFFF"/>
                </a:solidFill>
                <a:latin typeface="Cambria" pitchFamily="34" charset="0"/>
                <a:ea typeface="Cambria" pitchFamily="34" charset="-122"/>
                <a:cs typeface="Cambria" pitchFamily="34" charset="-120"/>
              </a:rPr>
              <a:t>Website Logins</a:t>
            </a:r>
            <a:endParaRPr lang="en-US" sz="4000"/>
          </a:p>
        </p:txBody>
      </p:sp>
      <p:sp>
        <p:nvSpPr>
          <p:cNvPr id="5" name="Shape 3"/>
          <p:cNvSpPr/>
          <p:nvPr/>
        </p:nvSpPr>
        <p:spPr>
          <a:xfrm>
            <a:off x="566928" y="3310128"/>
            <a:ext cx="4023360" cy="10973"/>
          </a:xfrm>
          <a:prstGeom prst="rect">
            <a:avLst/>
          </a:prstGeom>
          <a:solidFill>
            <a:srgbClr val="2C3446"/>
          </a:solidFill>
          <a:ln/>
        </p:spPr>
        <p:txBody>
          <a:bodyPr/>
          <a:lstStyle/>
          <a:p>
            <a:endParaRPr lang="en-US"/>
          </a:p>
        </p:txBody>
      </p:sp>
      <p:sp>
        <p:nvSpPr>
          <p:cNvPr id="6" name="Text 4"/>
          <p:cNvSpPr/>
          <p:nvPr/>
        </p:nvSpPr>
        <p:spPr>
          <a:xfrm>
            <a:off x="566928" y="3493008"/>
            <a:ext cx="5577840" cy="914400"/>
          </a:xfrm>
          <a:prstGeom prst="rect">
            <a:avLst/>
          </a:prstGeom>
          <a:noFill/>
          <a:ln/>
        </p:spPr>
        <p:txBody>
          <a:bodyPr wrap="square" lIns="0" tIns="0" rIns="0" bIns="0" rtlCol="0" anchor="ctr"/>
          <a:lstStyle/>
          <a:p>
            <a:pPr marL="0" indent="0">
              <a:lnSpc>
                <a:spcPts val="1800"/>
              </a:lnSpc>
              <a:buNone/>
            </a:pPr>
            <a:r>
              <a:rPr lang="en-US" sz="1300" i="1">
                <a:solidFill>
                  <a:srgbClr val="9AA3B2"/>
                </a:solidFill>
                <a:latin typeface="Calibri" pitchFamily="34" charset="0"/>
                <a:ea typeface="Calibri" pitchFamily="34" charset="-122"/>
                <a:cs typeface="Calibri" pitchFamily="34" charset="-120"/>
              </a:rPr>
              <a:t>Stealing a password is only half the attack. The adversary still has to authenticate — and that attempt leaves evidence in a log.</a:t>
            </a:r>
            <a:endParaRPr lang="en-US" sz="1300"/>
          </a:p>
        </p:txBody>
      </p:sp>
      <p:sp>
        <p:nvSpPr>
          <p:cNvPr id="7" name="Shape 5"/>
          <p:cNvSpPr/>
          <p:nvPr/>
        </p:nvSpPr>
        <p:spPr>
          <a:xfrm>
            <a:off x="566928" y="4617720"/>
            <a:ext cx="566928" cy="566928"/>
          </a:xfrm>
          <a:prstGeom prst="ellipse">
            <a:avLst/>
          </a:prstGeom>
          <a:solidFill>
            <a:srgbClr val="1FA697"/>
          </a:solidFill>
          <a:ln/>
        </p:spPr>
        <p:txBody>
          <a:bodyPr/>
          <a:lstStyle/>
          <a:p>
            <a:endParaRPr lang="en-US"/>
          </a:p>
        </p:txBody>
      </p:sp>
      <p:pic>
        <p:nvPicPr>
          <p:cNvPr id="8" name="Image 0" descr="/home/claude/icons/FaKey_w.png"/>
          <p:cNvPicPr>
            <a:picLocks noChangeAspect="1"/>
          </p:cNvPicPr>
          <p:nvPr/>
        </p:nvPicPr>
        <p:blipFill>
          <a:blip r:embed="rId3"/>
          <a:stretch>
            <a:fillRect/>
          </a:stretch>
        </p:blipFill>
        <p:spPr>
          <a:xfrm>
            <a:off x="714329" y="4765121"/>
            <a:ext cx="272125" cy="272125"/>
          </a:xfrm>
          <a:prstGeom prst="rect">
            <a:avLst/>
          </a:prstGeom>
        </p:spPr>
      </p:pic>
      <p:sp>
        <p:nvSpPr>
          <p:cNvPr id="9" name="Text 6"/>
          <p:cNvSpPr/>
          <p:nvPr/>
        </p:nvSpPr>
        <p:spPr>
          <a:xfrm>
            <a:off x="1316736" y="4617720"/>
            <a:ext cx="4572000" cy="566928"/>
          </a:xfrm>
          <a:prstGeom prst="rect">
            <a:avLst/>
          </a:prstGeom>
          <a:noFill/>
          <a:ln/>
        </p:spPr>
        <p:txBody>
          <a:bodyPr wrap="square" lIns="0" tIns="0" rIns="0" bIns="0" rtlCol="0" anchor="ctr"/>
          <a:lstStyle/>
          <a:p>
            <a:pPr marL="0" indent="0">
              <a:buNone/>
            </a:pPr>
            <a:r>
              <a:rPr lang="en-US" sz="1100" b="1" kern="0" spc="120">
                <a:solidFill>
                  <a:srgbClr val="1FA697"/>
                </a:solidFill>
                <a:latin typeface="Calibri" pitchFamily="34" charset="0"/>
                <a:ea typeface="Calibri" pitchFamily="34" charset="-122"/>
                <a:cs typeface="Calibri" pitchFamily="34" charset="-120"/>
              </a:rPr>
              <a:t>SKILLS 1.A + 2.A · ANALYZE AND MITIGATE RISK</a:t>
            </a:r>
            <a:endParaRPr lang="en-US" sz="1100"/>
          </a:p>
        </p:txBody>
      </p:sp>
      <p:sp>
        <p:nvSpPr>
          <p:cNvPr id="10" name="Text 7"/>
          <p:cNvSpPr/>
          <p:nvPr/>
        </p:nvSpPr>
        <p:spPr>
          <a:xfrm>
            <a:off x="7269480" y="1371600"/>
            <a:ext cx="4572000" cy="237744"/>
          </a:xfrm>
          <a:prstGeom prst="rect">
            <a:avLst/>
          </a:prstGeom>
          <a:noFill/>
          <a:ln/>
        </p:spPr>
        <p:txBody>
          <a:bodyPr wrap="square" lIns="0" tIns="0" rIns="0" bIns="0" rtlCol="0" anchor="ctr"/>
          <a:lstStyle/>
          <a:p>
            <a:pPr marL="0" indent="0">
              <a:buNone/>
            </a:pPr>
            <a:r>
              <a:rPr lang="en-US" sz="1000" b="1" kern="0" spc="150">
                <a:solidFill>
                  <a:srgbClr val="1FA697"/>
                </a:solidFill>
                <a:latin typeface="Calibri" pitchFamily="34" charset="0"/>
                <a:ea typeface="Calibri" pitchFamily="34" charset="-122"/>
                <a:cs typeface="Calibri" pitchFamily="34" charset="-120"/>
              </a:rPr>
              <a:t>LEARNING OBJECTIVES</a:t>
            </a:r>
            <a:endParaRPr lang="en-US" sz="1000"/>
          </a:p>
        </p:txBody>
      </p:sp>
      <p:sp>
        <p:nvSpPr>
          <p:cNvPr id="11" name="Shape 8"/>
          <p:cNvSpPr/>
          <p:nvPr/>
        </p:nvSpPr>
        <p:spPr>
          <a:xfrm>
            <a:off x="7269480" y="1828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2" name="Shape 9"/>
          <p:cNvSpPr/>
          <p:nvPr/>
        </p:nvSpPr>
        <p:spPr>
          <a:xfrm>
            <a:off x="7498080" y="1993392"/>
            <a:ext cx="713232" cy="237744"/>
          </a:xfrm>
          <a:prstGeom prst="roundRect">
            <a:avLst>
              <a:gd name="adj" fmla="val 23077"/>
            </a:avLst>
          </a:prstGeom>
          <a:solidFill>
            <a:srgbClr val="1FA697"/>
          </a:solidFill>
          <a:ln/>
        </p:spPr>
        <p:txBody>
          <a:bodyPr/>
          <a:lstStyle/>
          <a:p>
            <a:endParaRPr lang="en-US"/>
          </a:p>
        </p:txBody>
      </p:sp>
      <p:sp>
        <p:nvSpPr>
          <p:cNvPr id="13" name="Text 10"/>
          <p:cNvSpPr/>
          <p:nvPr/>
        </p:nvSpPr>
        <p:spPr>
          <a:xfrm>
            <a:off x="7498080" y="1993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1.2.A</a:t>
            </a:r>
            <a:endParaRPr lang="en-US" sz="950"/>
          </a:p>
        </p:txBody>
      </p:sp>
      <p:sp>
        <p:nvSpPr>
          <p:cNvPr id="14" name="Text 11"/>
          <p:cNvSpPr/>
          <p:nvPr/>
        </p:nvSpPr>
        <p:spPr>
          <a:xfrm>
            <a:off x="7498080" y="2286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Identify common signs of a password attack.</a:t>
            </a:r>
            <a:endParaRPr lang="en-US" sz="1100"/>
          </a:p>
        </p:txBody>
      </p:sp>
      <p:sp>
        <p:nvSpPr>
          <p:cNvPr id="15" name="Shape 12"/>
          <p:cNvSpPr/>
          <p:nvPr/>
        </p:nvSpPr>
        <p:spPr>
          <a:xfrm>
            <a:off x="7269480" y="2971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6" name="Shape 13"/>
          <p:cNvSpPr/>
          <p:nvPr/>
        </p:nvSpPr>
        <p:spPr>
          <a:xfrm>
            <a:off x="7498080" y="3136392"/>
            <a:ext cx="713232" cy="237744"/>
          </a:xfrm>
          <a:prstGeom prst="roundRect">
            <a:avLst>
              <a:gd name="adj" fmla="val 23077"/>
            </a:avLst>
          </a:prstGeom>
          <a:solidFill>
            <a:srgbClr val="1FA697"/>
          </a:solidFill>
          <a:ln/>
        </p:spPr>
        <p:txBody>
          <a:bodyPr/>
          <a:lstStyle/>
          <a:p>
            <a:endParaRPr lang="en-US"/>
          </a:p>
        </p:txBody>
      </p:sp>
      <p:sp>
        <p:nvSpPr>
          <p:cNvPr id="17" name="Text 14"/>
          <p:cNvSpPr/>
          <p:nvPr/>
        </p:nvSpPr>
        <p:spPr>
          <a:xfrm>
            <a:off x="7498080" y="3136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1.2.B</a:t>
            </a:r>
            <a:endParaRPr lang="en-US" sz="950"/>
          </a:p>
        </p:txBody>
      </p:sp>
      <p:sp>
        <p:nvSpPr>
          <p:cNvPr id="18" name="Text 15"/>
          <p:cNvSpPr/>
          <p:nvPr/>
        </p:nvSpPr>
        <p:spPr>
          <a:xfrm>
            <a:off x="7498080" y="3429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Explain how adversaries take advantage of weak authentication.</a:t>
            </a:r>
            <a:endParaRPr lang="en-US" sz="1100"/>
          </a:p>
        </p:txBody>
      </p:sp>
      <p:sp>
        <p:nvSpPr>
          <p:cNvPr id="19" name="Shape 16"/>
          <p:cNvSpPr/>
          <p:nvPr/>
        </p:nvSpPr>
        <p:spPr>
          <a:xfrm>
            <a:off x="7269480" y="4114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20" name="Shape 17"/>
          <p:cNvSpPr/>
          <p:nvPr/>
        </p:nvSpPr>
        <p:spPr>
          <a:xfrm>
            <a:off x="7498080" y="4279392"/>
            <a:ext cx="713232" cy="237744"/>
          </a:xfrm>
          <a:prstGeom prst="roundRect">
            <a:avLst>
              <a:gd name="adj" fmla="val 23077"/>
            </a:avLst>
          </a:prstGeom>
          <a:solidFill>
            <a:srgbClr val="1FA697"/>
          </a:solidFill>
          <a:ln/>
        </p:spPr>
        <p:txBody>
          <a:bodyPr/>
          <a:lstStyle/>
          <a:p>
            <a:endParaRPr lang="en-US"/>
          </a:p>
        </p:txBody>
      </p:sp>
      <p:sp>
        <p:nvSpPr>
          <p:cNvPr id="21" name="Text 18"/>
          <p:cNvSpPr/>
          <p:nvPr/>
        </p:nvSpPr>
        <p:spPr>
          <a:xfrm>
            <a:off x="7498080" y="4279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1.2.C</a:t>
            </a:r>
            <a:endParaRPr lang="en-US" sz="950"/>
          </a:p>
        </p:txBody>
      </p:sp>
      <p:sp>
        <p:nvSpPr>
          <p:cNvPr id="22" name="Text 19"/>
          <p:cNvSpPr/>
          <p:nvPr/>
        </p:nvSpPr>
        <p:spPr>
          <a:xfrm>
            <a:off x="7498080" y="4572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Explain how to make authentication stronger.</a:t>
            </a:r>
            <a:endParaRPr lang="en-US" sz="1100"/>
          </a:p>
        </p:txBody>
      </p:sp>
      <p:sp>
        <p:nvSpPr>
          <p:cNvPr id="23" name="Text 20"/>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4" name="Text 21"/>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19</a:t>
            </a:r>
            <a:endParaRPr lang="en-US" sz="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1.2.B  ·  FOUNDATION</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Authentication asks: what evidence proves you are you?</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Three categories of proof. Using two different categories is multi-factor authentication — using two passwords is not.</a:t>
            </a:r>
            <a:endParaRPr lang="en-US" sz="1400"/>
          </a:p>
        </p:txBody>
      </p:sp>
      <p:sp>
        <p:nvSpPr>
          <p:cNvPr id="5" name="Shape 3"/>
          <p:cNvSpPr/>
          <p:nvPr/>
        </p:nvSpPr>
        <p:spPr>
          <a:xfrm>
            <a:off x="566928" y="1938528"/>
            <a:ext cx="3529584" cy="3108960"/>
          </a:xfrm>
          <a:prstGeom prst="roundRect">
            <a:avLst>
              <a:gd name="adj" fmla="val 2647"/>
            </a:avLst>
          </a:prstGeom>
          <a:solidFill>
            <a:srgbClr val="F2F4F8"/>
          </a:solidFill>
          <a:ln/>
        </p:spPr>
        <p:txBody>
          <a:bodyPr/>
          <a:lstStyle/>
          <a:p>
            <a:endParaRPr lang="en-US"/>
          </a:p>
        </p:txBody>
      </p:sp>
      <p:sp>
        <p:nvSpPr>
          <p:cNvPr id="6" name="Shape 4"/>
          <p:cNvSpPr/>
          <p:nvPr/>
        </p:nvSpPr>
        <p:spPr>
          <a:xfrm>
            <a:off x="822960" y="2157984"/>
            <a:ext cx="512064" cy="512064"/>
          </a:xfrm>
          <a:prstGeom prst="ellipse">
            <a:avLst/>
          </a:prstGeom>
          <a:solidFill>
            <a:srgbClr val="1FA697"/>
          </a:solidFill>
          <a:ln/>
        </p:spPr>
        <p:txBody>
          <a:bodyPr/>
          <a:lstStyle/>
          <a:p>
            <a:endParaRPr lang="en-US"/>
          </a:p>
        </p:txBody>
      </p:sp>
      <p:pic>
        <p:nvPicPr>
          <p:cNvPr id="7" name="Image 0" descr="/home/claude/icons/FaKey_w.png"/>
          <p:cNvPicPr>
            <a:picLocks noChangeAspect="1"/>
          </p:cNvPicPr>
          <p:nvPr/>
        </p:nvPicPr>
        <p:blipFill>
          <a:blip r:embed="rId3"/>
          <a:stretch>
            <a:fillRect/>
          </a:stretch>
        </p:blipFill>
        <p:spPr>
          <a:xfrm>
            <a:off x="956097" y="2291121"/>
            <a:ext cx="245791" cy="245791"/>
          </a:xfrm>
          <a:prstGeom prst="rect">
            <a:avLst/>
          </a:prstGeom>
        </p:spPr>
      </p:pic>
      <p:sp>
        <p:nvSpPr>
          <p:cNvPr id="8" name="Text 5"/>
          <p:cNvSpPr/>
          <p:nvPr/>
        </p:nvSpPr>
        <p:spPr>
          <a:xfrm>
            <a:off x="822960" y="2788920"/>
            <a:ext cx="3017520" cy="256032"/>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Something you know</a:t>
            </a:r>
            <a:endParaRPr lang="en-US" sz="1300"/>
          </a:p>
        </p:txBody>
      </p:sp>
      <p:sp>
        <p:nvSpPr>
          <p:cNvPr id="9" name="Text 6"/>
          <p:cNvSpPr/>
          <p:nvPr/>
        </p:nvSpPr>
        <p:spPr>
          <a:xfrm>
            <a:off x="822960" y="3090672"/>
            <a:ext cx="3017520" cy="658368"/>
          </a:xfrm>
          <a:prstGeom prst="rect">
            <a:avLst/>
          </a:prstGeom>
          <a:noFill/>
          <a:ln/>
        </p:spPr>
        <p:txBody>
          <a:bodyPr wrap="square" lIns="0" tIns="0" rIns="0" bIns="0" rtlCol="0" anchor="t"/>
          <a:lstStyle/>
          <a:p>
            <a:pPr marL="0" indent="0">
              <a:lnSpc>
                <a:spcPts val="1400"/>
              </a:lnSpc>
              <a:buNone/>
            </a:pPr>
            <a:r>
              <a:rPr lang="en-US" sz="1080">
                <a:solidFill>
                  <a:srgbClr val="2B303C"/>
                </a:solidFill>
                <a:latin typeface="Calibri" pitchFamily="34" charset="0"/>
                <a:ea typeface="Calibri" pitchFamily="34" charset="-122"/>
                <a:cs typeface="Calibri" pitchFamily="34" charset="-120"/>
              </a:rPr>
              <a:t>Password, PIN, passphrase, answer to a challenge question.</a:t>
            </a:r>
            <a:endParaRPr lang="en-US" sz="1080"/>
          </a:p>
        </p:txBody>
      </p:sp>
      <p:sp>
        <p:nvSpPr>
          <p:cNvPr id="10" name="Shape 7"/>
          <p:cNvSpPr/>
          <p:nvPr/>
        </p:nvSpPr>
        <p:spPr>
          <a:xfrm>
            <a:off x="822960" y="3822192"/>
            <a:ext cx="3017520" cy="9144"/>
          </a:xfrm>
          <a:prstGeom prst="rect">
            <a:avLst/>
          </a:prstGeom>
          <a:solidFill>
            <a:srgbClr val="E7EBF2"/>
          </a:solidFill>
          <a:ln/>
        </p:spPr>
        <p:txBody>
          <a:bodyPr/>
          <a:lstStyle/>
          <a:p>
            <a:endParaRPr lang="en-US"/>
          </a:p>
        </p:txBody>
      </p:sp>
      <p:sp>
        <p:nvSpPr>
          <p:cNvPr id="11" name="Text 8"/>
          <p:cNvSpPr/>
          <p:nvPr/>
        </p:nvSpPr>
        <p:spPr>
          <a:xfrm>
            <a:off x="822960" y="3931920"/>
            <a:ext cx="3035808" cy="1005840"/>
          </a:xfrm>
          <a:prstGeom prst="rect">
            <a:avLst/>
          </a:prstGeom>
          <a:noFill/>
          <a:ln/>
        </p:spPr>
        <p:txBody>
          <a:bodyPr wrap="square" lIns="0" tIns="0" rIns="0" bIns="0" rtlCol="0" anchor="t"/>
          <a:lstStyle/>
          <a:p>
            <a:pPr marL="0" indent="0">
              <a:lnSpc>
                <a:spcPts val="1340"/>
              </a:lnSpc>
              <a:buNone/>
            </a:pPr>
            <a:r>
              <a:rPr lang="en-US" sz="1020">
                <a:solidFill>
                  <a:srgbClr val="6B7280"/>
                </a:solidFill>
                <a:latin typeface="Calibri" pitchFamily="34" charset="0"/>
                <a:ea typeface="Calibri" pitchFamily="34" charset="-122"/>
                <a:cs typeface="Calibri" pitchFamily="34" charset="-120"/>
              </a:rPr>
              <a:t>Weakness: it can be guessed, reused, phished, or read from a breach dump — and copying it leaves no trace.</a:t>
            </a:r>
            <a:endParaRPr lang="en-US" sz="1020"/>
          </a:p>
        </p:txBody>
      </p:sp>
      <p:sp>
        <p:nvSpPr>
          <p:cNvPr id="12" name="Shape 9"/>
          <p:cNvSpPr/>
          <p:nvPr/>
        </p:nvSpPr>
        <p:spPr>
          <a:xfrm>
            <a:off x="4325112" y="1938528"/>
            <a:ext cx="3529584" cy="3108960"/>
          </a:xfrm>
          <a:prstGeom prst="roundRect">
            <a:avLst>
              <a:gd name="adj" fmla="val 2647"/>
            </a:avLst>
          </a:prstGeom>
          <a:solidFill>
            <a:srgbClr val="F2F4F8"/>
          </a:solidFill>
          <a:ln/>
        </p:spPr>
        <p:txBody>
          <a:bodyPr/>
          <a:lstStyle/>
          <a:p>
            <a:endParaRPr lang="en-US"/>
          </a:p>
        </p:txBody>
      </p:sp>
      <p:sp>
        <p:nvSpPr>
          <p:cNvPr id="13" name="Shape 10"/>
          <p:cNvSpPr/>
          <p:nvPr/>
        </p:nvSpPr>
        <p:spPr>
          <a:xfrm>
            <a:off x="4581144" y="2157984"/>
            <a:ext cx="512064" cy="512064"/>
          </a:xfrm>
          <a:prstGeom prst="ellipse">
            <a:avLst/>
          </a:prstGeom>
          <a:solidFill>
            <a:srgbClr val="1FA697"/>
          </a:solidFill>
          <a:ln/>
        </p:spPr>
        <p:txBody>
          <a:bodyPr/>
          <a:lstStyle/>
          <a:p>
            <a:endParaRPr lang="en-US"/>
          </a:p>
        </p:txBody>
      </p:sp>
      <p:pic>
        <p:nvPicPr>
          <p:cNvPr id="14" name="Image 1" descr="/home/claude/icons/FaMobileScreenButton_w.png"/>
          <p:cNvPicPr>
            <a:picLocks noChangeAspect="1"/>
          </p:cNvPicPr>
          <p:nvPr/>
        </p:nvPicPr>
        <p:blipFill>
          <a:blip r:embed="rId4"/>
          <a:stretch>
            <a:fillRect/>
          </a:stretch>
        </p:blipFill>
        <p:spPr>
          <a:xfrm>
            <a:off x="4714281" y="2291121"/>
            <a:ext cx="245791" cy="245791"/>
          </a:xfrm>
          <a:prstGeom prst="rect">
            <a:avLst/>
          </a:prstGeom>
        </p:spPr>
      </p:pic>
      <p:sp>
        <p:nvSpPr>
          <p:cNvPr id="15" name="Text 11"/>
          <p:cNvSpPr/>
          <p:nvPr/>
        </p:nvSpPr>
        <p:spPr>
          <a:xfrm>
            <a:off x="4581144" y="2788920"/>
            <a:ext cx="3017520" cy="256032"/>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Something you have</a:t>
            </a:r>
            <a:endParaRPr lang="en-US" sz="1300"/>
          </a:p>
        </p:txBody>
      </p:sp>
      <p:sp>
        <p:nvSpPr>
          <p:cNvPr id="16" name="Text 12"/>
          <p:cNvSpPr/>
          <p:nvPr/>
        </p:nvSpPr>
        <p:spPr>
          <a:xfrm>
            <a:off x="4581144" y="3090672"/>
            <a:ext cx="3017520" cy="658368"/>
          </a:xfrm>
          <a:prstGeom prst="rect">
            <a:avLst/>
          </a:prstGeom>
          <a:noFill/>
          <a:ln/>
        </p:spPr>
        <p:txBody>
          <a:bodyPr wrap="square" lIns="0" tIns="0" rIns="0" bIns="0" rtlCol="0" anchor="t"/>
          <a:lstStyle/>
          <a:p>
            <a:pPr marL="0" indent="0">
              <a:lnSpc>
                <a:spcPts val="1400"/>
              </a:lnSpc>
              <a:buNone/>
            </a:pPr>
            <a:r>
              <a:rPr lang="en-US" sz="1080">
                <a:solidFill>
                  <a:srgbClr val="2B303C"/>
                </a:solidFill>
                <a:latin typeface="Calibri" pitchFamily="34" charset="0"/>
                <a:ea typeface="Calibri" pitchFamily="34" charset="-122"/>
                <a:cs typeface="Calibri" pitchFamily="34" charset="-120"/>
              </a:rPr>
              <a:t>Phone with an authenticator app, a hardware security key, a passkey on a device.</a:t>
            </a:r>
            <a:endParaRPr lang="en-US" sz="1080"/>
          </a:p>
        </p:txBody>
      </p:sp>
      <p:sp>
        <p:nvSpPr>
          <p:cNvPr id="17" name="Shape 13"/>
          <p:cNvSpPr/>
          <p:nvPr/>
        </p:nvSpPr>
        <p:spPr>
          <a:xfrm>
            <a:off x="4581144" y="3822192"/>
            <a:ext cx="3017520" cy="9144"/>
          </a:xfrm>
          <a:prstGeom prst="rect">
            <a:avLst/>
          </a:prstGeom>
          <a:solidFill>
            <a:srgbClr val="E7EBF2"/>
          </a:solidFill>
          <a:ln/>
        </p:spPr>
        <p:txBody>
          <a:bodyPr/>
          <a:lstStyle/>
          <a:p>
            <a:endParaRPr lang="en-US"/>
          </a:p>
        </p:txBody>
      </p:sp>
      <p:sp>
        <p:nvSpPr>
          <p:cNvPr id="18" name="Text 14"/>
          <p:cNvSpPr/>
          <p:nvPr/>
        </p:nvSpPr>
        <p:spPr>
          <a:xfrm>
            <a:off x="4581144" y="3931920"/>
            <a:ext cx="3035808" cy="1005840"/>
          </a:xfrm>
          <a:prstGeom prst="rect">
            <a:avLst/>
          </a:prstGeom>
          <a:noFill/>
          <a:ln/>
        </p:spPr>
        <p:txBody>
          <a:bodyPr wrap="square" lIns="0" tIns="0" rIns="0" bIns="0" rtlCol="0" anchor="t"/>
          <a:lstStyle/>
          <a:p>
            <a:pPr marL="0" indent="0">
              <a:lnSpc>
                <a:spcPts val="1340"/>
              </a:lnSpc>
              <a:buNone/>
            </a:pPr>
            <a:r>
              <a:rPr lang="en-US" sz="1020">
                <a:solidFill>
                  <a:srgbClr val="6B7280"/>
                </a:solidFill>
                <a:latin typeface="Calibri" pitchFamily="34" charset="0"/>
                <a:ea typeface="Calibri" pitchFamily="34" charset="-122"/>
                <a:cs typeface="Calibri" pitchFamily="34" charset="-120"/>
              </a:rPr>
              <a:t>Weakness: codes can still be relayed by a convincing fake page; hardware keys resist this because they check the site.</a:t>
            </a:r>
            <a:endParaRPr lang="en-US" sz="1020"/>
          </a:p>
        </p:txBody>
      </p:sp>
      <p:sp>
        <p:nvSpPr>
          <p:cNvPr id="19" name="Shape 15"/>
          <p:cNvSpPr/>
          <p:nvPr/>
        </p:nvSpPr>
        <p:spPr>
          <a:xfrm>
            <a:off x="8083296" y="1938528"/>
            <a:ext cx="3529584" cy="3108960"/>
          </a:xfrm>
          <a:prstGeom prst="roundRect">
            <a:avLst>
              <a:gd name="adj" fmla="val 2647"/>
            </a:avLst>
          </a:prstGeom>
          <a:solidFill>
            <a:srgbClr val="F2F4F8"/>
          </a:solidFill>
          <a:ln/>
        </p:spPr>
        <p:txBody>
          <a:bodyPr/>
          <a:lstStyle/>
          <a:p>
            <a:endParaRPr lang="en-US"/>
          </a:p>
        </p:txBody>
      </p:sp>
      <p:sp>
        <p:nvSpPr>
          <p:cNvPr id="20" name="Shape 16"/>
          <p:cNvSpPr/>
          <p:nvPr/>
        </p:nvSpPr>
        <p:spPr>
          <a:xfrm>
            <a:off x="8339328" y="2157984"/>
            <a:ext cx="512064" cy="512064"/>
          </a:xfrm>
          <a:prstGeom prst="ellipse">
            <a:avLst/>
          </a:prstGeom>
          <a:solidFill>
            <a:srgbClr val="1FA697"/>
          </a:solidFill>
          <a:ln/>
        </p:spPr>
        <p:txBody>
          <a:bodyPr/>
          <a:lstStyle/>
          <a:p>
            <a:endParaRPr lang="en-US"/>
          </a:p>
        </p:txBody>
      </p:sp>
      <p:pic>
        <p:nvPicPr>
          <p:cNvPr id="21" name="Image 2" descr="/home/claude/icons/FaFingerprint_w.png"/>
          <p:cNvPicPr>
            <a:picLocks noChangeAspect="1"/>
          </p:cNvPicPr>
          <p:nvPr/>
        </p:nvPicPr>
        <p:blipFill>
          <a:blip r:embed="rId5"/>
          <a:stretch>
            <a:fillRect/>
          </a:stretch>
        </p:blipFill>
        <p:spPr>
          <a:xfrm>
            <a:off x="8472465" y="2291121"/>
            <a:ext cx="245791" cy="245791"/>
          </a:xfrm>
          <a:prstGeom prst="rect">
            <a:avLst/>
          </a:prstGeom>
        </p:spPr>
      </p:pic>
      <p:sp>
        <p:nvSpPr>
          <p:cNvPr id="22" name="Text 17"/>
          <p:cNvSpPr/>
          <p:nvPr/>
        </p:nvSpPr>
        <p:spPr>
          <a:xfrm>
            <a:off x="8339328" y="2788920"/>
            <a:ext cx="3017520" cy="256032"/>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Something you are</a:t>
            </a:r>
            <a:endParaRPr lang="en-US" sz="1300"/>
          </a:p>
        </p:txBody>
      </p:sp>
      <p:sp>
        <p:nvSpPr>
          <p:cNvPr id="23" name="Text 18"/>
          <p:cNvSpPr/>
          <p:nvPr/>
        </p:nvSpPr>
        <p:spPr>
          <a:xfrm>
            <a:off x="8339328" y="3090672"/>
            <a:ext cx="3017520" cy="658368"/>
          </a:xfrm>
          <a:prstGeom prst="rect">
            <a:avLst/>
          </a:prstGeom>
          <a:noFill/>
          <a:ln/>
        </p:spPr>
        <p:txBody>
          <a:bodyPr wrap="square" lIns="0" tIns="0" rIns="0" bIns="0" rtlCol="0" anchor="t"/>
          <a:lstStyle/>
          <a:p>
            <a:pPr marL="0" indent="0">
              <a:lnSpc>
                <a:spcPts val="1400"/>
              </a:lnSpc>
              <a:buNone/>
            </a:pPr>
            <a:r>
              <a:rPr lang="en-US" sz="1080">
                <a:solidFill>
                  <a:srgbClr val="2B303C"/>
                </a:solidFill>
                <a:latin typeface="Calibri" pitchFamily="34" charset="0"/>
                <a:ea typeface="Calibri" pitchFamily="34" charset="-122"/>
                <a:cs typeface="Calibri" pitchFamily="34" charset="-120"/>
              </a:rPr>
              <a:t>Fingerprint, face, or voice recognition.</a:t>
            </a:r>
            <a:endParaRPr lang="en-US" sz="1080"/>
          </a:p>
        </p:txBody>
      </p:sp>
      <p:sp>
        <p:nvSpPr>
          <p:cNvPr id="24" name="Shape 19"/>
          <p:cNvSpPr/>
          <p:nvPr/>
        </p:nvSpPr>
        <p:spPr>
          <a:xfrm>
            <a:off x="8339328" y="3822192"/>
            <a:ext cx="3017520" cy="9144"/>
          </a:xfrm>
          <a:prstGeom prst="rect">
            <a:avLst/>
          </a:prstGeom>
          <a:solidFill>
            <a:srgbClr val="E7EBF2"/>
          </a:solidFill>
          <a:ln/>
        </p:spPr>
        <p:txBody>
          <a:bodyPr/>
          <a:lstStyle/>
          <a:p>
            <a:endParaRPr lang="en-US"/>
          </a:p>
        </p:txBody>
      </p:sp>
      <p:sp>
        <p:nvSpPr>
          <p:cNvPr id="25" name="Text 20"/>
          <p:cNvSpPr/>
          <p:nvPr/>
        </p:nvSpPr>
        <p:spPr>
          <a:xfrm>
            <a:off x="8339328" y="3931920"/>
            <a:ext cx="3035808" cy="1005840"/>
          </a:xfrm>
          <a:prstGeom prst="rect">
            <a:avLst/>
          </a:prstGeom>
          <a:noFill/>
          <a:ln/>
        </p:spPr>
        <p:txBody>
          <a:bodyPr wrap="square" lIns="0" tIns="0" rIns="0" bIns="0" rtlCol="0" anchor="t"/>
          <a:lstStyle/>
          <a:p>
            <a:pPr marL="0" indent="0">
              <a:lnSpc>
                <a:spcPts val="1340"/>
              </a:lnSpc>
              <a:buNone/>
            </a:pPr>
            <a:r>
              <a:rPr lang="en-US" sz="1020">
                <a:solidFill>
                  <a:srgbClr val="6B7280"/>
                </a:solidFill>
                <a:latin typeface="Calibri" pitchFamily="34" charset="0"/>
                <a:ea typeface="Calibri" pitchFamily="34" charset="-122"/>
                <a:cs typeface="Calibri" pitchFamily="34" charset="-120"/>
              </a:rPr>
              <a:t>Weakness: it cannot be changed after a compromise — and voice, in particular, can now be cloned (Topic 1.4).</a:t>
            </a:r>
            <a:endParaRPr lang="en-US" sz="1020"/>
          </a:p>
        </p:txBody>
      </p:sp>
      <p:sp>
        <p:nvSpPr>
          <p:cNvPr id="26" name="Shape 21"/>
          <p:cNvSpPr/>
          <p:nvPr/>
        </p:nvSpPr>
        <p:spPr>
          <a:xfrm>
            <a:off x="566928" y="5230368"/>
            <a:ext cx="11057839" cy="512064"/>
          </a:xfrm>
          <a:prstGeom prst="roundRect">
            <a:avLst>
              <a:gd name="adj" fmla="val 14286"/>
            </a:avLst>
          </a:prstGeom>
          <a:solidFill>
            <a:srgbClr val="12141C"/>
          </a:solidFill>
          <a:ln/>
        </p:spPr>
        <p:txBody>
          <a:bodyPr/>
          <a:lstStyle/>
          <a:p>
            <a:endParaRPr lang="en-US"/>
          </a:p>
        </p:txBody>
      </p:sp>
      <p:pic>
        <p:nvPicPr>
          <p:cNvPr id="27" name="Image 3" descr="/home/claude/icons/FaShieldHalved_w.png"/>
          <p:cNvPicPr>
            <a:picLocks noChangeAspect="1"/>
          </p:cNvPicPr>
          <p:nvPr/>
        </p:nvPicPr>
        <p:blipFill>
          <a:blip r:embed="rId6"/>
          <a:stretch>
            <a:fillRect/>
          </a:stretch>
        </p:blipFill>
        <p:spPr>
          <a:xfrm>
            <a:off x="768096" y="5372100"/>
            <a:ext cx="228600" cy="228600"/>
          </a:xfrm>
          <a:prstGeom prst="rect">
            <a:avLst/>
          </a:prstGeom>
        </p:spPr>
      </p:pic>
      <p:sp>
        <p:nvSpPr>
          <p:cNvPr id="28" name="Text 22"/>
          <p:cNvSpPr/>
          <p:nvPr/>
        </p:nvSpPr>
        <p:spPr>
          <a:xfrm>
            <a:off x="1133856" y="5230368"/>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Definition to memorise: multi-factor authentication requires proof from two or more different categories. A password plus a security question is still one factor twice.</a:t>
            </a:r>
            <a:endParaRPr lang="en-US" sz="1150"/>
          </a:p>
        </p:txBody>
      </p:sp>
      <p:sp>
        <p:nvSpPr>
          <p:cNvPr id="29" name="Text 23"/>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0" name="Text 24"/>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20</a:t>
            </a:r>
            <a:endParaRPr lang="en-US" sz="9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1.2.A  ·  ATTACK METHODS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Four ways to guess a password — and how they differ</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All four are online attacks: the adversary submits guesses to the real service, so the service can see them.</a:t>
            </a:r>
            <a:endParaRPr lang="en-US" sz="140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965960"/>
          <a:ext cx="11055096" cy="3474720"/>
        </p:xfrm>
        <a:graphic>
          <a:graphicData uri="http://schemas.openxmlformats.org/drawingml/2006/table">
            <a:tbl>
              <a:tblPr/>
              <a:tblGrid>
                <a:gridCol w="1783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734056">
                  <a:extLst>
                    <a:ext uri="{9D8B030D-6E8A-4147-A177-3AD203B41FA5}">
                      <a16:colId xmlns:a16="http://schemas.microsoft.com/office/drawing/2014/main" val="20003"/>
                    </a:ext>
                  </a:extLst>
                </a:gridCol>
              </a:tblGrid>
              <a:tr h="329184">
                <a:tc>
                  <a:txBody>
                    <a:bodyPr/>
                    <a:lstStyle/>
                    <a:p>
                      <a:pPr marL="0" indent="0">
                        <a:buNone/>
                      </a:pPr>
                      <a:r>
                        <a:rPr lang="en-US" sz="1050" b="1">
                          <a:solidFill>
                            <a:srgbClr val="FFFFFF"/>
                          </a:solidFill>
                          <a:latin typeface="Calibri" pitchFamily="34" charset="0"/>
                          <a:ea typeface="Calibri" pitchFamily="34" charset="-122"/>
                          <a:cs typeface="Calibri" pitchFamily="34" charset="-120"/>
                        </a:rPr>
                        <a:t>Method</a:t>
                      </a:r>
                      <a:endParaRPr lang="en-US" sz="105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How it works</a:t>
                      </a:r>
                      <a:endParaRPr lang="en-US" sz="105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What it looks like in a log</a:t>
                      </a:r>
                      <a:endParaRPr lang="en-US" sz="105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What defeats it</a:t>
                      </a:r>
                      <a:endParaRPr lang="en-US" sz="105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12141C"/>
                    </a:solidFill>
                  </a:tcPr>
                </a:tc>
                <a:extLst>
                  <a:ext uri="{0D108BD9-81ED-4DB2-BD59-A6C34878D82A}">
                    <a16:rowId xmlns:a16="http://schemas.microsoft.com/office/drawing/2014/main" val="10000"/>
                  </a:ext>
                </a:extLst>
              </a:tr>
              <a:tr h="786384">
                <a:tc>
                  <a:txBody>
                    <a:bodyPr/>
                    <a:lstStyle/>
                    <a:p>
                      <a:pPr marL="0" indent="0">
                        <a:buNone/>
                      </a:pPr>
                      <a:r>
                        <a:rPr lang="en-US" sz="1100" b="1">
                          <a:solidFill>
                            <a:srgbClr val="12141C"/>
                          </a:solidFill>
                          <a:latin typeface="Calibri" pitchFamily="34" charset="0"/>
                          <a:ea typeface="Calibri" pitchFamily="34" charset="-122"/>
                          <a:cs typeface="Calibri" pitchFamily="34" charset="-120"/>
                        </a:rPr>
                        <a:t>Brute force</a:t>
                      </a:r>
                      <a:endParaRPr lang="en-US" sz="110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buNone/>
                      </a:pPr>
                      <a:r>
                        <a:rPr lang="en-US" sz="1020">
                          <a:solidFill>
                            <a:srgbClr val="2B303C"/>
                          </a:solidFill>
                          <a:latin typeface="Calibri" pitchFamily="34" charset="0"/>
                          <a:ea typeface="Calibri" pitchFamily="34" charset="-122"/>
                          <a:cs typeface="Calibri" pitchFamily="34" charset="-120"/>
                        </a:rPr>
                        <a:t>Try every possible combination of characters until one works.</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buNone/>
                      </a:pPr>
                      <a:r>
                        <a:rPr lang="en-US" sz="1020">
                          <a:solidFill>
                            <a:srgbClr val="2B303C"/>
                          </a:solidFill>
                          <a:latin typeface="Calibri" pitchFamily="34" charset="0"/>
                          <a:ea typeface="Calibri" pitchFamily="34" charset="-122"/>
                          <a:cs typeface="Calibri" pitchFamily="34" charset="-120"/>
                        </a:rPr>
                        <a:t>Many failures on one account, fast, in sequence.</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buNone/>
                      </a:pPr>
                      <a:r>
                        <a:rPr lang="en-US" sz="1020" i="1">
                          <a:solidFill>
                            <a:srgbClr val="16786D"/>
                          </a:solidFill>
                          <a:latin typeface="Calibri" pitchFamily="34" charset="0"/>
                          <a:ea typeface="Calibri" pitchFamily="34" charset="-122"/>
                          <a:cs typeface="Calibri" pitchFamily="34" charset="-120"/>
                        </a:rPr>
                        <a:t>Length. Every extra character multiplies the search space.</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marL="0" indent="0">
                        <a:buNone/>
                      </a:pPr>
                      <a:r>
                        <a:rPr lang="en-US" sz="1100" b="1">
                          <a:solidFill>
                            <a:srgbClr val="12141C"/>
                          </a:solidFill>
                          <a:latin typeface="Calibri" pitchFamily="34" charset="0"/>
                          <a:ea typeface="Calibri" pitchFamily="34" charset="-122"/>
                          <a:cs typeface="Calibri" pitchFamily="34" charset="-120"/>
                        </a:rPr>
                        <a:t>Dictionary attack</a:t>
                      </a:r>
                      <a:endParaRPr lang="en-US" sz="110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buNone/>
                      </a:pPr>
                      <a:r>
                        <a:rPr lang="en-US" sz="1020">
                          <a:solidFill>
                            <a:srgbClr val="2B303C"/>
                          </a:solidFill>
                          <a:latin typeface="Calibri" pitchFamily="34" charset="0"/>
                          <a:ea typeface="Calibri" pitchFamily="34" charset="-122"/>
                          <a:cs typeface="Calibri" pitchFamily="34" charset="-120"/>
                        </a:rPr>
                        <a:t>Try likely words and patterns — including a list built from the target's personal details.</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buNone/>
                      </a:pPr>
                      <a:r>
                        <a:rPr lang="en-US" sz="1020">
                          <a:solidFill>
                            <a:srgbClr val="2B303C"/>
                          </a:solidFill>
                          <a:latin typeface="Calibri" pitchFamily="34" charset="0"/>
                          <a:ea typeface="Calibri" pitchFamily="34" charset="-122"/>
                          <a:cs typeface="Calibri" pitchFamily="34" charset="-120"/>
                        </a:rPr>
                        <a:t>Failures on one account using plausible-looking passwords.</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buNone/>
                      </a:pPr>
                      <a:r>
                        <a:rPr lang="en-US" sz="1020" i="1">
                          <a:solidFill>
                            <a:srgbClr val="16786D"/>
                          </a:solidFill>
                          <a:latin typeface="Calibri" pitchFamily="34" charset="0"/>
                          <a:ea typeface="Calibri" pitchFamily="34" charset="-122"/>
                          <a:cs typeface="Calibri" pitchFamily="34" charset="-120"/>
                        </a:rPr>
                        <a:t>Avoid names, dates, and anything personally meaningful.</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extLst>
                  <a:ext uri="{0D108BD9-81ED-4DB2-BD59-A6C34878D82A}">
                    <a16:rowId xmlns:a16="http://schemas.microsoft.com/office/drawing/2014/main" val="10002"/>
                  </a:ext>
                </a:extLst>
              </a:tr>
              <a:tr h="786384">
                <a:tc>
                  <a:txBody>
                    <a:bodyPr/>
                    <a:lstStyle/>
                    <a:p>
                      <a:pPr marL="0" indent="0">
                        <a:buNone/>
                      </a:pPr>
                      <a:r>
                        <a:rPr lang="en-US" sz="1100" b="1">
                          <a:solidFill>
                            <a:srgbClr val="12141C"/>
                          </a:solidFill>
                          <a:latin typeface="Calibri" pitchFamily="34" charset="0"/>
                          <a:ea typeface="Calibri" pitchFamily="34" charset="-122"/>
                          <a:cs typeface="Calibri" pitchFamily="34" charset="-120"/>
                        </a:rPr>
                        <a:t>Password spraying</a:t>
                      </a:r>
                      <a:endParaRPr lang="en-US" sz="110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buNone/>
                      </a:pPr>
                      <a:r>
                        <a:rPr lang="en-US" sz="1020">
                          <a:solidFill>
                            <a:srgbClr val="2B303C"/>
                          </a:solidFill>
                          <a:latin typeface="Calibri" pitchFamily="34" charset="0"/>
                          <a:ea typeface="Calibri" pitchFamily="34" charset="-122"/>
                          <a:cs typeface="Calibri" pitchFamily="34" charset="-120"/>
                        </a:rPr>
                        <a:t>Try a few very common passwords across a large number of accounts.</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buNone/>
                      </a:pPr>
                      <a:r>
                        <a:rPr lang="en-US" sz="1020">
                          <a:solidFill>
                            <a:srgbClr val="2B303C"/>
                          </a:solidFill>
                          <a:latin typeface="Calibri" pitchFamily="34" charset="0"/>
                          <a:ea typeface="Calibri" pitchFamily="34" charset="-122"/>
                          <a:cs typeface="Calibri" pitchFamily="34" charset="-120"/>
                        </a:rPr>
                        <a:t>One or two failures on each of many accounts — easy to miss.</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tc>
                  <a:txBody>
                    <a:bodyPr/>
                    <a:lstStyle/>
                    <a:p>
                      <a:pPr marL="0" indent="0">
                        <a:buNone/>
                      </a:pPr>
                      <a:r>
                        <a:rPr lang="en-US" sz="1020" i="1">
                          <a:solidFill>
                            <a:srgbClr val="16786D"/>
                          </a:solidFill>
                          <a:latin typeface="Calibri" pitchFamily="34" charset="0"/>
                          <a:ea typeface="Calibri" pitchFamily="34" charset="-122"/>
                          <a:cs typeface="Calibri" pitchFamily="34" charset="-120"/>
                        </a:rPr>
                        <a:t>Uniqueness plus MFA. Lockout policies alone will not catch it.</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6384">
                <a:tc>
                  <a:txBody>
                    <a:bodyPr/>
                    <a:lstStyle/>
                    <a:p>
                      <a:pPr marL="0" indent="0">
                        <a:buNone/>
                      </a:pPr>
                      <a:r>
                        <a:rPr lang="en-US" sz="1100" b="1">
                          <a:solidFill>
                            <a:srgbClr val="12141C"/>
                          </a:solidFill>
                          <a:latin typeface="Calibri" pitchFamily="34" charset="0"/>
                          <a:ea typeface="Calibri" pitchFamily="34" charset="-122"/>
                          <a:cs typeface="Calibri" pitchFamily="34" charset="-120"/>
                        </a:rPr>
                        <a:t>Credential stuffing</a:t>
                      </a:r>
                      <a:endParaRPr lang="en-US" sz="110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buNone/>
                      </a:pPr>
                      <a:r>
                        <a:rPr lang="en-US" sz="1020">
                          <a:solidFill>
                            <a:srgbClr val="2B303C"/>
                          </a:solidFill>
                          <a:latin typeface="Calibri" pitchFamily="34" charset="0"/>
                          <a:ea typeface="Calibri" pitchFamily="34" charset="-122"/>
                          <a:cs typeface="Calibri" pitchFamily="34" charset="-120"/>
                        </a:rPr>
                        <a:t>Reuse username-and-password pairs stolen from a different breached service.</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buNone/>
                      </a:pPr>
                      <a:r>
                        <a:rPr lang="en-US" sz="1020">
                          <a:solidFill>
                            <a:srgbClr val="2B303C"/>
                          </a:solidFill>
                          <a:latin typeface="Calibri" pitchFamily="34" charset="0"/>
                          <a:ea typeface="Calibri" pitchFamily="34" charset="-122"/>
                          <a:cs typeface="Calibri" pitchFamily="34" charset="-120"/>
                        </a:rPr>
                        <a:t>Often a single successful login from an unfamiliar device or country.</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tc>
                  <a:txBody>
                    <a:bodyPr/>
                    <a:lstStyle/>
                    <a:p>
                      <a:pPr marL="0" indent="0">
                        <a:buNone/>
                      </a:pPr>
                      <a:r>
                        <a:rPr lang="en-US" sz="1020" i="1">
                          <a:solidFill>
                            <a:srgbClr val="16786D"/>
                          </a:solidFill>
                          <a:latin typeface="Calibri" pitchFamily="34" charset="0"/>
                          <a:ea typeface="Calibri" pitchFamily="34" charset="-122"/>
                          <a:cs typeface="Calibri" pitchFamily="34" charset="-120"/>
                        </a:rPr>
                        <a:t>Never reuse a password across services.</a:t>
                      </a:r>
                      <a:endParaRPr lang="en-US" sz="1020">
                        <a:latin typeface="Calibri" charset="0"/>
                        <a:ea typeface="Calibri" charset="0"/>
                        <a:cs typeface="Calibri" charset="0"/>
                      </a:endParaRPr>
                    </a:p>
                  </a:txBody>
                  <a:tcPr marL="73152" marR="73152" marT="73152" marB="73152" anchor="ctr">
                    <a:lnL w="12700" cap="flat" cmpd="sng" algn="ctr">
                      <a:solidFill>
                        <a:srgbClr val="E7EBF2"/>
                      </a:solidFill>
                      <a:prstDash val="solid"/>
                      <a:round/>
                      <a:headEnd type="none" w="med" len="med"/>
                      <a:tailEnd type="none" w="med" len="med"/>
                    </a:lnL>
                    <a:lnR w="12700" cap="flat" cmpd="sng" algn="ctr">
                      <a:solidFill>
                        <a:srgbClr val="E7EBF2"/>
                      </a:solidFill>
                      <a:prstDash val="solid"/>
                      <a:round/>
                      <a:headEnd type="none" w="med" len="med"/>
                      <a:tailEnd type="none" w="med" len="med"/>
                    </a:lnR>
                    <a:lnT w="12700" cap="flat" cmpd="sng" algn="ctr">
                      <a:solidFill>
                        <a:srgbClr val="E7EBF2"/>
                      </a:solidFill>
                      <a:prstDash val="solid"/>
                      <a:round/>
                      <a:headEnd type="none" w="med" len="med"/>
                      <a:tailEnd type="none" w="med" len="med"/>
                    </a:lnT>
                    <a:lnB w="12700" cap="flat" cmpd="sng" algn="ctr">
                      <a:solidFill>
                        <a:srgbClr val="E7EBF2"/>
                      </a:solidFill>
                      <a:prstDash val="solid"/>
                      <a:round/>
                      <a:headEnd type="none" w="med" len="med"/>
                      <a:tailEnd type="none" w="med" len="med"/>
                    </a:lnB>
                    <a:solidFill>
                      <a:srgbClr val="F2F4F8"/>
                    </a:solidFill>
                  </a:tcPr>
                </a:tc>
                <a:extLst>
                  <a:ext uri="{0D108BD9-81ED-4DB2-BD59-A6C34878D82A}">
                    <a16:rowId xmlns:a16="http://schemas.microsoft.com/office/drawing/2014/main" val="10004"/>
                  </a:ext>
                </a:extLst>
              </a:tr>
            </a:tbl>
          </a:graphicData>
        </a:graphic>
      </p:graphicFrame>
      <p:sp>
        <p:nvSpPr>
          <p:cNvPr id="6" name="Shape 3"/>
          <p:cNvSpPr/>
          <p:nvPr/>
        </p:nvSpPr>
        <p:spPr>
          <a:xfrm>
            <a:off x="566928" y="5541264"/>
            <a:ext cx="11057839" cy="512064"/>
          </a:xfrm>
          <a:prstGeom prst="roundRect">
            <a:avLst>
              <a:gd name="adj" fmla="val 14286"/>
            </a:avLst>
          </a:prstGeom>
          <a:solidFill>
            <a:srgbClr val="12141C"/>
          </a:solidFill>
          <a:ln/>
        </p:spPr>
        <p:txBody>
          <a:bodyPr/>
          <a:lstStyle/>
          <a:p>
            <a:endParaRPr lang="en-US"/>
          </a:p>
        </p:txBody>
      </p:sp>
      <p:pic>
        <p:nvPicPr>
          <p:cNvPr id="7" name="Image 0" descr="/home/claude/icons/FaFilter_w.png"/>
          <p:cNvPicPr>
            <a:picLocks noChangeAspect="1"/>
          </p:cNvPicPr>
          <p:nvPr/>
        </p:nvPicPr>
        <p:blipFill>
          <a:blip r:embed="rId3"/>
          <a:stretch>
            <a:fillRect/>
          </a:stretch>
        </p:blipFill>
        <p:spPr>
          <a:xfrm>
            <a:off x="768096" y="5682996"/>
            <a:ext cx="228600" cy="228600"/>
          </a:xfrm>
          <a:prstGeom prst="rect">
            <a:avLst/>
          </a:prstGeom>
        </p:spPr>
      </p:pic>
      <p:sp>
        <p:nvSpPr>
          <p:cNvPr id="8" name="Text 4"/>
          <p:cNvSpPr/>
          <p:nvPr/>
        </p:nvSpPr>
        <p:spPr>
          <a:xfrm>
            <a:off x="1133856" y="5541264"/>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The distinction the exam tests: spraying varies the ACCOUNT and keeps the password fixed; stuffing reuses a known valid PAIR taken from somewhere else.</a:t>
            </a:r>
            <a:endParaRPr lang="en-US" sz="1150"/>
          </a:p>
        </p:txBody>
      </p:sp>
      <p:sp>
        <p:nvSpPr>
          <p:cNvPr id="9" name="Text 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10" name="Text 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21</a:t>
            </a:r>
            <a:endParaRPr lang="en-US" sz="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1.2.B  ·  MECHANISM</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Why one stolen password unlocks several accounts</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Credential reuse turns a breach of a low-value site into a compromise of a high-value one.</a:t>
            </a:r>
            <a:endParaRPr lang="en-US" sz="1400"/>
          </a:p>
        </p:txBody>
      </p:sp>
      <p:sp>
        <p:nvSpPr>
          <p:cNvPr id="5" name="Shape 3"/>
          <p:cNvSpPr/>
          <p:nvPr/>
        </p:nvSpPr>
        <p:spPr>
          <a:xfrm>
            <a:off x="566928" y="1965960"/>
            <a:ext cx="2606040" cy="1920240"/>
          </a:xfrm>
          <a:prstGeom prst="roundRect">
            <a:avLst>
              <a:gd name="adj" fmla="val 4286"/>
            </a:avLst>
          </a:prstGeom>
          <a:solidFill>
            <a:srgbClr val="F2F4F8"/>
          </a:solidFill>
          <a:ln/>
        </p:spPr>
        <p:txBody>
          <a:bodyPr/>
          <a:lstStyle/>
          <a:p>
            <a:endParaRPr lang="en-US"/>
          </a:p>
        </p:txBody>
      </p:sp>
      <p:sp>
        <p:nvSpPr>
          <p:cNvPr id="6" name="Shape 4"/>
          <p:cNvSpPr/>
          <p:nvPr/>
        </p:nvSpPr>
        <p:spPr>
          <a:xfrm>
            <a:off x="786384" y="2176272"/>
            <a:ext cx="457200" cy="457200"/>
          </a:xfrm>
          <a:prstGeom prst="ellipse">
            <a:avLst/>
          </a:prstGeom>
          <a:solidFill>
            <a:srgbClr val="9AA3B2"/>
          </a:solidFill>
          <a:ln/>
        </p:spPr>
        <p:txBody>
          <a:bodyPr/>
          <a:lstStyle/>
          <a:p>
            <a:endParaRPr lang="en-US"/>
          </a:p>
        </p:txBody>
      </p:sp>
      <p:pic>
        <p:nvPicPr>
          <p:cNvPr id="7" name="Image 0" descr="/home/claude/icons/FaDatabase_w.png"/>
          <p:cNvPicPr>
            <a:picLocks noChangeAspect="1"/>
          </p:cNvPicPr>
          <p:nvPr/>
        </p:nvPicPr>
        <p:blipFill>
          <a:blip r:embed="rId3"/>
          <a:stretch>
            <a:fillRect/>
          </a:stretch>
        </p:blipFill>
        <p:spPr>
          <a:xfrm>
            <a:off x="905256" y="2295144"/>
            <a:ext cx="219456" cy="219456"/>
          </a:xfrm>
          <a:prstGeom prst="rect">
            <a:avLst/>
          </a:prstGeom>
        </p:spPr>
      </p:pic>
      <p:sp>
        <p:nvSpPr>
          <p:cNvPr id="8" name="Text 5"/>
          <p:cNvSpPr/>
          <p:nvPr/>
        </p:nvSpPr>
        <p:spPr>
          <a:xfrm>
            <a:off x="786384" y="2724912"/>
            <a:ext cx="21945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1 · Breach</a:t>
            </a:r>
            <a:endParaRPr lang="en-US" sz="1200"/>
          </a:p>
        </p:txBody>
      </p:sp>
      <p:sp>
        <p:nvSpPr>
          <p:cNvPr id="9" name="Text 6"/>
          <p:cNvSpPr/>
          <p:nvPr/>
        </p:nvSpPr>
        <p:spPr>
          <a:xfrm>
            <a:off x="786384" y="2999232"/>
            <a:ext cx="2212848" cy="7772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A small game or forum site is breached. Its user table is copied.</a:t>
            </a:r>
            <a:endParaRPr lang="en-US" sz="1030"/>
          </a:p>
        </p:txBody>
      </p:sp>
      <p:sp>
        <p:nvSpPr>
          <p:cNvPr id="10" name="Shape 7"/>
          <p:cNvSpPr/>
          <p:nvPr/>
        </p:nvSpPr>
        <p:spPr>
          <a:xfrm rot="5400000">
            <a:off x="3218688" y="2788920"/>
            <a:ext cx="128016" cy="146304"/>
          </a:xfrm>
          <a:prstGeom prst="triangle">
            <a:avLst/>
          </a:prstGeom>
          <a:solidFill>
            <a:srgbClr val="9AA3B2"/>
          </a:solidFill>
          <a:ln/>
        </p:spPr>
        <p:txBody>
          <a:bodyPr/>
          <a:lstStyle/>
          <a:p>
            <a:endParaRPr lang="en-US"/>
          </a:p>
        </p:txBody>
      </p:sp>
      <p:sp>
        <p:nvSpPr>
          <p:cNvPr id="11" name="Shape 8"/>
          <p:cNvSpPr/>
          <p:nvPr/>
        </p:nvSpPr>
        <p:spPr>
          <a:xfrm>
            <a:off x="3401568" y="1965960"/>
            <a:ext cx="2606040" cy="1920240"/>
          </a:xfrm>
          <a:prstGeom prst="roundRect">
            <a:avLst>
              <a:gd name="adj" fmla="val 4286"/>
            </a:avLst>
          </a:prstGeom>
          <a:solidFill>
            <a:srgbClr val="F2F4F8"/>
          </a:solidFill>
          <a:ln/>
        </p:spPr>
        <p:txBody>
          <a:bodyPr/>
          <a:lstStyle/>
          <a:p>
            <a:endParaRPr lang="en-US"/>
          </a:p>
        </p:txBody>
      </p:sp>
      <p:sp>
        <p:nvSpPr>
          <p:cNvPr id="12" name="Shape 9"/>
          <p:cNvSpPr/>
          <p:nvPr/>
        </p:nvSpPr>
        <p:spPr>
          <a:xfrm>
            <a:off x="3621024" y="2176272"/>
            <a:ext cx="457200" cy="457200"/>
          </a:xfrm>
          <a:prstGeom prst="ellipse">
            <a:avLst/>
          </a:prstGeom>
          <a:solidFill>
            <a:srgbClr val="F2A03D"/>
          </a:solidFill>
          <a:ln/>
        </p:spPr>
        <p:txBody>
          <a:bodyPr/>
          <a:lstStyle/>
          <a:p>
            <a:endParaRPr lang="en-US"/>
          </a:p>
        </p:txBody>
      </p:sp>
      <p:pic>
        <p:nvPicPr>
          <p:cNvPr id="13" name="Image 1" descr="/home/claude/icons/FaListCheck_w.png"/>
          <p:cNvPicPr>
            <a:picLocks noChangeAspect="1"/>
          </p:cNvPicPr>
          <p:nvPr/>
        </p:nvPicPr>
        <p:blipFill>
          <a:blip r:embed="rId4"/>
          <a:stretch>
            <a:fillRect/>
          </a:stretch>
        </p:blipFill>
        <p:spPr>
          <a:xfrm>
            <a:off x="3739896" y="2295144"/>
            <a:ext cx="219456" cy="219456"/>
          </a:xfrm>
          <a:prstGeom prst="rect">
            <a:avLst/>
          </a:prstGeom>
        </p:spPr>
      </p:pic>
      <p:sp>
        <p:nvSpPr>
          <p:cNvPr id="14" name="Text 10"/>
          <p:cNvSpPr/>
          <p:nvPr/>
        </p:nvSpPr>
        <p:spPr>
          <a:xfrm>
            <a:off x="3621024" y="2724912"/>
            <a:ext cx="21945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2 · Compile</a:t>
            </a:r>
            <a:endParaRPr lang="en-US" sz="1200"/>
          </a:p>
        </p:txBody>
      </p:sp>
      <p:sp>
        <p:nvSpPr>
          <p:cNvPr id="15" name="Text 11"/>
          <p:cNvSpPr/>
          <p:nvPr/>
        </p:nvSpPr>
        <p:spPr>
          <a:xfrm>
            <a:off x="3621024" y="2999232"/>
            <a:ext cx="2212848" cy="7772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Email-and-password pairs are collected, cleaned, and sold or shared.</a:t>
            </a:r>
            <a:endParaRPr lang="en-US" sz="1030"/>
          </a:p>
        </p:txBody>
      </p:sp>
      <p:sp>
        <p:nvSpPr>
          <p:cNvPr id="16" name="Shape 12"/>
          <p:cNvSpPr/>
          <p:nvPr/>
        </p:nvSpPr>
        <p:spPr>
          <a:xfrm rot="5400000">
            <a:off x="6053328" y="2788920"/>
            <a:ext cx="128016" cy="146304"/>
          </a:xfrm>
          <a:prstGeom prst="triangle">
            <a:avLst/>
          </a:prstGeom>
          <a:solidFill>
            <a:srgbClr val="9AA3B2"/>
          </a:solidFill>
          <a:ln/>
        </p:spPr>
        <p:txBody>
          <a:bodyPr/>
          <a:lstStyle/>
          <a:p>
            <a:endParaRPr lang="en-US"/>
          </a:p>
        </p:txBody>
      </p:sp>
      <p:sp>
        <p:nvSpPr>
          <p:cNvPr id="17" name="Shape 13"/>
          <p:cNvSpPr/>
          <p:nvPr/>
        </p:nvSpPr>
        <p:spPr>
          <a:xfrm>
            <a:off x="6236208" y="1965960"/>
            <a:ext cx="2606040" cy="1920240"/>
          </a:xfrm>
          <a:prstGeom prst="roundRect">
            <a:avLst>
              <a:gd name="adj" fmla="val 4286"/>
            </a:avLst>
          </a:prstGeom>
          <a:solidFill>
            <a:srgbClr val="F2F4F8"/>
          </a:solidFill>
          <a:ln/>
        </p:spPr>
        <p:txBody>
          <a:bodyPr/>
          <a:lstStyle/>
          <a:p>
            <a:endParaRPr lang="en-US"/>
          </a:p>
        </p:txBody>
      </p:sp>
      <p:sp>
        <p:nvSpPr>
          <p:cNvPr id="18" name="Shape 14"/>
          <p:cNvSpPr/>
          <p:nvPr/>
        </p:nvSpPr>
        <p:spPr>
          <a:xfrm>
            <a:off x="6455664" y="2176272"/>
            <a:ext cx="457200" cy="457200"/>
          </a:xfrm>
          <a:prstGeom prst="ellipse">
            <a:avLst/>
          </a:prstGeom>
          <a:solidFill>
            <a:srgbClr val="F2A03D"/>
          </a:solidFill>
          <a:ln/>
        </p:spPr>
        <p:txBody>
          <a:bodyPr/>
          <a:lstStyle/>
          <a:p>
            <a:endParaRPr lang="en-US"/>
          </a:p>
        </p:txBody>
      </p:sp>
      <p:pic>
        <p:nvPicPr>
          <p:cNvPr id="19" name="Image 2" descr="/home/claude/icons/FaArrowsSpin_w.png"/>
          <p:cNvPicPr>
            <a:picLocks noChangeAspect="1"/>
          </p:cNvPicPr>
          <p:nvPr/>
        </p:nvPicPr>
        <p:blipFill>
          <a:blip r:embed="rId5"/>
          <a:stretch>
            <a:fillRect/>
          </a:stretch>
        </p:blipFill>
        <p:spPr>
          <a:xfrm>
            <a:off x="6574536" y="2295144"/>
            <a:ext cx="219456" cy="219456"/>
          </a:xfrm>
          <a:prstGeom prst="rect">
            <a:avLst/>
          </a:prstGeom>
        </p:spPr>
      </p:pic>
      <p:sp>
        <p:nvSpPr>
          <p:cNvPr id="20" name="Text 15"/>
          <p:cNvSpPr/>
          <p:nvPr/>
        </p:nvSpPr>
        <p:spPr>
          <a:xfrm>
            <a:off x="6455664" y="2724912"/>
            <a:ext cx="21945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3 · Stuff</a:t>
            </a:r>
            <a:endParaRPr lang="en-US" sz="1200"/>
          </a:p>
        </p:txBody>
      </p:sp>
      <p:sp>
        <p:nvSpPr>
          <p:cNvPr id="21" name="Text 16"/>
          <p:cNvSpPr/>
          <p:nvPr/>
        </p:nvSpPr>
        <p:spPr>
          <a:xfrm>
            <a:off x="6455664" y="2999232"/>
            <a:ext cx="2212848" cy="7772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Automated tools submit those exact pairs to banks, email, and school portals.</a:t>
            </a:r>
            <a:endParaRPr lang="en-US" sz="1030"/>
          </a:p>
        </p:txBody>
      </p:sp>
      <p:sp>
        <p:nvSpPr>
          <p:cNvPr id="22" name="Shape 17"/>
          <p:cNvSpPr/>
          <p:nvPr/>
        </p:nvSpPr>
        <p:spPr>
          <a:xfrm rot="5400000">
            <a:off x="8887968" y="2788920"/>
            <a:ext cx="128016" cy="146304"/>
          </a:xfrm>
          <a:prstGeom prst="triangle">
            <a:avLst/>
          </a:prstGeom>
          <a:solidFill>
            <a:srgbClr val="9AA3B2"/>
          </a:solidFill>
          <a:ln/>
        </p:spPr>
        <p:txBody>
          <a:bodyPr/>
          <a:lstStyle/>
          <a:p>
            <a:endParaRPr lang="en-US"/>
          </a:p>
        </p:txBody>
      </p:sp>
      <p:sp>
        <p:nvSpPr>
          <p:cNvPr id="23" name="Shape 18"/>
          <p:cNvSpPr/>
          <p:nvPr/>
        </p:nvSpPr>
        <p:spPr>
          <a:xfrm>
            <a:off x="9070848" y="1965960"/>
            <a:ext cx="2606040" cy="1920240"/>
          </a:xfrm>
          <a:prstGeom prst="roundRect">
            <a:avLst>
              <a:gd name="adj" fmla="val 4286"/>
            </a:avLst>
          </a:prstGeom>
          <a:solidFill>
            <a:srgbClr val="F2F4F8"/>
          </a:solidFill>
          <a:ln/>
        </p:spPr>
        <p:txBody>
          <a:bodyPr/>
          <a:lstStyle/>
          <a:p>
            <a:endParaRPr lang="en-US"/>
          </a:p>
        </p:txBody>
      </p:sp>
      <p:sp>
        <p:nvSpPr>
          <p:cNvPr id="24" name="Shape 19"/>
          <p:cNvSpPr/>
          <p:nvPr/>
        </p:nvSpPr>
        <p:spPr>
          <a:xfrm>
            <a:off x="9290304" y="2176272"/>
            <a:ext cx="457200" cy="457200"/>
          </a:xfrm>
          <a:prstGeom prst="ellipse">
            <a:avLst/>
          </a:prstGeom>
          <a:solidFill>
            <a:srgbClr val="D9483F"/>
          </a:solidFill>
          <a:ln/>
        </p:spPr>
        <p:txBody>
          <a:bodyPr/>
          <a:lstStyle/>
          <a:p>
            <a:endParaRPr lang="en-US"/>
          </a:p>
        </p:txBody>
      </p:sp>
      <p:pic>
        <p:nvPicPr>
          <p:cNvPr id="25" name="Image 3" descr="/home/claude/icons/FaLockOpen_w.png"/>
          <p:cNvPicPr>
            <a:picLocks noChangeAspect="1"/>
          </p:cNvPicPr>
          <p:nvPr/>
        </p:nvPicPr>
        <p:blipFill>
          <a:blip r:embed="rId6"/>
          <a:stretch>
            <a:fillRect/>
          </a:stretch>
        </p:blipFill>
        <p:spPr>
          <a:xfrm>
            <a:off x="9409176" y="2295144"/>
            <a:ext cx="219456" cy="219456"/>
          </a:xfrm>
          <a:prstGeom prst="rect">
            <a:avLst/>
          </a:prstGeom>
        </p:spPr>
      </p:pic>
      <p:sp>
        <p:nvSpPr>
          <p:cNvPr id="26" name="Text 20"/>
          <p:cNvSpPr/>
          <p:nvPr/>
        </p:nvSpPr>
        <p:spPr>
          <a:xfrm>
            <a:off x="9290304" y="2724912"/>
            <a:ext cx="21945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4 · Access</a:t>
            </a:r>
            <a:endParaRPr lang="en-US" sz="1200"/>
          </a:p>
        </p:txBody>
      </p:sp>
      <p:sp>
        <p:nvSpPr>
          <p:cNvPr id="27" name="Text 21"/>
          <p:cNvSpPr/>
          <p:nvPr/>
        </p:nvSpPr>
        <p:spPr>
          <a:xfrm>
            <a:off x="9290304" y="2999232"/>
            <a:ext cx="2212848" cy="7772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Wherever the person reused the password, the login simply succeeds.</a:t>
            </a:r>
            <a:endParaRPr lang="en-US" sz="1030"/>
          </a:p>
        </p:txBody>
      </p:sp>
      <p:sp>
        <p:nvSpPr>
          <p:cNvPr id="28" name="Shape 22"/>
          <p:cNvSpPr/>
          <p:nvPr/>
        </p:nvSpPr>
        <p:spPr>
          <a:xfrm>
            <a:off x="566928" y="4069080"/>
            <a:ext cx="5486400" cy="1463040"/>
          </a:xfrm>
          <a:prstGeom prst="roundRect">
            <a:avLst>
              <a:gd name="adj" fmla="val 5625"/>
            </a:avLst>
          </a:prstGeom>
          <a:solidFill>
            <a:srgbClr val="FBECEA"/>
          </a:solidFill>
          <a:ln/>
        </p:spPr>
        <p:txBody>
          <a:bodyPr/>
          <a:lstStyle/>
          <a:p>
            <a:endParaRPr lang="en-US"/>
          </a:p>
        </p:txBody>
      </p:sp>
      <p:sp>
        <p:nvSpPr>
          <p:cNvPr id="29" name="Shape 23"/>
          <p:cNvSpPr/>
          <p:nvPr/>
        </p:nvSpPr>
        <p:spPr>
          <a:xfrm>
            <a:off x="822960" y="4279392"/>
            <a:ext cx="420624" cy="420624"/>
          </a:xfrm>
          <a:prstGeom prst="ellipse">
            <a:avLst/>
          </a:prstGeom>
          <a:solidFill>
            <a:srgbClr val="D9483F"/>
          </a:solidFill>
          <a:ln/>
        </p:spPr>
        <p:txBody>
          <a:bodyPr/>
          <a:lstStyle/>
          <a:p>
            <a:endParaRPr lang="en-US"/>
          </a:p>
        </p:txBody>
      </p:sp>
      <p:pic>
        <p:nvPicPr>
          <p:cNvPr id="30" name="Image 4" descr="/home/claude/icons/FaTriangleExclamation_w.png"/>
          <p:cNvPicPr>
            <a:picLocks noChangeAspect="1"/>
          </p:cNvPicPr>
          <p:nvPr/>
        </p:nvPicPr>
        <p:blipFill>
          <a:blip r:embed="rId7"/>
          <a:stretch>
            <a:fillRect/>
          </a:stretch>
        </p:blipFill>
        <p:spPr>
          <a:xfrm>
            <a:off x="932322" y="4388754"/>
            <a:ext cx="201900" cy="201900"/>
          </a:xfrm>
          <a:prstGeom prst="rect">
            <a:avLst/>
          </a:prstGeom>
        </p:spPr>
      </p:pic>
      <p:sp>
        <p:nvSpPr>
          <p:cNvPr id="31" name="Text 24"/>
          <p:cNvSpPr/>
          <p:nvPr/>
        </p:nvSpPr>
        <p:spPr>
          <a:xfrm>
            <a:off x="1389888" y="4279392"/>
            <a:ext cx="411480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Patterns adversaries count on</a:t>
            </a:r>
            <a:endParaRPr lang="en-US" sz="1200"/>
          </a:p>
        </p:txBody>
      </p:sp>
      <p:sp>
        <p:nvSpPr>
          <p:cNvPr id="32" name="Text 25"/>
          <p:cNvSpPr/>
          <p:nvPr/>
        </p:nvSpPr>
        <p:spPr>
          <a:xfrm>
            <a:off x="822960" y="4791456"/>
            <a:ext cx="5029200" cy="658368"/>
          </a:xfrm>
          <a:prstGeom prst="rect">
            <a:avLst/>
          </a:prstGeom>
          <a:noFill/>
          <a:ln/>
        </p:spPr>
        <p:txBody>
          <a:bodyPr wrap="square" lIns="0" tIns="0" rIns="0" bIns="0" rtlCol="0" anchor="t"/>
          <a:lstStyle/>
          <a:p>
            <a:pPr marL="177800" indent="-177800">
              <a:lnSpc>
                <a:spcPts val="1650"/>
              </a:lnSpc>
              <a:spcAft>
                <a:spcPts val="300"/>
              </a:spcAft>
              <a:buSzPct val="100000"/>
              <a:buChar char="▪"/>
            </a:pPr>
            <a:r>
              <a:rPr lang="en-US" sz="1030">
                <a:solidFill>
                  <a:srgbClr val="2B303C"/>
                </a:solidFill>
                <a:latin typeface="Calibri" pitchFamily="34" charset="0"/>
                <a:ea typeface="Calibri" pitchFamily="34" charset="-122"/>
                <a:cs typeface="Calibri" pitchFamily="34" charset="-120"/>
              </a:rPr>
              <a:t>A word or two, a two-digit year, a special character on the end.</a:t>
            </a:r>
            <a:endParaRPr lang="en-US" sz="1030"/>
          </a:p>
          <a:p>
            <a:pPr marL="177800" indent="-177800">
              <a:lnSpc>
                <a:spcPts val="1650"/>
              </a:lnSpc>
              <a:spcAft>
                <a:spcPts val="300"/>
              </a:spcAft>
              <a:buSzPct val="100000"/>
              <a:buChar char="▪"/>
            </a:pPr>
            <a:r>
              <a:rPr lang="en-US" sz="1030">
                <a:solidFill>
                  <a:srgbClr val="2B303C"/>
                </a:solidFill>
                <a:latin typeface="Calibri" pitchFamily="34" charset="0"/>
                <a:ea typeface="Calibri" pitchFamily="34" charset="-122"/>
                <a:cs typeface="Calibri" pitchFamily="34" charset="-120"/>
              </a:rPr>
              <a:t>Names of family members or pets; personally significant dates.</a:t>
            </a:r>
            <a:endParaRPr lang="en-US" sz="1030"/>
          </a:p>
          <a:p>
            <a:pPr marL="177800" indent="-177800">
              <a:lnSpc>
                <a:spcPts val="1650"/>
              </a:lnSpc>
              <a:spcAft>
                <a:spcPts val="300"/>
              </a:spcAft>
              <a:buSzPct val="100000"/>
              <a:buChar char="▪"/>
            </a:pPr>
            <a:r>
              <a:rPr lang="en-US" sz="1030">
                <a:solidFill>
                  <a:srgbClr val="2B303C"/>
                </a:solidFill>
                <a:latin typeface="Calibri" pitchFamily="34" charset="0"/>
                <a:ea typeface="Calibri" pitchFamily="34" charset="-122"/>
                <a:cs typeface="Calibri" pitchFamily="34" charset="-120"/>
              </a:rPr>
              <a:t>The same password, or a small variation, on every account.</a:t>
            </a:r>
            <a:endParaRPr lang="en-US" sz="1030"/>
          </a:p>
        </p:txBody>
      </p:sp>
      <p:sp>
        <p:nvSpPr>
          <p:cNvPr id="33" name="Shape 26"/>
          <p:cNvSpPr/>
          <p:nvPr/>
        </p:nvSpPr>
        <p:spPr>
          <a:xfrm>
            <a:off x="6263640" y="4069080"/>
            <a:ext cx="5358384" cy="1463040"/>
          </a:xfrm>
          <a:prstGeom prst="roundRect">
            <a:avLst>
              <a:gd name="adj" fmla="val 5625"/>
            </a:avLst>
          </a:prstGeom>
          <a:solidFill>
            <a:srgbClr val="E6F5F3"/>
          </a:solidFill>
          <a:ln/>
        </p:spPr>
        <p:txBody>
          <a:bodyPr/>
          <a:lstStyle/>
          <a:p>
            <a:endParaRPr lang="en-US"/>
          </a:p>
        </p:txBody>
      </p:sp>
      <p:sp>
        <p:nvSpPr>
          <p:cNvPr id="34" name="Shape 27"/>
          <p:cNvSpPr/>
          <p:nvPr/>
        </p:nvSpPr>
        <p:spPr>
          <a:xfrm>
            <a:off x="6519672" y="4279392"/>
            <a:ext cx="420624" cy="420624"/>
          </a:xfrm>
          <a:prstGeom prst="ellipse">
            <a:avLst/>
          </a:prstGeom>
          <a:solidFill>
            <a:srgbClr val="1FA697"/>
          </a:solidFill>
          <a:ln/>
        </p:spPr>
        <p:txBody>
          <a:bodyPr/>
          <a:lstStyle/>
          <a:p>
            <a:endParaRPr lang="en-US"/>
          </a:p>
        </p:txBody>
      </p:sp>
      <p:pic>
        <p:nvPicPr>
          <p:cNvPr id="35" name="Image 5" descr="/home/claude/icons/FaCircleCheck_w.png"/>
          <p:cNvPicPr>
            <a:picLocks noChangeAspect="1"/>
          </p:cNvPicPr>
          <p:nvPr/>
        </p:nvPicPr>
        <p:blipFill>
          <a:blip r:embed="rId8"/>
          <a:stretch>
            <a:fillRect/>
          </a:stretch>
        </p:blipFill>
        <p:spPr>
          <a:xfrm>
            <a:off x="6629034" y="4388754"/>
            <a:ext cx="201900" cy="201900"/>
          </a:xfrm>
          <a:prstGeom prst="rect">
            <a:avLst/>
          </a:prstGeom>
        </p:spPr>
      </p:pic>
      <p:sp>
        <p:nvSpPr>
          <p:cNvPr id="36" name="Text 28"/>
          <p:cNvSpPr/>
          <p:nvPr/>
        </p:nvSpPr>
        <p:spPr>
          <a:xfrm>
            <a:off x="7086600" y="4279392"/>
            <a:ext cx="411480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Why uniqueness is the whole defence</a:t>
            </a:r>
            <a:endParaRPr lang="en-US" sz="1200"/>
          </a:p>
        </p:txBody>
      </p:sp>
      <p:sp>
        <p:nvSpPr>
          <p:cNvPr id="37" name="Text 29"/>
          <p:cNvSpPr/>
          <p:nvPr/>
        </p:nvSpPr>
        <p:spPr>
          <a:xfrm>
            <a:off x="6519672" y="4754880"/>
            <a:ext cx="4846320" cy="73152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If every account has a different password, a breach anywhere is contained to that one service. Reuse is what converts someone else's security failure into your problem. This is the argument for a password manager: it makes uniqueness practical rather than heroic.</a:t>
            </a:r>
            <a:endParaRPr lang="en-US" sz="1050"/>
          </a:p>
        </p:txBody>
      </p:sp>
      <p:sp>
        <p:nvSpPr>
          <p:cNvPr id="38" name="Text 30"/>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9" name="Text 31"/>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22</a:t>
            </a:r>
            <a:endParaRPr lang="en-US" sz="9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1.2.A  ·  DETECTION</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The three signs of an online password attack</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Reading an authentication log is a Skill 3 habit — and the core of the AP free-response task.</a:t>
            </a:r>
            <a:endParaRPr lang="en-US" sz="1400"/>
          </a:p>
        </p:txBody>
      </p:sp>
      <p:sp>
        <p:nvSpPr>
          <p:cNvPr id="5" name="Shape 3"/>
          <p:cNvSpPr/>
          <p:nvPr/>
        </p:nvSpPr>
        <p:spPr>
          <a:xfrm>
            <a:off x="566928" y="1938528"/>
            <a:ext cx="3529584" cy="1298448"/>
          </a:xfrm>
          <a:prstGeom prst="roundRect">
            <a:avLst>
              <a:gd name="adj" fmla="val 6338"/>
            </a:avLst>
          </a:prstGeom>
          <a:solidFill>
            <a:srgbClr val="F2F4F8"/>
          </a:solidFill>
          <a:ln/>
        </p:spPr>
        <p:txBody>
          <a:bodyPr/>
          <a:lstStyle/>
          <a:p>
            <a:endParaRPr lang="en-US"/>
          </a:p>
        </p:txBody>
      </p:sp>
      <p:sp>
        <p:nvSpPr>
          <p:cNvPr id="6" name="Shape 4"/>
          <p:cNvSpPr/>
          <p:nvPr/>
        </p:nvSpPr>
        <p:spPr>
          <a:xfrm>
            <a:off x="804672" y="2121408"/>
            <a:ext cx="420624" cy="420624"/>
          </a:xfrm>
          <a:prstGeom prst="ellipse">
            <a:avLst/>
          </a:prstGeom>
          <a:solidFill>
            <a:srgbClr val="1FA697"/>
          </a:solidFill>
          <a:ln/>
        </p:spPr>
        <p:txBody>
          <a:bodyPr/>
          <a:lstStyle/>
          <a:p>
            <a:endParaRPr lang="en-US"/>
          </a:p>
        </p:txBody>
      </p:sp>
      <p:pic>
        <p:nvPicPr>
          <p:cNvPr id="7" name="Image 0" descr="/home/claude/icons/FaBolt_w.png"/>
          <p:cNvPicPr>
            <a:picLocks noChangeAspect="1"/>
          </p:cNvPicPr>
          <p:nvPr/>
        </p:nvPicPr>
        <p:blipFill>
          <a:blip r:embed="rId3"/>
          <a:stretch>
            <a:fillRect/>
          </a:stretch>
        </p:blipFill>
        <p:spPr>
          <a:xfrm>
            <a:off x="914034" y="2230770"/>
            <a:ext cx="201900" cy="201900"/>
          </a:xfrm>
          <a:prstGeom prst="rect">
            <a:avLst/>
          </a:prstGeom>
        </p:spPr>
      </p:pic>
      <p:sp>
        <p:nvSpPr>
          <p:cNvPr id="8" name="Text 5"/>
          <p:cNvSpPr/>
          <p:nvPr/>
        </p:nvSpPr>
        <p:spPr>
          <a:xfrm>
            <a:off x="1335024" y="2139696"/>
            <a:ext cx="2651760" cy="256032"/>
          </a:xfrm>
          <a:prstGeom prst="rect">
            <a:avLst/>
          </a:prstGeom>
          <a:noFill/>
          <a:ln/>
        </p:spPr>
        <p:txBody>
          <a:bodyPr wrap="square" lIns="0" tIns="0" rIns="0" bIns="0" rtlCol="0" anchor="ctr"/>
          <a:lstStyle/>
          <a:p>
            <a:pPr marL="0" indent="0">
              <a:buNone/>
            </a:pPr>
            <a:r>
              <a:rPr lang="en-US" sz="1150" b="1">
                <a:solidFill>
                  <a:srgbClr val="12141C"/>
                </a:solidFill>
                <a:latin typeface="Calibri" pitchFamily="34" charset="0"/>
                <a:ea typeface="Calibri" pitchFamily="34" charset="-122"/>
                <a:cs typeface="Calibri" pitchFamily="34" charset="-120"/>
              </a:rPr>
              <a:t>Many failed attempts, fast</a:t>
            </a:r>
            <a:endParaRPr lang="en-US" sz="1150"/>
          </a:p>
        </p:txBody>
      </p:sp>
      <p:sp>
        <p:nvSpPr>
          <p:cNvPr id="9" name="Text 6"/>
          <p:cNvSpPr/>
          <p:nvPr/>
        </p:nvSpPr>
        <p:spPr>
          <a:xfrm>
            <a:off x="804672" y="2651760"/>
            <a:ext cx="3108960" cy="502920"/>
          </a:xfrm>
          <a:prstGeom prst="rect">
            <a:avLst/>
          </a:prstGeom>
          <a:noFill/>
          <a:ln/>
        </p:spPr>
        <p:txBody>
          <a:bodyPr wrap="square" lIns="0" tIns="0" rIns="0" bIns="0" rtlCol="0" anchor="t"/>
          <a:lstStyle/>
          <a:p>
            <a:pPr marL="0" indent="0">
              <a:lnSpc>
                <a:spcPts val="1300"/>
              </a:lnSpc>
              <a:buNone/>
            </a:pPr>
            <a:r>
              <a:rPr lang="en-US" sz="1000">
                <a:solidFill>
                  <a:srgbClr val="6B7280"/>
                </a:solidFill>
                <a:latin typeface="Calibri" pitchFamily="34" charset="0"/>
                <a:ea typeface="Calibri" pitchFamily="34" charset="-122"/>
                <a:cs typeface="Calibri" pitchFamily="34" charset="-120"/>
              </a:rPr>
              <a:t>A burst of failures against one account points at brute force or a dictionary attack.</a:t>
            </a:r>
            <a:endParaRPr lang="en-US" sz="1000"/>
          </a:p>
        </p:txBody>
      </p:sp>
      <p:sp>
        <p:nvSpPr>
          <p:cNvPr id="10" name="Shape 7"/>
          <p:cNvSpPr/>
          <p:nvPr/>
        </p:nvSpPr>
        <p:spPr>
          <a:xfrm>
            <a:off x="4325112" y="1938528"/>
            <a:ext cx="3529584" cy="1298448"/>
          </a:xfrm>
          <a:prstGeom prst="roundRect">
            <a:avLst>
              <a:gd name="adj" fmla="val 6338"/>
            </a:avLst>
          </a:prstGeom>
          <a:solidFill>
            <a:srgbClr val="F2F4F8"/>
          </a:solidFill>
          <a:ln/>
        </p:spPr>
        <p:txBody>
          <a:bodyPr/>
          <a:lstStyle/>
          <a:p>
            <a:endParaRPr lang="en-US"/>
          </a:p>
        </p:txBody>
      </p:sp>
      <p:sp>
        <p:nvSpPr>
          <p:cNvPr id="11" name="Shape 8"/>
          <p:cNvSpPr/>
          <p:nvPr/>
        </p:nvSpPr>
        <p:spPr>
          <a:xfrm>
            <a:off x="4562856" y="2121408"/>
            <a:ext cx="420624" cy="420624"/>
          </a:xfrm>
          <a:prstGeom prst="ellipse">
            <a:avLst/>
          </a:prstGeom>
          <a:solidFill>
            <a:srgbClr val="1FA697"/>
          </a:solidFill>
          <a:ln/>
        </p:spPr>
        <p:txBody>
          <a:bodyPr/>
          <a:lstStyle/>
          <a:p>
            <a:endParaRPr lang="en-US"/>
          </a:p>
        </p:txBody>
      </p:sp>
      <p:pic>
        <p:nvPicPr>
          <p:cNvPr id="12" name="Image 1" descr="/home/claude/icons/FaClock_w.png"/>
          <p:cNvPicPr>
            <a:picLocks noChangeAspect="1"/>
          </p:cNvPicPr>
          <p:nvPr/>
        </p:nvPicPr>
        <p:blipFill>
          <a:blip r:embed="rId4"/>
          <a:stretch>
            <a:fillRect/>
          </a:stretch>
        </p:blipFill>
        <p:spPr>
          <a:xfrm>
            <a:off x="4672218" y="2230770"/>
            <a:ext cx="201900" cy="201900"/>
          </a:xfrm>
          <a:prstGeom prst="rect">
            <a:avLst/>
          </a:prstGeom>
        </p:spPr>
      </p:pic>
      <p:sp>
        <p:nvSpPr>
          <p:cNvPr id="13" name="Text 9"/>
          <p:cNvSpPr/>
          <p:nvPr/>
        </p:nvSpPr>
        <p:spPr>
          <a:xfrm>
            <a:off x="5093208" y="2139696"/>
            <a:ext cx="2651760" cy="256032"/>
          </a:xfrm>
          <a:prstGeom prst="rect">
            <a:avLst/>
          </a:prstGeom>
          <a:noFill/>
          <a:ln/>
        </p:spPr>
        <p:txBody>
          <a:bodyPr wrap="square" lIns="0" tIns="0" rIns="0" bIns="0" rtlCol="0" anchor="ctr"/>
          <a:lstStyle/>
          <a:p>
            <a:pPr marL="0" indent="0">
              <a:buNone/>
            </a:pPr>
            <a:r>
              <a:rPr lang="en-US" sz="1150" b="1">
                <a:solidFill>
                  <a:srgbClr val="12141C"/>
                </a:solidFill>
                <a:latin typeface="Calibri" pitchFamily="34" charset="0"/>
                <a:ea typeface="Calibri" pitchFamily="34" charset="-122"/>
                <a:cs typeface="Calibri" pitchFamily="34" charset="-120"/>
              </a:rPr>
              <a:t>Attempts at unusual times</a:t>
            </a:r>
            <a:endParaRPr lang="en-US" sz="1150"/>
          </a:p>
        </p:txBody>
      </p:sp>
      <p:sp>
        <p:nvSpPr>
          <p:cNvPr id="14" name="Text 10"/>
          <p:cNvSpPr/>
          <p:nvPr/>
        </p:nvSpPr>
        <p:spPr>
          <a:xfrm>
            <a:off x="4562856" y="2651760"/>
            <a:ext cx="3108960" cy="502920"/>
          </a:xfrm>
          <a:prstGeom prst="rect">
            <a:avLst/>
          </a:prstGeom>
          <a:noFill/>
          <a:ln/>
        </p:spPr>
        <p:txBody>
          <a:bodyPr wrap="square" lIns="0" tIns="0" rIns="0" bIns="0" rtlCol="0" anchor="t"/>
          <a:lstStyle/>
          <a:p>
            <a:pPr marL="0" indent="0">
              <a:lnSpc>
                <a:spcPts val="1300"/>
              </a:lnSpc>
              <a:buNone/>
            </a:pPr>
            <a:r>
              <a:rPr lang="en-US" sz="1000">
                <a:solidFill>
                  <a:srgbClr val="6B7280"/>
                </a:solidFill>
                <a:latin typeface="Calibri" pitchFamily="34" charset="0"/>
                <a:ea typeface="Calibri" pitchFamily="34" charset="-122"/>
                <a:cs typeface="Calibri" pitchFamily="34" charset="-120"/>
              </a:rPr>
              <a:t>Activity at 03:00, or during school hours when the user is known to be in class.</a:t>
            </a:r>
            <a:endParaRPr lang="en-US" sz="1000"/>
          </a:p>
        </p:txBody>
      </p:sp>
      <p:sp>
        <p:nvSpPr>
          <p:cNvPr id="15" name="Shape 11"/>
          <p:cNvSpPr/>
          <p:nvPr/>
        </p:nvSpPr>
        <p:spPr>
          <a:xfrm>
            <a:off x="8083296" y="1938528"/>
            <a:ext cx="3529584" cy="1298448"/>
          </a:xfrm>
          <a:prstGeom prst="roundRect">
            <a:avLst>
              <a:gd name="adj" fmla="val 6338"/>
            </a:avLst>
          </a:prstGeom>
          <a:solidFill>
            <a:srgbClr val="F2F4F8"/>
          </a:solidFill>
          <a:ln/>
        </p:spPr>
        <p:txBody>
          <a:bodyPr/>
          <a:lstStyle/>
          <a:p>
            <a:endParaRPr lang="en-US"/>
          </a:p>
        </p:txBody>
      </p:sp>
      <p:sp>
        <p:nvSpPr>
          <p:cNvPr id="16" name="Shape 12"/>
          <p:cNvSpPr/>
          <p:nvPr/>
        </p:nvSpPr>
        <p:spPr>
          <a:xfrm>
            <a:off x="8321040" y="2121408"/>
            <a:ext cx="420624" cy="420624"/>
          </a:xfrm>
          <a:prstGeom prst="ellipse">
            <a:avLst/>
          </a:prstGeom>
          <a:solidFill>
            <a:srgbClr val="1FA697"/>
          </a:solidFill>
          <a:ln/>
        </p:spPr>
        <p:txBody>
          <a:bodyPr/>
          <a:lstStyle/>
          <a:p>
            <a:endParaRPr lang="en-US"/>
          </a:p>
        </p:txBody>
      </p:sp>
      <p:pic>
        <p:nvPicPr>
          <p:cNvPr id="17" name="Image 2" descr="/home/claude/icons/FaLaptop_w.png"/>
          <p:cNvPicPr>
            <a:picLocks noChangeAspect="1"/>
          </p:cNvPicPr>
          <p:nvPr/>
        </p:nvPicPr>
        <p:blipFill>
          <a:blip r:embed="rId5"/>
          <a:stretch>
            <a:fillRect/>
          </a:stretch>
        </p:blipFill>
        <p:spPr>
          <a:xfrm>
            <a:off x="8430402" y="2230770"/>
            <a:ext cx="201900" cy="201900"/>
          </a:xfrm>
          <a:prstGeom prst="rect">
            <a:avLst/>
          </a:prstGeom>
        </p:spPr>
      </p:pic>
      <p:sp>
        <p:nvSpPr>
          <p:cNvPr id="18" name="Text 13"/>
          <p:cNvSpPr/>
          <p:nvPr/>
        </p:nvSpPr>
        <p:spPr>
          <a:xfrm>
            <a:off x="8851392" y="2139696"/>
            <a:ext cx="2651760" cy="256032"/>
          </a:xfrm>
          <a:prstGeom prst="rect">
            <a:avLst/>
          </a:prstGeom>
          <a:noFill/>
          <a:ln/>
        </p:spPr>
        <p:txBody>
          <a:bodyPr wrap="square" lIns="0" tIns="0" rIns="0" bIns="0" rtlCol="0" anchor="ctr"/>
          <a:lstStyle/>
          <a:p>
            <a:pPr marL="0" indent="0">
              <a:buNone/>
            </a:pPr>
            <a:r>
              <a:rPr lang="en-US" sz="1150" b="1">
                <a:solidFill>
                  <a:srgbClr val="12141C"/>
                </a:solidFill>
                <a:latin typeface="Calibri" pitchFamily="34" charset="0"/>
                <a:ea typeface="Calibri" pitchFamily="34" charset="-122"/>
                <a:cs typeface="Calibri" pitchFamily="34" charset="-120"/>
              </a:rPr>
              <a:t>Attempts from unknown devices</a:t>
            </a:r>
            <a:endParaRPr lang="en-US" sz="1150"/>
          </a:p>
        </p:txBody>
      </p:sp>
      <p:sp>
        <p:nvSpPr>
          <p:cNvPr id="19" name="Text 14"/>
          <p:cNvSpPr/>
          <p:nvPr/>
        </p:nvSpPr>
        <p:spPr>
          <a:xfrm>
            <a:off x="8321040" y="2651760"/>
            <a:ext cx="3108960" cy="502920"/>
          </a:xfrm>
          <a:prstGeom prst="rect">
            <a:avLst/>
          </a:prstGeom>
          <a:noFill/>
          <a:ln/>
        </p:spPr>
        <p:txBody>
          <a:bodyPr wrap="square" lIns="0" tIns="0" rIns="0" bIns="0" rtlCol="0" anchor="t"/>
          <a:lstStyle/>
          <a:p>
            <a:pPr marL="0" indent="0">
              <a:lnSpc>
                <a:spcPts val="1300"/>
              </a:lnSpc>
              <a:buNone/>
            </a:pPr>
            <a:r>
              <a:rPr lang="en-US" sz="1000">
                <a:solidFill>
                  <a:srgbClr val="6B7280"/>
                </a:solidFill>
                <a:latin typeface="Calibri" pitchFamily="34" charset="0"/>
                <a:ea typeface="Calibri" pitchFamily="34" charset="-122"/>
                <a:cs typeface="Calibri" pitchFamily="34" charset="-120"/>
              </a:rPr>
              <a:t>An unfamiliar device, IP address, or geographic location appearing in the record.</a:t>
            </a:r>
            <a:endParaRPr lang="en-US" sz="1000"/>
          </a:p>
        </p:txBody>
      </p:sp>
      <p:sp>
        <p:nvSpPr>
          <p:cNvPr id="20" name="Shape 15"/>
          <p:cNvSpPr/>
          <p:nvPr/>
        </p:nvSpPr>
        <p:spPr>
          <a:xfrm>
            <a:off x="566928" y="3401568"/>
            <a:ext cx="11057839" cy="2084832"/>
          </a:xfrm>
          <a:prstGeom prst="roundRect">
            <a:avLst>
              <a:gd name="adj" fmla="val 3947"/>
            </a:avLst>
          </a:prstGeom>
          <a:solidFill>
            <a:srgbClr val="12141C"/>
          </a:solidFill>
          <a:ln/>
        </p:spPr>
        <p:txBody>
          <a:bodyPr/>
          <a:lstStyle/>
          <a:p>
            <a:endParaRPr lang="en-US"/>
          </a:p>
        </p:txBody>
      </p:sp>
      <p:sp>
        <p:nvSpPr>
          <p:cNvPr id="21" name="Text 16"/>
          <p:cNvSpPr/>
          <p:nvPr/>
        </p:nvSpPr>
        <p:spPr>
          <a:xfrm>
            <a:off x="841248" y="3529584"/>
            <a:ext cx="54864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AUTHENTICATION LOG  ·  WHAT TO LOOK FOR</a:t>
            </a:r>
            <a:endParaRPr lang="en-US" sz="900"/>
          </a:p>
        </p:txBody>
      </p:sp>
      <p:sp>
        <p:nvSpPr>
          <p:cNvPr id="22" name="Text 17"/>
          <p:cNvSpPr/>
          <p:nvPr/>
        </p:nvSpPr>
        <p:spPr>
          <a:xfrm>
            <a:off x="841248" y="3803904"/>
            <a:ext cx="4023360" cy="219456"/>
          </a:xfrm>
          <a:prstGeom prst="rect">
            <a:avLst/>
          </a:prstGeom>
          <a:noFill/>
          <a:ln/>
        </p:spPr>
        <p:txBody>
          <a:bodyPr wrap="square" lIns="0" tIns="0" rIns="0" bIns="0" rtlCol="0" anchor="ctr"/>
          <a:lstStyle/>
          <a:p>
            <a:pPr marL="0" indent="0">
              <a:buNone/>
            </a:pPr>
            <a:r>
              <a:rPr lang="en-US" sz="1050">
                <a:solidFill>
                  <a:srgbClr val="9AA3B2"/>
                </a:solidFill>
                <a:latin typeface="Courier New" pitchFamily="34" charset="0"/>
                <a:ea typeface="Courier New" pitchFamily="34" charset="-122"/>
                <a:cs typeface="Courier New" pitchFamily="34" charset="-120"/>
              </a:rPr>
              <a:t>09:14:02   user.j     FAILED</a:t>
            </a:r>
            <a:endParaRPr lang="en-US" sz="1050"/>
          </a:p>
        </p:txBody>
      </p:sp>
      <p:sp>
        <p:nvSpPr>
          <p:cNvPr id="23" name="Text 18"/>
          <p:cNvSpPr/>
          <p:nvPr/>
        </p:nvSpPr>
        <p:spPr>
          <a:xfrm>
            <a:off x="841248" y="4032504"/>
            <a:ext cx="4023360" cy="219456"/>
          </a:xfrm>
          <a:prstGeom prst="rect">
            <a:avLst/>
          </a:prstGeom>
          <a:noFill/>
          <a:ln/>
        </p:spPr>
        <p:txBody>
          <a:bodyPr wrap="square" lIns="0" tIns="0" rIns="0" bIns="0" rtlCol="0" anchor="ctr"/>
          <a:lstStyle/>
          <a:p>
            <a:pPr marL="0" indent="0">
              <a:buNone/>
            </a:pPr>
            <a:r>
              <a:rPr lang="en-US" sz="1050">
                <a:solidFill>
                  <a:srgbClr val="9AA3B2"/>
                </a:solidFill>
                <a:latin typeface="Courier New" pitchFamily="34" charset="0"/>
                <a:ea typeface="Courier New" pitchFamily="34" charset="-122"/>
                <a:cs typeface="Courier New" pitchFamily="34" charset="-120"/>
              </a:rPr>
              <a:t>09:14:03   user.j     FAILED</a:t>
            </a:r>
            <a:endParaRPr lang="en-US" sz="1050"/>
          </a:p>
        </p:txBody>
      </p:sp>
      <p:sp>
        <p:nvSpPr>
          <p:cNvPr id="24" name="Text 19"/>
          <p:cNvSpPr/>
          <p:nvPr/>
        </p:nvSpPr>
        <p:spPr>
          <a:xfrm>
            <a:off x="841248" y="4261104"/>
            <a:ext cx="4023360" cy="219456"/>
          </a:xfrm>
          <a:prstGeom prst="rect">
            <a:avLst/>
          </a:prstGeom>
          <a:noFill/>
          <a:ln/>
        </p:spPr>
        <p:txBody>
          <a:bodyPr wrap="square" lIns="0" tIns="0" rIns="0" bIns="0" rtlCol="0" anchor="ctr"/>
          <a:lstStyle/>
          <a:p>
            <a:pPr marL="0" indent="0">
              <a:buNone/>
            </a:pPr>
            <a:r>
              <a:rPr lang="en-US" sz="1050">
                <a:solidFill>
                  <a:srgbClr val="9AA3B2"/>
                </a:solidFill>
                <a:latin typeface="Courier New" pitchFamily="34" charset="0"/>
                <a:ea typeface="Courier New" pitchFamily="34" charset="-122"/>
                <a:cs typeface="Courier New" pitchFamily="34" charset="-120"/>
              </a:rPr>
              <a:t>09:14:05   user.j     FAILED</a:t>
            </a:r>
            <a:endParaRPr lang="en-US" sz="1050"/>
          </a:p>
        </p:txBody>
      </p:sp>
      <p:sp>
        <p:nvSpPr>
          <p:cNvPr id="25" name="Text 20"/>
          <p:cNvSpPr/>
          <p:nvPr/>
        </p:nvSpPr>
        <p:spPr>
          <a:xfrm>
            <a:off x="841248" y="4489704"/>
            <a:ext cx="4023360" cy="219456"/>
          </a:xfrm>
          <a:prstGeom prst="rect">
            <a:avLst/>
          </a:prstGeom>
          <a:noFill/>
          <a:ln/>
        </p:spPr>
        <p:txBody>
          <a:bodyPr wrap="square" lIns="0" tIns="0" rIns="0" bIns="0" rtlCol="0" anchor="ctr"/>
          <a:lstStyle/>
          <a:p>
            <a:pPr marL="0" indent="0">
              <a:buNone/>
            </a:pPr>
            <a:r>
              <a:rPr lang="en-US" sz="1050">
                <a:solidFill>
                  <a:srgbClr val="F2A03D"/>
                </a:solidFill>
                <a:latin typeface="Courier New" pitchFamily="34" charset="0"/>
                <a:ea typeface="Courier New" pitchFamily="34" charset="-122"/>
                <a:cs typeface="Courier New" pitchFamily="34" charset="-120"/>
              </a:rPr>
              <a:t>09:14:06   user.j     FAILED</a:t>
            </a:r>
            <a:endParaRPr lang="en-US" sz="1050"/>
          </a:p>
        </p:txBody>
      </p:sp>
      <p:sp>
        <p:nvSpPr>
          <p:cNvPr id="26" name="Text 21"/>
          <p:cNvSpPr/>
          <p:nvPr/>
        </p:nvSpPr>
        <p:spPr>
          <a:xfrm>
            <a:off x="841248" y="4718304"/>
            <a:ext cx="4023360" cy="219456"/>
          </a:xfrm>
          <a:prstGeom prst="rect">
            <a:avLst/>
          </a:prstGeom>
          <a:noFill/>
          <a:ln/>
        </p:spPr>
        <p:txBody>
          <a:bodyPr wrap="square" lIns="0" tIns="0" rIns="0" bIns="0" rtlCol="0" anchor="ctr"/>
          <a:lstStyle/>
          <a:p>
            <a:pPr marL="0" indent="0">
              <a:buNone/>
            </a:pPr>
            <a:r>
              <a:rPr lang="en-US" sz="1050">
                <a:solidFill>
                  <a:srgbClr val="D9483F"/>
                </a:solidFill>
                <a:latin typeface="Courier New" pitchFamily="34" charset="0"/>
                <a:ea typeface="Courier New" pitchFamily="34" charset="-122"/>
                <a:cs typeface="Courier New" pitchFamily="34" charset="-120"/>
              </a:rPr>
              <a:t>09:14:08   user.j     SUCCESS</a:t>
            </a:r>
            <a:endParaRPr lang="en-US" sz="1050"/>
          </a:p>
        </p:txBody>
      </p:sp>
      <p:sp>
        <p:nvSpPr>
          <p:cNvPr id="27" name="Text 22"/>
          <p:cNvSpPr/>
          <p:nvPr/>
        </p:nvSpPr>
        <p:spPr>
          <a:xfrm>
            <a:off x="841248" y="4946904"/>
            <a:ext cx="4023360" cy="219456"/>
          </a:xfrm>
          <a:prstGeom prst="rect">
            <a:avLst/>
          </a:prstGeom>
          <a:noFill/>
          <a:ln/>
        </p:spPr>
        <p:txBody>
          <a:bodyPr wrap="square" lIns="0" tIns="0" rIns="0" bIns="0" rtlCol="0" anchor="ctr"/>
          <a:lstStyle/>
          <a:p>
            <a:pPr marL="0" indent="0">
              <a:buNone/>
            </a:pPr>
            <a:r>
              <a:rPr lang="en-US" sz="1050">
                <a:solidFill>
                  <a:srgbClr val="F2A03D"/>
                </a:solidFill>
                <a:latin typeface="Courier New" pitchFamily="34" charset="0"/>
                <a:ea typeface="Courier New" pitchFamily="34" charset="-122"/>
                <a:cs typeface="Courier New" pitchFamily="34" charset="-120"/>
              </a:rPr>
              <a:t>09:15:41   user.j     MFA_DENIED</a:t>
            </a:r>
            <a:endParaRPr lang="en-US" sz="1050"/>
          </a:p>
        </p:txBody>
      </p:sp>
      <p:sp>
        <p:nvSpPr>
          <p:cNvPr id="28" name="Text 23"/>
          <p:cNvSpPr/>
          <p:nvPr/>
        </p:nvSpPr>
        <p:spPr>
          <a:xfrm>
            <a:off x="841248" y="5175504"/>
            <a:ext cx="4023360" cy="219456"/>
          </a:xfrm>
          <a:prstGeom prst="rect">
            <a:avLst/>
          </a:prstGeom>
          <a:noFill/>
          <a:ln/>
        </p:spPr>
        <p:txBody>
          <a:bodyPr wrap="square" lIns="0" tIns="0" rIns="0" bIns="0" rtlCol="0" anchor="ctr"/>
          <a:lstStyle/>
          <a:p>
            <a:pPr marL="0" indent="0">
              <a:buNone/>
            </a:pPr>
            <a:r>
              <a:rPr lang="en-US" sz="1050">
                <a:solidFill>
                  <a:srgbClr val="D9483F"/>
                </a:solidFill>
                <a:latin typeface="Courier New" pitchFamily="34" charset="0"/>
                <a:ea typeface="Courier New" pitchFamily="34" charset="-122"/>
                <a:cs typeface="Courier New" pitchFamily="34" charset="-120"/>
              </a:rPr>
              <a:t>09:16:02   user.j     PASSWORD_RESET</a:t>
            </a:r>
            <a:endParaRPr lang="en-US" sz="1050"/>
          </a:p>
        </p:txBody>
      </p:sp>
      <p:sp>
        <p:nvSpPr>
          <p:cNvPr id="29" name="Shape 24"/>
          <p:cNvSpPr/>
          <p:nvPr/>
        </p:nvSpPr>
        <p:spPr>
          <a:xfrm>
            <a:off x="5852160" y="3858768"/>
            <a:ext cx="146304" cy="146304"/>
          </a:xfrm>
          <a:prstGeom prst="ellipse">
            <a:avLst/>
          </a:prstGeom>
          <a:solidFill>
            <a:srgbClr val="1FA697"/>
          </a:solidFill>
          <a:ln/>
        </p:spPr>
        <p:txBody>
          <a:bodyPr/>
          <a:lstStyle/>
          <a:p>
            <a:endParaRPr lang="en-US"/>
          </a:p>
        </p:txBody>
      </p:sp>
      <p:sp>
        <p:nvSpPr>
          <p:cNvPr id="30" name="Text 25"/>
          <p:cNvSpPr/>
          <p:nvPr/>
        </p:nvSpPr>
        <p:spPr>
          <a:xfrm>
            <a:off x="6108192" y="3803904"/>
            <a:ext cx="5257800" cy="457200"/>
          </a:xfrm>
          <a:prstGeom prst="rect">
            <a:avLst/>
          </a:prstGeom>
          <a:noFill/>
          <a:ln/>
        </p:spPr>
        <p:txBody>
          <a:bodyPr wrap="square" lIns="0" tIns="0" rIns="0" bIns="0" rtlCol="0" anchor="t"/>
          <a:lstStyle/>
          <a:p>
            <a:pPr marL="0" indent="0">
              <a:lnSpc>
                <a:spcPts val="1320"/>
              </a:lnSpc>
              <a:buNone/>
            </a:pPr>
            <a:r>
              <a:rPr lang="en-US" sz="1020">
                <a:solidFill>
                  <a:srgbClr val="9AA3B2"/>
                </a:solidFill>
                <a:latin typeface="Calibri" pitchFamily="34" charset="0"/>
                <a:ea typeface="Calibri" pitchFamily="34" charset="-122"/>
                <a:cs typeface="Calibri" pitchFamily="34" charset="-120"/>
              </a:rPr>
              <a:t>Four failures in six seconds is machine speed, not a person mistyping.</a:t>
            </a:r>
            <a:endParaRPr lang="en-US" sz="1020"/>
          </a:p>
        </p:txBody>
      </p:sp>
      <p:sp>
        <p:nvSpPr>
          <p:cNvPr id="31" name="Shape 26"/>
          <p:cNvSpPr/>
          <p:nvPr/>
        </p:nvSpPr>
        <p:spPr>
          <a:xfrm>
            <a:off x="5852160" y="4370832"/>
            <a:ext cx="146304" cy="146304"/>
          </a:xfrm>
          <a:prstGeom prst="ellipse">
            <a:avLst/>
          </a:prstGeom>
          <a:solidFill>
            <a:srgbClr val="1FA697"/>
          </a:solidFill>
          <a:ln/>
        </p:spPr>
        <p:txBody>
          <a:bodyPr/>
          <a:lstStyle/>
          <a:p>
            <a:endParaRPr lang="en-US"/>
          </a:p>
        </p:txBody>
      </p:sp>
      <p:sp>
        <p:nvSpPr>
          <p:cNvPr id="32" name="Text 27"/>
          <p:cNvSpPr/>
          <p:nvPr/>
        </p:nvSpPr>
        <p:spPr>
          <a:xfrm>
            <a:off x="6108192" y="4315968"/>
            <a:ext cx="5257800" cy="457200"/>
          </a:xfrm>
          <a:prstGeom prst="rect">
            <a:avLst/>
          </a:prstGeom>
          <a:noFill/>
          <a:ln/>
        </p:spPr>
        <p:txBody>
          <a:bodyPr wrap="square" lIns="0" tIns="0" rIns="0" bIns="0" rtlCol="0" anchor="t"/>
          <a:lstStyle/>
          <a:p>
            <a:pPr marL="0" indent="0">
              <a:lnSpc>
                <a:spcPts val="1320"/>
              </a:lnSpc>
              <a:buNone/>
            </a:pPr>
            <a:r>
              <a:rPr lang="en-US" sz="1020">
                <a:solidFill>
                  <a:srgbClr val="9AA3B2"/>
                </a:solidFill>
                <a:latin typeface="Calibri" pitchFamily="34" charset="0"/>
                <a:ea typeface="Calibri" pitchFamily="34" charset="-122"/>
                <a:cs typeface="Calibri" pitchFamily="34" charset="-120"/>
              </a:rPr>
              <a:t>The SUCCESS that follows is the moment the account changes hands.</a:t>
            </a:r>
            <a:endParaRPr lang="en-US" sz="1020"/>
          </a:p>
        </p:txBody>
      </p:sp>
      <p:sp>
        <p:nvSpPr>
          <p:cNvPr id="33" name="Shape 28"/>
          <p:cNvSpPr/>
          <p:nvPr/>
        </p:nvSpPr>
        <p:spPr>
          <a:xfrm>
            <a:off x="5852160" y="4882896"/>
            <a:ext cx="146304" cy="146304"/>
          </a:xfrm>
          <a:prstGeom prst="ellipse">
            <a:avLst/>
          </a:prstGeom>
          <a:solidFill>
            <a:srgbClr val="1FA697"/>
          </a:solidFill>
          <a:ln/>
        </p:spPr>
        <p:txBody>
          <a:bodyPr/>
          <a:lstStyle/>
          <a:p>
            <a:endParaRPr lang="en-US"/>
          </a:p>
        </p:txBody>
      </p:sp>
      <p:sp>
        <p:nvSpPr>
          <p:cNvPr id="34" name="Text 29"/>
          <p:cNvSpPr/>
          <p:nvPr/>
        </p:nvSpPr>
        <p:spPr>
          <a:xfrm>
            <a:off x="6108192" y="4828032"/>
            <a:ext cx="5257800" cy="457200"/>
          </a:xfrm>
          <a:prstGeom prst="rect">
            <a:avLst/>
          </a:prstGeom>
          <a:noFill/>
          <a:ln/>
        </p:spPr>
        <p:txBody>
          <a:bodyPr wrap="square" lIns="0" tIns="0" rIns="0" bIns="0" rtlCol="0" anchor="t"/>
          <a:lstStyle/>
          <a:p>
            <a:pPr marL="0" indent="0">
              <a:lnSpc>
                <a:spcPts val="1320"/>
              </a:lnSpc>
              <a:buNone/>
            </a:pPr>
            <a:r>
              <a:rPr lang="en-US" sz="1020">
                <a:solidFill>
                  <a:srgbClr val="9AA3B2"/>
                </a:solidFill>
                <a:latin typeface="Calibri" pitchFamily="34" charset="0"/>
                <a:ea typeface="Calibri" pitchFamily="34" charset="-122"/>
                <a:cs typeface="Calibri" pitchFamily="34" charset="-120"/>
              </a:rPr>
              <a:t>MFA_DENIED shows the second factor holding — then the reset is the adversary pivoting to the recovery path instead.</a:t>
            </a:r>
            <a:endParaRPr lang="en-US" sz="1020"/>
          </a:p>
        </p:txBody>
      </p:sp>
      <p:sp>
        <p:nvSpPr>
          <p:cNvPr id="35" name="Shape 30"/>
          <p:cNvSpPr/>
          <p:nvPr/>
        </p:nvSpPr>
        <p:spPr>
          <a:xfrm>
            <a:off x="566928" y="5632704"/>
            <a:ext cx="11057839" cy="512064"/>
          </a:xfrm>
          <a:prstGeom prst="roundRect">
            <a:avLst>
              <a:gd name="adj" fmla="val 14286"/>
            </a:avLst>
          </a:prstGeom>
          <a:solidFill>
            <a:srgbClr val="12141C"/>
          </a:solidFill>
          <a:ln/>
        </p:spPr>
        <p:txBody>
          <a:bodyPr/>
          <a:lstStyle/>
          <a:p>
            <a:endParaRPr lang="en-US"/>
          </a:p>
        </p:txBody>
      </p:sp>
      <p:pic>
        <p:nvPicPr>
          <p:cNvPr id="36" name="Image 3" descr="/home/claude/icons/FaMagnifyingGlassChart_w.png"/>
          <p:cNvPicPr>
            <a:picLocks noChangeAspect="1"/>
          </p:cNvPicPr>
          <p:nvPr/>
        </p:nvPicPr>
        <p:blipFill>
          <a:blip r:embed="rId6"/>
          <a:stretch>
            <a:fillRect/>
          </a:stretch>
        </p:blipFill>
        <p:spPr>
          <a:xfrm>
            <a:off x="768096" y="5774436"/>
            <a:ext cx="228600" cy="228600"/>
          </a:xfrm>
          <a:prstGeom prst="rect">
            <a:avLst/>
          </a:prstGeom>
        </p:spPr>
      </p:pic>
      <p:sp>
        <p:nvSpPr>
          <p:cNvPr id="37" name="Text 31"/>
          <p:cNvSpPr/>
          <p:nvPr/>
        </p:nvSpPr>
        <p:spPr>
          <a:xfrm>
            <a:off x="1133856" y="5632704"/>
            <a:ext cx="10234879" cy="512064"/>
          </a:xfrm>
          <a:prstGeom prst="rect">
            <a:avLst/>
          </a:prstGeom>
          <a:noFill/>
          <a:ln/>
        </p:spPr>
        <p:txBody>
          <a:bodyPr wrap="square" lIns="0" tIns="0" rIns="0" bIns="0" rtlCol="0" anchor="ctr"/>
          <a:lstStyle/>
          <a:p>
            <a:pPr marL="0" indent="0">
              <a:lnSpc>
                <a:spcPts val="1400"/>
              </a:lnSpc>
              <a:buNone/>
            </a:pPr>
            <a:r>
              <a:rPr lang="en-US" sz="1050" i="1">
                <a:solidFill>
                  <a:srgbClr val="FFFFFF"/>
                </a:solidFill>
                <a:latin typeface="Calibri" pitchFamily="34" charset="0"/>
                <a:ea typeface="Calibri" pitchFamily="34" charset="-122"/>
                <a:cs typeface="Calibri" pitchFamily="34" charset="-120"/>
              </a:rPr>
              <a:t>Careful wording for the exam: a failed-login spike is evidence of an ATTEMPT. A success from an unrecognised device, followed by a change to account settings, is evidence of a COMPROMISE. Do not claim the stronger conclusion without the stronger evidence.</a:t>
            </a:r>
            <a:endParaRPr lang="en-US" sz="1050"/>
          </a:p>
        </p:txBody>
      </p:sp>
      <p:sp>
        <p:nvSpPr>
          <p:cNvPr id="38" name="Text 32"/>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9" name="Text 33"/>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23</a:t>
            </a:r>
            <a:endParaRPr 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1.2.C  ·  CONTROLS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Making authentication stronger</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Three requirements from the CED, then the layer that survives a stolen password.</a:t>
            </a:r>
            <a:endParaRPr lang="en-US" sz="1400"/>
          </a:p>
        </p:txBody>
      </p:sp>
      <p:sp>
        <p:nvSpPr>
          <p:cNvPr id="5" name="Shape 3"/>
          <p:cNvSpPr/>
          <p:nvPr/>
        </p:nvSpPr>
        <p:spPr>
          <a:xfrm>
            <a:off x="566928" y="1938528"/>
            <a:ext cx="5760720" cy="1024128"/>
          </a:xfrm>
          <a:prstGeom prst="roundRect">
            <a:avLst>
              <a:gd name="adj" fmla="val 8036"/>
            </a:avLst>
          </a:prstGeom>
          <a:solidFill>
            <a:srgbClr val="E6F5F3"/>
          </a:solidFill>
          <a:ln/>
        </p:spPr>
        <p:txBody>
          <a:bodyPr/>
          <a:lstStyle/>
          <a:p>
            <a:endParaRPr lang="en-US"/>
          </a:p>
        </p:txBody>
      </p:sp>
      <p:sp>
        <p:nvSpPr>
          <p:cNvPr id="6" name="Shape 4"/>
          <p:cNvSpPr/>
          <p:nvPr/>
        </p:nvSpPr>
        <p:spPr>
          <a:xfrm>
            <a:off x="804672" y="2212848"/>
            <a:ext cx="457200" cy="457200"/>
          </a:xfrm>
          <a:prstGeom prst="ellipse">
            <a:avLst/>
          </a:prstGeom>
          <a:solidFill>
            <a:srgbClr val="1FA697"/>
          </a:solidFill>
          <a:ln/>
        </p:spPr>
        <p:txBody>
          <a:bodyPr/>
          <a:lstStyle/>
          <a:p>
            <a:endParaRPr lang="en-US"/>
          </a:p>
        </p:txBody>
      </p:sp>
      <p:pic>
        <p:nvPicPr>
          <p:cNvPr id="7" name="Image 0" descr="/home/claude/icons/FaKey_w.png"/>
          <p:cNvPicPr>
            <a:picLocks noChangeAspect="1"/>
          </p:cNvPicPr>
          <p:nvPr/>
        </p:nvPicPr>
        <p:blipFill>
          <a:blip r:embed="rId3"/>
          <a:stretch>
            <a:fillRect/>
          </a:stretch>
        </p:blipFill>
        <p:spPr>
          <a:xfrm>
            <a:off x="923544" y="2331720"/>
            <a:ext cx="219456" cy="219456"/>
          </a:xfrm>
          <a:prstGeom prst="rect">
            <a:avLst/>
          </a:prstGeom>
        </p:spPr>
      </p:pic>
      <p:sp>
        <p:nvSpPr>
          <p:cNvPr id="8" name="Text 5"/>
          <p:cNvSpPr/>
          <p:nvPr/>
        </p:nvSpPr>
        <p:spPr>
          <a:xfrm>
            <a:off x="1389888" y="2066544"/>
            <a:ext cx="475488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Long, random, unique</a:t>
            </a:r>
            <a:endParaRPr lang="en-US" sz="1200"/>
          </a:p>
        </p:txBody>
      </p:sp>
      <p:sp>
        <p:nvSpPr>
          <p:cNvPr id="9" name="Text 6"/>
          <p:cNvSpPr/>
          <p:nvPr/>
        </p:nvSpPr>
        <p:spPr>
          <a:xfrm>
            <a:off x="1389888" y="2340864"/>
            <a:ext cx="4754880" cy="566928"/>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Every account gets its own password. A password manager can generate and store them; a long passphrase works where you must type it by hand.</a:t>
            </a:r>
            <a:endParaRPr lang="en-US" sz="1030"/>
          </a:p>
        </p:txBody>
      </p:sp>
      <p:sp>
        <p:nvSpPr>
          <p:cNvPr id="10" name="Shape 7"/>
          <p:cNvSpPr/>
          <p:nvPr/>
        </p:nvSpPr>
        <p:spPr>
          <a:xfrm>
            <a:off x="566928" y="3072384"/>
            <a:ext cx="5760720" cy="1024128"/>
          </a:xfrm>
          <a:prstGeom prst="roundRect">
            <a:avLst>
              <a:gd name="adj" fmla="val 8036"/>
            </a:avLst>
          </a:prstGeom>
          <a:solidFill>
            <a:srgbClr val="E6F5F3"/>
          </a:solidFill>
          <a:ln/>
        </p:spPr>
        <p:txBody>
          <a:bodyPr/>
          <a:lstStyle/>
          <a:p>
            <a:endParaRPr lang="en-US"/>
          </a:p>
        </p:txBody>
      </p:sp>
      <p:sp>
        <p:nvSpPr>
          <p:cNvPr id="11" name="Shape 8"/>
          <p:cNvSpPr/>
          <p:nvPr/>
        </p:nvSpPr>
        <p:spPr>
          <a:xfrm>
            <a:off x="804672" y="3346704"/>
            <a:ext cx="457200" cy="457200"/>
          </a:xfrm>
          <a:prstGeom prst="ellipse">
            <a:avLst/>
          </a:prstGeom>
          <a:solidFill>
            <a:srgbClr val="1FA697"/>
          </a:solidFill>
          <a:ln/>
        </p:spPr>
        <p:txBody>
          <a:bodyPr/>
          <a:lstStyle/>
          <a:p>
            <a:endParaRPr lang="en-US"/>
          </a:p>
        </p:txBody>
      </p:sp>
      <p:pic>
        <p:nvPicPr>
          <p:cNvPr id="12" name="Image 1" descr="/home/claude/icons/FaUserSecret_w.png"/>
          <p:cNvPicPr>
            <a:picLocks noChangeAspect="1"/>
          </p:cNvPicPr>
          <p:nvPr/>
        </p:nvPicPr>
        <p:blipFill>
          <a:blip r:embed="rId4"/>
          <a:stretch>
            <a:fillRect/>
          </a:stretch>
        </p:blipFill>
        <p:spPr>
          <a:xfrm>
            <a:off x="923544" y="3465576"/>
            <a:ext cx="219456" cy="219456"/>
          </a:xfrm>
          <a:prstGeom prst="rect">
            <a:avLst/>
          </a:prstGeom>
        </p:spPr>
      </p:pic>
      <p:sp>
        <p:nvSpPr>
          <p:cNvPr id="13" name="Text 9"/>
          <p:cNvSpPr/>
          <p:nvPr/>
        </p:nvSpPr>
        <p:spPr>
          <a:xfrm>
            <a:off x="1389888" y="3200400"/>
            <a:ext cx="475488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Nothing personally meaningful</a:t>
            </a:r>
            <a:endParaRPr lang="en-US" sz="1200"/>
          </a:p>
        </p:txBody>
      </p:sp>
      <p:sp>
        <p:nvSpPr>
          <p:cNvPr id="14" name="Text 10"/>
          <p:cNvSpPr/>
          <p:nvPr/>
        </p:nvSpPr>
        <p:spPr>
          <a:xfrm>
            <a:off x="1389888" y="3474720"/>
            <a:ext cx="4754880" cy="566928"/>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No names, no dates, no pet, no team, no birthday — those are exactly what a targeted dictionary is built from.</a:t>
            </a:r>
            <a:endParaRPr lang="en-US" sz="1030"/>
          </a:p>
        </p:txBody>
      </p:sp>
      <p:sp>
        <p:nvSpPr>
          <p:cNvPr id="15" name="Shape 11"/>
          <p:cNvSpPr/>
          <p:nvPr/>
        </p:nvSpPr>
        <p:spPr>
          <a:xfrm>
            <a:off x="566928" y="4206240"/>
            <a:ext cx="5760720" cy="1024128"/>
          </a:xfrm>
          <a:prstGeom prst="roundRect">
            <a:avLst>
              <a:gd name="adj" fmla="val 8036"/>
            </a:avLst>
          </a:prstGeom>
          <a:solidFill>
            <a:srgbClr val="E6F5F3"/>
          </a:solidFill>
          <a:ln/>
        </p:spPr>
        <p:txBody>
          <a:bodyPr/>
          <a:lstStyle/>
          <a:p>
            <a:endParaRPr lang="en-US"/>
          </a:p>
        </p:txBody>
      </p:sp>
      <p:sp>
        <p:nvSpPr>
          <p:cNvPr id="16" name="Shape 12"/>
          <p:cNvSpPr/>
          <p:nvPr/>
        </p:nvSpPr>
        <p:spPr>
          <a:xfrm>
            <a:off x="804672" y="4480560"/>
            <a:ext cx="457200" cy="457200"/>
          </a:xfrm>
          <a:prstGeom prst="ellipse">
            <a:avLst/>
          </a:prstGeom>
          <a:solidFill>
            <a:srgbClr val="1FA697"/>
          </a:solidFill>
          <a:ln/>
        </p:spPr>
        <p:txBody>
          <a:bodyPr/>
          <a:lstStyle/>
          <a:p>
            <a:endParaRPr lang="en-US"/>
          </a:p>
        </p:txBody>
      </p:sp>
      <p:pic>
        <p:nvPicPr>
          <p:cNvPr id="17" name="Image 2" descr="/home/claude/icons/FaMobileScreenButton_w.png"/>
          <p:cNvPicPr>
            <a:picLocks noChangeAspect="1"/>
          </p:cNvPicPr>
          <p:nvPr/>
        </p:nvPicPr>
        <p:blipFill>
          <a:blip r:embed="rId5"/>
          <a:stretch>
            <a:fillRect/>
          </a:stretch>
        </p:blipFill>
        <p:spPr>
          <a:xfrm>
            <a:off x="923544" y="4599432"/>
            <a:ext cx="219456" cy="219456"/>
          </a:xfrm>
          <a:prstGeom prst="rect">
            <a:avLst/>
          </a:prstGeom>
        </p:spPr>
      </p:pic>
      <p:sp>
        <p:nvSpPr>
          <p:cNvPr id="18" name="Text 13"/>
          <p:cNvSpPr/>
          <p:nvPr/>
        </p:nvSpPr>
        <p:spPr>
          <a:xfrm>
            <a:off x="1389888" y="4334256"/>
            <a:ext cx="475488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Turn on MFA wherever it exists</a:t>
            </a:r>
            <a:endParaRPr lang="en-US" sz="1200"/>
          </a:p>
        </p:txBody>
      </p:sp>
      <p:sp>
        <p:nvSpPr>
          <p:cNvPr id="19" name="Text 14"/>
          <p:cNvSpPr/>
          <p:nvPr/>
        </p:nvSpPr>
        <p:spPr>
          <a:xfrm>
            <a:off x="1389888" y="4608576"/>
            <a:ext cx="4754880" cy="566928"/>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A second, different proof of identity — usually a one-time code — so a stolen password alone is not enough.</a:t>
            </a:r>
            <a:endParaRPr lang="en-US" sz="1030"/>
          </a:p>
        </p:txBody>
      </p:sp>
      <p:sp>
        <p:nvSpPr>
          <p:cNvPr id="20" name="Shape 15"/>
          <p:cNvSpPr/>
          <p:nvPr/>
        </p:nvSpPr>
        <p:spPr>
          <a:xfrm>
            <a:off x="6629400" y="1938528"/>
            <a:ext cx="4992624" cy="3401568"/>
          </a:xfrm>
          <a:prstGeom prst="roundRect">
            <a:avLst>
              <a:gd name="adj" fmla="val 2419"/>
            </a:avLst>
          </a:prstGeom>
          <a:solidFill>
            <a:srgbClr val="F2F4F8"/>
          </a:solidFill>
          <a:ln/>
        </p:spPr>
        <p:txBody>
          <a:bodyPr/>
          <a:lstStyle/>
          <a:p>
            <a:endParaRPr lang="en-US"/>
          </a:p>
        </p:txBody>
      </p:sp>
      <p:sp>
        <p:nvSpPr>
          <p:cNvPr id="21" name="Text 16"/>
          <p:cNvSpPr/>
          <p:nvPr/>
        </p:nvSpPr>
        <p:spPr>
          <a:xfrm>
            <a:off x="6885432" y="2103120"/>
            <a:ext cx="4572000" cy="201168"/>
          </a:xfrm>
          <a:prstGeom prst="rect">
            <a:avLst/>
          </a:prstGeom>
          <a:noFill/>
          <a:ln/>
        </p:spPr>
        <p:txBody>
          <a:bodyPr wrap="square" lIns="0" tIns="0" rIns="0" bIns="0" rtlCol="0" anchor="ctr"/>
          <a:lstStyle/>
          <a:p>
            <a:pPr marL="0" indent="0">
              <a:buNone/>
            </a:pPr>
            <a:r>
              <a:rPr lang="en-US" sz="900" b="1" kern="0" spc="120">
                <a:solidFill>
                  <a:srgbClr val="16786D"/>
                </a:solidFill>
                <a:latin typeface="Calibri" pitchFamily="34" charset="0"/>
                <a:ea typeface="Calibri" pitchFamily="34" charset="-122"/>
                <a:cs typeface="Calibri" pitchFamily="34" charset="-120"/>
              </a:rPr>
              <a:t>NOT ALL SECOND FACTORS ARE EQUAL</a:t>
            </a:r>
            <a:endParaRPr lang="en-US" sz="900"/>
          </a:p>
        </p:txBody>
      </p:sp>
      <p:sp>
        <p:nvSpPr>
          <p:cNvPr id="22" name="Shape 17"/>
          <p:cNvSpPr/>
          <p:nvPr/>
        </p:nvSpPr>
        <p:spPr>
          <a:xfrm>
            <a:off x="6885432" y="2450592"/>
            <a:ext cx="1280160" cy="219456"/>
          </a:xfrm>
          <a:prstGeom prst="roundRect">
            <a:avLst>
              <a:gd name="adj" fmla="val 16667"/>
            </a:avLst>
          </a:prstGeom>
          <a:solidFill>
            <a:srgbClr val="D9483F"/>
          </a:solidFill>
          <a:ln/>
        </p:spPr>
        <p:txBody>
          <a:bodyPr/>
          <a:lstStyle/>
          <a:p>
            <a:endParaRPr lang="en-US"/>
          </a:p>
        </p:txBody>
      </p:sp>
      <p:sp>
        <p:nvSpPr>
          <p:cNvPr id="23" name="Text 18"/>
          <p:cNvSpPr/>
          <p:nvPr/>
        </p:nvSpPr>
        <p:spPr>
          <a:xfrm>
            <a:off x="6885432" y="2688336"/>
            <a:ext cx="4480560" cy="219456"/>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Password only</a:t>
            </a:r>
            <a:endParaRPr lang="en-US" sz="1100"/>
          </a:p>
        </p:txBody>
      </p:sp>
      <p:sp>
        <p:nvSpPr>
          <p:cNvPr id="24" name="Text 19"/>
          <p:cNvSpPr/>
          <p:nvPr/>
        </p:nvSpPr>
        <p:spPr>
          <a:xfrm>
            <a:off x="6885432" y="2889504"/>
            <a:ext cx="4480560" cy="256032"/>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One stolen credential is total access.</a:t>
            </a:r>
            <a:endParaRPr lang="en-US" sz="980"/>
          </a:p>
        </p:txBody>
      </p:sp>
      <p:sp>
        <p:nvSpPr>
          <p:cNvPr id="25" name="Shape 20"/>
          <p:cNvSpPr/>
          <p:nvPr/>
        </p:nvSpPr>
        <p:spPr>
          <a:xfrm>
            <a:off x="6885432" y="3163824"/>
            <a:ext cx="2286000" cy="219456"/>
          </a:xfrm>
          <a:prstGeom prst="roundRect">
            <a:avLst>
              <a:gd name="adj" fmla="val 16667"/>
            </a:avLst>
          </a:prstGeom>
          <a:solidFill>
            <a:srgbClr val="F2A03D"/>
          </a:solidFill>
          <a:ln/>
        </p:spPr>
        <p:txBody>
          <a:bodyPr/>
          <a:lstStyle/>
          <a:p>
            <a:endParaRPr lang="en-US"/>
          </a:p>
        </p:txBody>
      </p:sp>
      <p:sp>
        <p:nvSpPr>
          <p:cNvPr id="26" name="Text 21"/>
          <p:cNvSpPr/>
          <p:nvPr/>
        </p:nvSpPr>
        <p:spPr>
          <a:xfrm>
            <a:off x="6885432" y="3401568"/>
            <a:ext cx="4480560" cy="219456"/>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SMS one-time code</a:t>
            </a:r>
            <a:endParaRPr lang="en-US" sz="1100"/>
          </a:p>
        </p:txBody>
      </p:sp>
      <p:sp>
        <p:nvSpPr>
          <p:cNvPr id="27" name="Text 22"/>
          <p:cNvSpPr/>
          <p:nvPr/>
        </p:nvSpPr>
        <p:spPr>
          <a:xfrm>
            <a:off x="6885432" y="3602736"/>
            <a:ext cx="4480560" cy="256032"/>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Better than nothing, but codes can be phished or SIM-swapped.</a:t>
            </a:r>
            <a:endParaRPr lang="en-US" sz="980"/>
          </a:p>
        </p:txBody>
      </p:sp>
      <p:sp>
        <p:nvSpPr>
          <p:cNvPr id="28" name="Shape 23"/>
          <p:cNvSpPr/>
          <p:nvPr/>
        </p:nvSpPr>
        <p:spPr>
          <a:xfrm>
            <a:off x="6885432" y="3877056"/>
            <a:ext cx="3291840" cy="219456"/>
          </a:xfrm>
          <a:prstGeom prst="roundRect">
            <a:avLst>
              <a:gd name="adj" fmla="val 16667"/>
            </a:avLst>
          </a:prstGeom>
          <a:solidFill>
            <a:srgbClr val="F2A03D"/>
          </a:solidFill>
          <a:ln/>
        </p:spPr>
        <p:txBody>
          <a:bodyPr/>
          <a:lstStyle/>
          <a:p>
            <a:endParaRPr lang="en-US"/>
          </a:p>
        </p:txBody>
      </p:sp>
      <p:sp>
        <p:nvSpPr>
          <p:cNvPr id="29" name="Text 24"/>
          <p:cNvSpPr/>
          <p:nvPr/>
        </p:nvSpPr>
        <p:spPr>
          <a:xfrm>
            <a:off x="6885432" y="4114800"/>
            <a:ext cx="4480560" cy="219456"/>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Authenticator app / push</a:t>
            </a:r>
            <a:endParaRPr lang="en-US" sz="1100"/>
          </a:p>
        </p:txBody>
      </p:sp>
      <p:sp>
        <p:nvSpPr>
          <p:cNvPr id="30" name="Text 25"/>
          <p:cNvSpPr/>
          <p:nvPr/>
        </p:nvSpPr>
        <p:spPr>
          <a:xfrm>
            <a:off x="6885432" y="4315968"/>
            <a:ext cx="4480560" cy="256032"/>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Stronger, but a convincing fake page can still relay the code in real time.</a:t>
            </a:r>
            <a:endParaRPr lang="en-US" sz="980"/>
          </a:p>
        </p:txBody>
      </p:sp>
      <p:sp>
        <p:nvSpPr>
          <p:cNvPr id="31" name="Shape 26"/>
          <p:cNvSpPr/>
          <p:nvPr/>
        </p:nvSpPr>
        <p:spPr>
          <a:xfrm>
            <a:off x="6885432" y="4590288"/>
            <a:ext cx="4480560" cy="219456"/>
          </a:xfrm>
          <a:prstGeom prst="roundRect">
            <a:avLst>
              <a:gd name="adj" fmla="val 16667"/>
            </a:avLst>
          </a:prstGeom>
          <a:solidFill>
            <a:srgbClr val="1FA697"/>
          </a:solidFill>
          <a:ln/>
        </p:spPr>
        <p:txBody>
          <a:bodyPr/>
          <a:lstStyle/>
          <a:p>
            <a:endParaRPr lang="en-US"/>
          </a:p>
        </p:txBody>
      </p:sp>
      <p:sp>
        <p:nvSpPr>
          <p:cNvPr id="32" name="Text 27"/>
          <p:cNvSpPr/>
          <p:nvPr/>
        </p:nvSpPr>
        <p:spPr>
          <a:xfrm>
            <a:off x="6885432" y="4828032"/>
            <a:ext cx="4480560" cy="219456"/>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Security key or passkey</a:t>
            </a:r>
            <a:endParaRPr lang="en-US" sz="1100"/>
          </a:p>
        </p:txBody>
      </p:sp>
      <p:sp>
        <p:nvSpPr>
          <p:cNvPr id="33" name="Text 28"/>
          <p:cNvSpPr/>
          <p:nvPr/>
        </p:nvSpPr>
        <p:spPr>
          <a:xfrm>
            <a:off x="6885432" y="5029200"/>
            <a:ext cx="4480560" cy="256032"/>
          </a:xfrm>
          <a:prstGeom prst="rect">
            <a:avLst/>
          </a:prstGeom>
          <a:noFill/>
          <a:ln/>
        </p:spPr>
        <p:txBody>
          <a:bodyPr wrap="square" lIns="0" tIns="0" rIns="0" bIns="0" rtlCol="0" anchor="ctr"/>
          <a:lstStyle/>
          <a:p>
            <a:pPr marL="0" indent="0">
              <a:lnSpc>
                <a:spcPts val="1250"/>
              </a:lnSpc>
              <a:buNone/>
            </a:pPr>
            <a:r>
              <a:rPr lang="en-US" sz="980">
                <a:solidFill>
                  <a:srgbClr val="6B7280"/>
                </a:solidFill>
                <a:latin typeface="Calibri" pitchFamily="34" charset="0"/>
                <a:ea typeface="Calibri" pitchFamily="34" charset="-122"/>
                <a:cs typeface="Calibri" pitchFamily="34" charset="-120"/>
              </a:rPr>
              <a:t>The device checks the site's real identity, so a fake page gets nothing.</a:t>
            </a:r>
            <a:endParaRPr lang="en-US" sz="980"/>
          </a:p>
        </p:txBody>
      </p:sp>
      <p:sp>
        <p:nvSpPr>
          <p:cNvPr id="34" name="Shape 29"/>
          <p:cNvSpPr/>
          <p:nvPr/>
        </p:nvSpPr>
        <p:spPr>
          <a:xfrm>
            <a:off x="566928" y="5504688"/>
            <a:ext cx="11057839" cy="512064"/>
          </a:xfrm>
          <a:prstGeom prst="roundRect">
            <a:avLst>
              <a:gd name="adj" fmla="val 14286"/>
            </a:avLst>
          </a:prstGeom>
          <a:solidFill>
            <a:srgbClr val="12141C"/>
          </a:solidFill>
          <a:ln/>
        </p:spPr>
        <p:txBody>
          <a:bodyPr/>
          <a:lstStyle/>
          <a:p>
            <a:endParaRPr lang="en-US"/>
          </a:p>
        </p:txBody>
      </p:sp>
      <p:pic>
        <p:nvPicPr>
          <p:cNvPr id="35" name="Image 3" descr="/home/claude/icons/FaBell_w.png"/>
          <p:cNvPicPr>
            <a:picLocks noChangeAspect="1"/>
          </p:cNvPicPr>
          <p:nvPr/>
        </p:nvPicPr>
        <p:blipFill>
          <a:blip r:embed="rId6"/>
          <a:stretch>
            <a:fillRect/>
          </a:stretch>
        </p:blipFill>
        <p:spPr>
          <a:xfrm>
            <a:off x="768096" y="5646420"/>
            <a:ext cx="228600" cy="228600"/>
          </a:xfrm>
          <a:prstGeom prst="rect">
            <a:avLst/>
          </a:prstGeom>
        </p:spPr>
      </p:pic>
      <p:sp>
        <p:nvSpPr>
          <p:cNvPr id="36" name="Text 30"/>
          <p:cNvSpPr/>
          <p:nvPr/>
        </p:nvSpPr>
        <p:spPr>
          <a:xfrm>
            <a:off x="1133856" y="5504688"/>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If an MFA prompt arrives that you did not trigger, deny it, change the password, and check active sessions — someone already has the first factor.</a:t>
            </a:r>
            <a:endParaRPr lang="en-US" sz="1150"/>
          </a:p>
        </p:txBody>
      </p:sp>
      <p:sp>
        <p:nvSpPr>
          <p:cNvPr id="37" name="Text 31"/>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8" name="Text 32"/>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24</a:t>
            </a:r>
            <a:endParaRPr lang="en-US" sz="9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66928" y="347472"/>
            <a:ext cx="1481328" cy="274320"/>
          </a:xfrm>
          <a:prstGeom prst="roundRect">
            <a:avLst>
              <a:gd name="adj" fmla="val 20000"/>
            </a:avLst>
          </a:prstGeom>
          <a:solidFill>
            <a:srgbClr val="D9483F"/>
          </a:solidFill>
          <a:ln/>
        </p:spPr>
        <p:txBody>
          <a:bodyPr/>
          <a:lstStyle/>
          <a:p>
            <a:endParaRPr lang="en-US"/>
          </a:p>
        </p:txBody>
      </p:sp>
      <p:sp>
        <p:nvSpPr>
          <p:cNvPr id="3" name="Text 1"/>
          <p:cNvSpPr/>
          <p:nvPr/>
        </p:nvSpPr>
        <p:spPr>
          <a:xfrm>
            <a:off x="566928" y="347472"/>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NEWS CASE</a:t>
            </a:r>
            <a:endParaRPr lang="en-US" sz="950"/>
          </a:p>
        </p:txBody>
      </p:sp>
      <p:sp>
        <p:nvSpPr>
          <p:cNvPr id="4" name="Text 2"/>
          <p:cNvSpPr/>
          <p:nvPr/>
        </p:nvSpPr>
        <p:spPr>
          <a:xfrm>
            <a:off x="2231136" y="347472"/>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IN THE NEWS  ·  TOPIC 1.2</a:t>
            </a:r>
            <a:endParaRPr lang="en-US" sz="1050"/>
          </a:p>
        </p:txBody>
      </p:sp>
      <p:sp>
        <p:nvSpPr>
          <p:cNvPr id="5" name="Text 3"/>
          <p:cNvSpPr/>
          <p:nvPr/>
        </p:nvSpPr>
        <p:spPr>
          <a:xfrm>
            <a:off x="566928" y="768096"/>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165 organisations, one missing control</a:t>
            </a:r>
            <a:endParaRPr lang="en-US" sz="3000"/>
          </a:p>
        </p:txBody>
      </p:sp>
      <p:sp>
        <p:nvSpPr>
          <p:cNvPr id="6" name="Text 4"/>
          <p:cNvSpPr/>
          <p:nvPr/>
        </p:nvSpPr>
        <p:spPr>
          <a:xfrm>
            <a:off x="566928" y="1417320"/>
            <a:ext cx="11057839" cy="365760"/>
          </a:xfrm>
          <a:prstGeom prst="rect">
            <a:avLst/>
          </a:prstGeom>
          <a:noFill/>
          <a:ln/>
        </p:spPr>
        <p:txBody>
          <a:bodyPr wrap="square" lIns="0" tIns="0" rIns="0" bIns="0" rtlCol="0" anchor="t"/>
          <a:lstStyle/>
          <a:p>
            <a:pPr marL="0" indent="0">
              <a:lnSpc>
                <a:spcPts val="1900"/>
              </a:lnSpc>
              <a:buNone/>
            </a:pPr>
            <a:r>
              <a:rPr lang="en-US" sz="1250" i="1">
                <a:solidFill>
                  <a:srgbClr val="6B7280"/>
                </a:solidFill>
                <a:latin typeface="Calibri" pitchFamily="34" charset="0"/>
                <a:ea typeface="Calibri" pitchFamily="34" charset="-122"/>
                <a:cs typeface="Calibri" pitchFamily="34" charset="-120"/>
              </a:rPr>
              <a:t>The 2024 Snowflake customer-account campaign is the clearest large-scale demonstration of stolen credentials meeting absent MFA.</a:t>
            </a:r>
            <a:endParaRPr lang="en-US" sz="1250"/>
          </a:p>
        </p:txBody>
      </p:sp>
      <p:sp>
        <p:nvSpPr>
          <p:cNvPr id="7" name="Shape 5"/>
          <p:cNvSpPr/>
          <p:nvPr/>
        </p:nvSpPr>
        <p:spPr>
          <a:xfrm>
            <a:off x="566928" y="2103120"/>
            <a:ext cx="6903720" cy="3401568"/>
          </a:xfrm>
          <a:prstGeom prst="roundRect">
            <a:avLst>
              <a:gd name="adj" fmla="val 2419"/>
            </a:avLst>
          </a:prstGeom>
          <a:solidFill>
            <a:srgbClr val="F2F4F8"/>
          </a:solidFill>
          <a:ln/>
        </p:spPr>
        <p:txBody>
          <a:bodyPr/>
          <a:lstStyle/>
          <a:p>
            <a:endParaRPr lang="en-US"/>
          </a:p>
        </p:txBody>
      </p:sp>
      <p:sp>
        <p:nvSpPr>
          <p:cNvPr id="8" name="Text 6"/>
          <p:cNvSpPr/>
          <p:nvPr/>
        </p:nvSpPr>
        <p:spPr>
          <a:xfrm>
            <a:off x="841248" y="2286000"/>
            <a:ext cx="4572000" cy="256032"/>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What happened</a:t>
            </a:r>
            <a:endParaRPr lang="en-US" sz="1300"/>
          </a:p>
        </p:txBody>
      </p:sp>
      <p:sp>
        <p:nvSpPr>
          <p:cNvPr id="9" name="Text 7"/>
          <p:cNvSpPr/>
          <p:nvPr/>
        </p:nvSpPr>
        <p:spPr>
          <a:xfrm>
            <a:off x="841248" y="2651760"/>
            <a:ext cx="6400800" cy="2743200"/>
          </a:xfrm>
          <a:prstGeom prst="rect">
            <a:avLst/>
          </a:prstGeom>
          <a:noFill/>
          <a:ln/>
        </p:spPr>
        <p:txBody>
          <a:bodyPr wrap="square" lIns="0" tIns="0" rIns="0" bIns="0" rtlCol="0" anchor="t"/>
          <a:lstStyle/>
          <a:p>
            <a:pPr marL="177800" indent="-177800">
              <a:lnSpc>
                <a:spcPts val="1650"/>
              </a:lnSpc>
              <a:spcAft>
                <a:spcPts val="800"/>
              </a:spcAft>
              <a:buSzPct val="100000"/>
              <a:buChar char="▪"/>
            </a:pPr>
            <a:r>
              <a:rPr lang="en-US" sz="1100">
                <a:solidFill>
                  <a:srgbClr val="2B303C"/>
                </a:solidFill>
                <a:latin typeface="Calibri" pitchFamily="34" charset="0"/>
                <a:ea typeface="Calibri" pitchFamily="34" charset="-122"/>
                <a:cs typeface="Calibri" pitchFamily="34" charset="-120"/>
              </a:rPr>
              <a:t>Attackers did not breach the Snowflake platform itself. They logged in to customer accounts using valid usernames and passwords.</a:t>
            </a:r>
            <a:endParaRPr lang="en-US" sz="1100"/>
          </a:p>
          <a:p>
            <a:pPr marL="177800" indent="-177800">
              <a:lnSpc>
                <a:spcPts val="1650"/>
              </a:lnSpc>
              <a:spcAft>
                <a:spcPts val="800"/>
              </a:spcAft>
              <a:buSzPct val="100000"/>
              <a:buChar char="▪"/>
            </a:pPr>
            <a:r>
              <a:rPr lang="en-US" sz="1100">
                <a:solidFill>
                  <a:srgbClr val="2B303C"/>
                </a:solidFill>
                <a:latin typeface="Calibri" pitchFamily="34" charset="0"/>
                <a:ea typeface="Calibri" pitchFamily="34" charset="-122"/>
                <a:cs typeface="Calibri" pitchFamily="34" charset="-120"/>
              </a:rPr>
              <a:t>The credentials came from infostealer malware infections — some dating back years — collected from criminal marketplaces rather than from a fresh break-in.</a:t>
            </a:r>
            <a:endParaRPr lang="en-US" sz="1100"/>
          </a:p>
          <a:p>
            <a:pPr marL="177800" indent="-177800">
              <a:lnSpc>
                <a:spcPts val="1650"/>
              </a:lnSpc>
              <a:spcAft>
                <a:spcPts val="800"/>
              </a:spcAft>
              <a:buSzPct val="100000"/>
              <a:buChar char="▪"/>
            </a:pPr>
            <a:r>
              <a:rPr lang="en-US" sz="1100">
                <a:solidFill>
                  <a:srgbClr val="2B303C"/>
                </a:solidFill>
                <a:latin typeface="Calibri" pitchFamily="34" charset="0"/>
                <a:ea typeface="Calibri" pitchFamily="34" charset="-122"/>
                <a:cs typeface="Calibri" pitchFamily="34" charset="-120"/>
              </a:rPr>
              <a:t>The targeted accounts were protected by a password alone. With no second factor and no restriction on which network could connect, a correct password was sufficient.</a:t>
            </a:r>
            <a:endParaRPr lang="en-US" sz="1100"/>
          </a:p>
          <a:p>
            <a:pPr marL="177800" indent="-177800">
              <a:lnSpc>
                <a:spcPts val="1650"/>
              </a:lnSpc>
              <a:spcAft>
                <a:spcPts val="800"/>
              </a:spcAft>
              <a:buSzPct val="100000"/>
              <a:buChar char="▪"/>
            </a:pPr>
            <a:r>
              <a:rPr lang="en-US" sz="1100">
                <a:solidFill>
                  <a:srgbClr val="2B303C"/>
                </a:solidFill>
                <a:latin typeface="Calibri" pitchFamily="34" charset="0"/>
                <a:ea typeface="Calibri" pitchFamily="34" charset="-122"/>
                <a:cs typeface="Calibri" pitchFamily="34" charset="-120"/>
              </a:rPr>
              <a:t>Roughly 165 customer organisations were affected. Investigators also noted that thin logging in some tenants slowed the detection of what had been taken.</a:t>
            </a:r>
            <a:endParaRPr lang="en-US" sz="1100"/>
          </a:p>
          <a:p>
            <a:pPr marL="177800" indent="-177800">
              <a:lnSpc>
                <a:spcPts val="1650"/>
              </a:lnSpc>
              <a:spcAft>
                <a:spcPts val="800"/>
              </a:spcAft>
              <a:buSzPct val="100000"/>
              <a:buChar char="▪"/>
            </a:pPr>
            <a:r>
              <a:rPr lang="en-US" sz="1100">
                <a:solidFill>
                  <a:srgbClr val="2B303C"/>
                </a:solidFill>
                <a:latin typeface="Calibri" pitchFamily="34" charset="0"/>
                <a:ea typeface="Calibri" pitchFamily="34" charset="-122"/>
                <a:cs typeface="Calibri" pitchFamily="34" charset="-120"/>
              </a:rPr>
              <a:t>The platform subsequently moved to require multi-factor authentication rather than offer it as an option.</a:t>
            </a:r>
            <a:endParaRPr lang="en-US" sz="1100"/>
          </a:p>
        </p:txBody>
      </p:sp>
      <p:sp>
        <p:nvSpPr>
          <p:cNvPr id="10" name="Shape 8"/>
          <p:cNvSpPr/>
          <p:nvPr/>
        </p:nvSpPr>
        <p:spPr>
          <a:xfrm>
            <a:off x="7699248" y="2103120"/>
            <a:ext cx="3922776" cy="1572768"/>
          </a:xfrm>
          <a:prstGeom prst="roundRect">
            <a:avLst>
              <a:gd name="adj" fmla="val 5233"/>
            </a:avLst>
          </a:prstGeom>
          <a:solidFill>
            <a:srgbClr val="12141C"/>
          </a:solidFill>
          <a:ln/>
        </p:spPr>
        <p:txBody>
          <a:bodyPr/>
          <a:lstStyle/>
          <a:p>
            <a:endParaRPr lang="en-US"/>
          </a:p>
        </p:txBody>
      </p:sp>
      <p:sp>
        <p:nvSpPr>
          <p:cNvPr id="11" name="Text 9"/>
          <p:cNvSpPr/>
          <p:nvPr/>
        </p:nvSpPr>
        <p:spPr>
          <a:xfrm>
            <a:off x="7955280" y="2249424"/>
            <a:ext cx="329184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MAP IT TO THE CED</a:t>
            </a:r>
            <a:endParaRPr lang="en-US" sz="900"/>
          </a:p>
        </p:txBody>
      </p:sp>
      <p:sp>
        <p:nvSpPr>
          <p:cNvPr id="12" name="Text 10"/>
          <p:cNvSpPr/>
          <p:nvPr/>
        </p:nvSpPr>
        <p:spPr>
          <a:xfrm>
            <a:off x="7955280" y="2560320"/>
            <a:ext cx="3429000" cy="1005840"/>
          </a:xfrm>
          <a:prstGeom prst="rect">
            <a:avLst/>
          </a:prstGeom>
          <a:noFill/>
          <a:ln/>
        </p:spPr>
        <p:txBody>
          <a:bodyPr wrap="square" lIns="0" tIns="0" rIns="0" bIns="0" rtlCol="0" anchor="t"/>
          <a:lstStyle/>
          <a:p>
            <a:pPr marL="0" indent="0">
              <a:lnSpc>
                <a:spcPts val="1380"/>
              </a:lnSpc>
              <a:buNone/>
            </a:pPr>
            <a:r>
              <a:rPr lang="en-US" sz="1030">
                <a:solidFill>
                  <a:srgbClr val="9AA3B2"/>
                </a:solidFill>
                <a:latin typeface="Calibri" pitchFamily="34" charset="0"/>
                <a:ea typeface="Calibri" pitchFamily="34" charset="-122"/>
                <a:cs typeface="Calibri" pitchFamily="34" charset="-120"/>
              </a:rPr>
              <a:t>1.2.A.1  Adversaries log in using stolen passwords.</a:t>
            </a:r>
            <a:endParaRPr lang="en-US" sz="1030"/>
          </a:p>
          <a:p>
            <a:pPr marL="0" indent="0">
              <a:lnSpc>
                <a:spcPts val="1380"/>
              </a:lnSpc>
              <a:buNone/>
            </a:pPr>
            <a:r>
              <a:rPr lang="en-US" sz="1030">
                <a:solidFill>
                  <a:srgbClr val="9AA3B2"/>
                </a:solidFill>
                <a:latin typeface="Calibri" pitchFamily="34" charset="0"/>
                <a:ea typeface="Calibri" pitchFamily="34" charset="-122"/>
                <a:cs typeface="Calibri" pitchFamily="34" charset="-120"/>
              </a:rPr>
              <a:t>1.2.B  Weak authentication — a single factor — is what they exploit.</a:t>
            </a:r>
            <a:endParaRPr lang="en-US" sz="1030"/>
          </a:p>
          <a:p>
            <a:pPr marL="0" indent="0">
              <a:lnSpc>
                <a:spcPts val="1380"/>
              </a:lnSpc>
              <a:buNone/>
            </a:pPr>
            <a:r>
              <a:rPr lang="en-US" sz="1030">
                <a:solidFill>
                  <a:srgbClr val="9AA3B2"/>
                </a:solidFill>
                <a:latin typeface="Calibri" pitchFamily="34" charset="0"/>
                <a:ea typeface="Calibri" pitchFamily="34" charset="-122"/>
                <a:cs typeface="Calibri" pitchFamily="34" charset="-120"/>
              </a:rPr>
              <a:t>1.2.C.3  Enabling MFA is the control that would have broken the attack.</a:t>
            </a:r>
            <a:endParaRPr lang="en-US" sz="1030"/>
          </a:p>
        </p:txBody>
      </p:sp>
      <p:sp>
        <p:nvSpPr>
          <p:cNvPr id="13" name="Shape 11"/>
          <p:cNvSpPr/>
          <p:nvPr/>
        </p:nvSpPr>
        <p:spPr>
          <a:xfrm>
            <a:off x="7699248" y="3840480"/>
            <a:ext cx="3922776" cy="1664208"/>
          </a:xfrm>
          <a:prstGeom prst="roundRect">
            <a:avLst>
              <a:gd name="adj" fmla="val 4945"/>
            </a:avLst>
          </a:prstGeom>
          <a:solidFill>
            <a:srgbClr val="E6F5F3"/>
          </a:solidFill>
          <a:ln/>
        </p:spPr>
        <p:txBody>
          <a:bodyPr/>
          <a:lstStyle/>
          <a:p>
            <a:endParaRPr lang="en-US"/>
          </a:p>
        </p:txBody>
      </p:sp>
      <p:sp>
        <p:nvSpPr>
          <p:cNvPr id="14" name="Text 12"/>
          <p:cNvSpPr/>
          <p:nvPr/>
        </p:nvSpPr>
        <p:spPr>
          <a:xfrm>
            <a:off x="7955280" y="3986784"/>
            <a:ext cx="3291840" cy="201168"/>
          </a:xfrm>
          <a:prstGeom prst="rect">
            <a:avLst/>
          </a:prstGeom>
          <a:noFill/>
          <a:ln/>
        </p:spPr>
        <p:txBody>
          <a:bodyPr wrap="square" lIns="0" tIns="0" rIns="0" bIns="0" rtlCol="0" anchor="ctr"/>
          <a:lstStyle/>
          <a:p>
            <a:pPr marL="0" indent="0">
              <a:buNone/>
            </a:pPr>
            <a:r>
              <a:rPr lang="en-US" sz="900" b="1" kern="0" spc="120">
                <a:solidFill>
                  <a:srgbClr val="16786D"/>
                </a:solidFill>
                <a:latin typeface="Calibri" pitchFamily="34" charset="0"/>
                <a:ea typeface="Calibri" pitchFamily="34" charset="-122"/>
                <a:cs typeface="Calibri" pitchFamily="34" charset="-120"/>
              </a:rPr>
              <a:t>DISCUSSION</a:t>
            </a:r>
            <a:endParaRPr lang="en-US" sz="900"/>
          </a:p>
        </p:txBody>
      </p:sp>
      <p:sp>
        <p:nvSpPr>
          <p:cNvPr id="15" name="Text 13"/>
          <p:cNvSpPr/>
          <p:nvPr/>
        </p:nvSpPr>
        <p:spPr>
          <a:xfrm>
            <a:off x="7955280" y="4279392"/>
            <a:ext cx="3429000" cy="1097280"/>
          </a:xfrm>
          <a:prstGeom prst="rect">
            <a:avLst/>
          </a:prstGeom>
          <a:noFill/>
          <a:ln/>
        </p:spPr>
        <p:txBody>
          <a:bodyPr wrap="square" lIns="0" tIns="0" rIns="0" bIns="0" rtlCol="0" anchor="t"/>
          <a:lstStyle/>
          <a:p>
            <a:pPr marL="0" indent="0">
              <a:lnSpc>
                <a:spcPts val="1380"/>
              </a:lnSpc>
              <a:buNone/>
            </a:pPr>
            <a:r>
              <a:rPr lang="en-US" sz="1050">
                <a:solidFill>
                  <a:srgbClr val="2B303C"/>
                </a:solidFill>
                <a:latin typeface="Calibri" pitchFamily="34" charset="0"/>
                <a:ea typeface="Calibri" pitchFamily="34" charset="-122"/>
                <a:cs typeface="Calibri" pitchFamily="34" charset="-120"/>
              </a:rPr>
              <a:t>The platform offered MFA; customers had not switched it on. Where should responsibility for a security control sit — with the provider that builds it, or the customer who configures it? Defend your answer, then argue the opposite side.</a:t>
            </a:r>
            <a:endParaRPr lang="en-US" sz="1050"/>
          </a:p>
        </p:txBody>
      </p:sp>
      <p:sp>
        <p:nvSpPr>
          <p:cNvPr id="16" name="Shape 14"/>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17" name="Image 0" descr="/home/claude/icons/FaNewspaper_w.png"/>
          <p:cNvPicPr>
            <a:picLocks noChangeAspect="1"/>
          </p:cNvPicPr>
          <p:nvPr/>
        </p:nvPicPr>
        <p:blipFill>
          <a:blip r:embed="rId3"/>
          <a:stretch>
            <a:fillRect/>
          </a:stretch>
        </p:blipFill>
        <p:spPr>
          <a:xfrm>
            <a:off x="768096" y="5811012"/>
            <a:ext cx="228600" cy="228600"/>
          </a:xfrm>
          <a:prstGeom prst="rect">
            <a:avLst/>
          </a:prstGeom>
        </p:spPr>
      </p:pic>
      <p:sp>
        <p:nvSpPr>
          <p:cNvPr id="18" name="Text 15"/>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Sources: Mandiant / Google Cloud investigation of UNC5537 (2024) · Snowflake advisories · reporting by TechCrunch, WIRED and BleepingComputer, 2024-2026.</a:t>
            </a:r>
            <a:endParaRPr lang="en-US" sz="1150"/>
          </a:p>
        </p:txBody>
      </p:sp>
      <p:sp>
        <p:nvSpPr>
          <p:cNvPr id="19" name="Text 1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0" name="Text 1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25</a:t>
            </a:r>
            <a:endParaRPr lang="en-US" sz="9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566928" y="384048"/>
            <a:ext cx="1737360" cy="274320"/>
          </a:xfrm>
          <a:prstGeom prst="roundRect">
            <a:avLst>
              <a:gd name="adj" fmla="val 20000"/>
            </a:avLst>
          </a:prstGeom>
          <a:solidFill>
            <a:srgbClr val="1FA697"/>
          </a:solidFill>
          <a:ln/>
        </p:spPr>
        <p:txBody>
          <a:bodyPr/>
          <a:lstStyle/>
          <a:p>
            <a:endParaRPr lang="en-US"/>
          </a:p>
        </p:txBody>
      </p:sp>
      <p:sp>
        <p:nvSpPr>
          <p:cNvPr id="3" name="Text 1"/>
          <p:cNvSpPr/>
          <p:nvPr/>
        </p:nvSpPr>
        <p:spPr>
          <a:xfrm>
            <a:off x="566928" y="384048"/>
            <a:ext cx="1737360" cy="274320"/>
          </a:xfrm>
          <a:prstGeom prst="rect">
            <a:avLst/>
          </a:prstGeom>
          <a:noFill/>
          <a:ln/>
        </p:spPr>
        <p:txBody>
          <a:bodyPr wrap="square" lIns="0" tIns="0" rIns="0" bIns="0" rtlCol="0" anchor="ctr"/>
          <a:lstStyle/>
          <a:p>
            <a:pPr marL="0" indent="0" algn="ctr">
              <a:buNone/>
            </a:pPr>
            <a:r>
              <a:rPr lang="en-US" sz="950" b="1" kern="0" spc="100">
                <a:solidFill>
                  <a:srgbClr val="12141C"/>
                </a:solidFill>
                <a:latin typeface="Calibri" pitchFamily="34" charset="0"/>
                <a:ea typeface="Calibri" pitchFamily="34" charset="-122"/>
                <a:cs typeface="Calibri" pitchFamily="34" charset="-120"/>
              </a:rPr>
              <a:t>SCENARIO 1B</a:t>
            </a:r>
            <a:endParaRPr lang="en-US" sz="950"/>
          </a:p>
        </p:txBody>
      </p:sp>
      <p:sp>
        <p:nvSpPr>
          <p:cNvPr id="4" name="Text 2"/>
          <p:cNvSpPr/>
          <p:nvPr/>
        </p:nvSpPr>
        <p:spPr>
          <a:xfrm>
            <a:off x="2487168" y="384048"/>
            <a:ext cx="7315200" cy="274320"/>
          </a:xfrm>
          <a:prstGeom prst="rect">
            <a:avLst/>
          </a:prstGeom>
          <a:noFill/>
          <a:ln/>
        </p:spPr>
        <p:txBody>
          <a:bodyPr wrap="square" lIns="0" tIns="0" rIns="0" bIns="0" rtlCol="0" anchor="ctr"/>
          <a:lstStyle/>
          <a:p>
            <a:pPr marL="0" indent="0">
              <a:buNone/>
            </a:pPr>
            <a:r>
              <a:rPr lang="en-US" sz="950" b="1" kern="0" spc="130">
                <a:solidFill>
                  <a:srgbClr val="9AA3B2"/>
                </a:solidFill>
                <a:latin typeface="Calibri" pitchFamily="34" charset="0"/>
                <a:ea typeface="Calibri" pitchFamily="34" charset="-122"/>
                <a:cs typeface="Calibri" pitchFamily="34" charset="-120"/>
              </a:rPr>
              <a:t>FROM THE COURSE AND EXAM DESCRIPTION</a:t>
            </a:r>
            <a:endParaRPr lang="en-US" sz="950"/>
          </a:p>
        </p:txBody>
      </p:sp>
      <p:sp>
        <p:nvSpPr>
          <p:cNvPr id="5" name="Text 3"/>
          <p:cNvSpPr/>
          <p:nvPr/>
        </p:nvSpPr>
        <p:spPr>
          <a:xfrm>
            <a:off x="566928" y="822960"/>
            <a:ext cx="10058400" cy="54864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Detecting Unauthorized Logins</a:t>
            </a:r>
            <a:endParaRPr lang="en-US" sz="3000"/>
          </a:p>
        </p:txBody>
      </p:sp>
      <p:sp>
        <p:nvSpPr>
          <p:cNvPr id="6" name="Text 4"/>
          <p:cNvSpPr/>
          <p:nvPr/>
        </p:nvSpPr>
        <p:spPr>
          <a:xfrm>
            <a:off x="566928" y="1444752"/>
            <a:ext cx="7772400" cy="457200"/>
          </a:xfrm>
          <a:prstGeom prst="rect">
            <a:avLst/>
          </a:prstGeom>
          <a:noFill/>
          <a:ln/>
        </p:spPr>
        <p:txBody>
          <a:bodyPr wrap="square" lIns="0" tIns="0" rIns="0" bIns="0" rtlCol="0" anchor="ctr"/>
          <a:lstStyle/>
          <a:p>
            <a:pPr marL="0" indent="0">
              <a:lnSpc>
                <a:spcPts val="1700"/>
              </a:lnSpc>
              <a:buNone/>
            </a:pPr>
            <a:r>
              <a:rPr lang="en-US" sz="1250" i="1">
                <a:solidFill>
                  <a:srgbClr val="9AA3B2"/>
                </a:solidFill>
                <a:latin typeface="Calibri" pitchFamily="34" charset="0"/>
                <a:ea typeface="Calibri" pitchFamily="34" charset="-122"/>
                <a:cs typeface="Calibri" pitchFamily="34" charset="-120"/>
              </a:rPr>
              <a:t>Choices in your online game account have been changed without your knowledge. You normally play on weekends and evenings. This is the account activity list.</a:t>
            </a:r>
            <a:endParaRPr lang="en-US" sz="1250"/>
          </a:p>
        </p:txBody>
      </p:sp>
      <p:sp>
        <p:nvSpPr>
          <p:cNvPr id="7" name="Shape 5"/>
          <p:cNvSpPr/>
          <p:nvPr/>
        </p:nvSpPr>
        <p:spPr>
          <a:xfrm>
            <a:off x="566928" y="2011680"/>
            <a:ext cx="6126480" cy="3520440"/>
          </a:xfrm>
          <a:prstGeom prst="roundRect">
            <a:avLst>
              <a:gd name="adj" fmla="val 2338"/>
            </a:avLst>
          </a:prstGeom>
          <a:solidFill>
            <a:srgbClr val="1D2331"/>
          </a:solidFill>
          <a:ln/>
        </p:spPr>
        <p:txBody>
          <a:bodyPr/>
          <a:lstStyle/>
          <a:p>
            <a:endParaRPr lang="en-US"/>
          </a:p>
        </p:txBody>
      </p:sp>
      <p:sp>
        <p:nvSpPr>
          <p:cNvPr id="8" name="Text 6"/>
          <p:cNvSpPr/>
          <p:nvPr/>
        </p:nvSpPr>
        <p:spPr>
          <a:xfrm>
            <a:off x="804672" y="2176272"/>
            <a:ext cx="2011680" cy="219456"/>
          </a:xfrm>
          <a:prstGeom prst="rect">
            <a:avLst/>
          </a:prstGeom>
          <a:noFill/>
          <a:ln/>
        </p:spPr>
        <p:txBody>
          <a:bodyPr wrap="square" lIns="0" tIns="0" rIns="0" bIns="0" rtlCol="0" anchor="ctr"/>
          <a:lstStyle/>
          <a:p>
            <a:pPr marL="0" indent="0">
              <a:buNone/>
            </a:pPr>
            <a:r>
              <a:rPr lang="en-US" sz="880" b="1" kern="0" spc="100">
                <a:solidFill>
                  <a:srgbClr val="1FA697"/>
                </a:solidFill>
                <a:latin typeface="Calibri" pitchFamily="34" charset="0"/>
                <a:ea typeface="Calibri" pitchFamily="34" charset="-122"/>
                <a:cs typeface="Calibri" pitchFamily="34" charset="-120"/>
              </a:rPr>
              <a:t>ENTRY</a:t>
            </a:r>
            <a:endParaRPr lang="en-US" sz="880"/>
          </a:p>
        </p:txBody>
      </p:sp>
      <p:sp>
        <p:nvSpPr>
          <p:cNvPr id="9" name="Text 7"/>
          <p:cNvSpPr/>
          <p:nvPr/>
        </p:nvSpPr>
        <p:spPr>
          <a:xfrm>
            <a:off x="1581912" y="2176272"/>
            <a:ext cx="2011680" cy="219456"/>
          </a:xfrm>
          <a:prstGeom prst="rect">
            <a:avLst/>
          </a:prstGeom>
          <a:noFill/>
          <a:ln/>
        </p:spPr>
        <p:txBody>
          <a:bodyPr wrap="square" lIns="0" tIns="0" rIns="0" bIns="0" rtlCol="0" anchor="ctr"/>
          <a:lstStyle/>
          <a:p>
            <a:pPr marL="0" indent="0">
              <a:buNone/>
            </a:pPr>
            <a:r>
              <a:rPr lang="en-US" sz="880" b="1" kern="0" spc="100">
                <a:solidFill>
                  <a:srgbClr val="1FA697"/>
                </a:solidFill>
                <a:latin typeface="Calibri" pitchFamily="34" charset="0"/>
                <a:ea typeface="Calibri" pitchFamily="34" charset="-122"/>
                <a:cs typeface="Calibri" pitchFamily="34" charset="-120"/>
              </a:rPr>
              <a:t>DAY AND DATE</a:t>
            </a:r>
            <a:endParaRPr lang="en-US" sz="880"/>
          </a:p>
        </p:txBody>
      </p:sp>
      <p:sp>
        <p:nvSpPr>
          <p:cNvPr id="10" name="Text 8"/>
          <p:cNvSpPr/>
          <p:nvPr/>
        </p:nvSpPr>
        <p:spPr>
          <a:xfrm>
            <a:off x="3547872" y="2176272"/>
            <a:ext cx="2011680" cy="219456"/>
          </a:xfrm>
          <a:prstGeom prst="rect">
            <a:avLst/>
          </a:prstGeom>
          <a:noFill/>
          <a:ln/>
        </p:spPr>
        <p:txBody>
          <a:bodyPr wrap="square" lIns="0" tIns="0" rIns="0" bIns="0" rtlCol="0" anchor="ctr"/>
          <a:lstStyle/>
          <a:p>
            <a:pPr marL="0" indent="0">
              <a:buNone/>
            </a:pPr>
            <a:r>
              <a:rPr lang="en-US" sz="880" b="1" kern="0" spc="100">
                <a:solidFill>
                  <a:srgbClr val="1FA697"/>
                </a:solidFill>
                <a:latin typeface="Calibri" pitchFamily="34" charset="0"/>
                <a:ea typeface="Calibri" pitchFamily="34" charset="-122"/>
                <a:cs typeface="Calibri" pitchFamily="34" charset="-120"/>
              </a:rPr>
              <a:t>TIME</a:t>
            </a:r>
            <a:endParaRPr lang="en-US" sz="880"/>
          </a:p>
        </p:txBody>
      </p:sp>
      <p:sp>
        <p:nvSpPr>
          <p:cNvPr id="11" name="Text 9"/>
          <p:cNvSpPr/>
          <p:nvPr/>
        </p:nvSpPr>
        <p:spPr>
          <a:xfrm>
            <a:off x="4416552" y="2176272"/>
            <a:ext cx="2011680" cy="219456"/>
          </a:xfrm>
          <a:prstGeom prst="rect">
            <a:avLst/>
          </a:prstGeom>
          <a:noFill/>
          <a:ln/>
        </p:spPr>
        <p:txBody>
          <a:bodyPr wrap="square" lIns="0" tIns="0" rIns="0" bIns="0" rtlCol="0" anchor="ctr"/>
          <a:lstStyle/>
          <a:p>
            <a:pPr marL="0" indent="0">
              <a:buNone/>
            </a:pPr>
            <a:r>
              <a:rPr lang="en-US" sz="880" b="1" kern="0" spc="100">
                <a:solidFill>
                  <a:srgbClr val="1FA697"/>
                </a:solidFill>
                <a:latin typeface="Calibri" pitchFamily="34" charset="0"/>
                <a:ea typeface="Calibri" pitchFamily="34" charset="-122"/>
                <a:cs typeface="Calibri" pitchFamily="34" charset="-120"/>
              </a:rPr>
              <a:t>DEVICE IP ADDRESS</a:t>
            </a:r>
            <a:endParaRPr lang="en-US" sz="880"/>
          </a:p>
        </p:txBody>
      </p:sp>
      <p:sp>
        <p:nvSpPr>
          <p:cNvPr id="12" name="Text 10"/>
          <p:cNvSpPr/>
          <p:nvPr/>
        </p:nvSpPr>
        <p:spPr>
          <a:xfrm>
            <a:off x="804672" y="2487168"/>
            <a:ext cx="73152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1</a:t>
            </a:r>
            <a:endParaRPr lang="en-US" sz="1000"/>
          </a:p>
        </p:txBody>
      </p:sp>
      <p:sp>
        <p:nvSpPr>
          <p:cNvPr id="13" name="Text 11"/>
          <p:cNvSpPr/>
          <p:nvPr/>
        </p:nvSpPr>
        <p:spPr>
          <a:xfrm>
            <a:off x="1581912" y="2487168"/>
            <a:ext cx="192024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Saturday, April 18</a:t>
            </a:r>
            <a:endParaRPr lang="en-US" sz="1000"/>
          </a:p>
        </p:txBody>
      </p:sp>
      <p:sp>
        <p:nvSpPr>
          <p:cNvPr id="14" name="Text 12"/>
          <p:cNvSpPr/>
          <p:nvPr/>
        </p:nvSpPr>
        <p:spPr>
          <a:xfrm>
            <a:off x="3547872" y="2487168"/>
            <a:ext cx="8229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10:43</a:t>
            </a:r>
            <a:endParaRPr lang="en-US" sz="1000"/>
          </a:p>
        </p:txBody>
      </p:sp>
      <p:sp>
        <p:nvSpPr>
          <p:cNvPr id="15" name="Text 13"/>
          <p:cNvSpPr/>
          <p:nvPr/>
        </p:nvSpPr>
        <p:spPr>
          <a:xfrm>
            <a:off x="4416552" y="2487168"/>
            <a:ext cx="21945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208.104.29.211</a:t>
            </a:r>
            <a:endParaRPr lang="en-US" sz="1000"/>
          </a:p>
        </p:txBody>
      </p:sp>
      <p:sp>
        <p:nvSpPr>
          <p:cNvPr id="16" name="Text 14"/>
          <p:cNvSpPr/>
          <p:nvPr/>
        </p:nvSpPr>
        <p:spPr>
          <a:xfrm>
            <a:off x="804672" y="2852928"/>
            <a:ext cx="73152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a:t>
            </a:r>
            <a:endParaRPr lang="en-US" sz="1000"/>
          </a:p>
        </p:txBody>
      </p:sp>
      <p:sp>
        <p:nvSpPr>
          <p:cNvPr id="17" name="Text 15"/>
          <p:cNvSpPr/>
          <p:nvPr/>
        </p:nvSpPr>
        <p:spPr>
          <a:xfrm>
            <a:off x="1581912" y="2852928"/>
            <a:ext cx="192024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Sunday, April 19</a:t>
            </a:r>
            <a:endParaRPr lang="en-US" sz="1000"/>
          </a:p>
        </p:txBody>
      </p:sp>
      <p:sp>
        <p:nvSpPr>
          <p:cNvPr id="18" name="Text 16"/>
          <p:cNvSpPr/>
          <p:nvPr/>
        </p:nvSpPr>
        <p:spPr>
          <a:xfrm>
            <a:off x="3547872" y="2852928"/>
            <a:ext cx="8229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20:51</a:t>
            </a:r>
            <a:endParaRPr lang="en-US" sz="1000"/>
          </a:p>
        </p:txBody>
      </p:sp>
      <p:sp>
        <p:nvSpPr>
          <p:cNvPr id="19" name="Text 17"/>
          <p:cNvSpPr/>
          <p:nvPr/>
        </p:nvSpPr>
        <p:spPr>
          <a:xfrm>
            <a:off x="4416552" y="2852928"/>
            <a:ext cx="21945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208.104.29.211</a:t>
            </a:r>
            <a:endParaRPr lang="en-US" sz="1000"/>
          </a:p>
        </p:txBody>
      </p:sp>
      <p:sp>
        <p:nvSpPr>
          <p:cNvPr id="20" name="Text 18"/>
          <p:cNvSpPr/>
          <p:nvPr/>
        </p:nvSpPr>
        <p:spPr>
          <a:xfrm>
            <a:off x="804672" y="3218688"/>
            <a:ext cx="73152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3</a:t>
            </a:r>
            <a:endParaRPr lang="en-US" sz="1000"/>
          </a:p>
        </p:txBody>
      </p:sp>
      <p:sp>
        <p:nvSpPr>
          <p:cNvPr id="21" name="Text 19"/>
          <p:cNvSpPr/>
          <p:nvPr/>
        </p:nvSpPr>
        <p:spPr>
          <a:xfrm>
            <a:off x="1581912" y="3218688"/>
            <a:ext cx="192024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Tuesday, April 21</a:t>
            </a:r>
            <a:endParaRPr lang="en-US" sz="1000"/>
          </a:p>
        </p:txBody>
      </p:sp>
      <p:sp>
        <p:nvSpPr>
          <p:cNvPr id="22" name="Text 20"/>
          <p:cNvSpPr/>
          <p:nvPr/>
        </p:nvSpPr>
        <p:spPr>
          <a:xfrm>
            <a:off x="3547872" y="3218688"/>
            <a:ext cx="8229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18:34</a:t>
            </a:r>
            <a:endParaRPr lang="en-US" sz="1000"/>
          </a:p>
        </p:txBody>
      </p:sp>
      <p:sp>
        <p:nvSpPr>
          <p:cNvPr id="23" name="Text 21"/>
          <p:cNvSpPr/>
          <p:nvPr/>
        </p:nvSpPr>
        <p:spPr>
          <a:xfrm>
            <a:off x="4416552" y="3218688"/>
            <a:ext cx="21945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208.104.29.211</a:t>
            </a:r>
            <a:endParaRPr lang="en-US" sz="1000"/>
          </a:p>
        </p:txBody>
      </p:sp>
      <p:sp>
        <p:nvSpPr>
          <p:cNvPr id="24" name="Shape 22"/>
          <p:cNvSpPr/>
          <p:nvPr/>
        </p:nvSpPr>
        <p:spPr>
          <a:xfrm>
            <a:off x="694944" y="3547872"/>
            <a:ext cx="5870448" cy="329184"/>
          </a:xfrm>
          <a:prstGeom prst="roundRect">
            <a:avLst>
              <a:gd name="adj" fmla="val 11111"/>
            </a:avLst>
          </a:prstGeom>
          <a:solidFill>
            <a:srgbClr val="3A2320"/>
          </a:solidFill>
          <a:ln/>
        </p:spPr>
        <p:txBody>
          <a:bodyPr/>
          <a:lstStyle/>
          <a:p>
            <a:endParaRPr lang="en-US"/>
          </a:p>
        </p:txBody>
      </p:sp>
      <p:sp>
        <p:nvSpPr>
          <p:cNvPr id="25" name="Text 23"/>
          <p:cNvSpPr/>
          <p:nvPr/>
        </p:nvSpPr>
        <p:spPr>
          <a:xfrm>
            <a:off x="804672" y="3584448"/>
            <a:ext cx="731520" cy="256032"/>
          </a:xfrm>
          <a:prstGeom prst="rect">
            <a:avLst/>
          </a:prstGeom>
          <a:noFill/>
          <a:ln/>
        </p:spPr>
        <p:txBody>
          <a:bodyPr wrap="square" lIns="0" tIns="0" rIns="0" bIns="0" rtlCol="0" anchor="ctr"/>
          <a:lstStyle/>
          <a:p>
            <a:pPr marL="0" indent="0">
              <a:buNone/>
            </a:pPr>
            <a:r>
              <a:rPr lang="en-US" sz="1000" b="1">
                <a:solidFill>
                  <a:srgbClr val="F2A03D"/>
                </a:solidFill>
                <a:latin typeface="Courier New" pitchFamily="34" charset="0"/>
                <a:ea typeface="Courier New" pitchFamily="34" charset="-122"/>
                <a:cs typeface="Courier New" pitchFamily="34" charset="-120"/>
              </a:rPr>
              <a:t>4</a:t>
            </a:r>
            <a:endParaRPr lang="en-US" sz="1000"/>
          </a:p>
        </p:txBody>
      </p:sp>
      <p:sp>
        <p:nvSpPr>
          <p:cNvPr id="26" name="Text 24"/>
          <p:cNvSpPr/>
          <p:nvPr/>
        </p:nvSpPr>
        <p:spPr>
          <a:xfrm>
            <a:off x="1581912" y="3584448"/>
            <a:ext cx="1920240" cy="256032"/>
          </a:xfrm>
          <a:prstGeom prst="rect">
            <a:avLst/>
          </a:prstGeom>
          <a:noFill/>
          <a:ln/>
        </p:spPr>
        <p:txBody>
          <a:bodyPr wrap="square" lIns="0" tIns="0" rIns="0" bIns="0" rtlCol="0" anchor="ctr"/>
          <a:lstStyle/>
          <a:p>
            <a:pPr marL="0" indent="0">
              <a:buNone/>
            </a:pPr>
            <a:r>
              <a:rPr lang="en-US" sz="1000" b="1">
                <a:solidFill>
                  <a:srgbClr val="F2A03D"/>
                </a:solidFill>
                <a:latin typeface="Courier New" pitchFamily="34" charset="0"/>
                <a:ea typeface="Courier New" pitchFamily="34" charset="-122"/>
                <a:cs typeface="Courier New" pitchFamily="34" charset="-120"/>
              </a:rPr>
              <a:t>Wednesday, April 22</a:t>
            </a:r>
            <a:endParaRPr lang="en-US" sz="1000"/>
          </a:p>
        </p:txBody>
      </p:sp>
      <p:sp>
        <p:nvSpPr>
          <p:cNvPr id="27" name="Text 25"/>
          <p:cNvSpPr/>
          <p:nvPr/>
        </p:nvSpPr>
        <p:spPr>
          <a:xfrm>
            <a:off x="3547872" y="3584448"/>
            <a:ext cx="822960" cy="256032"/>
          </a:xfrm>
          <a:prstGeom prst="rect">
            <a:avLst/>
          </a:prstGeom>
          <a:noFill/>
          <a:ln/>
        </p:spPr>
        <p:txBody>
          <a:bodyPr wrap="square" lIns="0" tIns="0" rIns="0" bIns="0" rtlCol="0" anchor="ctr"/>
          <a:lstStyle/>
          <a:p>
            <a:pPr marL="0" indent="0">
              <a:buNone/>
            </a:pPr>
            <a:r>
              <a:rPr lang="en-US" sz="1000" b="1">
                <a:solidFill>
                  <a:srgbClr val="F2A03D"/>
                </a:solidFill>
                <a:latin typeface="Courier New" pitchFamily="34" charset="0"/>
                <a:ea typeface="Courier New" pitchFamily="34" charset="-122"/>
                <a:cs typeface="Courier New" pitchFamily="34" charset="-120"/>
              </a:rPr>
              <a:t>11:13</a:t>
            </a:r>
            <a:endParaRPr lang="en-US" sz="1000"/>
          </a:p>
        </p:txBody>
      </p:sp>
      <p:sp>
        <p:nvSpPr>
          <p:cNvPr id="28" name="Text 26"/>
          <p:cNvSpPr/>
          <p:nvPr/>
        </p:nvSpPr>
        <p:spPr>
          <a:xfrm>
            <a:off x="4416552" y="3584448"/>
            <a:ext cx="2194560" cy="256032"/>
          </a:xfrm>
          <a:prstGeom prst="rect">
            <a:avLst/>
          </a:prstGeom>
          <a:noFill/>
          <a:ln/>
        </p:spPr>
        <p:txBody>
          <a:bodyPr wrap="square" lIns="0" tIns="0" rIns="0" bIns="0" rtlCol="0" anchor="ctr"/>
          <a:lstStyle/>
          <a:p>
            <a:pPr marL="0" indent="0">
              <a:buNone/>
            </a:pPr>
            <a:r>
              <a:rPr lang="en-US" sz="1000" b="1">
                <a:solidFill>
                  <a:srgbClr val="F2A03D"/>
                </a:solidFill>
                <a:latin typeface="Courier New" pitchFamily="34" charset="0"/>
                <a:ea typeface="Courier New" pitchFamily="34" charset="-122"/>
                <a:cs typeface="Courier New" pitchFamily="34" charset="-120"/>
              </a:rPr>
              <a:t>142.54.195.17</a:t>
            </a:r>
            <a:endParaRPr lang="en-US" sz="1000"/>
          </a:p>
        </p:txBody>
      </p:sp>
      <p:sp>
        <p:nvSpPr>
          <p:cNvPr id="29" name="Text 27"/>
          <p:cNvSpPr/>
          <p:nvPr/>
        </p:nvSpPr>
        <p:spPr>
          <a:xfrm>
            <a:off x="804672" y="3950208"/>
            <a:ext cx="73152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5</a:t>
            </a:r>
            <a:endParaRPr lang="en-US" sz="1000"/>
          </a:p>
        </p:txBody>
      </p:sp>
      <p:sp>
        <p:nvSpPr>
          <p:cNvPr id="30" name="Text 28"/>
          <p:cNvSpPr/>
          <p:nvPr/>
        </p:nvSpPr>
        <p:spPr>
          <a:xfrm>
            <a:off x="1581912" y="3950208"/>
            <a:ext cx="192024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Saturday, April 25</a:t>
            </a:r>
            <a:endParaRPr lang="en-US" sz="1000"/>
          </a:p>
        </p:txBody>
      </p:sp>
      <p:sp>
        <p:nvSpPr>
          <p:cNvPr id="31" name="Text 29"/>
          <p:cNvSpPr/>
          <p:nvPr/>
        </p:nvSpPr>
        <p:spPr>
          <a:xfrm>
            <a:off x="3547872" y="3950208"/>
            <a:ext cx="8229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13:21</a:t>
            </a:r>
            <a:endParaRPr lang="en-US" sz="1000"/>
          </a:p>
        </p:txBody>
      </p:sp>
      <p:sp>
        <p:nvSpPr>
          <p:cNvPr id="32" name="Text 30"/>
          <p:cNvSpPr/>
          <p:nvPr/>
        </p:nvSpPr>
        <p:spPr>
          <a:xfrm>
            <a:off x="4416552" y="3950208"/>
            <a:ext cx="21945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208.104.29.211</a:t>
            </a:r>
            <a:endParaRPr lang="en-US" sz="1000"/>
          </a:p>
        </p:txBody>
      </p:sp>
      <p:sp>
        <p:nvSpPr>
          <p:cNvPr id="33" name="Text 31"/>
          <p:cNvSpPr/>
          <p:nvPr/>
        </p:nvSpPr>
        <p:spPr>
          <a:xfrm>
            <a:off x="804672" y="4315968"/>
            <a:ext cx="73152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6</a:t>
            </a:r>
            <a:endParaRPr lang="en-US" sz="1000"/>
          </a:p>
        </p:txBody>
      </p:sp>
      <p:sp>
        <p:nvSpPr>
          <p:cNvPr id="34" name="Text 32"/>
          <p:cNvSpPr/>
          <p:nvPr/>
        </p:nvSpPr>
        <p:spPr>
          <a:xfrm>
            <a:off x="1581912" y="4315968"/>
            <a:ext cx="192024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Sunday, April 26</a:t>
            </a:r>
            <a:endParaRPr lang="en-US" sz="1000"/>
          </a:p>
        </p:txBody>
      </p:sp>
      <p:sp>
        <p:nvSpPr>
          <p:cNvPr id="35" name="Text 33"/>
          <p:cNvSpPr/>
          <p:nvPr/>
        </p:nvSpPr>
        <p:spPr>
          <a:xfrm>
            <a:off x="3547872" y="4315968"/>
            <a:ext cx="8229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21:18</a:t>
            </a:r>
            <a:endParaRPr lang="en-US" sz="1000"/>
          </a:p>
        </p:txBody>
      </p:sp>
      <p:sp>
        <p:nvSpPr>
          <p:cNvPr id="36" name="Text 34"/>
          <p:cNvSpPr/>
          <p:nvPr/>
        </p:nvSpPr>
        <p:spPr>
          <a:xfrm>
            <a:off x="4416552" y="4315968"/>
            <a:ext cx="21945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208.104.29.211</a:t>
            </a:r>
            <a:endParaRPr lang="en-US" sz="1000"/>
          </a:p>
        </p:txBody>
      </p:sp>
      <p:sp>
        <p:nvSpPr>
          <p:cNvPr id="37" name="Shape 35"/>
          <p:cNvSpPr/>
          <p:nvPr/>
        </p:nvSpPr>
        <p:spPr>
          <a:xfrm>
            <a:off x="694944" y="4645152"/>
            <a:ext cx="5870448" cy="329184"/>
          </a:xfrm>
          <a:prstGeom prst="roundRect">
            <a:avLst>
              <a:gd name="adj" fmla="val 11111"/>
            </a:avLst>
          </a:prstGeom>
          <a:solidFill>
            <a:srgbClr val="3A2320"/>
          </a:solidFill>
          <a:ln/>
        </p:spPr>
        <p:txBody>
          <a:bodyPr/>
          <a:lstStyle/>
          <a:p>
            <a:endParaRPr lang="en-US"/>
          </a:p>
        </p:txBody>
      </p:sp>
      <p:sp>
        <p:nvSpPr>
          <p:cNvPr id="38" name="Text 36"/>
          <p:cNvSpPr/>
          <p:nvPr/>
        </p:nvSpPr>
        <p:spPr>
          <a:xfrm>
            <a:off x="804672" y="4681728"/>
            <a:ext cx="731520" cy="256032"/>
          </a:xfrm>
          <a:prstGeom prst="rect">
            <a:avLst/>
          </a:prstGeom>
          <a:noFill/>
          <a:ln/>
        </p:spPr>
        <p:txBody>
          <a:bodyPr wrap="square" lIns="0" tIns="0" rIns="0" bIns="0" rtlCol="0" anchor="ctr"/>
          <a:lstStyle/>
          <a:p>
            <a:pPr marL="0" indent="0">
              <a:buNone/>
            </a:pPr>
            <a:r>
              <a:rPr lang="en-US" sz="1000" b="1">
                <a:solidFill>
                  <a:srgbClr val="F2A03D"/>
                </a:solidFill>
                <a:latin typeface="Courier New" pitchFamily="34" charset="0"/>
                <a:ea typeface="Courier New" pitchFamily="34" charset="-122"/>
                <a:cs typeface="Courier New" pitchFamily="34" charset="-120"/>
              </a:rPr>
              <a:t>7</a:t>
            </a:r>
            <a:endParaRPr lang="en-US" sz="1000"/>
          </a:p>
        </p:txBody>
      </p:sp>
      <p:sp>
        <p:nvSpPr>
          <p:cNvPr id="39" name="Text 37"/>
          <p:cNvSpPr/>
          <p:nvPr/>
        </p:nvSpPr>
        <p:spPr>
          <a:xfrm>
            <a:off x="1581912" y="4681728"/>
            <a:ext cx="1920240" cy="256032"/>
          </a:xfrm>
          <a:prstGeom prst="rect">
            <a:avLst/>
          </a:prstGeom>
          <a:noFill/>
          <a:ln/>
        </p:spPr>
        <p:txBody>
          <a:bodyPr wrap="square" lIns="0" tIns="0" rIns="0" bIns="0" rtlCol="0" anchor="ctr"/>
          <a:lstStyle/>
          <a:p>
            <a:pPr marL="0" indent="0">
              <a:buNone/>
            </a:pPr>
            <a:r>
              <a:rPr lang="en-US" sz="1000" b="1">
                <a:solidFill>
                  <a:srgbClr val="F2A03D"/>
                </a:solidFill>
                <a:latin typeface="Courier New" pitchFamily="34" charset="0"/>
                <a:ea typeface="Courier New" pitchFamily="34" charset="-122"/>
                <a:cs typeface="Courier New" pitchFamily="34" charset="-120"/>
              </a:rPr>
              <a:t>Monday, April 27</a:t>
            </a:r>
            <a:endParaRPr lang="en-US" sz="1000"/>
          </a:p>
        </p:txBody>
      </p:sp>
      <p:sp>
        <p:nvSpPr>
          <p:cNvPr id="40" name="Text 38"/>
          <p:cNvSpPr/>
          <p:nvPr/>
        </p:nvSpPr>
        <p:spPr>
          <a:xfrm>
            <a:off x="3547872" y="4681728"/>
            <a:ext cx="822960" cy="256032"/>
          </a:xfrm>
          <a:prstGeom prst="rect">
            <a:avLst/>
          </a:prstGeom>
          <a:noFill/>
          <a:ln/>
        </p:spPr>
        <p:txBody>
          <a:bodyPr wrap="square" lIns="0" tIns="0" rIns="0" bIns="0" rtlCol="0" anchor="ctr"/>
          <a:lstStyle/>
          <a:p>
            <a:pPr marL="0" indent="0">
              <a:buNone/>
            </a:pPr>
            <a:r>
              <a:rPr lang="en-US" sz="1000" b="1">
                <a:solidFill>
                  <a:srgbClr val="F2A03D"/>
                </a:solidFill>
                <a:latin typeface="Courier New" pitchFamily="34" charset="0"/>
                <a:ea typeface="Courier New" pitchFamily="34" charset="-122"/>
                <a:cs typeface="Courier New" pitchFamily="34" charset="-120"/>
              </a:rPr>
              <a:t>10:07</a:t>
            </a:r>
            <a:endParaRPr lang="en-US" sz="1000"/>
          </a:p>
        </p:txBody>
      </p:sp>
      <p:sp>
        <p:nvSpPr>
          <p:cNvPr id="41" name="Text 39"/>
          <p:cNvSpPr/>
          <p:nvPr/>
        </p:nvSpPr>
        <p:spPr>
          <a:xfrm>
            <a:off x="4416552" y="4681728"/>
            <a:ext cx="2194560" cy="256032"/>
          </a:xfrm>
          <a:prstGeom prst="rect">
            <a:avLst/>
          </a:prstGeom>
          <a:noFill/>
          <a:ln/>
        </p:spPr>
        <p:txBody>
          <a:bodyPr wrap="square" lIns="0" tIns="0" rIns="0" bIns="0" rtlCol="0" anchor="ctr"/>
          <a:lstStyle/>
          <a:p>
            <a:pPr marL="0" indent="0">
              <a:buNone/>
            </a:pPr>
            <a:r>
              <a:rPr lang="en-US" sz="1000" b="1">
                <a:solidFill>
                  <a:srgbClr val="F2A03D"/>
                </a:solidFill>
                <a:latin typeface="Courier New" pitchFamily="34" charset="0"/>
                <a:ea typeface="Courier New" pitchFamily="34" charset="-122"/>
                <a:cs typeface="Courier New" pitchFamily="34" charset="-120"/>
              </a:rPr>
              <a:t>142.54.195.17</a:t>
            </a:r>
            <a:endParaRPr lang="en-US" sz="1000"/>
          </a:p>
        </p:txBody>
      </p:sp>
      <p:sp>
        <p:nvSpPr>
          <p:cNvPr id="42" name="Text 40"/>
          <p:cNvSpPr/>
          <p:nvPr/>
        </p:nvSpPr>
        <p:spPr>
          <a:xfrm>
            <a:off x="804672" y="5047488"/>
            <a:ext cx="73152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8</a:t>
            </a:r>
            <a:endParaRPr lang="en-US" sz="1000"/>
          </a:p>
        </p:txBody>
      </p:sp>
      <p:sp>
        <p:nvSpPr>
          <p:cNvPr id="43" name="Text 41"/>
          <p:cNvSpPr/>
          <p:nvPr/>
        </p:nvSpPr>
        <p:spPr>
          <a:xfrm>
            <a:off x="1581912" y="5047488"/>
            <a:ext cx="192024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Wednesday, April 29</a:t>
            </a:r>
            <a:endParaRPr lang="en-US" sz="1000"/>
          </a:p>
        </p:txBody>
      </p:sp>
      <p:sp>
        <p:nvSpPr>
          <p:cNvPr id="44" name="Text 42"/>
          <p:cNvSpPr/>
          <p:nvPr/>
        </p:nvSpPr>
        <p:spPr>
          <a:xfrm>
            <a:off x="3547872" y="5047488"/>
            <a:ext cx="8229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19:12</a:t>
            </a:r>
            <a:endParaRPr lang="en-US" sz="1000"/>
          </a:p>
        </p:txBody>
      </p:sp>
      <p:sp>
        <p:nvSpPr>
          <p:cNvPr id="45" name="Text 43"/>
          <p:cNvSpPr/>
          <p:nvPr/>
        </p:nvSpPr>
        <p:spPr>
          <a:xfrm>
            <a:off x="4416552" y="5047488"/>
            <a:ext cx="2194560" cy="256032"/>
          </a:xfrm>
          <a:prstGeom prst="rect">
            <a:avLst/>
          </a:prstGeom>
          <a:noFill/>
          <a:ln/>
        </p:spPr>
        <p:txBody>
          <a:bodyPr wrap="square" lIns="0" tIns="0" rIns="0" bIns="0" rtlCol="0" anchor="ctr"/>
          <a:lstStyle/>
          <a:p>
            <a:pPr marL="0" indent="0">
              <a:buNone/>
            </a:pPr>
            <a:r>
              <a:rPr lang="en-US" sz="1000">
                <a:solidFill>
                  <a:srgbClr val="9AA3B2"/>
                </a:solidFill>
                <a:latin typeface="Courier New" pitchFamily="34" charset="0"/>
                <a:ea typeface="Courier New" pitchFamily="34" charset="-122"/>
                <a:cs typeface="Courier New" pitchFamily="34" charset="-120"/>
              </a:rPr>
              <a:t>208.104.29.211</a:t>
            </a:r>
            <a:endParaRPr lang="en-US" sz="1000"/>
          </a:p>
        </p:txBody>
      </p:sp>
      <p:sp>
        <p:nvSpPr>
          <p:cNvPr id="46" name="Shape 44"/>
          <p:cNvSpPr/>
          <p:nvPr/>
        </p:nvSpPr>
        <p:spPr>
          <a:xfrm>
            <a:off x="6967728" y="2011680"/>
            <a:ext cx="4654296" cy="1664208"/>
          </a:xfrm>
          <a:prstGeom prst="roundRect">
            <a:avLst>
              <a:gd name="adj" fmla="val 4945"/>
            </a:avLst>
          </a:prstGeom>
          <a:solidFill>
            <a:srgbClr val="1D2331"/>
          </a:solidFill>
          <a:ln/>
        </p:spPr>
        <p:txBody>
          <a:bodyPr/>
          <a:lstStyle/>
          <a:p>
            <a:endParaRPr lang="en-US"/>
          </a:p>
        </p:txBody>
      </p:sp>
      <p:sp>
        <p:nvSpPr>
          <p:cNvPr id="47" name="Text 45"/>
          <p:cNvSpPr/>
          <p:nvPr/>
        </p:nvSpPr>
        <p:spPr>
          <a:xfrm>
            <a:off x="7223760" y="2157984"/>
            <a:ext cx="36576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CONSIDER THE FOLLOWING</a:t>
            </a:r>
            <a:endParaRPr lang="en-US" sz="900"/>
          </a:p>
        </p:txBody>
      </p:sp>
      <p:sp>
        <p:nvSpPr>
          <p:cNvPr id="48" name="Text 46"/>
          <p:cNvSpPr/>
          <p:nvPr/>
        </p:nvSpPr>
        <p:spPr>
          <a:xfrm>
            <a:off x="7223760" y="2450592"/>
            <a:ext cx="228600"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1</a:t>
            </a:r>
            <a:endParaRPr lang="en-US" sz="1050"/>
          </a:p>
        </p:txBody>
      </p:sp>
      <p:sp>
        <p:nvSpPr>
          <p:cNvPr id="49" name="Text 47"/>
          <p:cNvSpPr/>
          <p:nvPr/>
        </p:nvSpPr>
        <p:spPr>
          <a:xfrm>
            <a:off x="7498080" y="2450592"/>
            <a:ext cx="3931920" cy="347472"/>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What types of information does this log contain?</a:t>
            </a:r>
            <a:endParaRPr lang="en-US" sz="1100"/>
          </a:p>
        </p:txBody>
      </p:sp>
      <p:sp>
        <p:nvSpPr>
          <p:cNvPr id="50" name="Text 48"/>
          <p:cNvSpPr/>
          <p:nvPr/>
        </p:nvSpPr>
        <p:spPr>
          <a:xfrm>
            <a:off x="7223760" y="2834640"/>
            <a:ext cx="228600"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2</a:t>
            </a:r>
            <a:endParaRPr lang="en-US" sz="1050"/>
          </a:p>
        </p:txBody>
      </p:sp>
      <p:sp>
        <p:nvSpPr>
          <p:cNvPr id="51" name="Text 49"/>
          <p:cNvSpPr/>
          <p:nvPr/>
        </p:nvSpPr>
        <p:spPr>
          <a:xfrm>
            <a:off x="7498080" y="2834640"/>
            <a:ext cx="3931920" cy="347472"/>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What patterns do you notice?</a:t>
            </a:r>
            <a:endParaRPr lang="en-US" sz="1100"/>
          </a:p>
        </p:txBody>
      </p:sp>
      <p:sp>
        <p:nvSpPr>
          <p:cNvPr id="52" name="Text 50"/>
          <p:cNvSpPr/>
          <p:nvPr/>
        </p:nvSpPr>
        <p:spPr>
          <a:xfrm>
            <a:off x="7223760" y="3218688"/>
            <a:ext cx="228600"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3</a:t>
            </a:r>
            <a:endParaRPr lang="en-US" sz="1050"/>
          </a:p>
        </p:txBody>
      </p:sp>
      <p:sp>
        <p:nvSpPr>
          <p:cNvPr id="53" name="Text 51"/>
          <p:cNvSpPr/>
          <p:nvPr/>
        </p:nvSpPr>
        <p:spPr>
          <a:xfrm>
            <a:off x="7498080" y="3218688"/>
            <a:ext cx="3931920" cy="347472"/>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Which entries are suspicious, and why?</a:t>
            </a:r>
            <a:endParaRPr lang="en-US" sz="1100"/>
          </a:p>
        </p:txBody>
      </p:sp>
      <p:sp>
        <p:nvSpPr>
          <p:cNvPr id="54" name="Shape 52"/>
          <p:cNvSpPr/>
          <p:nvPr/>
        </p:nvSpPr>
        <p:spPr>
          <a:xfrm>
            <a:off x="6967728" y="3822192"/>
            <a:ext cx="4654296" cy="1709928"/>
          </a:xfrm>
          <a:prstGeom prst="roundRect">
            <a:avLst>
              <a:gd name="adj" fmla="val 4813"/>
            </a:avLst>
          </a:prstGeom>
          <a:solidFill>
            <a:srgbClr val="1D2331"/>
          </a:solidFill>
          <a:ln w="12700">
            <a:solidFill>
              <a:srgbClr val="1FA697"/>
            </a:solidFill>
            <a:prstDash val="solid"/>
          </a:ln>
        </p:spPr>
        <p:txBody>
          <a:bodyPr/>
          <a:lstStyle/>
          <a:p>
            <a:endParaRPr lang="en-US"/>
          </a:p>
        </p:txBody>
      </p:sp>
      <p:sp>
        <p:nvSpPr>
          <p:cNvPr id="55" name="Text 53"/>
          <p:cNvSpPr/>
          <p:nvPr/>
        </p:nvSpPr>
        <p:spPr>
          <a:xfrm>
            <a:off x="7223760" y="3968496"/>
            <a:ext cx="36576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HOW TO REASON ABOUT IT</a:t>
            </a:r>
            <a:endParaRPr lang="en-US" sz="900"/>
          </a:p>
        </p:txBody>
      </p:sp>
      <p:sp>
        <p:nvSpPr>
          <p:cNvPr id="56" name="Text 54"/>
          <p:cNvSpPr/>
          <p:nvPr/>
        </p:nvSpPr>
        <p:spPr>
          <a:xfrm>
            <a:off x="7223760" y="4224528"/>
            <a:ext cx="4160520" cy="1234440"/>
          </a:xfrm>
          <a:prstGeom prst="rect">
            <a:avLst/>
          </a:prstGeom>
          <a:noFill/>
          <a:ln/>
        </p:spPr>
        <p:txBody>
          <a:bodyPr wrap="square" lIns="0" tIns="0" rIns="0" bIns="0" rtlCol="0" anchor="t"/>
          <a:lstStyle/>
          <a:p>
            <a:pPr marL="0" indent="0">
              <a:lnSpc>
                <a:spcPts val="1360"/>
              </a:lnSpc>
              <a:buNone/>
            </a:pPr>
            <a:r>
              <a:rPr lang="en-US" sz="1030">
                <a:solidFill>
                  <a:srgbClr val="9AA3B2"/>
                </a:solidFill>
                <a:latin typeface="Calibri" pitchFamily="34" charset="0"/>
                <a:ea typeface="Calibri" pitchFamily="34" charset="-122"/>
                <a:cs typeface="Calibri" pitchFamily="34" charset="-120"/>
              </a:rPr>
              <a:t>Two things change together in entries 4 and 7: an unfamiliar IP address, and a weekday mid-morning time when the owner has said they are at school. Either alone is weak; together they are a genuine indicator. Note also what the log does NOT contain — no device names, no location, no success-or-failure column — so you can say access was anomalous, not who it was.</a:t>
            </a:r>
            <a:endParaRPr lang="en-US" sz="1030"/>
          </a:p>
        </p:txBody>
      </p:sp>
      <p:sp>
        <p:nvSpPr>
          <p:cNvPr id="57" name="Text 5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58" name="Text 5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26</a:t>
            </a:r>
            <a:endParaRPr lang="en-US" sz="9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66928" y="384048"/>
            <a:ext cx="1481328" cy="274320"/>
          </a:xfrm>
          <a:prstGeom prst="roundRect">
            <a:avLst>
              <a:gd name="adj" fmla="val 20000"/>
            </a:avLst>
          </a:prstGeom>
          <a:solidFill>
            <a:srgbClr val="12141C"/>
          </a:solidFill>
          <a:ln/>
        </p:spPr>
        <p:txBody>
          <a:bodyPr/>
          <a:lstStyle/>
          <a:p>
            <a:endParaRPr lang="en-US"/>
          </a:p>
        </p:txBody>
      </p:sp>
      <p:sp>
        <p:nvSpPr>
          <p:cNvPr id="3" name="Text 1"/>
          <p:cNvSpPr/>
          <p:nvPr/>
        </p:nvSpPr>
        <p:spPr>
          <a:xfrm>
            <a:off x="566928" y="384048"/>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CHECK</a:t>
            </a:r>
            <a:endParaRPr lang="en-US" sz="950"/>
          </a:p>
        </p:txBody>
      </p:sp>
      <p:sp>
        <p:nvSpPr>
          <p:cNvPr id="4" name="Text 2"/>
          <p:cNvSpPr/>
          <p:nvPr/>
        </p:nvSpPr>
        <p:spPr>
          <a:xfrm>
            <a:off x="2231136" y="384048"/>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TOPIC 1.2</a:t>
            </a:r>
            <a:endParaRPr lang="en-US" sz="1050"/>
          </a:p>
        </p:txBody>
      </p:sp>
      <p:sp>
        <p:nvSpPr>
          <p:cNvPr id="5" name="Text 3"/>
          <p:cNvSpPr/>
          <p:nvPr/>
        </p:nvSpPr>
        <p:spPr>
          <a:xfrm>
            <a:off x="566928" y="804672"/>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Check for understanding</a:t>
            </a:r>
            <a:endParaRPr lang="en-US" sz="3000"/>
          </a:p>
        </p:txBody>
      </p:sp>
      <p:sp>
        <p:nvSpPr>
          <p:cNvPr id="6" name="Shape 4"/>
          <p:cNvSpPr/>
          <p:nvPr/>
        </p:nvSpPr>
        <p:spPr>
          <a:xfrm>
            <a:off x="566928" y="1627632"/>
            <a:ext cx="11057839" cy="914400"/>
          </a:xfrm>
          <a:prstGeom prst="roundRect">
            <a:avLst>
              <a:gd name="adj" fmla="val 9000"/>
            </a:avLst>
          </a:prstGeom>
          <a:solidFill>
            <a:srgbClr val="EAF0FA"/>
          </a:solidFill>
          <a:ln/>
        </p:spPr>
        <p:txBody>
          <a:bodyPr/>
          <a:lstStyle/>
          <a:p>
            <a:endParaRPr lang="en-US"/>
          </a:p>
        </p:txBody>
      </p:sp>
      <p:sp>
        <p:nvSpPr>
          <p:cNvPr id="7" name="Shape 5"/>
          <p:cNvSpPr/>
          <p:nvPr/>
        </p:nvSpPr>
        <p:spPr>
          <a:xfrm>
            <a:off x="804672" y="1773936"/>
            <a:ext cx="868680" cy="237744"/>
          </a:xfrm>
          <a:prstGeom prst="roundRect">
            <a:avLst>
              <a:gd name="adj" fmla="val 23077"/>
            </a:avLst>
          </a:prstGeom>
          <a:solidFill>
            <a:srgbClr val="1FA697"/>
          </a:solidFill>
          <a:ln/>
        </p:spPr>
        <p:txBody>
          <a:bodyPr/>
          <a:lstStyle/>
          <a:p>
            <a:endParaRPr lang="en-US"/>
          </a:p>
        </p:txBody>
      </p:sp>
      <p:sp>
        <p:nvSpPr>
          <p:cNvPr id="8" name="Text 6"/>
          <p:cNvSpPr/>
          <p:nvPr/>
        </p:nvSpPr>
        <p:spPr>
          <a:xfrm>
            <a:off x="804672" y="1773936"/>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Recall</a:t>
            </a:r>
            <a:endParaRPr lang="en-US" sz="900"/>
          </a:p>
        </p:txBody>
      </p:sp>
      <p:sp>
        <p:nvSpPr>
          <p:cNvPr id="9" name="Text 7"/>
          <p:cNvSpPr/>
          <p:nvPr/>
        </p:nvSpPr>
        <p:spPr>
          <a:xfrm>
            <a:off x="1828800" y="1755648"/>
            <a:ext cx="274320" cy="274320"/>
          </a:xfrm>
          <a:prstGeom prst="rect">
            <a:avLst/>
          </a:prstGeom>
          <a:noFill/>
          <a:ln/>
        </p:spPr>
        <p:txBody>
          <a:bodyPr wrap="square" lIns="0" tIns="0" rIns="0" bIns="0" rtlCol="0" anchor="ctr"/>
          <a:lstStyle/>
          <a:p>
            <a:pPr marL="0" indent="0">
              <a:buNone/>
            </a:pPr>
            <a:r>
              <a:rPr lang="en-US" sz="1500" b="1">
                <a:solidFill>
                  <a:srgbClr val="1FA697"/>
                </a:solidFill>
                <a:latin typeface="Cambria" pitchFamily="34" charset="0"/>
                <a:ea typeface="Cambria" pitchFamily="34" charset="-122"/>
                <a:cs typeface="Cambria" pitchFamily="34" charset="-120"/>
              </a:rPr>
              <a:t>1</a:t>
            </a:r>
            <a:endParaRPr lang="en-US" sz="1500"/>
          </a:p>
        </p:txBody>
      </p:sp>
      <p:sp>
        <p:nvSpPr>
          <p:cNvPr id="10" name="Text 8"/>
          <p:cNvSpPr/>
          <p:nvPr/>
        </p:nvSpPr>
        <p:spPr>
          <a:xfrm>
            <a:off x="2194560" y="1773936"/>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List the three signs of an online password attack given in the course framework.</a:t>
            </a:r>
            <a:endParaRPr lang="en-US" sz="1180"/>
          </a:p>
        </p:txBody>
      </p:sp>
      <p:sp>
        <p:nvSpPr>
          <p:cNvPr id="11" name="Shape 9"/>
          <p:cNvSpPr/>
          <p:nvPr/>
        </p:nvSpPr>
        <p:spPr>
          <a:xfrm>
            <a:off x="566928" y="2651760"/>
            <a:ext cx="11057839" cy="914400"/>
          </a:xfrm>
          <a:prstGeom prst="roundRect">
            <a:avLst>
              <a:gd name="adj" fmla="val 9000"/>
            </a:avLst>
          </a:prstGeom>
          <a:solidFill>
            <a:srgbClr val="E6F5F3"/>
          </a:solidFill>
          <a:ln/>
        </p:spPr>
        <p:txBody>
          <a:bodyPr/>
          <a:lstStyle/>
          <a:p>
            <a:endParaRPr lang="en-US"/>
          </a:p>
        </p:txBody>
      </p:sp>
      <p:sp>
        <p:nvSpPr>
          <p:cNvPr id="12" name="Shape 10"/>
          <p:cNvSpPr/>
          <p:nvPr/>
        </p:nvSpPr>
        <p:spPr>
          <a:xfrm>
            <a:off x="804672" y="2798064"/>
            <a:ext cx="868680" cy="237744"/>
          </a:xfrm>
          <a:prstGeom prst="roundRect">
            <a:avLst>
              <a:gd name="adj" fmla="val 23077"/>
            </a:avLst>
          </a:prstGeom>
          <a:solidFill>
            <a:srgbClr val="1FA697"/>
          </a:solidFill>
          <a:ln/>
        </p:spPr>
        <p:txBody>
          <a:bodyPr/>
          <a:lstStyle/>
          <a:p>
            <a:endParaRPr lang="en-US"/>
          </a:p>
        </p:txBody>
      </p:sp>
      <p:sp>
        <p:nvSpPr>
          <p:cNvPr id="13" name="Text 11"/>
          <p:cNvSpPr/>
          <p:nvPr/>
        </p:nvSpPr>
        <p:spPr>
          <a:xfrm>
            <a:off x="804672" y="2798064"/>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Distinguish</a:t>
            </a:r>
            <a:endParaRPr lang="en-US" sz="900"/>
          </a:p>
        </p:txBody>
      </p:sp>
      <p:sp>
        <p:nvSpPr>
          <p:cNvPr id="14" name="Text 12"/>
          <p:cNvSpPr/>
          <p:nvPr/>
        </p:nvSpPr>
        <p:spPr>
          <a:xfrm>
            <a:off x="1828800" y="2779776"/>
            <a:ext cx="274320" cy="274320"/>
          </a:xfrm>
          <a:prstGeom prst="rect">
            <a:avLst/>
          </a:prstGeom>
          <a:noFill/>
          <a:ln/>
        </p:spPr>
        <p:txBody>
          <a:bodyPr wrap="square" lIns="0" tIns="0" rIns="0" bIns="0" rtlCol="0" anchor="ctr"/>
          <a:lstStyle/>
          <a:p>
            <a:pPr marL="0" indent="0">
              <a:buNone/>
            </a:pPr>
            <a:r>
              <a:rPr lang="en-US" sz="1500" b="1">
                <a:solidFill>
                  <a:srgbClr val="1FA697"/>
                </a:solidFill>
                <a:latin typeface="Cambria" pitchFamily="34" charset="0"/>
                <a:ea typeface="Cambria" pitchFamily="34" charset="-122"/>
                <a:cs typeface="Cambria" pitchFamily="34" charset="-120"/>
              </a:rPr>
              <a:t>2</a:t>
            </a:r>
            <a:endParaRPr lang="en-US" sz="1500"/>
          </a:p>
        </p:txBody>
      </p:sp>
      <p:sp>
        <p:nvSpPr>
          <p:cNvPr id="15" name="Text 13"/>
          <p:cNvSpPr/>
          <p:nvPr/>
        </p:nvSpPr>
        <p:spPr>
          <a:xfrm>
            <a:off x="2194560" y="2798064"/>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One log shows 400 failed logins against a single account in two minutes. Another shows one failed login against each of 400 accounts using the same password. Name each attack and explain how you told them apart.</a:t>
            </a:r>
            <a:endParaRPr lang="en-US" sz="1180"/>
          </a:p>
        </p:txBody>
      </p:sp>
      <p:sp>
        <p:nvSpPr>
          <p:cNvPr id="16" name="Shape 14"/>
          <p:cNvSpPr/>
          <p:nvPr/>
        </p:nvSpPr>
        <p:spPr>
          <a:xfrm>
            <a:off x="566928" y="3675888"/>
            <a:ext cx="11057839" cy="914400"/>
          </a:xfrm>
          <a:prstGeom prst="roundRect">
            <a:avLst>
              <a:gd name="adj" fmla="val 9000"/>
            </a:avLst>
          </a:prstGeom>
          <a:solidFill>
            <a:srgbClr val="FDF2E2"/>
          </a:solidFill>
          <a:ln/>
        </p:spPr>
        <p:txBody>
          <a:bodyPr/>
          <a:lstStyle/>
          <a:p>
            <a:endParaRPr lang="en-US"/>
          </a:p>
        </p:txBody>
      </p:sp>
      <p:sp>
        <p:nvSpPr>
          <p:cNvPr id="17" name="Shape 15"/>
          <p:cNvSpPr/>
          <p:nvPr/>
        </p:nvSpPr>
        <p:spPr>
          <a:xfrm>
            <a:off x="804672" y="3822192"/>
            <a:ext cx="868680" cy="237744"/>
          </a:xfrm>
          <a:prstGeom prst="roundRect">
            <a:avLst>
              <a:gd name="adj" fmla="val 23077"/>
            </a:avLst>
          </a:prstGeom>
          <a:solidFill>
            <a:srgbClr val="1FA697"/>
          </a:solidFill>
          <a:ln/>
        </p:spPr>
        <p:txBody>
          <a:bodyPr/>
          <a:lstStyle/>
          <a:p>
            <a:endParaRPr lang="en-US"/>
          </a:p>
        </p:txBody>
      </p:sp>
      <p:sp>
        <p:nvSpPr>
          <p:cNvPr id="18" name="Text 16"/>
          <p:cNvSpPr/>
          <p:nvPr/>
        </p:nvSpPr>
        <p:spPr>
          <a:xfrm>
            <a:off x="804672" y="3822192"/>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Explain</a:t>
            </a:r>
            <a:endParaRPr lang="en-US" sz="900"/>
          </a:p>
        </p:txBody>
      </p:sp>
      <p:sp>
        <p:nvSpPr>
          <p:cNvPr id="19" name="Text 17"/>
          <p:cNvSpPr/>
          <p:nvPr/>
        </p:nvSpPr>
        <p:spPr>
          <a:xfrm>
            <a:off x="1828800" y="3803904"/>
            <a:ext cx="274320" cy="274320"/>
          </a:xfrm>
          <a:prstGeom prst="rect">
            <a:avLst/>
          </a:prstGeom>
          <a:noFill/>
          <a:ln/>
        </p:spPr>
        <p:txBody>
          <a:bodyPr wrap="square" lIns="0" tIns="0" rIns="0" bIns="0" rtlCol="0" anchor="ctr"/>
          <a:lstStyle/>
          <a:p>
            <a:pPr marL="0" indent="0">
              <a:buNone/>
            </a:pPr>
            <a:r>
              <a:rPr lang="en-US" sz="1500" b="1">
                <a:solidFill>
                  <a:srgbClr val="1FA697"/>
                </a:solidFill>
                <a:latin typeface="Cambria" pitchFamily="34" charset="0"/>
                <a:ea typeface="Cambria" pitchFamily="34" charset="-122"/>
                <a:cs typeface="Cambria" pitchFamily="34" charset="-120"/>
              </a:rPr>
              <a:t>3</a:t>
            </a:r>
            <a:endParaRPr lang="en-US" sz="1500"/>
          </a:p>
        </p:txBody>
      </p:sp>
      <p:sp>
        <p:nvSpPr>
          <p:cNvPr id="20" name="Text 18"/>
          <p:cNvSpPr/>
          <p:nvPr/>
        </p:nvSpPr>
        <p:spPr>
          <a:xfrm>
            <a:off x="2194560" y="3822192"/>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 student uses the same password on a games site and on their school email. Explain, in cause-and-effect steps, how a breach of the games site can lead to their classmates receiving phishing emails.</a:t>
            </a:r>
            <a:endParaRPr lang="en-US" sz="1180"/>
          </a:p>
        </p:txBody>
      </p:sp>
      <p:sp>
        <p:nvSpPr>
          <p:cNvPr id="21" name="Shape 19"/>
          <p:cNvSpPr/>
          <p:nvPr/>
        </p:nvSpPr>
        <p:spPr>
          <a:xfrm>
            <a:off x="566928" y="4700016"/>
            <a:ext cx="11057839" cy="914400"/>
          </a:xfrm>
          <a:prstGeom prst="roundRect">
            <a:avLst>
              <a:gd name="adj" fmla="val 9000"/>
            </a:avLst>
          </a:prstGeom>
          <a:solidFill>
            <a:srgbClr val="EFEDFA"/>
          </a:solidFill>
          <a:ln/>
        </p:spPr>
        <p:txBody>
          <a:bodyPr/>
          <a:lstStyle/>
          <a:p>
            <a:endParaRPr lang="en-US"/>
          </a:p>
        </p:txBody>
      </p:sp>
      <p:sp>
        <p:nvSpPr>
          <p:cNvPr id="22" name="Shape 20"/>
          <p:cNvSpPr/>
          <p:nvPr/>
        </p:nvSpPr>
        <p:spPr>
          <a:xfrm>
            <a:off x="804672" y="4846320"/>
            <a:ext cx="868680" cy="237744"/>
          </a:xfrm>
          <a:prstGeom prst="roundRect">
            <a:avLst>
              <a:gd name="adj" fmla="val 23077"/>
            </a:avLst>
          </a:prstGeom>
          <a:solidFill>
            <a:srgbClr val="1FA697"/>
          </a:solidFill>
          <a:ln/>
        </p:spPr>
        <p:txBody>
          <a:bodyPr/>
          <a:lstStyle/>
          <a:p>
            <a:endParaRPr lang="en-US"/>
          </a:p>
        </p:txBody>
      </p:sp>
      <p:sp>
        <p:nvSpPr>
          <p:cNvPr id="23" name="Text 21"/>
          <p:cNvSpPr/>
          <p:nvPr/>
        </p:nvSpPr>
        <p:spPr>
          <a:xfrm>
            <a:off x="804672" y="4846320"/>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Evaluate</a:t>
            </a:r>
            <a:endParaRPr lang="en-US" sz="900"/>
          </a:p>
        </p:txBody>
      </p:sp>
      <p:sp>
        <p:nvSpPr>
          <p:cNvPr id="24" name="Text 22"/>
          <p:cNvSpPr/>
          <p:nvPr/>
        </p:nvSpPr>
        <p:spPr>
          <a:xfrm>
            <a:off x="1828800" y="4828032"/>
            <a:ext cx="274320" cy="274320"/>
          </a:xfrm>
          <a:prstGeom prst="rect">
            <a:avLst/>
          </a:prstGeom>
          <a:noFill/>
          <a:ln/>
        </p:spPr>
        <p:txBody>
          <a:bodyPr wrap="square" lIns="0" tIns="0" rIns="0" bIns="0" rtlCol="0" anchor="ctr"/>
          <a:lstStyle/>
          <a:p>
            <a:pPr marL="0" indent="0">
              <a:buNone/>
            </a:pPr>
            <a:r>
              <a:rPr lang="en-US" sz="1500" b="1">
                <a:solidFill>
                  <a:srgbClr val="1FA697"/>
                </a:solidFill>
                <a:latin typeface="Cambria" pitchFamily="34" charset="0"/>
                <a:ea typeface="Cambria" pitchFamily="34" charset="-122"/>
                <a:cs typeface="Cambria" pitchFamily="34" charset="-120"/>
              </a:rPr>
              <a:t>4</a:t>
            </a:r>
            <a:endParaRPr lang="en-US" sz="1500"/>
          </a:p>
        </p:txBody>
      </p:sp>
      <p:sp>
        <p:nvSpPr>
          <p:cNvPr id="25" name="Text 23"/>
          <p:cNvSpPr/>
          <p:nvPr/>
        </p:nvSpPr>
        <p:spPr>
          <a:xfrm>
            <a:off x="2194560" y="4846320"/>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Which is the stronger single improvement for a person who currently reuses one weak password everywhere: switching on MFA, or adopting a password manager? Justify your choice and state what your choice does not fix.</a:t>
            </a:r>
            <a:endParaRPr lang="en-US" sz="1180"/>
          </a:p>
        </p:txBody>
      </p:sp>
      <p:sp>
        <p:nvSpPr>
          <p:cNvPr id="26" name="Shape 24"/>
          <p:cNvSpPr/>
          <p:nvPr/>
        </p:nvSpPr>
        <p:spPr>
          <a:xfrm>
            <a:off x="566928" y="5779008"/>
            <a:ext cx="11057839" cy="512064"/>
          </a:xfrm>
          <a:prstGeom prst="roundRect">
            <a:avLst>
              <a:gd name="adj" fmla="val 14286"/>
            </a:avLst>
          </a:prstGeom>
          <a:solidFill>
            <a:srgbClr val="12141C"/>
          </a:solidFill>
          <a:ln/>
        </p:spPr>
        <p:txBody>
          <a:bodyPr/>
          <a:lstStyle/>
          <a:p>
            <a:endParaRPr lang="en-US"/>
          </a:p>
        </p:txBody>
      </p:sp>
      <p:pic>
        <p:nvPicPr>
          <p:cNvPr id="27" name="Image 0" descr="/home/claude/icons/FaClipboardCheck_w.png"/>
          <p:cNvPicPr>
            <a:picLocks noChangeAspect="1"/>
          </p:cNvPicPr>
          <p:nvPr/>
        </p:nvPicPr>
        <p:blipFill>
          <a:blip r:embed="rId3"/>
          <a:stretch>
            <a:fillRect/>
          </a:stretch>
        </p:blipFill>
        <p:spPr>
          <a:xfrm>
            <a:off x="768096" y="5920740"/>
            <a:ext cx="228600" cy="228600"/>
          </a:xfrm>
          <a:prstGeom prst="rect">
            <a:avLst/>
          </a:prstGeom>
        </p:spPr>
      </p:pic>
      <p:sp>
        <p:nvSpPr>
          <p:cNvPr id="28" name="Text 25"/>
          <p:cNvSpPr/>
          <p:nvPr/>
        </p:nvSpPr>
        <p:spPr>
          <a:xfrm>
            <a:off x="1133856" y="5779008"/>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Exit ticket: write the one line from an authentication log that would most worry you, and say what it proves.</a:t>
            </a:r>
            <a:endParaRPr lang="en-US" sz="1150"/>
          </a:p>
        </p:txBody>
      </p:sp>
      <p:sp>
        <p:nvSpPr>
          <p:cNvPr id="29" name="Text 2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0" name="Text 2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27</a:t>
            </a:r>
            <a:endParaRPr lang="en-US" sz="9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6720840" y="0"/>
            <a:ext cx="5468112" cy="6858000"/>
          </a:xfrm>
          <a:prstGeom prst="roundRect">
            <a:avLst/>
          </a:prstGeom>
          <a:solidFill>
            <a:srgbClr val="1D2331"/>
          </a:solidFill>
          <a:ln/>
        </p:spPr>
        <p:txBody>
          <a:bodyPr/>
          <a:lstStyle/>
          <a:p>
            <a:endParaRPr lang="en-US"/>
          </a:p>
        </p:txBody>
      </p:sp>
      <p:sp>
        <p:nvSpPr>
          <p:cNvPr id="3" name="Text 1"/>
          <p:cNvSpPr/>
          <p:nvPr/>
        </p:nvSpPr>
        <p:spPr>
          <a:xfrm>
            <a:off x="566928" y="1234440"/>
            <a:ext cx="5669280" cy="237744"/>
          </a:xfrm>
          <a:prstGeom prst="rect">
            <a:avLst/>
          </a:prstGeom>
          <a:noFill/>
          <a:ln/>
        </p:spPr>
        <p:txBody>
          <a:bodyPr wrap="square" lIns="0" tIns="0" rIns="0" bIns="0" rtlCol="0" anchor="ctr"/>
          <a:lstStyle/>
          <a:p>
            <a:pPr marL="0" indent="0">
              <a:buNone/>
            </a:pPr>
            <a:r>
              <a:rPr lang="en-US" sz="1050" b="1" kern="0" spc="160">
                <a:solidFill>
                  <a:srgbClr val="D9483F"/>
                </a:solidFill>
                <a:latin typeface="Calibri" pitchFamily="34" charset="0"/>
                <a:ea typeface="Calibri" pitchFamily="34" charset="-122"/>
                <a:cs typeface="Calibri" pitchFamily="34" charset="-120"/>
              </a:rPr>
              <a:t>TOPIC 1.3   ·   ~2 class periods</a:t>
            </a:r>
            <a:endParaRPr lang="en-US" sz="1050"/>
          </a:p>
        </p:txBody>
      </p:sp>
      <p:sp>
        <p:nvSpPr>
          <p:cNvPr id="4" name="Text 2"/>
          <p:cNvSpPr/>
          <p:nvPr/>
        </p:nvSpPr>
        <p:spPr>
          <a:xfrm>
            <a:off x="566928" y="1627632"/>
            <a:ext cx="5760720" cy="1554480"/>
          </a:xfrm>
          <a:prstGeom prst="rect">
            <a:avLst/>
          </a:prstGeom>
          <a:noFill/>
          <a:ln/>
        </p:spPr>
        <p:txBody>
          <a:bodyPr wrap="square" lIns="0" tIns="0" rIns="0" bIns="0" rtlCol="0" anchor="ctr"/>
          <a:lstStyle/>
          <a:p>
            <a:pPr marL="0" indent="0">
              <a:lnSpc>
                <a:spcPts val="4400"/>
              </a:lnSpc>
              <a:buNone/>
            </a:pPr>
            <a:r>
              <a:rPr lang="en-US" sz="4000" b="1">
                <a:solidFill>
                  <a:srgbClr val="FFFFFF"/>
                </a:solidFill>
                <a:latin typeface="Cambria" pitchFamily="34" charset="0"/>
                <a:ea typeface="Cambria" pitchFamily="34" charset="-122"/>
                <a:cs typeface="Cambria" pitchFamily="34" charset="-120"/>
              </a:rPr>
              <a:t>Best Practices</a:t>
            </a:r>
            <a:endParaRPr lang="en-US" sz="4000"/>
          </a:p>
          <a:p>
            <a:pPr marL="0" indent="0">
              <a:lnSpc>
                <a:spcPts val="4400"/>
              </a:lnSpc>
              <a:buNone/>
            </a:pPr>
            <a:r>
              <a:rPr lang="en-US" sz="4000" b="1">
                <a:solidFill>
                  <a:srgbClr val="FFFFFF"/>
                </a:solidFill>
                <a:latin typeface="Cambria" pitchFamily="34" charset="0"/>
                <a:ea typeface="Cambria" pitchFamily="34" charset="-122"/>
                <a:cs typeface="Cambria" pitchFamily="34" charset="-120"/>
              </a:rPr>
              <a:t>for Public Networks</a:t>
            </a:r>
            <a:endParaRPr lang="en-US" sz="4000"/>
          </a:p>
        </p:txBody>
      </p:sp>
      <p:sp>
        <p:nvSpPr>
          <p:cNvPr id="5" name="Shape 3"/>
          <p:cNvSpPr/>
          <p:nvPr/>
        </p:nvSpPr>
        <p:spPr>
          <a:xfrm>
            <a:off x="566928" y="3310128"/>
            <a:ext cx="4023360" cy="10973"/>
          </a:xfrm>
          <a:prstGeom prst="rect">
            <a:avLst/>
          </a:prstGeom>
          <a:solidFill>
            <a:srgbClr val="2C3446"/>
          </a:solidFill>
          <a:ln/>
        </p:spPr>
        <p:txBody>
          <a:bodyPr/>
          <a:lstStyle/>
          <a:p>
            <a:endParaRPr lang="en-US"/>
          </a:p>
        </p:txBody>
      </p:sp>
      <p:sp>
        <p:nvSpPr>
          <p:cNvPr id="6" name="Text 4"/>
          <p:cNvSpPr/>
          <p:nvPr/>
        </p:nvSpPr>
        <p:spPr>
          <a:xfrm>
            <a:off x="566928" y="3493008"/>
            <a:ext cx="5577840" cy="914400"/>
          </a:xfrm>
          <a:prstGeom prst="rect">
            <a:avLst/>
          </a:prstGeom>
          <a:noFill/>
          <a:ln/>
        </p:spPr>
        <p:txBody>
          <a:bodyPr wrap="square" lIns="0" tIns="0" rIns="0" bIns="0" rtlCol="0" anchor="ctr"/>
          <a:lstStyle/>
          <a:p>
            <a:pPr marL="0" indent="0">
              <a:lnSpc>
                <a:spcPts val="1800"/>
              </a:lnSpc>
              <a:buNone/>
            </a:pPr>
            <a:r>
              <a:rPr lang="en-US" sz="1300" i="1">
                <a:solidFill>
                  <a:srgbClr val="9AA3B2"/>
                </a:solidFill>
                <a:latin typeface="Calibri" pitchFamily="34" charset="0"/>
                <a:ea typeface="Calibri" pitchFamily="34" charset="-122"/>
                <a:cs typeface="Calibri" pitchFamily="34" charset="-120"/>
              </a:rPr>
              <a:t>A secure account still travels over a network someone else controls. On open Wi-Fi, the network name is a claim — not a proof.</a:t>
            </a:r>
            <a:endParaRPr lang="en-US" sz="1300"/>
          </a:p>
        </p:txBody>
      </p:sp>
      <p:sp>
        <p:nvSpPr>
          <p:cNvPr id="7" name="Shape 5"/>
          <p:cNvSpPr/>
          <p:nvPr/>
        </p:nvSpPr>
        <p:spPr>
          <a:xfrm>
            <a:off x="566928" y="4617720"/>
            <a:ext cx="566928" cy="566928"/>
          </a:xfrm>
          <a:prstGeom prst="ellipse">
            <a:avLst/>
          </a:prstGeom>
          <a:solidFill>
            <a:srgbClr val="D9483F"/>
          </a:solidFill>
          <a:ln/>
        </p:spPr>
        <p:txBody>
          <a:bodyPr/>
          <a:lstStyle/>
          <a:p>
            <a:endParaRPr lang="en-US"/>
          </a:p>
        </p:txBody>
      </p:sp>
      <p:pic>
        <p:nvPicPr>
          <p:cNvPr id="8" name="Image 0" descr="/home/claude/icons/FaWifi_w.png"/>
          <p:cNvPicPr>
            <a:picLocks noChangeAspect="1"/>
          </p:cNvPicPr>
          <p:nvPr/>
        </p:nvPicPr>
        <p:blipFill>
          <a:blip r:embed="rId3"/>
          <a:stretch>
            <a:fillRect/>
          </a:stretch>
        </p:blipFill>
        <p:spPr>
          <a:xfrm>
            <a:off x="714329" y="4765121"/>
            <a:ext cx="272125" cy="272125"/>
          </a:xfrm>
          <a:prstGeom prst="rect">
            <a:avLst/>
          </a:prstGeom>
        </p:spPr>
      </p:pic>
      <p:sp>
        <p:nvSpPr>
          <p:cNvPr id="9" name="Text 6"/>
          <p:cNvSpPr/>
          <p:nvPr/>
        </p:nvSpPr>
        <p:spPr>
          <a:xfrm>
            <a:off x="1316736" y="4617720"/>
            <a:ext cx="4572000" cy="566928"/>
          </a:xfrm>
          <a:prstGeom prst="rect">
            <a:avLst/>
          </a:prstGeom>
          <a:noFill/>
          <a:ln/>
        </p:spPr>
        <p:txBody>
          <a:bodyPr wrap="square" lIns="0" tIns="0" rIns="0" bIns="0" rtlCol="0" anchor="ctr"/>
          <a:lstStyle/>
          <a:p>
            <a:pPr marL="0" indent="0">
              <a:buNone/>
            </a:pPr>
            <a:r>
              <a:rPr lang="en-US" sz="1100" b="1" kern="0" spc="120">
                <a:solidFill>
                  <a:srgbClr val="D9483F"/>
                </a:solidFill>
                <a:latin typeface="Calibri" pitchFamily="34" charset="0"/>
                <a:ea typeface="Calibri" pitchFamily="34" charset="-122"/>
                <a:cs typeface="Calibri" pitchFamily="34" charset="-120"/>
              </a:rPr>
              <a:t>SKILLS 1.A + 2.A · ANALYZE AND MITIGATE RISK</a:t>
            </a:r>
            <a:endParaRPr lang="en-US" sz="1100"/>
          </a:p>
        </p:txBody>
      </p:sp>
      <p:sp>
        <p:nvSpPr>
          <p:cNvPr id="10" name="Text 7"/>
          <p:cNvSpPr/>
          <p:nvPr/>
        </p:nvSpPr>
        <p:spPr>
          <a:xfrm>
            <a:off x="7269480" y="1371600"/>
            <a:ext cx="4572000" cy="237744"/>
          </a:xfrm>
          <a:prstGeom prst="rect">
            <a:avLst/>
          </a:prstGeom>
          <a:noFill/>
          <a:ln/>
        </p:spPr>
        <p:txBody>
          <a:bodyPr wrap="square" lIns="0" tIns="0" rIns="0" bIns="0" rtlCol="0" anchor="ctr"/>
          <a:lstStyle/>
          <a:p>
            <a:pPr marL="0" indent="0">
              <a:buNone/>
            </a:pPr>
            <a:r>
              <a:rPr lang="en-US" sz="1000" b="1" kern="0" spc="150">
                <a:solidFill>
                  <a:srgbClr val="D9483F"/>
                </a:solidFill>
                <a:latin typeface="Calibri" pitchFamily="34" charset="0"/>
                <a:ea typeface="Calibri" pitchFamily="34" charset="-122"/>
                <a:cs typeface="Calibri" pitchFamily="34" charset="-120"/>
              </a:rPr>
              <a:t>LEARNING OBJECTIVES</a:t>
            </a:r>
            <a:endParaRPr lang="en-US" sz="1000"/>
          </a:p>
        </p:txBody>
      </p:sp>
      <p:sp>
        <p:nvSpPr>
          <p:cNvPr id="11" name="Shape 8"/>
          <p:cNvSpPr/>
          <p:nvPr/>
        </p:nvSpPr>
        <p:spPr>
          <a:xfrm>
            <a:off x="7269480" y="1828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2" name="Shape 9"/>
          <p:cNvSpPr/>
          <p:nvPr/>
        </p:nvSpPr>
        <p:spPr>
          <a:xfrm>
            <a:off x="7498080" y="1993392"/>
            <a:ext cx="713232" cy="237744"/>
          </a:xfrm>
          <a:prstGeom prst="roundRect">
            <a:avLst>
              <a:gd name="adj" fmla="val 23077"/>
            </a:avLst>
          </a:prstGeom>
          <a:solidFill>
            <a:srgbClr val="D9483F"/>
          </a:solidFill>
          <a:ln/>
        </p:spPr>
        <p:txBody>
          <a:bodyPr/>
          <a:lstStyle/>
          <a:p>
            <a:endParaRPr lang="en-US"/>
          </a:p>
        </p:txBody>
      </p:sp>
      <p:sp>
        <p:nvSpPr>
          <p:cNvPr id="13" name="Text 10"/>
          <p:cNvSpPr/>
          <p:nvPr/>
        </p:nvSpPr>
        <p:spPr>
          <a:xfrm>
            <a:off x="7498080" y="1993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1.3.A</a:t>
            </a:r>
            <a:endParaRPr lang="en-US" sz="950"/>
          </a:p>
        </p:txBody>
      </p:sp>
      <p:sp>
        <p:nvSpPr>
          <p:cNvPr id="14" name="Text 11"/>
          <p:cNvSpPr/>
          <p:nvPr/>
        </p:nvSpPr>
        <p:spPr>
          <a:xfrm>
            <a:off x="7498080" y="2286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Identify the type of adversary conducting a cyberattack.</a:t>
            </a:r>
            <a:endParaRPr lang="en-US" sz="1100"/>
          </a:p>
        </p:txBody>
      </p:sp>
      <p:sp>
        <p:nvSpPr>
          <p:cNvPr id="15" name="Shape 12"/>
          <p:cNvSpPr/>
          <p:nvPr/>
        </p:nvSpPr>
        <p:spPr>
          <a:xfrm>
            <a:off x="7269480" y="2971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6" name="Shape 13"/>
          <p:cNvSpPr/>
          <p:nvPr/>
        </p:nvSpPr>
        <p:spPr>
          <a:xfrm>
            <a:off x="7498080" y="3136392"/>
            <a:ext cx="713232" cy="237744"/>
          </a:xfrm>
          <a:prstGeom prst="roundRect">
            <a:avLst>
              <a:gd name="adj" fmla="val 23077"/>
            </a:avLst>
          </a:prstGeom>
          <a:solidFill>
            <a:srgbClr val="D9483F"/>
          </a:solidFill>
          <a:ln/>
        </p:spPr>
        <p:txBody>
          <a:bodyPr/>
          <a:lstStyle/>
          <a:p>
            <a:endParaRPr lang="en-US"/>
          </a:p>
        </p:txBody>
      </p:sp>
      <p:sp>
        <p:nvSpPr>
          <p:cNvPr id="17" name="Text 14"/>
          <p:cNvSpPr/>
          <p:nvPr/>
        </p:nvSpPr>
        <p:spPr>
          <a:xfrm>
            <a:off x="7498080" y="3136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1.3.B</a:t>
            </a:r>
            <a:endParaRPr lang="en-US" sz="950"/>
          </a:p>
        </p:txBody>
      </p:sp>
      <p:sp>
        <p:nvSpPr>
          <p:cNvPr id="18" name="Text 15"/>
          <p:cNvSpPr/>
          <p:nvPr/>
        </p:nvSpPr>
        <p:spPr>
          <a:xfrm>
            <a:off x="7498080" y="3429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Identify types of wireless cyberattacks.</a:t>
            </a:r>
            <a:endParaRPr lang="en-US" sz="1100"/>
          </a:p>
        </p:txBody>
      </p:sp>
      <p:sp>
        <p:nvSpPr>
          <p:cNvPr id="19" name="Shape 16"/>
          <p:cNvSpPr/>
          <p:nvPr/>
        </p:nvSpPr>
        <p:spPr>
          <a:xfrm>
            <a:off x="7269480" y="4114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20" name="Shape 17"/>
          <p:cNvSpPr/>
          <p:nvPr/>
        </p:nvSpPr>
        <p:spPr>
          <a:xfrm>
            <a:off x="7498080" y="4279392"/>
            <a:ext cx="713232" cy="237744"/>
          </a:xfrm>
          <a:prstGeom prst="roundRect">
            <a:avLst>
              <a:gd name="adj" fmla="val 23077"/>
            </a:avLst>
          </a:prstGeom>
          <a:solidFill>
            <a:srgbClr val="D9483F"/>
          </a:solidFill>
          <a:ln/>
        </p:spPr>
        <p:txBody>
          <a:bodyPr/>
          <a:lstStyle/>
          <a:p>
            <a:endParaRPr lang="en-US"/>
          </a:p>
        </p:txBody>
      </p:sp>
      <p:sp>
        <p:nvSpPr>
          <p:cNvPr id="21" name="Text 18"/>
          <p:cNvSpPr/>
          <p:nvPr/>
        </p:nvSpPr>
        <p:spPr>
          <a:xfrm>
            <a:off x="7498080" y="4279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1.3.C</a:t>
            </a:r>
            <a:endParaRPr lang="en-US" sz="950"/>
          </a:p>
        </p:txBody>
      </p:sp>
      <p:sp>
        <p:nvSpPr>
          <p:cNvPr id="22" name="Text 19"/>
          <p:cNvSpPr/>
          <p:nvPr/>
        </p:nvSpPr>
        <p:spPr>
          <a:xfrm>
            <a:off x="7498080" y="4572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Describe actions individuals can take to increase protection of sensitive data when using the internet and Wi-Fi.</a:t>
            </a:r>
            <a:endParaRPr lang="en-US" sz="1100"/>
          </a:p>
        </p:txBody>
      </p:sp>
      <p:sp>
        <p:nvSpPr>
          <p:cNvPr id="23" name="Text 20"/>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4" name="Text 21"/>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28</a:t>
            </a:r>
            <a:endParaRPr lang="en-US" sz="9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D9483F"/>
                </a:solidFill>
                <a:latin typeface="Calibri" pitchFamily="34" charset="0"/>
                <a:ea typeface="Calibri" pitchFamily="34" charset="-122"/>
                <a:cs typeface="Calibri" pitchFamily="34" charset="-120"/>
              </a:rPr>
              <a:t>1.3.A  ·  WHO IS ATTACKING</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Classifying the adversary: skill and motivation</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Two questions the AP course asks about every attack — what could they build, and why are they doing it?</a:t>
            </a:r>
            <a:endParaRPr lang="en-US" sz="1400"/>
          </a:p>
        </p:txBody>
      </p:sp>
      <p:sp>
        <p:nvSpPr>
          <p:cNvPr id="5" name="Shape 3"/>
          <p:cNvSpPr/>
          <p:nvPr/>
        </p:nvSpPr>
        <p:spPr>
          <a:xfrm>
            <a:off x="566928" y="1938528"/>
            <a:ext cx="5486400" cy="2194560"/>
          </a:xfrm>
          <a:prstGeom prst="roundRect">
            <a:avLst>
              <a:gd name="adj" fmla="val 3750"/>
            </a:avLst>
          </a:prstGeom>
          <a:solidFill>
            <a:srgbClr val="F2F4F8"/>
          </a:solidFill>
          <a:ln/>
        </p:spPr>
        <p:txBody>
          <a:bodyPr/>
          <a:lstStyle/>
          <a:p>
            <a:endParaRPr lang="en-US"/>
          </a:p>
        </p:txBody>
      </p:sp>
      <p:sp>
        <p:nvSpPr>
          <p:cNvPr id="6" name="Text 4"/>
          <p:cNvSpPr/>
          <p:nvPr/>
        </p:nvSpPr>
        <p:spPr>
          <a:xfrm>
            <a:off x="822960" y="2103120"/>
            <a:ext cx="2743200" cy="201168"/>
          </a:xfrm>
          <a:prstGeom prst="rect">
            <a:avLst/>
          </a:prstGeom>
          <a:noFill/>
          <a:ln/>
        </p:spPr>
        <p:txBody>
          <a:bodyPr wrap="square" lIns="0" tIns="0" rIns="0" bIns="0" rtlCol="0" anchor="ctr"/>
          <a:lstStyle/>
          <a:p>
            <a:pPr marL="0" indent="0">
              <a:buNone/>
            </a:pPr>
            <a:r>
              <a:rPr lang="en-US" sz="900" b="1" kern="0" spc="120">
                <a:solidFill>
                  <a:srgbClr val="6B7280"/>
                </a:solidFill>
                <a:latin typeface="Calibri" pitchFamily="34" charset="0"/>
                <a:ea typeface="Calibri" pitchFamily="34" charset="-122"/>
                <a:cs typeface="Calibri" pitchFamily="34" charset="-120"/>
              </a:rPr>
              <a:t>BY SKILL LEVEL</a:t>
            </a:r>
            <a:endParaRPr lang="en-US" sz="900"/>
          </a:p>
        </p:txBody>
      </p:sp>
      <p:sp>
        <p:nvSpPr>
          <p:cNvPr id="7" name="Shape 5"/>
          <p:cNvSpPr/>
          <p:nvPr/>
        </p:nvSpPr>
        <p:spPr>
          <a:xfrm>
            <a:off x="822960" y="2450592"/>
            <a:ext cx="420624" cy="420624"/>
          </a:xfrm>
          <a:prstGeom prst="ellipse">
            <a:avLst/>
          </a:prstGeom>
          <a:solidFill>
            <a:srgbClr val="F2A03D"/>
          </a:solidFill>
          <a:ln/>
        </p:spPr>
        <p:txBody>
          <a:bodyPr/>
          <a:lstStyle/>
          <a:p>
            <a:endParaRPr lang="en-US"/>
          </a:p>
        </p:txBody>
      </p:sp>
      <p:pic>
        <p:nvPicPr>
          <p:cNvPr id="8" name="Image 0" descr="/home/claude/icons/FaScrewdriverWrench_w.png"/>
          <p:cNvPicPr>
            <a:picLocks noChangeAspect="1"/>
          </p:cNvPicPr>
          <p:nvPr/>
        </p:nvPicPr>
        <p:blipFill>
          <a:blip r:embed="rId3"/>
          <a:stretch>
            <a:fillRect/>
          </a:stretch>
        </p:blipFill>
        <p:spPr>
          <a:xfrm>
            <a:off x="932322" y="2559954"/>
            <a:ext cx="201900" cy="201900"/>
          </a:xfrm>
          <a:prstGeom prst="rect">
            <a:avLst/>
          </a:prstGeom>
        </p:spPr>
      </p:pic>
      <p:sp>
        <p:nvSpPr>
          <p:cNvPr id="9" name="Text 6"/>
          <p:cNvSpPr/>
          <p:nvPr/>
        </p:nvSpPr>
        <p:spPr>
          <a:xfrm>
            <a:off x="1389888" y="2432304"/>
            <a:ext cx="411480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Low-skilled</a:t>
            </a:r>
            <a:endParaRPr lang="en-US" sz="1200"/>
          </a:p>
        </p:txBody>
      </p:sp>
      <p:sp>
        <p:nvSpPr>
          <p:cNvPr id="10" name="Text 7"/>
          <p:cNvSpPr/>
          <p:nvPr/>
        </p:nvSpPr>
        <p:spPr>
          <a:xfrm>
            <a:off x="1389888" y="2670048"/>
            <a:ext cx="4389120" cy="530352"/>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Relies on malicious tools built by other people and bought online. Those tools exploit vulnerabilities that are already known and documented.</a:t>
            </a:r>
            <a:endParaRPr lang="en-US" sz="1030"/>
          </a:p>
        </p:txBody>
      </p:sp>
      <p:sp>
        <p:nvSpPr>
          <p:cNvPr id="11" name="Shape 8"/>
          <p:cNvSpPr/>
          <p:nvPr/>
        </p:nvSpPr>
        <p:spPr>
          <a:xfrm>
            <a:off x="822960" y="3236976"/>
            <a:ext cx="420624" cy="420624"/>
          </a:xfrm>
          <a:prstGeom prst="ellipse">
            <a:avLst/>
          </a:prstGeom>
          <a:solidFill>
            <a:srgbClr val="D9483F"/>
          </a:solidFill>
          <a:ln/>
        </p:spPr>
        <p:txBody>
          <a:bodyPr/>
          <a:lstStyle/>
          <a:p>
            <a:endParaRPr lang="en-US"/>
          </a:p>
        </p:txBody>
      </p:sp>
      <p:pic>
        <p:nvPicPr>
          <p:cNvPr id="12" name="Image 1" descr="/home/claude/icons/FaSkullCrossbones_w.png"/>
          <p:cNvPicPr>
            <a:picLocks noChangeAspect="1"/>
          </p:cNvPicPr>
          <p:nvPr/>
        </p:nvPicPr>
        <p:blipFill>
          <a:blip r:embed="rId4"/>
          <a:stretch>
            <a:fillRect/>
          </a:stretch>
        </p:blipFill>
        <p:spPr>
          <a:xfrm>
            <a:off x="932322" y="3346338"/>
            <a:ext cx="201900" cy="201900"/>
          </a:xfrm>
          <a:prstGeom prst="rect">
            <a:avLst/>
          </a:prstGeom>
        </p:spPr>
      </p:pic>
      <p:sp>
        <p:nvSpPr>
          <p:cNvPr id="13" name="Text 9"/>
          <p:cNvSpPr/>
          <p:nvPr/>
        </p:nvSpPr>
        <p:spPr>
          <a:xfrm>
            <a:off x="1389888" y="3218688"/>
            <a:ext cx="411480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High-skilled</a:t>
            </a:r>
            <a:endParaRPr lang="en-US" sz="1200"/>
          </a:p>
        </p:txBody>
      </p:sp>
      <p:sp>
        <p:nvSpPr>
          <p:cNvPr id="14" name="Text 10"/>
          <p:cNvSpPr/>
          <p:nvPr/>
        </p:nvSpPr>
        <p:spPr>
          <a:xfrm>
            <a:off x="1389888" y="3456432"/>
            <a:ext cx="4389120" cy="530352"/>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Can build new tools or adapt existing ones to defeat current defences, and can discover undocumented vulnerabilities — zero days.</a:t>
            </a:r>
            <a:endParaRPr lang="en-US" sz="1030"/>
          </a:p>
        </p:txBody>
      </p:sp>
      <p:sp>
        <p:nvSpPr>
          <p:cNvPr id="15" name="Shape 11"/>
          <p:cNvSpPr/>
          <p:nvPr/>
        </p:nvSpPr>
        <p:spPr>
          <a:xfrm>
            <a:off x="6263640" y="1938528"/>
            <a:ext cx="5358384" cy="2194560"/>
          </a:xfrm>
          <a:prstGeom prst="roundRect">
            <a:avLst>
              <a:gd name="adj" fmla="val 3750"/>
            </a:avLst>
          </a:prstGeom>
          <a:solidFill>
            <a:srgbClr val="F2F4F8"/>
          </a:solidFill>
          <a:ln/>
        </p:spPr>
        <p:txBody>
          <a:bodyPr/>
          <a:lstStyle/>
          <a:p>
            <a:endParaRPr lang="en-US"/>
          </a:p>
        </p:txBody>
      </p:sp>
      <p:sp>
        <p:nvSpPr>
          <p:cNvPr id="16" name="Text 12"/>
          <p:cNvSpPr/>
          <p:nvPr/>
        </p:nvSpPr>
        <p:spPr>
          <a:xfrm>
            <a:off x="6519672" y="2103120"/>
            <a:ext cx="2743200" cy="201168"/>
          </a:xfrm>
          <a:prstGeom prst="rect">
            <a:avLst/>
          </a:prstGeom>
          <a:noFill/>
          <a:ln/>
        </p:spPr>
        <p:txBody>
          <a:bodyPr wrap="square" lIns="0" tIns="0" rIns="0" bIns="0" rtlCol="0" anchor="ctr"/>
          <a:lstStyle/>
          <a:p>
            <a:pPr marL="0" indent="0">
              <a:buNone/>
            </a:pPr>
            <a:r>
              <a:rPr lang="en-US" sz="900" b="1" kern="0" spc="120">
                <a:solidFill>
                  <a:srgbClr val="6B7280"/>
                </a:solidFill>
                <a:latin typeface="Calibri" pitchFamily="34" charset="0"/>
                <a:ea typeface="Calibri" pitchFamily="34" charset="-122"/>
                <a:cs typeface="Calibri" pitchFamily="34" charset="-120"/>
              </a:rPr>
              <a:t>BY MOTIVATION</a:t>
            </a:r>
            <a:endParaRPr lang="en-US" sz="900"/>
          </a:p>
        </p:txBody>
      </p:sp>
      <p:sp>
        <p:nvSpPr>
          <p:cNvPr id="17" name="Shape 13"/>
          <p:cNvSpPr/>
          <p:nvPr/>
        </p:nvSpPr>
        <p:spPr>
          <a:xfrm>
            <a:off x="6519672" y="2432304"/>
            <a:ext cx="402336" cy="402336"/>
          </a:xfrm>
          <a:prstGeom prst="ellipse">
            <a:avLst/>
          </a:prstGeom>
          <a:solidFill>
            <a:srgbClr val="12141C"/>
          </a:solidFill>
          <a:ln/>
        </p:spPr>
        <p:txBody>
          <a:bodyPr/>
          <a:lstStyle/>
          <a:p>
            <a:endParaRPr lang="en-US"/>
          </a:p>
        </p:txBody>
      </p:sp>
      <p:pic>
        <p:nvPicPr>
          <p:cNvPr id="18" name="Image 2" descr="/home/claude/icons/FaMoneyBillTransfer_w.png"/>
          <p:cNvPicPr>
            <a:picLocks noChangeAspect="1"/>
          </p:cNvPicPr>
          <p:nvPr/>
        </p:nvPicPr>
        <p:blipFill>
          <a:blip r:embed="rId5"/>
          <a:stretch>
            <a:fillRect/>
          </a:stretch>
        </p:blipFill>
        <p:spPr>
          <a:xfrm>
            <a:off x="6624279" y="2536911"/>
            <a:ext cx="193121" cy="193121"/>
          </a:xfrm>
          <a:prstGeom prst="rect">
            <a:avLst/>
          </a:prstGeom>
        </p:spPr>
      </p:pic>
      <p:sp>
        <p:nvSpPr>
          <p:cNvPr id="19" name="Text 14"/>
          <p:cNvSpPr/>
          <p:nvPr/>
        </p:nvSpPr>
        <p:spPr>
          <a:xfrm>
            <a:off x="6519672" y="2889504"/>
            <a:ext cx="1554480" cy="219456"/>
          </a:xfrm>
          <a:prstGeom prst="rect">
            <a:avLst/>
          </a:prstGeom>
          <a:noFill/>
          <a:ln/>
        </p:spPr>
        <p:txBody>
          <a:bodyPr wrap="square" lIns="0" tIns="0" rIns="0" bIns="0" rtlCol="0" anchor="ctr"/>
          <a:lstStyle/>
          <a:p>
            <a:pPr marL="0" indent="0">
              <a:buNone/>
            </a:pPr>
            <a:r>
              <a:rPr lang="en-US" sz="1080" b="1">
                <a:solidFill>
                  <a:srgbClr val="12141C"/>
                </a:solidFill>
                <a:latin typeface="Calibri" pitchFamily="34" charset="0"/>
                <a:ea typeface="Calibri" pitchFamily="34" charset="-122"/>
                <a:cs typeface="Calibri" pitchFamily="34" charset="-120"/>
              </a:rPr>
              <a:t>Greed</a:t>
            </a:r>
            <a:endParaRPr lang="en-US" sz="1080"/>
          </a:p>
        </p:txBody>
      </p:sp>
      <p:sp>
        <p:nvSpPr>
          <p:cNvPr id="20" name="Shape 15"/>
          <p:cNvSpPr/>
          <p:nvPr/>
        </p:nvSpPr>
        <p:spPr>
          <a:xfrm>
            <a:off x="8211312" y="2432304"/>
            <a:ext cx="402336" cy="402336"/>
          </a:xfrm>
          <a:prstGeom prst="ellipse">
            <a:avLst/>
          </a:prstGeom>
          <a:solidFill>
            <a:srgbClr val="12141C"/>
          </a:solidFill>
          <a:ln/>
        </p:spPr>
        <p:txBody>
          <a:bodyPr/>
          <a:lstStyle/>
          <a:p>
            <a:endParaRPr lang="en-US"/>
          </a:p>
        </p:txBody>
      </p:sp>
      <p:sp>
        <p:nvSpPr>
          <p:cNvPr id="22" name="Text 16"/>
          <p:cNvSpPr/>
          <p:nvPr/>
        </p:nvSpPr>
        <p:spPr>
          <a:xfrm>
            <a:off x="8211312" y="2889504"/>
            <a:ext cx="1554480" cy="219456"/>
          </a:xfrm>
          <a:prstGeom prst="rect">
            <a:avLst/>
          </a:prstGeom>
          <a:noFill/>
          <a:ln/>
        </p:spPr>
        <p:txBody>
          <a:bodyPr wrap="square" lIns="0" tIns="0" rIns="0" bIns="0" rtlCol="0" anchor="ctr"/>
          <a:lstStyle/>
          <a:p>
            <a:pPr marL="0" indent="0">
              <a:buNone/>
            </a:pPr>
            <a:r>
              <a:rPr lang="en-US" sz="1080" b="1">
                <a:solidFill>
                  <a:srgbClr val="12141C"/>
                </a:solidFill>
                <a:latin typeface="Calibri" pitchFamily="34" charset="0"/>
                <a:ea typeface="Calibri" pitchFamily="34" charset="-122"/>
                <a:cs typeface="Calibri" pitchFamily="34" charset="-120"/>
              </a:rPr>
              <a:t>Recognition</a:t>
            </a:r>
            <a:endParaRPr lang="en-US" sz="1080"/>
          </a:p>
        </p:txBody>
      </p:sp>
      <p:sp>
        <p:nvSpPr>
          <p:cNvPr id="23" name="Shape 17"/>
          <p:cNvSpPr/>
          <p:nvPr/>
        </p:nvSpPr>
        <p:spPr>
          <a:xfrm>
            <a:off x="9902952" y="2432304"/>
            <a:ext cx="402336" cy="402336"/>
          </a:xfrm>
          <a:prstGeom prst="ellipse">
            <a:avLst/>
          </a:prstGeom>
          <a:solidFill>
            <a:srgbClr val="12141C"/>
          </a:solidFill>
          <a:ln/>
        </p:spPr>
        <p:txBody>
          <a:bodyPr/>
          <a:lstStyle/>
          <a:p>
            <a:endParaRPr lang="en-US"/>
          </a:p>
        </p:txBody>
      </p:sp>
      <p:pic>
        <p:nvPicPr>
          <p:cNvPr id="24" name="Image 4" descr="/home/claude/icons/FaBuildingColumns_w.png"/>
          <p:cNvPicPr>
            <a:picLocks noChangeAspect="1"/>
          </p:cNvPicPr>
          <p:nvPr/>
        </p:nvPicPr>
        <p:blipFill>
          <a:blip r:embed="rId6"/>
          <a:stretch>
            <a:fillRect/>
          </a:stretch>
        </p:blipFill>
        <p:spPr>
          <a:xfrm>
            <a:off x="10007559" y="2536911"/>
            <a:ext cx="193121" cy="193121"/>
          </a:xfrm>
          <a:prstGeom prst="rect">
            <a:avLst/>
          </a:prstGeom>
        </p:spPr>
      </p:pic>
      <p:sp>
        <p:nvSpPr>
          <p:cNvPr id="25" name="Text 18"/>
          <p:cNvSpPr/>
          <p:nvPr/>
        </p:nvSpPr>
        <p:spPr>
          <a:xfrm>
            <a:off x="9902952" y="2889504"/>
            <a:ext cx="1554480" cy="219456"/>
          </a:xfrm>
          <a:prstGeom prst="rect">
            <a:avLst/>
          </a:prstGeom>
          <a:noFill/>
          <a:ln/>
        </p:spPr>
        <p:txBody>
          <a:bodyPr wrap="square" lIns="0" tIns="0" rIns="0" bIns="0" rtlCol="0" anchor="ctr"/>
          <a:lstStyle/>
          <a:p>
            <a:pPr marL="0" indent="0">
              <a:buNone/>
            </a:pPr>
            <a:r>
              <a:rPr lang="en-US" sz="1080" b="1">
                <a:solidFill>
                  <a:srgbClr val="12141C"/>
                </a:solidFill>
                <a:latin typeface="Calibri" pitchFamily="34" charset="0"/>
                <a:ea typeface="Calibri" pitchFamily="34" charset="-122"/>
                <a:cs typeface="Calibri" pitchFamily="34" charset="-120"/>
              </a:rPr>
              <a:t>A cause</a:t>
            </a:r>
            <a:endParaRPr lang="en-US" sz="1080"/>
          </a:p>
        </p:txBody>
      </p:sp>
      <p:sp>
        <p:nvSpPr>
          <p:cNvPr id="26" name="Shape 19"/>
          <p:cNvSpPr/>
          <p:nvPr/>
        </p:nvSpPr>
        <p:spPr>
          <a:xfrm>
            <a:off x="6519672" y="3209544"/>
            <a:ext cx="402336" cy="402336"/>
          </a:xfrm>
          <a:prstGeom prst="ellipse">
            <a:avLst/>
          </a:prstGeom>
          <a:solidFill>
            <a:srgbClr val="12141C"/>
          </a:solidFill>
          <a:ln/>
        </p:spPr>
        <p:txBody>
          <a:bodyPr/>
          <a:lstStyle/>
          <a:p>
            <a:endParaRPr lang="en-US"/>
          </a:p>
        </p:txBody>
      </p:sp>
      <p:pic>
        <p:nvPicPr>
          <p:cNvPr id="27" name="Image 5" descr="/home/claude/icons/FaBolt_w.png"/>
          <p:cNvPicPr>
            <a:picLocks noChangeAspect="1"/>
          </p:cNvPicPr>
          <p:nvPr/>
        </p:nvPicPr>
        <p:blipFill>
          <a:blip r:embed="rId7"/>
          <a:stretch>
            <a:fillRect/>
          </a:stretch>
        </p:blipFill>
        <p:spPr>
          <a:xfrm>
            <a:off x="6624279" y="3314151"/>
            <a:ext cx="193121" cy="193121"/>
          </a:xfrm>
          <a:prstGeom prst="rect">
            <a:avLst/>
          </a:prstGeom>
        </p:spPr>
      </p:pic>
      <p:sp>
        <p:nvSpPr>
          <p:cNvPr id="28" name="Text 20"/>
          <p:cNvSpPr/>
          <p:nvPr/>
        </p:nvSpPr>
        <p:spPr>
          <a:xfrm>
            <a:off x="6519672" y="3666744"/>
            <a:ext cx="1554480" cy="219456"/>
          </a:xfrm>
          <a:prstGeom prst="rect">
            <a:avLst/>
          </a:prstGeom>
          <a:noFill/>
          <a:ln/>
        </p:spPr>
        <p:txBody>
          <a:bodyPr wrap="square" lIns="0" tIns="0" rIns="0" bIns="0" rtlCol="0" anchor="ctr"/>
          <a:lstStyle/>
          <a:p>
            <a:pPr marL="0" indent="0">
              <a:buNone/>
            </a:pPr>
            <a:r>
              <a:rPr lang="en-US" sz="1080" b="1">
                <a:solidFill>
                  <a:srgbClr val="12141C"/>
                </a:solidFill>
                <a:latin typeface="Calibri" pitchFamily="34" charset="0"/>
                <a:ea typeface="Calibri" pitchFamily="34" charset="-122"/>
                <a:cs typeface="Calibri" pitchFamily="34" charset="-120"/>
              </a:rPr>
              <a:t>Revenge</a:t>
            </a:r>
            <a:endParaRPr lang="en-US" sz="1080"/>
          </a:p>
        </p:txBody>
      </p:sp>
      <p:sp>
        <p:nvSpPr>
          <p:cNvPr id="29" name="Shape 21"/>
          <p:cNvSpPr/>
          <p:nvPr/>
        </p:nvSpPr>
        <p:spPr>
          <a:xfrm>
            <a:off x="8211312" y="3209544"/>
            <a:ext cx="402336" cy="402336"/>
          </a:xfrm>
          <a:prstGeom prst="ellipse">
            <a:avLst/>
          </a:prstGeom>
          <a:solidFill>
            <a:srgbClr val="12141C"/>
          </a:solidFill>
          <a:ln/>
        </p:spPr>
        <p:txBody>
          <a:bodyPr/>
          <a:lstStyle/>
          <a:p>
            <a:endParaRPr lang="en-US"/>
          </a:p>
        </p:txBody>
      </p:sp>
      <p:pic>
        <p:nvPicPr>
          <p:cNvPr id="30" name="Image 6" descr="/home/claude/icons/FaScaleBalanced_w.png"/>
          <p:cNvPicPr>
            <a:picLocks noChangeAspect="1"/>
          </p:cNvPicPr>
          <p:nvPr/>
        </p:nvPicPr>
        <p:blipFill>
          <a:blip r:embed="rId8"/>
          <a:stretch>
            <a:fillRect/>
          </a:stretch>
        </p:blipFill>
        <p:spPr>
          <a:xfrm>
            <a:off x="8315919" y="3314151"/>
            <a:ext cx="193121" cy="193121"/>
          </a:xfrm>
          <a:prstGeom prst="rect">
            <a:avLst/>
          </a:prstGeom>
        </p:spPr>
      </p:pic>
      <p:sp>
        <p:nvSpPr>
          <p:cNvPr id="31" name="Text 22"/>
          <p:cNvSpPr/>
          <p:nvPr/>
        </p:nvSpPr>
        <p:spPr>
          <a:xfrm>
            <a:off x="8211312" y="3666744"/>
            <a:ext cx="1554480" cy="219456"/>
          </a:xfrm>
          <a:prstGeom prst="rect">
            <a:avLst/>
          </a:prstGeom>
          <a:noFill/>
          <a:ln/>
        </p:spPr>
        <p:txBody>
          <a:bodyPr wrap="square" lIns="0" tIns="0" rIns="0" bIns="0" rtlCol="0" anchor="ctr"/>
          <a:lstStyle/>
          <a:p>
            <a:pPr marL="0" indent="0">
              <a:buNone/>
            </a:pPr>
            <a:r>
              <a:rPr lang="en-US" sz="1080" b="1">
                <a:solidFill>
                  <a:srgbClr val="12141C"/>
                </a:solidFill>
                <a:latin typeface="Calibri" pitchFamily="34" charset="0"/>
                <a:ea typeface="Calibri" pitchFamily="34" charset="-122"/>
                <a:cs typeface="Calibri" pitchFamily="34" charset="-120"/>
              </a:rPr>
              <a:t>Politics</a:t>
            </a:r>
            <a:endParaRPr lang="en-US" sz="1080"/>
          </a:p>
        </p:txBody>
      </p:sp>
      <p:sp>
        <p:nvSpPr>
          <p:cNvPr id="32" name="Shape 23"/>
          <p:cNvSpPr/>
          <p:nvPr/>
        </p:nvSpPr>
        <p:spPr>
          <a:xfrm>
            <a:off x="9902952" y="3209544"/>
            <a:ext cx="402336" cy="402336"/>
          </a:xfrm>
          <a:prstGeom prst="ellipse">
            <a:avLst/>
          </a:prstGeom>
          <a:solidFill>
            <a:srgbClr val="12141C"/>
          </a:solidFill>
          <a:ln/>
        </p:spPr>
        <p:txBody>
          <a:bodyPr/>
          <a:lstStyle/>
          <a:p>
            <a:endParaRPr lang="en-US"/>
          </a:p>
        </p:txBody>
      </p:sp>
      <p:pic>
        <p:nvPicPr>
          <p:cNvPr id="33" name="Image 7" descr="/home/claude/icons/FaComments_w.png"/>
          <p:cNvPicPr>
            <a:picLocks noChangeAspect="1"/>
          </p:cNvPicPr>
          <p:nvPr/>
        </p:nvPicPr>
        <p:blipFill>
          <a:blip r:embed="rId9"/>
          <a:stretch>
            <a:fillRect/>
          </a:stretch>
        </p:blipFill>
        <p:spPr>
          <a:xfrm>
            <a:off x="10007559" y="3314151"/>
            <a:ext cx="193121" cy="193121"/>
          </a:xfrm>
          <a:prstGeom prst="rect">
            <a:avLst/>
          </a:prstGeom>
        </p:spPr>
      </p:pic>
      <p:sp>
        <p:nvSpPr>
          <p:cNvPr id="34" name="Text 24"/>
          <p:cNvSpPr/>
          <p:nvPr/>
        </p:nvSpPr>
        <p:spPr>
          <a:xfrm>
            <a:off x="9902952" y="3666744"/>
            <a:ext cx="1554480" cy="219456"/>
          </a:xfrm>
          <a:prstGeom prst="rect">
            <a:avLst/>
          </a:prstGeom>
          <a:noFill/>
          <a:ln/>
        </p:spPr>
        <p:txBody>
          <a:bodyPr wrap="square" lIns="0" tIns="0" rIns="0" bIns="0" rtlCol="0" anchor="ctr"/>
          <a:lstStyle/>
          <a:p>
            <a:pPr marL="0" indent="0">
              <a:buNone/>
            </a:pPr>
            <a:r>
              <a:rPr lang="en-US" sz="1080" b="1">
                <a:solidFill>
                  <a:srgbClr val="12141C"/>
                </a:solidFill>
                <a:latin typeface="Calibri" pitchFamily="34" charset="0"/>
                <a:ea typeface="Calibri" pitchFamily="34" charset="-122"/>
                <a:cs typeface="Calibri" pitchFamily="34" charset="-120"/>
              </a:rPr>
              <a:t>Beliefs</a:t>
            </a:r>
            <a:endParaRPr lang="en-US" sz="1080"/>
          </a:p>
        </p:txBody>
      </p:sp>
      <p:sp>
        <p:nvSpPr>
          <p:cNvPr id="35" name="Shape 25"/>
          <p:cNvSpPr/>
          <p:nvPr/>
        </p:nvSpPr>
        <p:spPr>
          <a:xfrm>
            <a:off x="566928" y="4315968"/>
            <a:ext cx="11057839" cy="1225296"/>
          </a:xfrm>
          <a:prstGeom prst="roundRect">
            <a:avLst>
              <a:gd name="adj" fmla="val 6716"/>
            </a:avLst>
          </a:prstGeom>
          <a:solidFill>
            <a:srgbClr val="FBECEA"/>
          </a:solidFill>
          <a:ln/>
        </p:spPr>
        <p:txBody>
          <a:bodyPr/>
          <a:lstStyle/>
          <a:p>
            <a:endParaRPr lang="en-US"/>
          </a:p>
        </p:txBody>
      </p:sp>
      <p:sp>
        <p:nvSpPr>
          <p:cNvPr id="36" name="Shape 26"/>
          <p:cNvSpPr/>
          <p:nvPr/>
        </p:nvSpPr>
        <p:spPr>
          <a:xfrm>
            <a:off x="841248" y="4617720"/>
            <a:ext cx="457200" cy="457200"/>
          </a:xfrm>
          <a:prstGeom prst="ellipse">
            <a:avLst/>
          </a:prstGeom>
          <a:solidFill>
            <a:srgbClr val="D9483F"/>
          </a:solidFill>
          <a:ln/>
        </p:spPr>
        <p:txBody>
          <a:bodyPr/>
          <a:lstStyle/>
          <a:p>
            <a:endParaRPr lang="en-US"/>
          </a:p>
        </p:txBody>
      </p:sp>
      <p:pic>
        <p:nvPicPr>
          <p:cNvPr id="37" name="Image 8" descr="/home/claude/icons/FaTriangleExclamation_w.png"/>
          <p:cNvPicPr>
            <a:picLocks noChangeAspect="1"/>
          </p:cNvPicPr>
          <p:nvPr/>
        </p:nvPicPr>
        <p:blipFill>
          <a:blip r:embed="rId10"/>
          <a:stretch>
            <a:fillRect/>
          </a:stretch>
        </p:blipFill>
        <p:spPr>
          <a:xfrm>
            <a:off x="960120" y="4736592"/>
            <a:ext cx="219456" cy="219456"/>
          </a:xfrm>
          <a:prstGeom prst="rect">
            <a:avLst/>
          </a:prstGeom>
        </p:spPr>
      </p:pic>
      <p:sp>
        <p:nvSpPr>
          <p:cNvPr id="38" name="Text 27"/>
          <p:cNvSpPr/>
          <p:nvPr/>
        </p:nvSpPr>
        <p:spPr>
          <a:xfrm>
            <a:off x="1426464" y="4480560"/>
            <a:ext cx="731520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The mistake to avoid: low skill does not mean low harm</a:t>
            </a:r>
            <a:endParaRPr lang="en-US" sz="1250"/>
          </a:p>
        </p:txBody>
      </p:sp>
      <p:sp>
        <p:nvSpPr>
          <p:cNvPr id="39" name="Text 28"/>
          <p:cNvSpPr/>
          <p:nvPr/>
        </p:nvSpPr>
        <p:spPr>
          <a:xfrm>
            <a:off x="1426464" y="4773168"/>
            <a:ext cx="10149840" cy="658368"/>
          </a:xfrm>
          <a:prstGeom prst="rect">
            <a:avLst/>
          </a:prstGeom>
          <a:noFill/>
          <a:ln/>
        </p:spPr>
        <p:txBody>
          <a:bodyPr wrap="square" lIns="0" tIns="0" rIns="0" bIns="0" rtlCol="0" anchor="t"/>
          <a:lstStyle/>
          <a:p>
            <a:pPr marL="0" indent="0">
              <a:lnSpc>
                <a:spcPts val="1450"/>
              </a:lnSpc>
              <a:buNone/>
            </a:pPr>
            <a:r>
              <a:rPr lang="en-US" sz="1100">
                <a:solidFill>
                  <a:srgbClr val="2B303C"/>
                </a:solidFill>
                <a:latin typeface="Calibri" pitchFamily="34" charset="0"/>
                <a:ea typeface="Calibri" pitchFamily="34" charset="-122"/>
                <a:cs typeface="Calibri" pitchFamily="34" charset="-120"/>
              </a:rPr>
              <a:t>A purchased tool operated by someone with no technical background can still capture credentials from a hundred travellers in an afternoon. Skill level tells you what the adversary is CAPABLE of building and how they will adapt when you defend — it is a poor predictor of how much damage a single incident causes. Assess impact separately from capability.</a:t>
            </a:r>
            <a:endParaRPr lang="en-US" sz="1100"/>
          </a:p>
        </p:txBody>
      </p:sp>
      <p:sp>
        <p:nvSpPr>
          <p:cNvPr id="40" name="Text 29"/>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1" name="Text 30"/>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29</a:t>
            </a:r>
            <a:endParaRPr lang="en-US" sz="9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D9483F"/>
                </a:solidFill>
                <a:latin typeface="Calibri" pitchFamily="34" charset="0"/>
                <a:ea typeface="Calibri" pitchFamily="34" charset="-122"/>
                <a:cs typeface="Calibri" pitchFamily="34" charset="-120"/>
              </a:rPr>
              <a:t>1.3.B  ·  WIRELESS ATTACKS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Three wireless attacks named in the course framework</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Each attacks a different property: authenticity of the network, availability of the network, and visibility of the network.</a:t>
            </a:r>
            <a:endParaRPr lang="en-US" sz="1400"/>
          </a:p>
        </p:txBody>
      </p:sp>
      <p:sp>
        <p:nvSpPr>
          <p:cNvPr id="5" name="Shape 3"/>
          <p:cNvSpPr/>
          <p:nvPr/>
        </p:nvSpPr>
        <p:spPr>
          <a:xfrm>
            <a:off x="566928" y="1938528"/>
            <a:ext cx="3529584" cy="3547872"/>
          </a:xfrm>
          <a:prstGeom prst="roundRect">
            <a:avLst>
              <a:gd name="adj" fmla="val 2332"/>
            </a:avLst>
          </a:prstGeom>
          <a:solidFill>
            <a:srgbClr val="F2F4F8"/>
          </a:solidFill>
          <a:ln/>
        </p:spPr>
        <p:txBody>
          <a:bodyPr/>
          <a:lstStyle/>
          <a:p>
            <a:endParaRPr lang="en-US"/>
          </a:p>
        </p:txBody>
      </p:sp>
      <p:sp>
        <p:nvSpPr>
          <p:cNvPr id="6" name="Shape 4"/>
          <p:cNvSpPr/>
          <p:nvPr/>
        </p:nvSpPr>
        <p:spPr>
          <a:xfrm>
            <a:off x="822960" y="2157984"/>
            <a:ext cx="530352" cy="530352"/>
          </a:xfrm>
          <a:prstGeom prst="ellipse">
            <a:avLst/>
          </a:prstGeom>
          <a:solidFill>
            <a:srgbClr val="D9483F"/>
          </a:solidFill>
          <a:ln/>
        </p:spPr>
        <p:txBody>
          <a:bodyPr/>
          <a:lstStyle/>
          <a:p>
            <a:endParaRPr lang="en-US"/>
          </a:p>
        </p:txBody>
      </p:sp>
      <p:pic>
        <p:nvPicPr>
          <p:cNvPr id="7" name="Image 0" descr="/home/claude/icons/FaTowerBroadcast_w.png"/>
          <p:cNvPicPr>
            <a:picLocks noChangeAspect="1"/>
          </p:cNvPicPr>
          <p:nvPr/>
        </p:nvPicPr>
        <p:blipFill>
          <a:blip r:embed="rId3"/>
          <a:stretch>
            <a:fillRect/>
          </a:stretch>
        </p:blipFill>
        <p:spPr>
          <a:xfrm>
            <a:off x="960852" y="2295876"/>
            <a:ext cx="254569" cy="254569"/>
          </a:xfrm>
          <a:prstGeom prst="rect">
            <a:avLst/>
          </a:prstGeom>
        </p:spPr>
      </p:pic>
      <p:sp>
        <p:nvSpPr>
          <p:cNvPr id="8" name="Text 5"/>
          <p:cNvSpPr/>
          <p:nvPr/>
        </p:nvSpPr>
        <p:spPr>
          <a:xfrm>
            <a:off x="822960" y="2798064"/>
            <a:ext cx="3017520" cy="201168"/>
          </a:xfrm>
          <a:prstGeom prst="rect">
            <a:avLst/>
          </a:prstGeom>
          <a:noFill/>
          <a:ln/>
        </p:spPr>
        <p:txBody>
          <a:bodyPr wrap="square" lIns="0" tIns="0" rIns="0" bIns="0" rtlCol="0" anchor="ctr"/>
          <a:lstStyle/>
          <a:p>
            <a:pPr marL="0" indent="0">
              <a:buNone/>
            </a:pPr>
            <a:r>
              <a:rPr lang="en-US" sz="850" b="1" kern="0" spc="120">
                <a:solidFill>
                  <a:srgbClr val="D9483F"/>
                </a:solidFill>
                <a:latin typeface="Calibri" pitchFamily="34" charset="0"/>
                <a:ea typeface="Calibri" pitchFamily="34" charset="-122"/>
                <a:cs typeface="Calibri" pitchFamily="34" charset="-120"/>
              </a:rPr>
              <a:t>ATTACKS AUTHENTICITY</a:t>
            </a:r>
            <a:endParaRPr lang="en-US" sz="850"/>
          </a:p>
        </p:txBody>
      </p:sp>
      <p:sp>
        <p:nvSpPr>
          <p:cNvPr id="9" name="Text 6"/>
          <p:cNvSpPr/>
          <p:nvPr/>
        </p:nvSpPr>
        <p:spPr>
          <a:xfrm>
            <a:off x="822960" y="2999232"/>
            <a:ext cx="301752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Evil twin</a:t>
            </a:r>
            <a:endParaRPr lang="en-US" sz="1400"/>
          </a:p>
        </p:txBody>
      </p:sp>
      <p:sp>
        <p:nvSpPr>
          <p:cNvPr id="10" name="Text 7"/>
          <p:cNvSpPr/>
          <p:nvPr/>
        </p:nvSpPr>
        <p:spPr>
          <a:xfrm>
            <a:off x="822960" y="3346704"/>
            <a:ext cx="3035808" cy="1280160"/>
          </a:xfrm>
          <a:prstGeom prst="rect">
            <a:avLst/>
          </a:prstGeom>
          <a:noFill/>
          <a:ln/>
        </p:spPr>
        <p:txBody>
          <a:bodyPr wrap="square" lIns="0" tIns="0" rIns="0" bIns="0" rtlCol="0" anchor="t"/>
          <a:lstStyle/>
          <a:p>
            <a:pPr marL="0" indent="0">
              <a:lnSpc>
                <a:spcPts val="1360"/>
              </a:lnSpc>
              <a:buNone/>
            </a:pPr>
            <a:r>
              <a:rPr lang="en-US" sz="1040">
                <a:solidFill>
                  <a:srgbClr val="2B303C"/>
                </a:solidFill>
                <a:latin typeface="Calibri" pitchFamily="34" charset="0"/>
                <a:ea typeface="Calibri" pitchFamily="34" charset="-122"/>
                <a:cs typeface="Calibri" pitchFamily="34" charset="-120"/>
              </a:rPr>
              <a:t>The adversary runs their own wireless access point using an SSID that is similar or identical to a real network. Victims connect without realising, and their traffic passes through the adversary's equipment.</a:t>
            </a:r>
            <a:endParaRPr lang="en-US" sz="1040"/>
          </a:p>
        </p:txBody>
      </p:sp>
      <p:sp>
        <p:nvSpPr>
          <p:cNvPr id="11" name="Shape 8"/>
          <p:cNvSpPr/>
          <p:nvPr/>
        </p:nvSpPr>
        <p:spPr>
          <a:xfrm>
            <a:off x="822960" y="4663440"/>
            <a:ext cx="3017520" cy="9144"/>
          </a:xfrm>
          <a:prstGeom prst="rect">
            <a:avLst/>
          </a:prstGeom>
          <a:solidFill>
            <a:srgbClr val="E7EBF2"/>
          </a:solidFill>
          <a:ln/>
        </p:spPr>
        <p:txBody>
          <a:bodyPr/>
          <a:lstStyle/>
          <a:p>
            <a:endParaRPr lang="en-US"/>
          </a:p>
        </p:txBody>
      </p:sp>
      <p:sp>
        <p:nvSpPr>
          <p:cNvPr id="12" name="Text 9"/>
          <p:cNvSpPr/>
          <p:nvPr/>
        </p:nvSpPr>
        <p:spPr>
          <a:xfrm>
            <a:off x="822960" y="4773168"/>
            <a:ext cx="3035808" cy="621792"/>
          </a:xfrm>
          <a:prstGeom prst="rect">
            <a:avLst/>
          </a:prstGeom>
          <a:noFill/>
          <a:ln/>
        </p:spPr>
        <p:txBody>
          <a:bodyPr wrap="square" lIns="0" tIns="0" rIns="0" bIns="0" rtlCol="0" anchor="t"/>
          <a:lstStyle/>
          <a:p>
            <a:pPr marL="0" indent="0">
              <a:lnSpc>
                <a:spcPts val="1280"/>
              </a:lnSpc>
              <a:buNone/>
            </a:pPr>
            <a:r>
              <a:rPr lang="en-US" sz="980" i="1">
                <a:solidFill>
                  <a:srgbClr val="6B7280"/>
                </a:solidFill>
                <a:latin typeface="Calibri" pitchFamily="34" charset="0"/>
                <a:ea typeface="Calibri" pitchFamily="34" charset="-122"/>
                <a:cs typeface="Calibri" pitchFamily="34" charset="-120"/>
              </a:rPr>
              <a:t>Limit: traffic that uses an encrypted protocol such as HTTPS still cannot be read.</a:t>
            </a:r>
            <a:endParaRPr lang="en-US" sz="980"/>
          </a:p>
        </p:txBody>
      </p:sp>
      <p:sp>
        <p:nvSpPr>
          <p:cNvPr id="13" name="Shape 10"/>
          <p:cNvSpPr/>
          <p:nvPr/>
        </p:nvSpPr>
        <p:spPr>
          <a:xfrm>
            <a:off x="4325112" y="1938528"/>
            <a:ext cx="3529584" cy="3547872"/>
          </a:xfrm>
          <a:prstGeom prst="roundRect">
            <a:avLst>
              <a:gd name="adj" fmla="val 2332"/>
            </a:avLst>
          </a:prstGeom>
          <a:solidFill>
            <a:srgbClr val="F2F4F8"/>
          </a:solidFill>
          <a:ln/>
        </p:spPr>
        <p:txBody>
          <a:bodyPr/>
          <a:lstStyle/>
          <a:p>
            <a:endParaRPr lang="en-US"/>
          </a:p>
        </p:txBody>
      </p:sp>
      <p:sp>
        <p:nvSpPr>
          <p:cNvPr id="14" name="Shape 11"/>
          <p:cNvSpPr/>
          <p:nvPr/>
        </p:nvSpPr>
        <p:spPr>
          <a:xfrm>
            <a:off x="4581144" y="2157984"/>
            <a:ext cx="530352" cy="530352"/>
          </a:xfrm>
          <a:prstGeom prst="ellipse">
            <a:avLst/>
          </a:prstGeom>
          <a:solidFill>
            <a:srgbClr val="F2A03D"/>
          </a:solidFill>
          <a:ln/>
        </p:spPr>
        <p:txBody>
          <a:bodyPr/>
          <a:lstStyle/>
          <a:p>
            <a:endParaRPr lang="en-US"/>
          </a:p>
        </p:txBody>
      </p:sp>
      <p:pic>
        <p:nvPicPr>
          <p:cNvPr id="15" name="Image 1" descr="/home/claude/icons/FaSatelliteDish_w.png"/>
          <p:cNvPicPr>
            <a:picLocks noChangeAspect="1"/>
          </p:cNvPicPr>
          <p:nvPr/>
        </p:nvPicPr>
        <p:blipFill>
          <a:blip r:embed="rId4"/>
          <a:stretch>
            <a:fillRect/>
          </a:stretch>
        </p:blipFill>
        <p:spPr>
          <a:xfrm>
            <a:off x="4719036" y="2295876"/>
            <a:ext cx="254569" cy="254569"/>
          </a:xfrm>
          <a:prstGeom prst="rect">
            <a:avLst/>
          </a:prstGeom>
        </p:spPr>
      </p:pic>
      <p:sp>
        <p:nvSpPr>
          <p:cNvPr id="16" name="Text 12"/>
          <p:cNvSpPr/>
          <p:nvPr/>
        </p:nvSpPr>
        <p:spPr>
          <a:xfrm>
            <a:off x="4581144" y="2798064"/>
            <a:ext cx="3017520" cy="201168"/>
          </a:xfrm>
          <a:prstGeom prst="rect">
            <a:avLst/>
          </a:prstGeom>
          <a:noFill/>
          <a:ln/>
        </p:spPr>
        <p:txBody>
          <a:bodyPr wrap="square" lIns="0" tIns="0" rIns="0" bIns="0" rtlCol="0" anchor="ctr"/>
          <a:lstStyle/>
          <a:p>
            <a:pPr marL="0" indent="0">
              <a:buNone/>
            </a:pPr>
            <a:r>
              <a:rPr lang="en-US" sz="850" b="1" kern="0" spc="120">
                <a:solidFill>
                  <a:srgbClr val="F2A03D"/>
                </a:solidFill>
                <a:latin typeface="Calibri" pitchFamily="34" charset="0"/>
                <a:ea typeface="Calibri" pitchFamily="34" charset="-122"/>
                <a:cs typeface="Calibri" pitchFamily="34" charset="-120"/>
              </a:rPr>
              <a:t>ATTACKS AVAILABILITY</a:t>
            </a:r>
            <a:endParaRPr lang="en-US" sz="850"/>
          </a:p>
        </p:txBody>
      </p:sp>
      <p:sp>
        <p:nvSpPr>
          <p:cNvPr id="17" name="Text 13"/>
          <p:cNvSpPr/>
          <p:nvPr/>
        </p:nvSpPr>
        <p:spPr>
          <a:xfrm>
            <a:off x="4581144" y="2999232"/>
            <a:ext cx="301752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Jamming</a:t>
            </a:r>
            <a:endParaRPr lang="en-US" sz="1400"/>
          </a:p>
        </p:txBody>
      </p:sp>
      <p:sp>
        <p:nvSpPr>
          <p:cNvPr id="18" name="Text 14"/>
          <p:cNvSpPr/>
          <p:nvPr/>
        </p:nvSpPr>
        <p:spPr>
          <a:xfrm>
            <a:off x="4581144" y="3346704"/>
            <a:ext cx="3035808" cy="1280160"/>
          </a:xfrm>
          <a:prstGeom prst="rect">
            <a:avLst/>
          </a:prstGeom>
          <a:noFill/>
          <a:ln/>
        </p:spPr>
        <p:txBody>
          <a:bodyPr wrap="square" lIns="0" tIns="0" rIns="0" bIns="0" rtlCol="0" anchor="t"/>
          <a:lstStyle/>
          <a:p>
            <a:pPr marL="0" indent="0">
              <a:lnSpc>
                <a:spcPts val="1360"/>
              </a:lnSpc>
              <a:buNone/>
            </a:pPr>
            <a:r>
              <a:rPr lang="en-US" sz="1040">
                <a:solidFill>
                  <a:srgbClr val="2B303C"/>
                </a:solidFill>
                <a:latin typeface="Calibri" pitchFamily="34" charset="0"/>
                <a:ea typeface="Calibri" pitchFamily="34" charset="-122"/>
                <a:cs typeface="Calibri" pitchFamily="34" charset="-120"/>
              </a:rPr>
              <a:t>The adversary floods the area with a strong electromagnetic signal in the same frequency range as the wireless network, drowning out legitimate traffic between the access point and its users.</a:t>
            </a:r>
            <a:endParaRPr lang="en-US" sz="1040"/>
          </a:p>
        </p:txBody>
      </p:sp>
      <p:sp>
        <p:nvSpPr>
          <p:cNvPr id="19" name="Shape 15"/>
          <p:cNvSpPr/>
          <p:nvPr/>
        </p:nvSpPr>
        <p:spPr>
          <a:xfrm>
            <a:off x="4581144" y="4663440"/>
            <a:ext cx="3017520" cy="9144"/>
          </a:xfrm>
          <a:prstGeom prst="rect">
            <a:avLst/>
          </a:prstGeom>
          <a:solidFill>
            <a:srgbClr val="E7EBF2"/>
          </a:solidFill>
          <a:ln/>
        </p:spPr>
        <p:txBody>
          <a:bodyPr/>
          <a:lstStyle/>
          <a:p>
            <a:endParaRPr lang="en-US"/>
          </a:p>
        </p:txBody>
      </p:sp>
      <p:sp>
        <p:nvSpPr>
          <p:cNvPr id="20" name="Text 16"/>
          <p:cNvSpPr/>
          <p:nvPr/>
        </p:nvSpPr>
        <p:spPr>
          <a:xfrm>
            <a:off x="4581144" y="4773168"/>
            <a:ext cx="3035808" cy="621792"/>
          </a:xfrm>
          <a:prstGeom prst="rect">
            <a:avLst/>
          </a:prstGeom>
          <a:noFill/>
          <a:ln/>
        </p:spPr>
        <p:txBody>
          <a:bodyPr wrap="square" lIns="0" tIns="0" rIns="0" bIns="0" rtlCol="0" anchor="t"/>
          <a:lstStyle/>
          <a:p>
            <a:pPr marL="0" indent="0">
              <a:lnSpc>
                <a:spcPts val="1280"/>
              </a:lnSpc>
              <a:buNone/>
            </a:pPr>
            <a:r>
              <a:rPr lang="en-US" sz="980" i="1">
                <a:solidFill>
                  <a:srgbClr val="6B7280"/>
                </a:solidFill>
                <a:latin typeface="Calibri" pitchFamily="34" charset="0"/>
                <a:ea typeface="Calibri" pitchFamily="34" charset="-122"/>
                <a:cs typeface="Calibri" pitchFamily="34" charset="-120"/>
              </a:rPr>
              <a:t>This is a denial-of-service (DoS) attack: it prevents access to a resource rather than stealing from it.</a:t>
            </a:r>
            <a:endParaRPr lang="en-US" sz="980"/>
          </a:p>
        </p:txBody>
      </p:sp>
      <p:sp>
        <p:nvSpPr>
          <p:cNvPr id="21" name="Shape 17"/>
          <p:cNvSpPr/>
          <p:nvPr/>
        </p:nvSpPr>
        <p:spPr>
          <a:xfrm>
            <a:off x="8083296" y="1938528"/>
            <a:ext cx="3529584" cy="3547872"/>
          </a:xfrm>
          <a:prstGeom prst="roundRect">
            <a:avLst>
              <a:gd name="adj" fmla="val 2332"/>
            </a:avLst>
          </a:prstGeom>
          <a:solidFill>
            <a:srgbClr val="F2F4F8"/>
          </a:solidFill>
          <a:ln/>
        </p:spPr>
        <p:txBody>
          <a:bodyPr/>
          <a:lstStyle/>
          <a:p>
            <a:endParaRPr lang="en-US"/>
          </a:p>
        </p:txBody>
      </p:sp>
      <p:sp>
        <p:nvSpPr>
          <p:cNvPr id="22" name="Shape 18"/>
          <p:cNvSpPr/>
          <p:nvPr/>
        </p:nvSpPr>
        <p:spPr>
          <a:xfrm>
            <a:off x="8339328" y="2157984"/>
            <a:ext cx="530352" cy="530352"/>
          </a:xfrm>
          <a:prstGeom prst="ellipse">
            <a:avLst/>
          </a:prstGeom>
          <a:solidFill>
            <a:srgbClr val="6A5AC7"/>
          </a:solidFill>
          <a:ln/>
        </p:spPr>
        <p:txBody>
          <a:bodyPr/>
          <a:lstStyle/>
          <a:p>
            <a:endParaRPr lang="en-US"/>
          </a:p>
        </p:txBody>
      </p:sp>
      <p:pic>
        <p:nvPicPr>
          <p:cNvPr id="23" name="Image 2" descr="/home/claude/icons/FaCarSide_w.png"/>
          <p:cNvPicPr>
            <a:picLocks noChangeAspect="1"/>
          </p:cNvPicPr>
          <p:nvPr/>
        </p:nvPicPr>
        <p:blipFill>
          <a:blip r:embed="rId5"/>
          <a:stretch>
            <a:fillRect/>
          </a:stretch>
        </p:blipFill>
        <p:spPr>
          <a:xfrm>
            <a:off x="8477220" y="2295876"/>
            <a:ext cx="254569" cy="254569"/>
          </a:xfrm>
          <a:prstGeom prst="rect">
            <a:avLst/>
          </a:prstGeom>
        </p:spPr>
      </p:pic>
      <p:sp>
        <p:nvSpPr>
          <p:cNvPr id="24" name="Text 19"/>
          <p:cNvSpPr/>
          <p:nvPr/>
        </p:nvSpPr>
        <p:spPr>
          <a:xfrm>
            <a:off x="8339328" y="2798064"/>
            <a:ext cx="3017520" cy="201168"/>
          </a:xfrm>
          <a:prstGeom prst="rect">
            <a:avLst/>
          </a:prstGeom>
          <a:noFill/>
          <a:ln/>
        </p:spPr>
        <p:txBody>
          <a:bodyPr wrap="square" lIns="0" tIns="0" rIns="0" bIns="0" rtlCol="0" anchor="ctr"/>
          <a:lstStyle/>
          <a:p>
            <a:pPr marL="0" indent="0">
              <a:buNone/>
            </a:pPr>
            <a:r>
              <a:rPr lang="en-US" sz="850" b="1" kern="0" spc="120">
                <a:solidFill>
                  <a:srgbClr val="6A5AC7"/>
                </a:solidFill>
                <a:latin typeface="Calibri" pitchFamily="34" charset="0"/>
                <a:ea typeface="Calibri" pitchFamily="34" charset="-122"/>
                <a:cs typeface="Calibri" pitchFamily="34" charset="-120"/>
              </a:rPr>
              <a:t>GATHERS INTELLIGENCE</a:t>
            </a:r>
            <a:endParaRPr lang="en-US" sz="850"/>
          </a:p>
        </p:txBody>
      </p:sp>
      <p:sp>
        <p:nvSpPr>
          <p:cNvPr id="25" name="Text 20"/>
          <p:cNvSpPr/>
          <p:nvPr/>
        </p:nvSpPr>
        <p:spPr>
          <a:xfrm>
            <a:off x="8339328" y="2999232"/>
            <a:ext cx="301752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War driving</a:t>
            </a:r>
            <a:endParaRPr lang="en-US" sz="1400"/>
          </a:p>
        </p:txBody>
      </p:sp>
      <p:sp>
        <p:nvSpPr>
          <p:cNvPr id="26" name="Text 21"/>
          <p:cNvSpPr/>
          <p:nvPr/>
        </p:nvSpPr>
        <p:spPr>
          <a:xfrm>
            <a:off x="8339328" y="3346704"/>
            <a:ext cx="3035808" cy="1280160"/>
          </a:xfrm>
          <a:prstGeom prst="rect">
            <a:avLst/>
          </a:prstGeom>
          <a:noFill/>
          <a:ln/>
        </p:spPr>
        <p:txBody>
          <a:bodyPr wrap="square" lIns="0" tIns="0" rIns="0" bIns="0" rtlCol="0" anchor="t"/>
          <a:lstStyle/>
          <a:p>
            <a:pPr marL="0" indent="0">
              <a:lnSpc>
                <a:spcPts val="1360"/>
              </a:lnSpc>
              <a:buNone/>
            </a:pPr>
            <a:r>
              <a:rPr lang="en-US" sz="1040">
                <a:solidFill>
                  <a:srgbClr val="2B303C"/>
                </a:solidFill>
                <a:latin typeface="Calibri" pitchFamily="34" charset="0"/>
                <a:ea typeface="Calibri" pitchFamily="34" charset="-122"/>
                <a:cs typeface="Calibri" pitchFamily="34" charset="-120"/>
              </a:rPr>
              <a:t>The adversary moves through an area — driving or walking — detecting wireless beacons, recording what kind of network each one is and where the signal reaches.</a:t>
            </a:r>
            <a:endParaRPr lang="en-US" sz="1040"/>
          </a:p>
        </p:txBody>
      </p:sp>
      <p:sp>
        <p:nvSpPr>
          <p:cNvPr id="27" name="Shape 22"/>
          <p:cNvSpPr/>
          <p:nvPr/>
        </p:nvSpPr>
        <p:spPr>
          <a:xfrm>
            <a:off x="8339328" y="4663440"/>
            <a:ext cx="3017520" cy="9144"/>
          </a:xfrm>
          <a:prstGeom prst="rect">
            <a:avLst/>
          </a:prstGeom>
          <a:solidFill>
            <a:srgbClr val="E7EBF2"/>
          </a:solidFill>
          <a:ln/>
        </p:spPr>
        <p:txBody>
          <a:bodyPr/>
          <a:lstStyle/>
          <a:p>
            <a:endParaRPr lang="en-US"/>
          </a:p>
        </p:txBody>
      </p:sp>
      <p:sp>
        <p:nvSpPr>
          <p:cNvPr id="28" name="Text 23"/>
          <p:cNvSpPr/>
          <p:nvPr/>
        </p:nvSpPr>
        <p:spPr>
          <a:xfrm>
            <a:off x="8339328" y="4773168"/>
            <a:ext cx="3035808" cy="621792"/>
          </a:xfrm>
          <a:prstGeom prst="rect">
            <a:avLst/>
          </a:prstGeom>
          <a:noFill/>
          <a:ln/>
        </p:spPr>
        <p:txBody>
          <a:bodyPr wrap="square" lIns="0" tIns="0" rIns="0" bIns="0" rtlCol="0" anchor="t"/>
          <a:lstStyle/>
          <a:p>
            <a:pPr marL="0" indent="0">
              <a:lnSpc>
                <a:spcPts val="1280"/>
              </a:lnSpc>
              <a:buNone/>
            </a:pPr>
            <a:r>
              <a:rPr lang="en-US" sz="980" i="1">
                <a:solidFill>
                  <a:srgbClr val="6B7280"/>
                </a:solidFill>
                <a:latin typeface="Calibri" pitchFamily="34" charset="0"/>
                <a:ea typeface="Calibri" pitchFamily="34" charset="-122"/>
                <a:cs typeface="Calibri" pitchFamily="34" charset="-120"/>
              </a:rPr>
              <a:t>This is reconnaissance: it reveals where a signal spills outside the building it belongs to.</a:t>
            </a:r>
            <a:endParaRPr lang="en-US" sz="980"/>
          </a:p>
        </p:txBody>
      </p:sp>
      <p:sp>
        <p:nvSpPr>
          <p:cNvPr id="29" name="Shape 24"/>
          <p:cNvSpPr/>
          <p:nvPr/>
        </p:nvSpPr>
        <p:spPr>
          <a:xfrm>
            <a:off x="566928" y="5650992"/>
            <a:ext cx="11057839" cy="512064"/>
          </a:xfrm>
          <a:prstGeom prst="roundRect">
            <a:avLst>
              <a:gd name="adj" fmla="val 14286"/>
            </a:avLst>
          </a:prstGeom>
          <a:solidFill>
            <a:srgbClr val="12141C"/>
          </a:solidFill>
          <a:ln/>
        </p:spPr>
        <p:txBody>
          <a:bodyPr/>
          <a:lstStyle/>
          <a:p>
            <a:endParaRPr lang="en-US"/>
          </a:p>
        </p:txBody>
      </p:sp>
      <p:pic>
        <p:nvPicPr>
          <p:cNvPr id="30" name="Image 3" descr="/home/claude/icons/FaEye_w.png"/>
          <p:cNvPicPr>
            <a:picLocks noChangeAspect="1"/>
          </p:cNvPicPr>
          <p:nvPr/>
        </p:nvPicPr>
        <p:blipFill>
          <a:blip r:embed="rId6"/>
          <a:stretch>
            <a:fillRect/>
          </a:stretch>
        </p:blipFill>
        <p:spPr>
          <a:xfrm>
            <a:off x="768096" y="5792724"/>
            <a:ext cx="228600" cy="228600"/>
          </a:xfrm>
          <a:prstGeom prst="rect">
            <a:avLst/>
          </a:prstGeom>
        </p:spPr>
      </p:pic>
      <p:sp>
        <p:nvSpPr>
          <p:cNvPr id="31" name="Text 25"/>
          <p:cNvSpPr/>
          <p:nvPr/>
        </p:nvSpPr>
        <p:spPr>
          <a:xfrm>
            <a:off x="1133856" y="5650992"/>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Also worth knowing: passive eavesdropping and packet sniffing (reading traffic that crosses the air) and machine-in-the-middle interception, which is what an evil twin sets up.</a:t>
            </a:r>
            <a:endParaRPr lang="en-US" sz="1150"/>
          </a:p>
        </p:txBody>
      </p:sp>
      <p:sp>
        <p:nvSpPr>
          <p:cNvPr id="32" name="Text 2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3" name="Text 2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30</a:t>
            </a:r>
            <a:endParaRPr lang="en-US" sz="9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D9483F"/>
                </a:solidFill>
                <a:latin typeface="Calibri" pitchFamily="34" charset="0"/>
                <a:ea typeface="Calibri" pitchFamily="34" charset="-122"/>
                <a:cs typeface="Calibri" pitchFamily="34" charset="-120"/>
              </a:rPr>
              <a:t>1.3.B  ·  MECHANISM</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How an evil twin captures a credential</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device has no way to tell two access points apart by name alone — and the fake one is often the stronger signal.</a:t>
            </a:r>
            <a:endParaRPr lang="en-US" sz="1400"/>
          </a:p>
        </p:txBody>
      </p:sp>
      <p:sp>
        <p:nvSpPr>
          <p:cNvPr id="5" name="Shape 3"/>
          <p:cNvSpPr/>
          <p:nvPr/>
        </p:nvSpPr>
        <p:spPr>
          <a:xfrm>
            <a:off x="566928" y="1874520"/>
            <a:ext cx="11057839" cy="1371600"/>
          </a:xfrm>
          <a:prstGeom prst="roundRect">
            <a:avLst>
              <a:gd name="adj" fmla="val 6000"/>
            </a:avLst>
          </a:prstGeom>
          <a:solidFill>
            <a:srgbClr val="E6F5F3"/>
          </a:solidFill>
          <a:ln/>
        </p:spPr>
        <p:txBody>
          <a:bodyPr/>
          <a:lstStyle/>
          <a:p>
            <a:endParaRPr lang="en-US"/>
          </a:p>
        </p:txBody>
      </p:sp>
      <p:sp>
        <p:nvSpPr>
          <p:cNvPr id="6" name="Text 4"/>
          <p:cNvSpPr/>
          <p:nvPr/>
        </p:nvSpPr>
        <p:spPr>
          <a:xfrm>
            <a:off x="841248" y="2011680"/>
            <a:ext cx="5486400" cy="201168"/>
          </a:xfrm>
          <a:prstGeom prst="rect">
            <a:avLst/>
          </a:prstGeom>
          <a:noFill/>
          <a:ln/>
        </p:spPr>
        <p:txBody>
          <a:bodyPr wrap="square" lIns="0" tIns="0" rIns="0" bIns="0" rtlCol="0" anchor="ctr"/>
          <a:lstStyle/>
          <a:p>
            <a:pPr marL="0" indent="0">
              <a:buNone/>
            </a:pPr>
            <a:r>
              <a:rPr lang="en-US" sz="900" b="1" kern="0" spc="120">
                <a:solidFill>
                  <a:srgbClr val="16786D"/>
                </a:solidFill>
                <a:latin typeface="Calibri" pitchFamily="34" charset="0"/>
                <a:ea typeface="Calibri" pitchFamily="34" charset="-122"/>
                <a:cs typeface="Calibri" pitchFamily="34" charset="-120"/>
              </a:rPr>
              <a:t>WHAT THE VICTIM BELIEVES IS HAPPENING</a:t>
            </a:r>
            <a:endParaRPr lang="en-US" sz="900"/>
          </a:p>
        </p:txBody>
      </p:sp>
      <p:sp>
        <p:nvSpPr>
          <p:cNvPr id="7" name="Shape 5"/>
          <p:cNvSpPr/>
          <p:nvPr/>
        </p:nvSpPr>
        <p:spPr>
          <a:xfrm>
            <a:off x="886968" y="2377440"/>
            <a:ext cx="457200" cy="457200"/>
          </a:xfrm>
          <a:prstGeom prst="ellipse">
            <a:avLst/>
          </a:prstGeom>
          <a:solidFill>
            <a:srgbClr val="1FA697"/>
          </a:solidFill>
          <a:ln/>
        </p:spPr>
        <p:txBody>
          <a:bodyPr/>
          <a:lstStyle/>
          <a:p>
            <a:endParaRPr lang="en-US"/>
          </a:p>
        </p:txBody>
      </p:sp>
      <p:pic>
        <p:nvPicPr>
          <p:cNvPr id="8" name="Image 0" descr="/home/claude/icons/FaMobileScreenButton_w.png"/>
          <p:cNvPicPr>
            <a:picLocks noChangeAspect="1"/>
          </p:cNvPicPr>
          <p:nvPr/>
        </p:nvPicPr>
        <p:blipFill>
          <a:blip r:embed="rId3"/>
          <a:stretch>
            <a:fillRect/>
          </a:stretch>
        </p:blipFill>
        <p:spPr>
          <a:xfrm>
            <a:off x="1005840" y="2496312"/>
            <a:ext cx="219456" cy="219456"/>
          </a:xfrm>
          <a:prstGeom prst="rect">
            <a:avLst/>
          </a:prstGeom>
        </p:spPr>
      </p:pic>
      <p:sp>
        <p:nvSpPr>
          <p:cNvPr id="9" name="Text 6"/>
          <p:cNvSpPr/>
          <p:nvPr/>
        </p:nvSpPr>
        <p:spPr>
          <a:xfrm>
            <a:off x="1453896" y="2377440"/>
            <a:ext cx="2377440" cy="457200"/>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Phone</a:t>
            </a:r>
            <a:endParaRPr lang="en-US" sz="1100"/>
          </a:p>
        </p:txBody>
      </p:sp>
      <p:sp>
        <p:nvSpPr>
          <p:cNvPr id="10" name="Shape 7"/>
          <p:cNvSpPr/>
          <p:nvPr/>
        </p:nvSpPr>
        <p:spPr>
          <a:xfrm rot="5400000">
            <a:off x="3675888" y="2450592"/>
            <a:ext cx="128016" cy="146304"/>
          </a:xfrm>
          <a:prstGeom prst="triangle">
            <a:avLst/>
          </a:prstGeom>
          <a:solidFill>
            <a:srgbClr val="16786D"/>
          </a:solidFill>
          <a:ln/>
        </p:spPr>
        <p:txBody>
          <a:bodyPr/>
          <a:lstStyle/>
          <a:p>
            <a:endParaRPr lang="en-US"/>
          </a:p>
        </p:txBody>
      </p:sp>
      <p:sp>
        <p:nvSpPr>
          <p:cNvPr id="11" name="Shape 8"/>
          <p:cNvSpPr/>
          <p:nvPr/>
        </p:nvSpPr>
        <p:spPr>
          <a:xfrm>
            <a:off x="3995928" y="2377440"/>
            <a:ext cx="457200" cy="457200"/>
          </a:xfrm>
          <a:prstGeom prst="ellipse">
            <a:avLst/>
          </a:prstGeom>
          <a:solidFill>
            <a:srgbClr val="1FA697"/>
          </a:solidFill>
          <a:ln/>
        </p:spPr>
        <p:txBody>
          <a:bodyPr/>
          <a:lstStyle/>
          <a:p>
            <a:endParaRPr lang="en-US"/>
          </a:p>
        </p:txBody>
      </p:sp>
      <p:pic>
        <p:nvPicPr>
          <p:cNvPr id="12" name="Image 1" descr="/home/claude/icons/FaTowerBroadcast_w.png"/>
          <p:cNvPicPr>
            <a:picLocks noChangeAspect="1"/>
          </p:cNvPicPr>
          <p:nvPr/>
        </p:nvPicPr>
        <p:blipFill>
          <a:blip r:embed="rId4"/>
          <a:stretch>
            <a:fillRect/>
          </a:stretch>
        </p:blipFill>
        <p:spPr>
          <a:xfrm>
            <a:off x="4114800" y="2496312"/>
            <a:ext cx="219456" cy="219456"/>
          </a:xfrm>
          <a:prstGeom prst="rect">
            <a:avLst/>
          </a:prstGeom>
        </p:spPr>
      </p:pic>
      <p:sp>
        <p:nvSpPr>
          <p:cNvPr id="13" name="Text 9"/>
          <p:cNvSpPr/>
          <p:nvPr/>
        </p:nvSpPr>
        <p:spPr>
          <a:xfrm>
            <a:off x="4562856" y="2377440"/>
            <a:ext cx="2377440" cy="457200"/>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"Sunshine Coffee Wi-Fi"</a:t>
            </a:r>
            <a:endParaRPr lang="en-US" sz="1100"/>
          </a:p>
        </p:txBody>
      </p:sp>
      <p:sp>
        <p:nvSpPr>
          <p:cNvPr id="14" name="Shape 10"/>
          <p:cNvSpPr/>
          <p:nvPr/>
        </p:nvSpPr>
        <p:spPr>
          <a:xfrm rot="5400000">
            <a:off x="6784848" y="2450592"/>
            <a:ext cx="128016" cy="146304"/>
          </a:xfrm>
          <a:prstGeom prst="triangle">
            <a:avLst/>
          </a:prstGeom>
          <a:solidFill>
            <a:srgbClr val="16786D"/>
          </a:solidFill>
          <a:ln/>
        </p:spPr>
        <p:txBody>
          <a:bodyPr/>
          <a:lstStyle/>
          <a:p>
            <a:endParaRPr lang="en-US"/>
          </a:p>
        </p:txBody>
      </p:sp>
      <p:sp>
        <p:nvSpPr>
          <p:cNvPr id="15" name="Shape 11"/>
          <p:cNvSpPr/>
          <p:nvPr/>
        </p:nvSpPr>
        <p:spPr>
          <a:xfrm>
            <a:off x="7104888" y="2377440"/>
            <a:ext cx="457200" cy="457200"/>
          </a:xfrm>
          <a:prstGeom prst="ellipse">
            <a:avLst/>
          </a:prstGeom>
          <a:solidFill>
            <a:srgbClr val="1FA697"/>
          </a:solidFill>
          <a:ln/>
        </p:spPr>
        <p:txBody>
          <a:bodyPr/>
          <a:lstStyle/>
          <a:p>
            <a:endParaRPr lang="en-US"/>
          </a:p>
        </p:txBody>
      </p:sp>
      <p:pic>
        <p:nvPicPr>
          <p:cNvPr id="16" name="Image 2" descr="/home/claude/icons/FaGlobe_w.png"/>
          <p:cNvPicPr>
            <a:picLocks noChangeAspect="1"/>
          </p:cNvPicPr>
          <p:nvPr/>
        </p:nvPicPr>
        <p:blipFill>
          <a:blip r:embed="rId5"/>
          <a:stretch>
            <a:fillRect/>
          </a:stretch>
        </p:blipFill>
        <p:spPr>
          <a:xfrm>
            <a:off x="7223760" y="2496312"/>
            <a:ext cx="219456" cy="219456"/>
          </a:xfrm>
          <a:prstGeom prst="rect">
            <a:avLst/>
          </a:prstGeom>
        </p:spPr>
      </p:pic>
      <p:sp>
        <p:nvSpPr>
          <p:cNvPr id="17" name="Text 12"/>
          <p:cNvSpPr/>
          <p:nvPr/>
        </p:nvSpPr>
        <p:spPr>
          <a:xfrm>
            <a:off x="7671816" y="2377440"/>
            <a:ext cx="2377440" cy="457200"/>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The real internet</a:t>
            </a:r>
            <a:endParaRPr lang="en-US" sz="1100"/>
          </a:p>
        </p:txBody>
      </p:sp>
      <p:sp>
        <p:nvSpPr>
          <p:cNvPr id="18" name="Shape 13"/>
          <p:cNvSpPr/>
          <p:nvPr/>
        </p:nvSpPr>
        <p:spPr>
          <a:xfrm>
            <a:off x="566928" y="3401568"/>
            <a:ext cx="11057839" cy="2084832"/>
          </a:xfrm>
          <a:prstGeom prst="roundRect">
            <a:avLst>
              <a:gd name="adj" fmla="val 3947"/>
            </a:avLst>
          </a:prstGeom>
          <a:solidFill>
            <a:srgbClr val="FBECEA"/>
          </a:solidFill>
          <a:ln/>
        </p:spPr>
        <p:txBody>
          <a:bodyPr/>
          <a:lstStyle/>
          <a:p>
            <a:endParaRPr lang="en-US"/>
          </a:p>
        </p:txBody>
      </p:sp>
      <p:sp>
        <p:nvSpPr>
          <p:cNvPr id="19" name="Text 14"/>
          <p:cNvSpPr/>
          <p:nvPr/>
        </p:nvSpPr>
        <p:spPr>
          <a:xfrm>
            <a:off x="841248" y="3538728"/>
            <a:ext cx="5486400" cy="201168"/>
          </a:xfrm>
          <a:prstGeom prst="rect">
            <a:avLst/>
          </a:prstGeom>
          <a:noFill/>
          <a:ln/>
        </p:spPr>
        <p:txBody>
          <a:bodyPr wrap="square" lIns="0" tIns="0" rIns="0" bIns="0" rtlCol="0" anchor="ctr"/>
          <a:lstStyle/>
          <a:p>
            <a:pPr marL="0" indent="0">
              <a:buNone/>
            </a:pPr>
            <a:r>
              <a:rPr lang="en-US" sz="900" b="1" kern="0" spc="120">
                <a:solidFill>
                  <a:srgbClr val="D9483F"/>
                </a:solidFill>
                <a:latin typeface="Calibri" pitchFamily="34" charset="0"/>
                <a:ea typeface="Calibri" pitchFamily="34" charset="-122"/>
                <a:cs typeface="Calibri" pitchFamily="34" charset="-120"/>
              </a:rPr>
              <a:t>WHAT IS ACTUALLY HAPPENING</a:t>
            </a:r>
            <a:endParaRPr lang="en-US" sz="900"/>
          </a:p>
        </p:txBody>
      </p:sp>
      <p:sp>
        <p:nvSpPr>
          <p:cNvPr id="20" name="Shape 15"/>
          <p:cNvSpPr/>
          <p:nvPr/>
        </p:nvSpPr>
        <p:spPr>
          <a:xfrm>
            <a:off x="841248" y="3877056"/>
            <a:ext cx="457200" cy="457200"/>
          </a:xfrm>
          <a:prstGeom prst="ellipse">
            <a:avLst/>
          </a:prstGeom>
          <a:solidFill>
            <a:srgbClr val="D9483F"/>
          </a:solidFill>
          <a:ln/>
        </p:spPr>
        <p:txBody>
          <a:bodyPr/>
          <a:lstStyle/>
          <a:p>
            <a:endParaRPr lang="en-US"/>
          </a:p>
        </p:txBody>
      </p:sp>
      <p:pic>
        <p:nvPicPr>
          <p:cNvPr id="21" name="Image 3" descr="/home/claude/icons/FaMobileScreenButton_w.png"/>
          <p:cNvPicPr>
            <a:picLocks noChangeAspect="1"/>
          </p:cNvPicPr>
          <p:nvPr/>
        </p:nvPicPr>
        <p:blipFill>
          <a:blip r:embed="rId3"/>
          <a:stretch>
            <a:fillRect/>
          </a:stretch>
        </p:blipFill>
        <p:spPr>
          <a:xfrm>
            <a:off x="960120" y="3995928"/>
            <a:ext cx="219456" cy="219456"/>
          </a:xfrm>
          <a:prstGeom prst="rect">
            <a:avLst/>
          </a:prstGeom>
        </p:spPr>
      </p:pic>
      <p:sp>
        <p:nvSpPr>
          <p:cNvPr id="22" name="Text 16"/>
          <p:cNvSpPr/>
          <p:nvPr/>
        </p:nvSpPr>
        <p:spPr>
          <a:xfrm>
            <a:off x="841248" y="4407408"/>
            <a:ext cx="2011680" cy="402336"/>
          </a:xfrm>
          <a:prstGeom prst="rect">
            <a:avLst/>
          </a:prstGeom>
          <a:noFill/>
          <a:ln/>
        </p:spPr>
        <p:txBody>
          <a:bodyPr wrap="square" lIns="0" tIns="0" rIns="0" bIns="0" rtlCol="0" anchor="ctr"/>
          <a:lstStyle/>
          <a:p>
            <a:pPr marL="0" indent="0">
              <a:lnSpc>
                <a:spcPts val="1350"/>
              </a:lnSpc>
              <a:buNone/>
            </a:pPr>
            <a:r>
              <a:rPr lang="en-US" sz="1080" b="1">
                <a:solidFill>
                  <a:srgbClr val="12141C"/>
                </a:solidFill>
                <a:latin typeface="Calibri" pitchFamily="34" charset="0"/>
                <a:ea typeface="Calibri" pitchFamily="34" charset="-122"/>
                <a:cs typeface="Calibri" pitchFamily="34" charset="-120"/>
              </a:rPr>
              <a:t>Phone joins</a:t>
            </a:r>
            <a:endParaRPr lang="en-US" sz="1080"/>
          </a:p>
          <a:p>
            <a:pPr marL="0" indent="0">
              <a:lnSpc>
                <a:spcPts val="1350"/>
              </a:lnSpc>
              <a:buNone/>
            </a:pPr>
            <a:r>
              <a:rPr lang="en-US" sz="1080" b="1">
                <a:solidFill>
                  <a:srgbClr val="12141C"/>
                </a:solidFill>
                <a:latin typeface="Calibri" pitchFamily="34" charset="0"/>
                <a:ea typeface="Calibri" pitchFamily="34" charset="-122"/>
                <a:cs typeface="Calibri" pitchFamily="34" charset="-120"/>
              </a:rPr>
              <a:t>"Guest Wi-Fi"</a:t>
            </a:r>
            <a:endParaRPr lang="en-US" sz="1080"/>
          </a:p>
        </p:txBody>
      </p:sp>
      <p:sp>
        <p:nvSpPr>
          <p:cNvPr id="23" name="Text 17"/>
          <p:cNvSpPr/>
          <p:nvPr/>
        </p:nvSpPr>
        <p:spPr>
          <a:xfrm>
            <a:off x="841248" y="4846320"/>
            <a:ext cx="2057400" cy="530352"/>
          </a:xfrm>
          <a:prstGeom prst="rect">
            <a:avLst/>
          </a:prstGeom>
          <a:noFill/>
          <a:ln/>
        </p:spPr>
        <p:txBody>
          <a:bodyPr wrap="square" lIns="0" tIns="0" rIns="0" bIns="0" rtlCol="0" anchor="ctr"/>
          <a:lstStyle/>
          <a:p>
            <a:pPr marL="0" indent="0">
              <a:lnSpc>
                <a:spcPts val="1200"/>
              </a:lnSpc>
              <a:buNone/>
            </a:pPr>
            <a:r>
              <a:rPr lang="en-US" sz="950">
                <a:solidFill>
                  <a:srgbClr val="6B7280"/>
                </a:solidFill>
                <a:latin typeface="Calibri" pitchFamily="34" charset="0"/>
                <a:ea typeface="Calibri" pitchFamily="34" charset="-122"/>
                <a:cs typeface="Calibri" pitchFamily="34" charset="-120"/>
              </a:rPr>
              <a:t>Similar name, stronger signal, no password required.</a:t>
            </a:r>
            <a:endParaRPr lang="en-US" sz="950"/>
          </a:p>
        </p:txBody>
      </p:sp>
      <p:sp>
        <p:nvSpPr>
          <p:cNvPr id="24" name="Shape 18"/>
          <p:cNvSpPr/>
          <p:nvPr/>
        </p:nvSpPr>
        <p:spPr>
          <a:xfrm rot="5400000">
            <a:off x="2724912" y="3950208"/>
            <a:ext cx="128016" cy="146304"/>
          </a:xfrm>
          <a:prstGeom prst="triangle">
            <a:avLst/>
          </a:prstGeom>
          <a:solidFill>
            <a:srgbClr val="D9483F"/>
          </a:solidFill>
          <a:ln/>
        </p:spPr>
        <p:txBody>
          <a:bodyPr/>
          <a:lstStyle/>
          <a:p>
            <a:endParaRPr lang="en-US"/>
          </a:p>
        </p:txBody>
      </p:sp>
      <p:sp>
        <p:nvSpPr>
          <p:cNvPr id="25" name="Shape 19"/>
          <p:cNvSpPr/>
          <p:nvPr/>
        </p:nvSpPr>
        <p:spPr>
          <a:xfrm>
            <a:off x="3054096" y="3877056"/>
            <a:ext cx="457200" cy="457200"/>
          </a:xfrm>
          <a:prstGeom prst="ellipse">
            <a:avLst/>
          </a:prstGeom>
          <a:solidFill>
            <a:srgbClr val="D9483F"/>
          </a:solidFill>
          <a:ln/>
        </p:spPr>
        <p:txBody>
          <a:bodyPr/>
          <a:lstStyle/>
          <a:p>
            <a:endParaRPr lang="en-US"/>
          </a:p>
        </p:txBody>
      </p:sp>
      <p:pic>
        <p:nvPicPr>
          <p:cNvPr id="26" name="Image 4" descr="/home/claude/icons/FaTowerBroadcast_w.png"/>
          <p:cNvPicPr>
            <a:picLocks noChangeAspect="1"/>
          </p:cNvPicPr>
          <p:nvPr/>
        </p:nvPicPr>
        <p:blipFill>
          <a:blip r:embed="rId4"/>
          <a:stretch>
            <a:fillRect/>
          </a:stretch>
        </p:blipFill>
        <p:spPr>
          <a:xfrm>
            <a:off x="3172968" y="3995928"/>
            <a:ext cx="219456" cy="219456"/>
          </a:xfrm>
          <a:prstGeom prst="rect">
            <a:avLst/>
          </a:prstGeom>
        </p:spPr>
      </p:pic>
      <p:sp>
        <p:nvSpPr>
          <p:cNvPr id="27" name="Text 20"/>
          <p:cNvSpPr/>
          <p:nvPr/>
        </p:nvSpPr>
        <p:spPr>
          <a:xfrm>
            <a:off x="3054096" y="4407408"/>
            <a:ext cx="2011680" cy="402336"/>
          </a:xfrm>
          <a:prstGeom prst="rect">
            <a:avLst/>
          </a:prstGeom>
          <a:noFill/>
          <a:ln/>
        </p:spPr>
        <p:txBody>
          <a:bodyPr wrap="square" lIns="0" tIns="0" rIns="0" bIns="0" rtlCol="0" anchor="ctr"/>
          <a:lstStyle/>
          <a:p>
            <a:pPr marL="0" indent="0">
              <a:lnSpc>
                <a:spcPts val="1350"/>
              </a:lnSpc>
              <a:buNone/>
            </a:pPr>
            <a:r>
              <a:rPr lang="en-US" sz="1080" b="1">
                <a:solidFill>
                  <a:srgbClr val="12141C"/>
                </a:solidFill>
                <a:latin typeface="Calibri" pitchFamily="34" charset="0"/>
                <a:ea typeface="Calibri" pitchFamily="34" charset="-122"/>
                <a:cs typeface="Calibri" pitchFamily="34" charset="-120"/>
              </a:rPr>
              <a:t>Adversary's</a:t>
            </a:r>
            <a:endParaRPr lang="en-US" sz="1080"/>
          </a:p>
          <a:p>
            <a:pPr marL="0" indent="0">
              <a:lnSpc>
                <a:spcPts val="1350"/>
              </a:lnSpc>
              <a:buNone/>
            </a:pPr>
            <a:r>
              <a:rPr lang="en-US" sz="1080" b="1">
                <a:solidFill>
                  <a:srgbClr val="12141C"/>
                </a:solidFill>
                <a:latin typeface="Calibri" pitchFamily="34" charset="0"/>
                <a:ea typeface="Calibri" pitchFamily="34" charset="-122"/>
                <a:cs typeface="Calibri" pitchFamily="34" charset="-120"/>
              </a:rPr>
              <a:t>access point</a:t>
            </a:r>
            <a:endParaRPr lang="en-US" sz="1080"/>
          </a:p>
        </p:txBody>
      </p:sp>
      <p:sp>
        <p:nvSpPr>
          <p:cNvPr id="28" name="Text 21"/>
          <p:cNvSpPr/>
          <p:nvPr/>
        </p:nvSpPr>
        <p:spPr>
          <a:xfrm>
            <a:off x="3054096" y="4846320"/>
            <a:ext cx="2057400" cy="530352"/>
          </a:xfrm>
          <a:prstGeom prst="rect">
            <a:avLst/>
          </a:prstGeom>
          <a:noFill/>
          <a:ln/>
        </p:spPr>
        <p:txBody>
          <a:bodyPr wrap="square" lIns="0" tIns="0" rIns="0" bIns="0" rtlCol="0" anchor="ctr"/>
          <a:lstStyle/>
          <a:p>
            <a:pPr marL="0" indent="0">
              <a:lnSpc>
                <a:spcPts val="1200"/>
              </a:lnSpc>
              <a:buNone/>
            </a:pPr>
            <a:r>
              <a:rPr lang="en-US" sz="950">
                <a:solidFill>
                  <a:srgbClr val="6B7280"/>
                </a:solidFill>
                <a:latin typeface="Calibri" pitchFamily="34" charset="0"/>
                <a:ea typeface="Calibri" pitchFamily="34" charset="-122"/>
                <a:cs typeface="Calibri" pitchFamily="34" charset="-120"/>
              </a:rPr>
              <a:t>A portable device broadcasting a look-alike SSID.</a:t>
            </a:r>
            <a:endParaRPr lang="en-US" sz="950"/>
          </a:p>
        </p:txBody>
      </p:sp>
      <p:sp>
        <p:nvSpPr>
          <p:cNvPr id="29" name="Shape 22"/>
          <p:cNvSpPr/>
          <p:nvPr/>
        </p:nvSpPr>
        <p:spPr>
          <a:xfrm rot="5400000">
            <a:off x="4937760" y="3950208"/>
            <a:ext cx="128016" cy="146304"/>
          </a:xfrm>
          <a:prstGeom prst="triangle">
            <a:avLst/>
          </a:prstGeom>
          <a:solidFill>
            <a:srgbClr val="D9483F"/>
          </a:solidFill>
          <a:ln/>
        </p:spPr>
        <p:txBody>
          <a:bodyPr/>
          <a:lstStyle/>
          <a:p>
            <a:endParaRPr lang="en-US"/>
          </a:p>
        </p:txBody>
      </p:sp>
      <p:sp>
        <p:nvSpPr>
          <p:cNvPr id="30" name="Shape 23"/>
          <p:cNvSpPr/>
          <p:nvPr/>
        </p:nvSpPr>
        <p:spPr>
          <a:xfrm>
            <a:off x="5266944" y="3877056"/>
            <a:ext cx="457200" cy="457200"/>
          </a:xfrm>
          <a:prstGeom prst="ellipse">
            <a:avLst/>
          </a:prstGeom>
          <a:solidFill>
            <a:srgbClr val="D9483F"/>
          </a:solidFill>
          <a:ln/>
        </p:spPr>
        <p:txBody>
          <a:bodyPr/>
          <a:lstStyle/>
          <a:p>
            <a:endParaRPr lang="en-US"/>
          </a:p>
        </p:txBody>
      </p:sp>
      <p:pic>
        <p:nvPicPr>
          <p:cNvPr id="31" name="Image 5" descr="/home/claude/icons/FaIdCard_w.png"/>
          <p:cNvPicPr>
            <a:picLocks noChangeAspect="1"/>
          </p:cNvPicPr>
          <p:nvPr/>
        </p:nvPicPr>
        <p:blipFill>
          <a:blip r:embed="rId6"/>
          <a:stretch>
            <a:fillRect/>
          </a:stretch>
        </p:blipFill>
        <p:spPr>
          <a:xfrm>
            <a:off x="5385816" y="3995928"/>
            <a:ext cx="219456" cy="219456"/>
          </a:xfrm>
          <a:prstGeom prst="rect">
            <a:avLst/>
          </a:prstGeom>
        </p:spPr>
      </p:pic>
      <p:sp>
        <p:nvSpPr>
          <p:cNvPr id="32" name="Text 24"/>
          <p:cNvSpPr/>
          <p:nvPr/>
        </p:nvSpPr>
        <p:spPr>
          <a:xfrm>
            <a:off x="5266944" y="4407408"/>
            <a:ext cx="2011680" cy="402336"/>
          </a:xfrm>
          <a:prstGeom prst="rect">
            <a:avLst/>
          </a:prstGeom>
          <a:noFill/>
          <a:ln/>
        </p:spPr>
        <p:txBody>
          <a:bodyPr wrap="square" lIns="0" tIns="0" rIns="0" bIns="0" rtlCol="0" anchor="ctr"/>
          <a:lstStyle/>
          <a:p>
            <a:pPr marL="0" indent="0">
              <a:lnSpc>
                <a:spcPts val="1350"/>
              </a:lnSpc>
              <a:buNone/>
            </a:pPr>
            <a:r>
              <a:rPr lang="en-US" sz="1080" b="1">
                <a:solidFill>
                  <a:srgbClr val="12141C"/>
                </a:solidFill>
                <a:latin typeface="Calibri" pitchFamily="34" charset="0"/>
                <a:ea typeface="Calibri" pitchFamily="34" charset="-122"/>
                <a:cs typeface="Calibri" pitchFamily="34" charset="-120"/>
              </a:rPr>
              <a:t>Fake captive</a:t>
            </a:r>
            <a:endParaRPr lang="en-US" sz="1080"/>
          </a:p>
          <a:p>
            <a:pPr marL="0" indent="0">
              <a:lnSpc>
                <a:spcPts val="1350"/>
              </a:lnSpc>
              <a:buNone/>
            </a:pPr>
            <a:r>
              <a:rPr lang="en-US" sz="1080" b="1">
                <a:solidFill>
                  <a:srgbClr val="12141C"/>
                </a:solidFill>
                <a:latin typeface="Calibri" pitchFamily="34" charset="0"/>
                <a:ea typeface="Calibri" pitchFamily="34" charset="-122"/>
                <a:cs typeface="Calibri" pitchFamily="34" charset="-120"/>
              </a:rPr>
              <a:t>portal</a:t>
            </a:r>
            <a:endParaRPr lang="en-US" sz="1080"/>
          </a:p>
        </p:txBody>
      </p:sp>
      <p:sp>
        <p:nvSpPr>
          <p:cNvPr id="33" name="Text 25"/>
          <p:cNvSpPr/>
          <p:nvPr/>
        </p:nvSpPr>
        <p:spPr>
          <a:xfrm>
            <a:off x="5266944" y="4846320"/>
            <a:ext cx="2057400" cy="530352"/>
          </a:xfrm>
          <a:prstGeom prst="rect">
            <a:avLst/>
          </a:prstGeom>
          <a:noFill/>
          <a:ln/>
        </p:spPr>
        <p:txBody>
          <a:bodyPr wrap="square" lIns="0" tIns="0" rIns="0" bIns="0" rtlCol="0" anchor="ctr"/>
          <a:lstStyle/>
          <a:p>
            <a:pPr marL="0" indent="0">
              <a:lnSpc>
                <a:spcPts val="1200"/>
              </a:lnSpc>
              <a:buNone/>
            </a:pPr>
            <a:r>
              <a:rPr lang="en-US" sz="950">
                <a:solidFill>
                  <a:srgbClr val="6B7280"/>
                </a:solidFill>
                <a:latin typeface="Calibri" pitchFamily="34" charset="0"/>
                <a:ea typeface="Calibri" pitchFamily="34" charset="-122"/>
                <a:cs typeface="Calibri" pitchFamily="34" charset="-120"/>
              </a:rPr>
              <a:t>"Sign in with your existing account to get online."</a:t>
            </a:r>
            <a:endParaRPr lang="en-US" sz="950"/>
          </a:p>
        </p:txBody>
      </p:sp>
      <p:sp>
        <p:nvSpPr>
          <p:cNvPr id="34" name="Shape 26"/>
          <p:cNvSpPr/>
          <p:nvPr/>
        </p:nvSpPr>
        <p:spPr>
          <a:xfrm rot="5400000">
            <a:off x="7150608" y="3950208"/>
            <a:ext cx="128016" cy="146304"/>
          </a:xfrm>
          <a:prstGeom prst="triangle">
            <a:avLst/>
          </a:prstGeom>
          <a:solidFill>
            <a:srgbClr val="D9483F"/>
          </a:solidFill>
          <a:ln/>
        </p:spPr>
        <p:txBody>
          <a:bodyPr/>
          <a:lstStyle/>
          <a:p>
            <a:endParaRPr lang="en-US"/>
          </a:p>
        </p:txBody>
      </p:sp>
      <p:sp>
        <p:nvSpPr>
          <p:cNvPr id="35" name="Shape 27"/>
          <p:cNvSpPr/>
          <p:nvPr/>
        </p:nvSpPr>
        <p:spPr>
          <a:xfrm>
            <a:off x="7479792" y="3877056"/>
            <a:ext cx="457200" cy="457200"/>
          </a:xfrm>
          <a:prstGeom prst="ellipse">
            <a:avLst/>
          </a:prstGeom>
          <a:solidFill>
            <a:srgbClr val="D9483F"/>
          </a:solidFill>
          <a:ln/>
        </p:spPr>
        <p:txBody>
          <a:bodyPr/>
          <a:lstStyle/>
          <a:p>
            <a:endParaRPr lang="en-US"/>
          </a:p>
        </p:txBody>
      </p:sp>
      <p:pic>
        <p:nvPicPr>
          <p:cNvPr id="36" name="Image 6" descr="/home/claude/icons/FaKey_w.png"/>
          <p:cNvPicPr>
            <a:picLocks noChangeAspect="1"/>
          </p:cNvPicPr>
          <p:nvPr/>
        </p:nvPicPr>
        <p:blipFill>
          <a:blip r:embed="rId7"/>
          <a:stretch>
            <a:fillRect/>
          </a:stretch>
        </p:blipFill>
        <p:spPr>
          <a:xfrm>
            <a:off x="7598664" y="3995928"/>
            <a:ext cx="219456" cy="219456"/>
          </a:xfrm>
          <a:prstGeom prst="rect">
            <a:avLst/>
          </a:prstGeom>
        </p:spPr>
      </p:pic>
      <p:sp>
        <p:nvSpPr>
          <p:cNvPr id="37" name="Text 28"/>
          <p:cNvSpPr/>
          <p:nvPr/>
        </p:nvSpPr>
        <p:spPr>
          <a:xfrm>
            <a:off x="7479792" y="4407408"/>
            <a:ext cx="2011680" cy="402336"/>
          </a:xfrm>
          <a:prstGeom prst="rect">
            <a:avLst/>
          </a:prstGeom>
          <a:noFill/>
          <a:ln/>
        </p:spPr>
        <p:txBody>
          <a:bodyPr wrap="square" lIns="0" tIns="0" rIns="0" bIns="0" rtlCol="0" anchor="ctr"/>
          <a:lstStyle/>
          <a:p>
            <a:pPr marL="0" indent="0">
              <a:lnSpc>
                <a:spcPts val="1350"/>
              </a:lnSpc>
              <a:buNone/>
            </a:pPr>
            <a:r>
              <a:rPr lang="en-US" sz="1080" b="1">
                <a:solidFill>
                  <a:srgbClr val="12141C"/>
                </a:solidFill>
                <a:latin typeface="Calibri" pitchFamily="34" charset="0"/>
                <a:ea typeface="Calibri" pitchFamily="34" charset="-122"/>
                <a:cs typeface="Calibri" pitchFamily="34" charset="-120"/>
              </a:rPr>
              <a:t>Credentials</a:t>
            </a:r>
            <a:endParaRPr lang="en-US" sz="1080"/>
          </a:p>
          <a:p>
            <a:pPr marL="0" indent="0">
              <a:lnSpc>
                <a:spcPts val="1350"/>
              </a:lnSpc>
              <a:buNone/>
            </a:pPr>
            <a:r>
              <a:rPr lang="en-US" sz="1080" b="1">
                <a:solidFill>
                  <a:srgbClr val="12141C"/>
                </a:solidFill>
                <a:latin typeface="Calibri" pitchFamily="34" charset="0"/>
                <a:ea typeface="Calibri" pitchFamily="34" charset="-122"/>
                <a:cs typeface="Calibri" pitchFamily="34" charset="-120"/>
              </a:rPr>
              <a:t>captured</a:t>
            </a:r>
            <a:endParaRPr lang="en-US" sz="1080"/>
          </a:p>
        </p:txBody>
      </p:sp>
      <p:sp>
        <p:nvSpPr>
          <p:cNvPr id="38" name="Text 29"/>
          <p:cNvSpPr/>
          <p:nvPr/>
        </p:nvSpPr>
        <p:spPr>
          <a:xfrm>
            <a:off x="7479792" y="4846320"/>
            <a:ext cx="2057400" cy="530352"/>
          </a:xfrm>
          <a:prstGeom prst="rect">
            <a:avLst/>
          </a:prstGeom>
          <a:noFill/>
          <a:ln/>
        </p:spPr>
        <p:txBody>
          <a:bodyPr wrap="square" lIns="0" tIns="0" rIns="0" bIns="0" rtlCol="0" anchor="ctr"/>
          <a:lstStyle/>
          <a:p>
            <a:pPr marL="0" indent="0">
              <a:lnSpc>
                <a:spcPts val="1200"/>
              </a:lnSpc>
              <a:buNone/>
            </a:pPr>
            <a:r>
              <a:rPr lang="en-US" sz="950">
                <a:solidFill>
                  <a:srgbClr val="6B7280"/>
                </a:solidFill>
                <a:latin typeface="Calibri" pitchFamily="34" charset="0"/>
                <a:ea typeface="Calibri" pitchFamily="34" charset="-122"/>
                <a:cs typeface="Calibri" pitchFamily="34" charset="-120"/>
              </a:rPr>
              <a:t>Username and password are stored by the adversary.</a:t>
            </a:r>
            <a:endParaRPr lang="en-US" sz="950"/>
          </a:p>
        </p:txBody>
      </p:sp>
      <p:sp>
        <p:nvSpPr>
          <p:cNvPr id="39" name="Shape 30"/>
          <p:cNvSpPr/>
          <p:nvPr/>
        </p:nvSpPr>
        <p:spPr>
          <a:xfrm rot="5400000">
            <a:off x="9363456" y="3950208"/>
            <a:ext cx="128016" cy="146304"/>
          </a:xfrm>
          <a:prstGeom prst="triangle">
            <a:avLst/>
          </a:prstGeom>
          <a:solidFill>
            <a:srgbClr val="D9483F"/>
          </a:solidFill>
          <a:ln/>
        </p:spPr>
        <p:txBody>
          <a:bodyPr/>
          <a:lstStyle/>
          <a:p>
            <a:endParaRPr lang="en-US"/>
          </a:p>
        </p:txBody>
      </p:sp>
      <p:sp>
        <p:nvSpPr>
          <p:cNvPr id="40" name="Shape 31"/>
          <p:cNvSpPr/>
          <p:nvPr/>
        </p:nvSpPr>
        <p:spPr>
          <a:xfrm>
            <a:off x="9692640" y="3877056"/>
            <a:ext cx="457200" cy="457200"/>
          </a:xfrm>
          <a:prstGeom prst="ellipse">
            <a:avLst/>
          </a:prstGeom>
          <a:solidFill>
            <a:srgbClr val="D9483F"/>
          </a:solidFill>
          <a:ln/>
        </p:spPr>
        <p:txBody>
          <a:bodyPr/>
          <a:lstStyle/>
          <a:p>
            <a:endParaRPr lang="en-US"/>
          </a:p>
        </p:txBody>
      </p:sp>
      <p:pic>
        <p:nvPicPr>
          <p:cNvPr id="41" name="Image 7" descr="/home/claude/icons/FaArrowsSpin_w.png"/>
          <p:cNvPicPr>
            <a:picLocks noChangeAspect="1"/>
          </p:cNvPicPr>
          <p:nvPr/>
        </p:nvPicPr>
        <p:blipFill>
          <a:blip r:embed="rId8"/>
          <a:stretch>
            <a:fillRect/>
          </a:stretch>
        </p:blipFill>
        <p:spPr>
          <a:xfrm>
            <a:off x="9811512" y="3995928"/>
            <a:ext cx="219456" cy="219456"/>
          </a:xfrm>
          <a:prstGeom prst="rect">
            <a:avLst/>
          </a:prstGeom>
        </p:spPr>
      </p:pic>
      <p:sp>
        <p:nvSpPr>
          <p:cNvPr id="42" name="Text 32"/>
          <p:cNvSpPr/>
          <p:nvPr/>
        </p:nvSpPr>
        <p:spPr>
          <a:xfrm>
            <a:off x="9692640" y="4407408"/>
            <a:ext cx="2011680" cy="402336"/>
          </a:xfrm>
          <a:prstGeom prst="rect">
            <a:avLst/>
          </a:prstGeom>
          <a:noFill/>
          <a:ln/>
        </p:spPr>
        <p:txBody>
          <a:bodyPr wrap="square" lIns="0" tIns="0" rIns="0" bIns="0" rtlCol="0" anchor="ctr"/>
          <a:lstStyle/>
          <a:p>
            <a:pPr marL="0" indent="0">
              <a:lnSpc>
                <a:spcPts val="1350"/>
              </a:lnSpc>
              <a:buNone/>
            </a:pPr>
            <a:r>
              <a:rPr lang="en-US" sz="1080" b="1">
                <a:solidFill>
                  <a:srgbClr val="12141C"/>
                </a:solidFill>
                <a:latin typeface="Calibri" pitchFamily="34" charset="0"/>
                <a:ea typeface="Calibri" pitchFamily="34" charset="-122"/>
                <a:cs typeface="Calibri" pitchFamily="34" charset="-120"/>
              </a:rPr>
              <a:t>Reused</a:t>
            </a:r>
            <a:endParaRPr lang="en-US" sz="1080"/>
          </a:p>
          <a:p>
            <a:pPr marL="0" indent="0">
              <a:lnSpc>
                <a:spcPts val="1350"/>
              </a:lnSpc>
              <a:buNone/>
            </a:pPr>
            <a:r>
              <a:rPr lang="en-US" sz="1080" b="1">
                <a:solidFill>
                  <a:srgbClr val="12141C"/>
                </a:solidFill>
                <a:latin typeface="Calibri" pitchFamily="34" charset="0"/>
                <a:ea typeface="Calibri" pitchFamily="34" charset="-122"/>
                <a:cs typeface="Calibri" pitchFamily="34" charset="-120"/>
              </a:rPr>
              <a:t>elsewhere</a:t>
            </a:r>
            <a:endParaRPr lang="en-US" sz="1080"/>
          </a:p>
        </p:txBody>
      </p:sp>
      <p:sp>
        <p:nvSpPr>
          <p:cNvPr id="43" name="Text 33"/>
          <p:cNvSpPr/>
          <p:nvPr/>
        </p:nvSpPr>
        <p:spPr>
          <a:xfrm>
            <a:off x="9692640" y="4846320"/>
            <a:ext cx="2057400" cy="530352"/>
          </a:xfrm>
          <a:prstGeom prst="rect">
            <a:avLst/>
          </a:prstGeom>
          <a:noFill/>
          <a:ln/>
        </p:spPr>
        <p:txBody>
          <a:bodyPr wrap="square" lIns="0" tIns="0" rIns="0" bIns="0" rtlCol="0" anchor="ctr"/>
          <a:lstStyle/>
          <a:p>
            <a:pPr marL="0" indent="0">
              <a:lnSpc>
                <a:spcPts val="1200"/>
              </a:lnSpc>
              <a:buNone/>
            </a:pPr>
            <a:r>
              <a:rPr lang="en-US" sz="950">
                <a:solidFill>
                  <a:srgbClr val="6B7280"/>
                </a:solidFill>
                <a:latin typeface="Calibri" pitchFamily="34" charset="0"/>
                <a:ea typeface="Calibri" pitchFamily="34" charset="-122"/>
                <a:cs typeface="Calibri" pitchFamily="34" charset="-120"/>
              </a:rPr>
              <a:t>The same login is tried on every linked service.</a:t>
            </a:r>
            <a:endParaRPr lang="en-US" sz="950"/>
          </a:p>
        </p:txBody>
      </p:sp>
      <p:sp>
        <p:nvSpPr>
          <p:cNvPr id="44" name="Shape 34"/>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45" name="Image 8" descr="/home/claude/icons/FaHand_w.png"/>
          <p:cNvPicPr>
            <a:picLocks noChangeAspect="1"/>
          </p:cNvPicPr>
          <p:nvPr/>
        </p:nvPicPr>
        <p:blipFill>
          <a:blip r:embed="rId9"/>
          <a:stretch>
            <a:fillRect/>
          </a:stretch>
        </p:blipFill>
        <p:spPr>
          <a:xfrm>
            <a:off x="768096" y="5811012"/>
            <a:ext cx="228600" cy="228600"/>
          </a:xfrm>
          <a:prstGeom prst="rect">
            <a:avLst/>
          </a:prstGeom>
        </p:spPr>
      </p:pic>
      <p:sp>
        <p:nvSpPr>
          <p:cNvPr id="46" name="Text 35"/>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The decisive moment is not joining the network — it is typing a password into a page the network handed you. A real café does not need your social-media login to sell you Wi-Fi.</a:t>
            </a:r>
            <a:endParaRPr lang="en-US" sz="1150"/>
          </a:p>
        </p:txBody>
      </p:sp>
      <p:sp>
        <p:nvSpPr>
          <p:cNvPr id="47" name="Text 3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8" name="Text 3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31</a:t>
            </a:r>
            <a:endParaRPr lang="en-US" sz="9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D9483F"/>
                </a:solidFill>
                <a:latin typeface="Calibri" pitchFamily="34" charset="0"/>
                <a:ea typeface="Calibri" pitchFamily="34" charset="-122"/>
                <a:cs typeface="Calibri" pitchFamily="34" charset="-120"/>
              </a:rPr>
              <a:t>1.3.C  ·  CONTROLS AND THEIR LIMITS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What encryption protects — and what it does not</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Most internet protocols are already encrypted. Knowing precisely what remains exposed is what earns the mark.</a:t>
            </a:r>
            <a:endParaRPr lang="en-US" sz="1400"/>
          </a:p>
        </p:txBody>
      </p:sp>
      <p:sp>
        <p:nvSpPr>
          <p:cNvPr id="5" name="Shape 3"/>
          <p:cNvSpPr/>
          <p:nvPr/>
        </p:nvSpPr>
        <p:spPr>
          <a:xfrm>
            <a:off x="566928" y="1901952"/>
            <a:ext cx="5394960" cy="3657600"/>
          </a:xfrm>
          <a:prstGeom prst="roundRect">
            <a:avLst>
              <a:gd name="adj" fmla="val 2250"/>
            </a:avLst>
          </a:prstGeom>
          <a:solidFill>
            <a:srgbClr val="F2F4F8"/>
          </a:solidFill>
          <a:ln/>
        </p:spPr>
        <p:txBody>
          <a:bodyPr/>
          <a:lstStyle/>
          <a:p>
            <a:endParaRPr lang="en-US"/>
          </a:p>
        </p:txBody>
      </p:sp>
      <p:sp>
        <p:nvSpPr>
          <p:cNvPr id="6" name="Shape 4"/>
          <p:cNvSpPr/>
          <p:nvPr/>
        </p:nvSpPr>
        <p:spPr>
          <a:xfrm>
            <a:off x="822960" y="2084832"/>
            <a:ext cx="475488" cy="475488"/>
          </a:xfrm>
          <a:prstGeom prst="ellipse">
            <a:avLst/>
          </a:prstGeom>
          <a:solidFill>
            <a:srgbClr val="1FA697"/>
          </a:solidFill>
          <a:ln/>
        </p:spPr>
        <p:txBody>
          <a:bodyPr/>
          <a:lstStyle/>
          <a:p>
            <a:endParaRPr lang="en-US"/>
          </a:p>
        </p:txBody>
      </p:sp>
      <p:pic>
        <p:nvPicPr>
          <p:cNvPr id="7" name="Image 0" descr="/home/claude/icons/FaLock_w.png"/>
          <p:cNvPicPr>
            <a:picLocks noChangeAspect="1"/>
          </p:cNvPicPr>
          <p:nvPr/>
        </p:nvPicPr>
        <p:blipFill>
          <a:blip r:embed="rId3"/>
          <a:stretch>
            <a:fillRect/>
          </a:stretch>
        </p:blipFill>
        <p:spPr>
          <a:xfrm>
            <a:off x="946587" y="2208459"/>
            <a:ext cx="228234" cy="228234"/>
          </a:xfrm>
          <a:prstGeom prst="rect">
            <a:avLst/>
          </a:prstGeom>
        </p:spPr>
      </p:pic>
      <p:sp>
        <p:nvSpPr>
          <p:cNvPr id="8" name="Text 5"/>
          <p:cNvSpPr/>
          <p:nvPr/>
        </p:nvSpPr>
        <p:spPr>
          <a:xfrm>
            <a:off x="1408176" y="2084832"/>
            <a:ext cx="411480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HTTPS / TLS</a:t>
            </a:r>
            <a:endParaRPr lang="en-US" sz="1400"/>
          </a:p>
        </p:txBody>
      </p:sp>
      <p:sp>
        <p:nvSpPr>
          <p:cNvPr id="9" name="Text 6"/>
          <p:cNvSpPr/>
          <p:nvPr/>
        </p:nvSpPr>
        <p:spPr>
          <a:xfrm>
            <a:off x="822960" y="2706624"/>
            <a:ext cx="2743200" cy="201168"/>
          </a:xfrm>
          <a:prstGeom prst="rect">
            <a:avLst/>
          </a:prstGeom>
          <a:noFill/>
          <a:ln/>
        </p:spPr>
        <p:txBody>
          <a:bodyPr wrap="square" lIns="0" tIns="0" rIns="0" bIns="0" rtlCol="0" anchor="ctr"/>
          <a:lstStyle/>
          <a:p>
            <a:pPr marL="0" indent="0">
              <a:buNone/>
            </a:pPr>
            <a:r>
              <a:rPr lang="en-US" sz="850" b="1" kern="0" spc="120">
                <a:solidFill>
                  <a:srgbClr val="16786D"/>
                </a:solidFill>
                <a:latin typeface="Calibri" pitchFamily="34" charset="0"/>
                <a:ea typeface="Calibri" pitchFamily="34" charset="-122"/>
                <a:cs typeface="Calibri" pitchFamily="34" charset="-120"/>
              </a:rPr>
              <a:t>WHAT IT DOES</a:t>
            </a:r>
            <a:endParaRPr lang="en-US" sz="850"/>
          </a:p>
        </p:txBody>
      </p:sp>
      <p:sp>
        <p:nvSpPr>
          <p:cNvPr id="10" name="Text 7"/>
          <p:cNvSpPr/>
          <p:nvPr/>
        </p:nvSpPr>
        <p:spPr>
          <a:xfrm>
            <a:off x="822960" y="2944368"/>
            <a:ext cx="4846320" cy="1188720"/>
          </a:xfrm>
          <a:prstGeom prst="rect">
            <a:avLst/>
          </a:prstGeom>
          <a:noFill/>
          <a:ln/>
        </p:spPr>
        <p:txBody>
          <a:bodyPr wrap="square" lIns="0" tIns="0" rIns="0" bIns="0" rtlCol="0" anchor="t"/>
          <a:lstStyle/>
          <a:p>
            <a:pPr marL="177800" indent="-177800">
              <a:lnSpc>
                <a:spcPts val="1650"/>
              </a:lnSpc>
              <a:spcAft>
                <a:spcPts val="500"/>
              </a:spcAft>
              <a:buSzPct val="100000"/>
              <a:buChar char="▪"/>
            </a:pPr>
            <a:r>
              <a:rPr lang="en-US" sz="1030">
                <a:solidFill>
                  <a:srgbClr val="2B303C"/>
                </a:solidFill>
                <a:latin typeface="Calibri" pitchFamily="34" charset="0"/>
                <a:ea typeface="Calibri" pitchFamily="34" charset="-122"/>
                <a:cs typeface="Calibri" pitchFamily="34" charset="-120"/>
              </a:rPr>
              <a:t>The contents of pages you load and forms you submit</a:t>
            </a:r>
            <a:endParaRPr lang="en-US" sz="1030"/>
          </a:p>
          <a:p>
            <a:pPr marL="177800" indent="-177800">
              <a:lnSpc>
                <a:spcPts val="1650"/>
              </a:lnSpc>
              <a:spcAft>
                <a:spcPts val="500"/>
              </a:spcAft>
              <a:buSzPct val="100000"/>
              <a:buChar char="▪"/>
            </a:pPr>
            <a:r>
              <a:rPr lang="en-US" sz="1030">
                <a:solidFill>
                  <a:srgbClr val="2B303C"/>
                </a:solidFill>
                <a:latin typeface="Calibri" pitchFamily="34" charset="0"/>
                <a:ea typeface="Calibri" pitchFamily="34" charset="-122"/>
                <a:cs typeface="Calibri" pitchFamily="34" charset="-120"/>
              </a:rPr>
              <a:t>Passwords in transit between browser and site</a:t>
            </a:r>
            <a:endParaRPr lang="en-US" sz="1030"/>
          </a:p>
          <a:p>
            <a:pPr marL="177800" indent="-177800">
              <a:lnSpc>
                <a:spcPts val="1650"/>
              </a:lnSpc>
              <a:spcAft>
                <a:spcPts val="500"/>
              </a:spcAft>
              <a:buSzPct val="100000"/>
              <a:buChar char="▪"/>
            </a:pPr>
            <a:r>
              <a:rPr lang="en-US" sz="1030">
                <a:solidFill>
                  <a:srgbClr val="2B303C"/>
                </a:solidFill>
                <a:latin typeface="Calibri" pitchFamily="34" charset="0"/>
                <a:ea typeface="Calibri" pitchFamily="34" charset="-122"/>
                <a:cs typeface="Calibri" pitchFamily="34" charset="-120"/>
              </a:rPr>
              <a:t>Protection from ordinary nearby eavesdropping</a:t>
            </a:r>
            <a:endParaRPr lang="en-US" sz="1030"/>
          </a:p>
        </p:txBody>
      </p:sp>
      <p:sp>
        <p:nvSpPr>
          <p:cNvPr id="11" name="Shape 8"/>
          <p:cNvSpPr/>
          <p:nvPr/>
        </p:nvSpPr>
        <p:spPr>
          <a:xfrm>
            <a:off x="822960" y="4187952"/>
            <a:ext cx="4846320" cy="9144"/>
          </a:xfrm>
          <a:prstGeom prst="rect">
            <a:avLst/>
          </a:prstGeom>
          <a:solidFill>
            <a:srgbClr val="E7EBF2"/>
          </a:solidFill>
          <a:ln/>
        </p:spPr>
        <p:txBody>
          <a:bodyPr/>
          <a:lstStyle/>
          <a:p>
            <a:endParaRPr lang="en-US"/>
          </a:p>
        </p:txBody>
      </p:sp>
      <p:sp>
        <p:nvSpPr>
          <p:cNvPr id="12" name="Text 9"/>
          <p:cNvSpPr/>
          <p:nvPr/>
        </p:nvSpPr>
        <p:spPr>
          <a:xfrm>
            <a:off x="822960" y="4279392"/>
            <a:ext cx="3200400" cy="201168"/>
          </a:xfrm>
          <a:prstGeom prst="rect">
            <a:avLst/>
          </a:prstGeom>
          <a:noFill/>
          <a:ln/>
        </p:spPr>
        <p:txBody>
          <a:bodyPr wrap="square" lIns="0" tIns="0" rIns="0" bIns="0" rtlCol="0" anchor="ctr"/>
          <a:lstStyle/>
          <a:p>
            <a:pPr marL="0" indent="0">
              <a:buNone/>
            </a:pPr>
            <a:r>
              <a:rPr lang="en-US" sz="850" b="1" kern="0" spc="120">
                <a:solidFill>
                  <a:srgbClr val="D9483F"/>
                </a:solidFill>
                <a:latin typeface="Calibri" pitchFamily="34" charset="0"/>
                <a:ea typeface="Calibri" pitchFamily="34" charset="-122"/>
                <a:cs typeface="Calibri" pitchFamily="34" charset="-120"/>
              </a:rPr>
              <a:t>WHAT IT DOES NOT DO</a:t>
            </a:r>
            <a:endParaRPr lang="en-US" sz="850"/>
          </a:p>
        </p:txBody>
      </p:sp>
      <p:sp>
        <p:nvSpPr>
          <p:cNvPr id="13" name="Text 10"/>
          <p:cNvSpPr/>
          <p:nvPr/>
        </p:nvSpPr>
        <p:spPr>
          <a:xfrm>
            <a:off x="822960" y="4517136"/>
            <a:ext cx="4846320" cy="960120"/>
          </a:xfrm>
          <a:prstGeom prst="rect">
            <a:avLst/>
          </a:prstGeom>
          <a:noFill/>
          <a:ln/>
        </p:spPr>
        <p:txBody>
          <a:bodyPr wrap="square" lIns="0" tIns="0" rIns="0" bIns="0" rtlCol="0" anchor="t"/>
          <a:lstStyle/>
          <a:p>
            <a:pPr marL="177800" indent="-177800">
              <a:lnSpc>
                <a:spcPts val="1650"/>
              </a:lnSpc>
              <a:spcAft>
                <a:spcPts val="500"/>
              </a:spcAft>
              <a:buSzPct val="100000"/>
              <a:buChar char="▪"/>
            </a:pPr>
            <a:r>
              <a:rPr lang="en-US" sz="1030">
                <a:solidFill>
                  <a:srgbClr val="6B7280"/>
                </a:solidFill>
                <a:latin typeface="Calibri" pitchFamily="34" charset="0"/>
                <a:ea typeface="Calibri" pitchFamily="34" charset="-122"/>
                <a:cs typeface="Calibri" pitchFamily="34" charset="-120"/>
              </a:rPr>
              <a:t>Does not prove the site is the one you meant to visit</a:t>
            </a:r>
            <a:endParaRPr lang="en-US" sz="1030"/>
          </a:p>
          <a:p>
            <a:pPr marL="177800" indent="-177800">
              <a:lnSpc>
                <a:spcPts val="1650"/>
              </a:lnSpc>
              <a:spcAft>
                <a:spcPts val="500"/>
              </a:spcAft>
              <a:buSzPct val="100000"/>
              <a:buChar char="▪"/>
            </a:pPr>
            <a:r>
              <a:rPr lang="en-US" sz="1030">
                <a:solidFill>
                  <a:srgbClr val="6B7280"/>
                </a:solidFill>
                <a:latin typeface="Calibri" pitchFamily="34" charset="0"/>
                <a:ea typeface="Calibri" pitchFamily="34" charset="-122"/>
                <a:cs typeface="Calibri" pitchFamily="34" charset="-120"/>
              </a:rPr>
              <a:t>Does not hide which sites you connect to</a:t>
            </a:r>
            <a:endParaRPr lang="en-US" sz="1030"/>
          </a:p>
          <a:p>
            <a:pPr marL="177800" indent="-177800">
              <a:lnSpc>
                <a:spcPts val="1650"/>
              </a:lnSpc>
              <a:spcAft>
                <a:spcPts val="500"/>
              </a:spcAft>
              <a:buSzPct val="100000"/>
              <a:buChar char="▪"/>
            </a:pPr>
            <a:r>
              <a:rPr lang="en-US" sz="1030">
                <a:solidFill>
                  <a:srgbClr val="6B7280"/>
                </a:solidFill>
                <a:latin typeface="Calibri" pitchFamily="34" charset="0"/>
                <a:ea typeface="Calibri" pitchFamily="34" charset="-122"/>
                <a:cs typeface="Calibri" pitchFamily="34" charset="-120"/>
              </a:rPr>
              <a:t>Does not protect data sent by other protocols</a:t>
            </a:r>
            <a:endParaRPr lang="en-US" sz="1030"/>
          </a:p>
        </p:txBody>
      </p:sp>
      <p:sp>
        <p:nvSpPr>
          <p:cNvPr id="14" name="Shape 11"/>
          <p:cNvSpPr/>
          <p:nvPr/>
        </p:nvSpPr>
        <p:spPr>
          <a:xfrm>
            <a:off x="6190488" y="1901952"/>
            <a:ext cx="5394960" cy="3657600"/>
          </a:xfrm>
          <a:prstGeom prst="roundRect">
            <a:avLst>
              <a:gd name="adj" fmla="val 2250"/>
            </a:avLst>
          </a:prstGeom>
          <a:solidFill>
            <a:srgbClr val="F2F4F8"/>
          </a:solidFill>
          <a:ln/>
        </p:spPr>
        <p:txBody>
          <a:bodyPr/>
          <a:lstStyle/>
          <a:p>
            <a:endParaRPr lang="en-US"/>
          </a:p>
        </p:txBody>
      </p:sp>
      <p:sp>
        <p:nvSpPr>
          <p:cNvPr id="15" name="Shape 12"/>
          <p:cNvSpPr/>
          <p:nvPr/>
        </p:nvSpPr>
        <p:spPr>
          <a:xfrm>
            <a:off x="6446520" y="2084832"/>
            <a:ext cx="475488" cy="475488"/>
          </a:xfrm>
          <a:prstGeom prst="ellipse">
            <a:avLst/>
          </a:prstGeom>
          <a:solidFill>
            <a:srgbClr val="6A5AC7"/>
          </a:solidFill>
          <a:ln/>
        </p:spPr>
        <p:txBody>
          <a:bodyPr/>
          <a:lstStyle/>
          <a:p>
            <a:endParaRPr lang="en-US"/>
          </a:p>
        </p:txBody>
      </p:sp>
      <p:pic>
        <p:nvPicPr>
          <p:cNvPr id="16" name="Image 1" descr="/home/claude/icons/FaRoute_w.png"/>
          <p:cNvPicPr>
            <a:picLocks noChangeAspect="1"/>
          </p:cNvPicPr>
          <p:nvPr/>
        </p:nvPicPr>
        <p:blipFill>
          <a:blip r:embed="rId4"/>
          <a:stretch>
            <a:fillRect/>
          </a:stretch>
        </p:blipFill>
        <p:spPr>
          <a:xfrm>
            <a:off x="6570147" y="2208459"/>
            <a:ext cx="228234" cy="228234"/>
          </a:xfrm>
          <a:prstGeom prst="rect">
            <a:avLst/>
          </a:prstGeom>
        </p:spPr>
      </p:pic>
      <p:sp>
        <p:nvSpPr>
          <p:cNvPr id="17" name="Text 13"/>
          <p:cNvSpPr/>
          <p:nvPr/>
        </p:nvSpPr>
        <p:spPr>
          <a:xfrm>
            <a:off x="7031736" y="2084832"/>
            <a:ext cx="4114800" cy="256032"/>
          </a:xfrm>
          <a:prstGeom prst="rect">
            <a:avLst/>
          </a:prstGeom>
          <a:noFill/>
          <a:ln/>
        </p:spPr>
        <p:txBody>
          <a:bodyPr wrap="square" lIns="0" tIns="0" rIns="0" bIns="0" rtlCol="0" anchor="ctr"/>
          <a:lstStyle/>
          <a:p>
            <a:pPr marL="0" indent="0">
              <a:buNone/>
            </a:pPr>
            <a:r>
              <a:rPr lang="en-US" sz="1400" b="1">
                <a:solidFill>
                  <a:srgbClr val="12141C"/>
                </a:solidFill>
                <a:latin typeface="Calibri" pitchFamily="34" charset="0"/>
                <a:ea typeface="Calibri" pitchFamily="34" charset="-122"/>
                <a:cs typeface="Calibri" pitchFamily="34" charset="-120"/>
              </a:rPr>
              <a:t>Virtual private network</a:t>
            </a:r>
            <a:endParaRPr lang="en-US" sz="1400"/>
          </a:p>
        </p:txBody>
      </p:sp>
      <p:sp>
        <p:nvSpPr>
          <p:cNvPr id="18" name="Text 14"/>
          <p:cNvSpPr/>
          <p:nvPr/>
        </p:nvSpPr>
        <p:spPr>
          <a:xfrm>
            <a:off x="6446520" y="2706624"/>
            <a:ext cx="2743200" cy="201168"/>
          </a:xfrm>
          <a:prstGeom prst="rect">
            <a:avLst/>
          </a:prstGeom>
          <a:noFill/>
          <a:ln/>
        </p:spPr>
        <p:txBody>
          <a:bodyPr wrap="square" lIns="0" tIns="0" rIns="0" bIns="0" rtlCol="0" anchor="ctr"/>
          <a:lstStyle/>
          <a:p>
            <a:pPr marL="0" indent="0">
              <a:buNone/>
            </a:pPr>
            <a:r>
              <a:rPr lang="en-US" sz="850" b="1" kern="0" spc="120">
                <a:solidFill>
                  <a:srgbClr val="16786D"/>
                </a:solidFill>
                <a:latin typeface="Calibri" pitchFamily="34" charset="0"/>
                <a:ea typeface="Calibri" pitchFamily="34" charset="-122"/>
                <a:cs typeface="Calibri" pitchFamily="34" charset="-120"/>
              </a:rPr>
              <a:t>WHAT IT DOES</a:t>
            </a:r>
            <a:endParaRPr lang="en-US" sz="850"/>
          </a:p>
        </p:txBody>
      </p:sp>
      <p:sp>
        <p:nvSpPr>
          <p:cNvPr id="19" name="Text 15"/>
          <p:cNvSpPr/>
          <p:nvPr/>
        </p:nvSpPr>
        <p:spPr>
          <a:xfrm>
            <a:off x="6446520" y="2944368"/>
            <a:ext cx="4846320" cy="1188720"/>
          </a:xfrm>
          <a:prstGeom prst="rect">
            <a:avLst/>
          </a:prstGeom>
          <a:noFill/>
          <a:ln/>
        </p:spPr>
        <p:txBody>
          <a:bodyPr wrap="square" lIns="0" tIns="0" rIns="0" bIns="0" rtlCol="0" anchor="t"/>
          <a:lstStyle/>
          <a:p>
            <a:pPr marL="177800" indent="-177800">
              <a:lnSpc>
                <a:spcPts val="1650"/>
              </a:lnSpc>
              <a:spcAft>
                <a:spcPts val="500"/>
              </a:spcAft>
              <a:buSzPct val="100000"/>
              <a:buChar char="▪"/>
            </a:pPr>
            <a:r>
              <a:rPr lang="en-US" sz="1030">
                <a:solidFill>
                  <a:srgbClr val="2B303C"/>
                </a:solidFill>
                <a:latin typeface="Calibri" pitchFamily="34" charset="0"/>
                <a:ea typeface="Calibri" pitchFamily="34" charset="-122"/>
                <a:cs typeface="Calibri" pitchFamily="34" charset="-120"/>
              </a:rPr>
              <a:t>Encrypts all traffic between your device and the VPN operator's system</a:t>
            </a:r>
            <a:endParaRPr lang="en-US" sz="1030"/>
          </a:p>
          <a:p>
            <a:pPr marL="177800" indent="-177800">
              <a:lnSpc>
                <a:spcPts val="1650"/>
              </a:lnSpc>
              <a:spcAft>
                <a:spcPts val="500"/>
              </a:spcAft>
              <a:buSzPct val="100000"/>
              <a:buChar char="▪"/>
            </a:pPr>
            <a:r>
              <a:rPr lang="en-US" sz="1030">
                <a:solidFill>
                  <a:srgbClr val="2B303C"/>
                </a:solidFill>
                <a:latin typeface="Calibri" pitchFamily="34" charset="0"/>
                <a:ea typeface="Calibri" pitchFamily="34" charset="-122"/>
                <a:cs typeface="Calibri" pitchFamily="34" charset="-120"/>
              </a:rPr>
              <a:t>Hides activity from the local network and the service provider</a:t>
            </a:r>
            <a:endParaRPr lang="en-US" sz="1030"/>
          </a:p>
          <a:p>
            <a:pPr marL="177800" indent="-177800">
              <a:lnSpc>
                <a:spcPts val="1650"/>
              </a:lnSpc>
              <a:spcAft>
                <a:spcPts val="500"/>
              </a:spcAft>
              <a:buSzPct val="100000"/>
              <a:buChar char="▪"/>
            </a:pPr>
            <a:r>
              <a:rPr lang="en-US" sz="1030">
                <a:solidFill>
                  <a:srgbClr val="2B303C"/>
                </a:solidFill>
                <a:latin typeface="Calibri" pitchFamily="34" charset="0"/>
                <a:ea typeface="Calibri" pitchFamily="34" charset="-122"/>
                <a:cs typeface="Calibri" pitchFamily="34" charset="-120"/>
              </a:rPr>
              <a:t>Protects otherwise-exposed data such as DNS queries</a:t>
            </a:r>
            <a:endParaRPr lang="en-US" sz="1030"/>
          </a:p>
        </p:txBody>
      </p:sp>
      <p:sp>
        <p:nvSpPr>
          <p:cNvPr id="20" name="Shape 16"/>
          <p:cNvSpPr/>
          <p:nvPr/>
        </p:nvSpPr>
        <p:spPr>
          <a:xfrm>
            <a:off x="6446520" y="4187952"/>
            <a:ext cx="4846320" cy="9144"/>
          </a:xfrm>
          <a:prstGeom prst="rect">
            <a:avLst/>
          </a:prstGeom>
          <a:solidFill>
            <a:srgbClr val="E7EBF2"/>
          </a:solidFill>
          <a:ln/>
        </p:spPr>
        <p:txBody>
          <a:bodyPr/>
          <a:lstStyle/>
          <a:p>
            <a:endParaRPr lang="en-US"/>
          </a:p>
        </p:txBody>
      </p:sp>
      <p:sp>
        <p:nvSpPr>
          <p:cNvPr id="21" name="Text 17"/>
          <p:cNvSpPr/>
          <p:nvPr/>
        </p:nvSpPr>
        <p:spPr>
          <a:xfrm>
            <a:off x="6446520" y="4279392"/>
            <a:ext cx="3200400" cy="201168"/>
          </a:xfrm>
          <a:prstGeom prst="rect">
            <a:avLst/>
          </a:prstGeom>
          <a:noFill/>
          <a:ln/>
        </p:spPr>
        <p:txBody>
          <a:bodyPr wrap="square" lIns="0" tIns="0" rIns="0" bIns="0" rtlCol="0" anchor="ctr"/>
          <a:lstStyle/>
          <a:p>
            <a:pPr marL="0" indent="0">
              <a:buNone/>
            </a:pPr>
            <a:r>
              <a:rPr lang="en-US" sz="850" b="1" kern="0" spc="120">
                <a:solidFill>
                  <a:srgbClr val="D9483F"/>
                </a:solidFill>
                <a:latin typeface="Calibri" pitchFamily="34" charset="0"/>
                <a:ea typeface="Calibri" pitchFamily="34" charset="-122"/>
                <a:cs typeface="Calibri" pitchFamily="34" charset="-120"/>
              </a:rPr>
              <a:t>WHAT IT DOES NOT DO</a:t>
            </a:r>
            <a:endParaRPr lang="en-US" sz="850"/>
          </a:p>
        </p:txBody>
      </p:sp>
      <p:sp>
        <p:nvSpPr>
          <p:cNvPr id="22" name="Text 18"/>
          <p:cNvSpPr/>
          <p:nvPr/>
        </p:nvSpPr>
        <p:spPr>
          <a:xfrm>
            <a:off x="6446520" y="4517136"/>
            <a:ext cx="4846320" cy="960120"/>
          </a:xfrm>
          <a:prstGeom prst="rect">
            <a:avLst/>
          </a:prstGeom>
          <a:noFill/>
          <a:ln/>
        </p:spPr>
        <p:txBody>
          <a:bodyPr wrap="square" lIns="0" tIns="0" rIns="0" bIns="0" rtlCol="0" anchor="t"/>
          <a:lstStyle/>
          <a:p>
            <a:pPr marL="177800" indent="-177800">
              <a:lnSpc>
                <a:spcPts val="1650"/>
              </a:lnSpc>
              <a:spcAft>
                <a:spcPts val="500"/>
              </a:spcAft>
              <a:buSzPct val="100000"/>
              <a:buChar char="▪"/>
            </a:pPr>
            <a:r>
              <a:rPr lang="en-US" sz="1030">
                <a:solidFill>
                  <a:srgbClr val="6B7280"/>
                </a:solidFill>
                <a:latin typeface="Calibri" pitchFamily="34" charset="0"/>
                <a:ea typeface="Calibri" pitchFamily="34" charset="-122"/>
                <a:cs typeface="Calibri" pitchFamily="34" charset="-120"/>
              </a:rPr>
              <a:t>The VPN provider can see the traffic — trust has moved</a:t>
            </a:r>
            <a:endParaRPr lang="en-US" sz="1030"/>
          </a:p>
          <a:p>
            <a:pPr marL="177800" indent="-177800">
              <a:lnSpc>
                <a:spcPts val="1650"/>
              </a:lnSpc>
              <a:spcAft>
                <a:spcPts val="500"/>
              </a:spcAft>
              <a:buSzPct val="100000"/>
              <a:buChar char="▪"/>
            </a:pPr>
            <a:r>
              <a:rPr lang="en-US" sz="1030">
                <a:solidFill>
                  <a:srgbClr val="6B7280"/>
                </a:solidFill>
                <a:latin typeface="Calibri" pitchFamily="34" charset="0"/>
                <a:ea typeface="Calibri" pitchFamily="34" charset="-122"/>
                <a:cs typeface="Calibri" pitchFamily="34" charset="-120"/>
              </a:rPr>
              <a:t>Does not make a phishing page safe</a:t>
            </a:r>
            <a:endParaRPr lang="en-US" sz="1030"/>
          </a:p>
          <a:p>
            <a:pPr marL="177800" indent="-177800">
              <a:lnSpc>
                <a:spcPts val="1650"/>
              </a:lnSpc>
              <a:spcAft>
                <a:spcPts val="500"/>
              </a:spcAft>
              <a:buSzPct val="100000"/>
              <a:buChar char="▪"/>
            </a:pPr>
            <a:r>
              <a:rPr lang="en-US" sz="1030">
                <a:solidFill>
                  <a:srgbClr val="6B7280"/>
                </a:solidFill>
                <a:latin typeface="Calibri" pitchFamily="34" charset="0"/>
                <a:ea typeface="Calibri" pitchFamily="34" charset="-122"/>
                <a:cs typeface="Calibri" pitchFamily="34" charset="-120"/>
              </a:rPr>
              <a:t>Does not help if you type the password yourself</a:t>
            </a:r>
            <a:endParaRPr lang="en-US" sz="1030"/>
          </a:p>
        </p:txBody>
      </p:sp>
      <p:sp>
        <p:nvSpPr>
          <p:cNvPr id="23" name="Shape 19"/>
          <p:cNvSpPr/>
          <p:nvPr/>
        </p:nvSpPr>
        <p:spPr>
          <a:xfrm>
            <a:off x="566928" y="5742432"/>
            <a:ext cx="11057839" cy="512064"/>
          </a:xfrm>
          <a:prstGeom prst="roundRect">
            <a:avLst>
              <a:gd name="adj" fmla="val 14286"/>
            </a:avLst>
          </a:prstGeom>
          <a:solidFill>
            <a:srgbClr val="12141C"/>
          </a:solidFill>
          <a:ln/>
        </p:spPr>
        <p:txBody>
          <a:bodyPr/>
          <a:lstStyle/>
          <a:p>
            <a:endParaRPr lang="en-US"/>
          </a:p>
        </p:txBody>
      </p:sp>
      <p:pic>
        <p:nvPicPr>
          <p:cNvPr id="24" name="Image 2" descr="/home/claude/icons/FaScaleBalanced_w.png"/>
          <p:cNvPicPr>
            <a:picLocks noChangeAspect="1"/>
          </p:cNvPicPr>
          <p:nvPr/>
        </p:nvPicPr>
        <p:blipFill>
          <a:blip r:embed="rId5"/>
          <a:stretch>
            <a:fillRect/>
          </a:stretch>
        </p:blipFill>
        <p:spPr>
          <a:xfrm>
            <a:off x="768096" y="5884164"/>
            <a:ext cx="228600" cy="228600"/>
          </a:xfrm>
          <a:prstGeom prst="rect">
            <a:avLst/>
          </a:prstGeom>
        </p:spPr>
      </p:pic>
      <p:sp>
        <p:nvSpPr>
          <p:cNvPr id="25" name="Text 20"/>
          <p:cNvSpPr/>
          <p:nvPr/>
        </p:nvSpPr>
        <p:spPr>
          <a:xfrm>
            <a:off x="1133856" y="5742432"/>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The precise CED point about a VPN: it prevents the service provider from viewing your traffic, but the VPN provider can view it. Choosing a VPN is choosing who to trust.</a:t>
            </a:r>
            <a:endParaRPr lang="en-US" sz="1150"/>
          </a:p>
        </p:txBody>
      </p:sp>
      <p:sp>
        <p:nvSpPr>
          <p:cNvPr id="26" name="Text 21"/>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7" name="Text 22"/>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32</a:t>
            </a:r>
            <a:endParaRPr lang="en-US" sz="9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D9483F"/>
                </a:solidFill>
                <a:latin typeface="Calibri" pitchFamily="34" charset="0"/>
                <a:ea typeface="Calibri" pitchFamily="34" charset="-122"/>
                <a:cs typeface="Calibri" pitchFamily="34" charset="-120"/>
              </a:rPr>
              <a:t>1.3.C  ·  PRACTICE</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Six habits for an untrusted network</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Ordered by how much risk each one removes for the effort involved.</a:t>
            </a:r>
            <a:endParaRPr lang="en-US" sz="1400"/>
          </a:p>
        </p:txBody>
      </p:sp>
      <p:sp>
        <p:nvSpPr>
          <p:cNvPr id="5" name="Shape 3"/>
          <p:cNvSpPr/>
          <p:nvPr/>
        </p:nvSpPr>
        <p:spPr>
          <a:xfrm>
            <a:off x="566928" y="1938528"/>
            <a:ext cx="5394960" cy="1097280"/>
          </a:xfrm>
          <a:prstGeom prst="roundRect">
            <a:avLst>
              <a:gd name="adj" fmla="val 7500"/>
            </a:avLst>
          </a:prstGeom>
          <a:solidFill>
            <a:srgbClr val="EAF0FA"/>
          </a:solidFill>
          <a:ln/>
        </p:spPr>
        <p:txBody>
          <a:bodyPr/>
          <a:lstStyle/>
          <a:p>
            <a:endParaRPr lang="en-US"/>
          </a:p>
        </p:txBody>
      </p:sp>
      <p:sp>
        <p:nvSpPr>
          <p:cNvPr id="6" name="Shape 4"/>
          <p:cNvSpPr/>
          <p:nvPr/>
        </p:nvSpPr>
        <p:spPr>
          <a:xfrm>
            <a:off x="804672" y="2249424"/>
            <a:ext cx="457200" cy="457200"/>
          </a:xfrm>
          <a:prstGeom prst="ellipse">
            <a:avLst/>
          </a:prstGeom>
          <a:solidFill>
            <a:srgbClr val="12141C"/>
          </a:solidFill>
          <a:ln/>
        </p:spPr>
        <p:txBody>
          <a:bodyPr/>
          <a:lstStyle/>
          <a:p>
            <a:endParaRPr lang="en-US"/>
          </a:p>
        </p:txBody>
      </p:sp>
      <p:pic>
        <p:nvPicPr>
          <p:cNvPr id="7" name="Image 0" descr="/home/claude/icons/FaCircleCheck_w.png"/>
          <p:cNvPicPr>
            <a:picLocks noChangeAspect="1"/>
          </p:cNvPicPr>
          <p:nvPr/>
        </p:nvPicPr>
        <p:blipFill>
          <a:blip r:embed="rId3"/>
          <a:stretch>
            <a:fillRect/>
          </a:stretch>
        </p:blipFill>
        <p:spPr>
          <a:xfrm>
            <a:off x="923544" y="2368296"/>
            <a:ext cx="219456" cy="219456"/>
          </a:xfrm>
          <a:prstGeom prst="rect">
            <a:avLst/>
          </a:prstGeom>
        </p:spPr>
      </p:pic>
      <p:sp>
        <p:nvSpPr>
          <p:cNvPr id="8" name="Text 5"/>
          <p:cNvSpPr/>
          <p:nvPr/>
        </p:nvSpPr>
        <p:spPr>
          <a:xfrm>
            <a:off x="1389888" y="2103120"/>
            <a:ext cx="43891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Verify the exact name</a:t>
            </a:r>
            <a:endParaRPr lang="en-US" sz="1200"/>
          </a:p>
        </p:txBody>
      </p:sp>
      <p:sp>
        <p:nvSpPr>
          <p:cNvPr id="9" name="Text 6"/>
          <p:cNvSpPr/>
          <p:nvPr/>
        </p:nvSpPr>
        <p:spPr>
          <a:xfrm>
            <a:off x="1389888" y="2395728"/>
            <a:ext cx="4434840" cy="5486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Ask staff for the SSID and match it character for character. A near-miss name is the whole attack.</a:t>
            </a:r>
            <a:endParaRPr lang="en-US" sz="1030"/>
          </a:p>
        </p:txBody>
      </p:sp>
      <p:sp>
        <p:nvSpPr>
          <p:cNvPr id="10" name="Shape 7"/>
          <p:cNvSpPr/>
          <p:nvPr/>
        </p:nvSpPr>
        <p:spPr>
          <a:xfrm>
            <a:off x="6190488" y="1938528"/>
            <a:ext cx="5394960" cy="1097280"/>
          </a:xfrm>
          <a:prstGeom prst="roundRect">
            <a:avLst>
              <a:gd name="adj" fmla="val 7500"/>
            </a:avLst>
          </a:prstGeom>
          <a:solidFill>
            <a:srgbClr val="F2F4F8"/>
          </a:solidFill>
          <a:ln/>
        </p:spPr>
        <p:txBody>
          <a:bodyPr/>
          <a:lstStyle/>
          <a:p>
            <a:endParaRPr lang="en-US"/>
          </a:p>
        </p:txBody>
      </p:sp>
      <p:sp>
        <p:nvSpPr>
          <p:cNvPr id="11" name="Shape 8"/>
          <p:cNvSpPr/>
          <p:nvPr/>
        </p:nvSpPr>
        <p:spPr>
          <a:xfrm>
            <a:off x="6428232" y="2249424"/>
            <a:ext cx="457200" cy="457200"/>
          </a:xfrm>
          <a:prstGeom prst="ellipse">
            <a:avLst/>
          </a:prstGeom>
          <a:solidFill>
            <a:srgbClr val="12141C"/>
          </a:solidFill>
          <a:ln/>
        </p:spPr>
        <p:txBody>
          <a:bodyPr/>
          <a:lstStyle/>
          <a:p>
            <a:endParaRPr lang="en-US"/>
          </a:p>
        </p:txBody>
      </p:sp>
      <p:pic>
        <p:nvPicPr>
          <p:cNvPr id="12" name="Image 1" descr="/home/claude/icons/FaLockOpen_w.png"/>
          <p:cNvPicPr>
            <a:picLocks noChangeAspect="1"/>
          </p:cNvPicPr>
          <p:nvPr/>
        </p:nvPicPr>
        <p:blipFill>
          <a:blip r:embed="rId4"/>
          <a:stretch>
            <a:fillRect/>
          </a:stretch>
        </p:blipFill>
        <p:spPr>
          <a:xfrm>
            <a:off x="6547104" y="2368296"/>
            <a:ext cx="219456" cy="219456"/>
          </a:xfrm>
          <a:prstGeom prst="rect">
            <a:avLst/>
          </a:prstGeom>
        </p:spPr>
      </p:pic>
      <p:sp>
        <p:nvSpPr>
          <p:cNvPr id="13" name="Text 9"/>
          <p:cNvSpPr/>
          <p:nvPr/>
        </p:nvSpPr>
        <p:spPr>
          <a:xfrm>
            <a:off x="7013448" y="2103120"/>
            <a:ext cx="43891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Treat any login portal as suspect</a:t>
            </a:r>
            <a:endParaRPr lang="en-US" sz="1200"/>
          </a:p>
        </p:txBody>
      </p:sp>
      <p:sp>
        <p:nvSpPr>
          <p:cNvPr id="14" name="Text 10"/>
          <p:cNvSpPr/>
          <p:nvPr/>
        </p:nvSpPr>
        <p:spPr>
          <a:xfrm>
            <a:off x="7013448" y="2395728"/>
            <a:ext cx="4434840" cy="5486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Legitimate guest Wi-Fi does not need your email, social-media, or school account password.</a:t>
            </a:r>
            <a:endParaRPr lang="en-US" sz="1030"/>
          </a:p>
        </p:txBody>
      </p:sp>
      <p:sp>
        <p:nvSpPr>
          <p:cNvPr id="15" name="Shape 11"/>
          <p:cNvSpPr/>
          <p:nvPr/>
        </p:nvSpPr>
        <p:spPr>
          <a:xfrm>
            <a:off x="566928" y="3145536"/>
            <a:ext cx="5394960" cy="1097280"/>
          </a:xfrm>
          <a:prstGeom prst="roundRect">
            <a:avLst>
              <a:gd name="adj" fmla="val 7500"/>
            </a:avLst>
          </a:prstGeom>
          <a:solidFill>
            <a:srgbClr val="EAF0FA"/>
          </a:solidFill>
          <a:ln/>
        </p:spPr>
        <p:txBody>
          <a:bodyPr/>
          <a:lstStyle/>
          <a:p>
            <a:endParaRPr lang="en-US"/>
          </a:p>
        </p:txBody>
      </p:sp>
      <p:sp>
        <p:nvSpPr>
          <p:cNvPr id="16" name="Shape 12"/>
          <p:cNvSpPr/>
          <p:nvPr/>
        </p:nvSpPr>
        <p:spPr>
          <a:xfrm>
            <a:off x="804672" y="3456432"/>
            <a:ext cx="457200" cy="457200"/>
          </a:xfrm>
          <a:prstGeom prst="ellipse">
            <a:avLst/>
          </a:prstGeom>
          <a:solidFill>
            <a:srgbClr val="12141C"/>
          </a:solidFill>
          <a:ln/>
        </p:spPr>
        <p:txBody>
          <a:bodyPr/>
          <a:lstStyle/>
          <a:p>
            <a:endParaRPr lang="en-US"/>
          </a:p>
        </p:txBody>
      </p:sp>
      <p:pic>
        <p:nvPicPr>
          <p:cNvPr id="17" name="Image 2" descr="/home/claude/icons/FaArrowsSpin_w.png"/>
          <p:cNvPicPr>
            <a:picLocks noChangeAspect="1"/>
          </p:cNvPicPr>
          <p:nvPr/>
        </p:nvPicPr>
        <p:blipFill>
          <a:blip r:embed="rId5"/>
          <a:stretch>
            <a:fillRect/>
          </a:stretch>
        </p:blipFill>
        <p:spPr>
          <a:xfrm>
            <a:off x="923544" y="3575304"/>
            <a:ext cx="219456" cy="219456"/>
          </a:xfrm>
          <a:prstGeom prst="rect">
            <a:avLst/>
          </a:prstGeom>
        </p:spPr>
      </p:pic>
      <p:sp>
        <p:nvSpPr>
          <p:cNvPr id="18" name="Text 13"/>
          <p:cNvSpPr/>
          <p:nvPr/>
        </p:nvSpPr>
        <p:spPr>
          <a:xfrm>
            <a:off x="1389888" y="3310128"/>
            <a:ext cx="43891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Turn off auto-connect</a:t>
            </a:r>
            <a:endParaRPr lang="en-US" sz="1200"/>
          </a:p>
        </p:txBody>
      </p:sp>
      <p:sp>
        <p:nvSpPr>
          <p:cNvPr id="19" name="Text 14"/>
          <p:cNvSpPr/>
          <p:nvPr/>
        </p:nvSpPr>
        <p:spPr>
          <a:xfrm>
            <a:off x="1389888" y="3602736"/>
            <a:ext cx="4434840" cy="5486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Stop the device from silently rejoining any network that reuses a remembered name.</a:t>
            </a:r>
            <a:endParaRPr lang="en-US" sz="1030"/>
          </a:p>
        </p:txBody>
      </p:sp>
      <p:sp>
        <p:nvSpPr>
          <p:cNvPr id="20" name="Shape 15"/>
          <p:cNvSpPr/>
          <p:nvPr/>
        </p:nvSpPr>
        <p:spPr>
          <a:xfrm>
            <a:off x="6190488" y="3145536"/>
            <a:ext cx="5394960" cy="1097280"/>
          </a:xfrm>
          <a:prstGeom prst="roundRect">
            <a:avLst>
              <a:gd name="adj" fmla="val 7500"/>
            </a:avLst>
          </a:prstGeom>
          <a:solidFill>
            <a:srgbClr val="F2F4F8"/>
          </a:solidFill>
          <a:ln/>
        </p:spPr>
        <p:txBody>
          <a:bodyPr/>
          <a:lstStyle/>
          <a:p>
            <a:endParaRPr lang="en-US"/>
          </a:p>
        </p:txBody>
      </p:sp>
      <p:sp>
        <p:nvSpPr>
          <p:cNvPr id="21" name="Shape 16"/>
          <p:cNvSpPr/>
          <p:nvPr/>
        </p:nvSpPr>
        <p:spPr>
          <a:xfrm>
            <a:off x="6428232" y="3456432"/>
            <a:ext cx="457200" cy="457200"/>
          </a:xfrm>
          <a:prstGeom prst="ellipse">
            <a:avLst/>
          </a:prstGeom>
          <a:solidFill>
            <a:srgbClr val="12141C"/>
          </a:solidFill>
          <a:ln/>
        </p:spPr>
        <p:txBody>
          <a:bodyPr/>
          <a:lstStyle/>
          <a:p>
            <a:endParaRPr lang="en-US"/>
          </a:p>
        </p:txBody>
      </p:sp>
      <p:pic>
        <p:nvPicPr>
          <p:cNvPr id="22" name="Image 3" descr="/home/claude/icons/FaMobileScreenButton_w.png"/>
          <p:cNvPicPr>
            <a:picLocks noChangeAspect="1"/>
          </p:cNvPicPr>
          <p:nvPr/>
        </p:nvPicPr>
        <p:blipFill>
          <a:blip r:embed="rId6"/>
          <a:stretch>
            <a:fillRect/>
          </a:stretch>
        </p:blipFill>
        <p:spPr>
          <a:xfrm>
            <a:off x="6547104" y="3575304"/>
            <a:ext cx="219456" cy="219456"/>
          </a:xfrm>
          <a:prstGeom prst="rect">
            <a:avLst/>
          </a:prstGeom>
        </p:spPr>
      </p:pic>
      <p:sp>
        <p:nvSpPr>
          <p:cNvPr id="23" name="Text 17"/>
          <p:cNvSpPr/>
          <p:nvPr/>
        </p:nvSpPr>
        <p:spPr>
          <a:xfrm>
            <a:off x="7013448" y="3310128"/>
            <a:ext cx="43891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Prefer cellular data for anything sensitive</a:t>
            </a:r>
            <a:endParaRPr lang="en-US" sz="1200"/>
          </a:p>
        </p:txBody>
      </p:sp>
      <p:sp>
        <p:nvSpPr>
          <p:cNvPr id="24" name="Text 18"/>
          <p:cNvSpPr/>
          <p:nvPr/>
        </p:nvSpPr>
        <p:spPr>
          <a:xfrm>
            <a:off x="7013448" y="3602736"/>
            <a:ext cx="4434840" cy="5486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Banking, health records, and account recovery are worth the mobile data.</a:t>
            </a:r>
            <a:endParaRPr lang="en-US" sz="1030"/>
          </a:p>
        </p:txBody>
      </p:sp>
      <p:sp>
        <p:nvSpPr>
          <p:cNvPr id="25" name="Shape 19"/>
          <p:cNvSpPr/>
          <p:nvPr/>
        </p:nvSpPr>
        <p:spPr>
          <a:xfrm>
            <a:off x="566928" y="4352544"/>
            <a:ext cx="5394960" cy="1097280"/>
          </a:xfrm>
          <a:prstGeom prst="roundRect">
            <a:avLst>
              <a:gd name="adj" fmla="val 7500"/>
            </a:avLst>
          </a:prstGeom>
          <a:solidFill>
            <a:srgbClr val="EAF0FA"/>
          </a:solidFill>
          <a:ln/>
        </p:spPr>
        <p:txBody>
          <a:bodyPr/>
          <a:lstStyle/>
          <a:p>
            <a:endParaRPr lang="en-US"/>
          </a:p>
        </p:txBody>
      </p:sp>
      <p:sp>
        <p:nvSpPr>
          <p:cNvPr id="26" name="Shape 20"/>
          <p:cNvSpPr/>
          <p:nvPr/>
        </p:nvSpPr>
        <p:spPr>
          <a:xfrm>
            <a:off x="804672" y="4663440"/>
            <a:ext cx="457200" cy="457200"/>
          </a:xfrm>
          <a:prstGeom prst="ellipse">
            <a:avLst/>
          </a:prstGeom>
          <a:solidFill>
            <a:srgbClr val="12141C"/>
          </a:solidFill>
          <a:ln/>
        </p:spPr>
        <p:txBody>
          <a:bodyPr/>
          <a:lstStyle/>
          <a:p>
            <a:endParaRPr lang="en-US"/>
          </a:p>
        </p:txBody>
      </p:sp>
      <p:pic>
        <p:nvPicPr>
          <p:cNvPr id="27" name="Image 4" descr="/home/claude/icons/FaShieldHalved_w.png"/>
          <p:cNvPicPr>
            <a:picLocks noChangeAspect="1"/>
          </p:cNvPicPr>
          <p:nvPr/>
        </p:nvPicPr>
        <p:blipFill>
          <a:blip r:embed="rId7"/>
          <a:stretch>
            <a:fillRect/>
          </a:stretch>
        </p:blipFill>
        <p:spPr>
          <a:xfrm>
            <a:off x="923544" y="4782312"/>
            <a:ext cx="219456" cy="219456"/>
          </a:xfrm>
          <a:prstGeom prst="rect">
            <a:avLst/>
          </a:prstGeom>
        </p:spPr>
      </p:pic>
      <p:sp>
        <p:nvSpPr>
          <p:cNvPr id="28" name="Text 21"/>
          <p:cNvSpPr/>
          <p:nvPr/>
        </p:nvSpPr>
        <p:spPr>
          <a:xfrm>
            <a:off x="1389888" y="4517136"/>
            <a:ext cx="43891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Keep MFA on and check the address bar</a:t>
            </a:r>
            <a:endParaRPr lang="en-US" sz="1200"/>
          </a:p>
        </p:txBody>
      </p:sp>
      <p:sp>
        <p:nvSpPr>
          <p:cNvPr id="29" name="Text 22"/>
          <p:cNvSpPr/>
          <p:nvPr/>
        </p:nvSpPr>
        <p:spPr>
          <a:xfrm>
            <a:off x="1389888" y="4809744"/>
            <a:ext cx="4434840" cy="5486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If a credential is captured anyway, the second factor is the thing that still holds.</a:t>
            </a:r>
            <a:endParaRPr lang="en-US" sz="1030"/>
          </a:p>
        </p:txBody>
      </p:sp>
      <p:sp>
        <p:nvSpPr>
          <p:cNvPr id="30" name="Shape 23"/>
          <p:cNvSpPr/>
          <p:nvPr/>
        </p:nvSpPr>
        <p:spPr>
          <a:xfrm>
            <a:off x="6190488" y="4352544"/>
            <a:ext cx="5394960" cy="1097280"/>
          </a:xfrm>
          <a:prstGeom prst="roundRect">
            <a:avLst>
              <a:gd name="adj" fmla="val 7500"/>
            </a:avLst>
          </a:prstGeom>
          <a:solidFill>
            <a:srgbClr val="F2F4F8"/>
          </a:solidFill>
          <a:ln/>
        </p:spPr>
        <p:txBody>
          <a:bodyPr/>
          <a:lstStyle/>
          <a:p>
            <a:endParaRPr lang="en-US"/>
          </a:p>
        </p:txBody>
      </p:sp>
      <p:sp>
        <p:nvSpPr>
          <p:cNvPr id="31" name="Shape 24"/>
          <p:cNvSpPr/>
          <p:nvPr/>
        </p:nvSpPr>
        <p:spPr>
          <a:xfrm>
            <a:off x="6428232" y="4663440"/>
            <a:ext cx="457200" cy="457200"/>
          </a:xfrm>
          <a:prstGeom prst="ellipse">
            <a:avLst/>
          </a:prstGeom>
          <a:solidFill>
            <a:srgbClr val="12141C"/>
          </a:solidFill>
          <a:ln/>
        </p:spPr>
        <p:txBody>
          <a:bodyPr/>
          <a:lstStyle/>
          <a:p>
            <a:endParaRPr lang="en-US"/>
          </a:p>
        </p:txBody>
      </p:sp>
      <p:pic>
        <p:nvPicPr>
          <p:cNvPr id="32" name="Image 5" descr="/home/claude/icons/FaFileShield_w.png"/>
          <p:cNvPicPr>
            <a:picLocks noChangeAspect="1"/>
          </p:cNvPicPr>
          <p:nvPr/>
        </p:nvPicPr>
        <p:blipFill>
          <a:blip r:embed="rId8"/>
          <a:stretch>
            <a:fillRect/>
          </a:stretch>
        </p:blipFill>
        <p:spPr>
          <a:xfrm>
            <a:off x="6547104" y="4782312"/>
            <a:ext cx="219456" cy="219456"/>
          </a:xfrm>
          <a:prstGeom prst="rect">
            <a:avLst/>
          </a:prstGeom>
        </p:spPr>
      </p:pic>
      <p:sp>
        <p:nvSpPr>
          <p:cNvPr id="33" name="Text 25"/>
          <p:cNvSpPr/>
          <p:nvPr/>
        </p:nvSpPr>
        <p:spPr>
          <a:xfrm>
            <a:off x="7013448" y="4517136"/>
            <a:ext cx="43891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Disable file sharing, and forget the network afterwards</a:t>
            </a:r>
            <a:endParaRPr lang="en-US" sz="1200"/>
          </a:p>
        </p:txBody>
      </p:sp>
      <p:sp>
        <p:nvSpPr>
          <p:cNvPr id="34" name="Text 26"/>
          <p:cNvSpPr/>
          <p:nvPr/>
        </p:nvSpPr>
        <p:spPr>
          <a:xfrm>
            <a:off x="7013448" y="4809744"/>
            <a:ext cx="4434840" cy="548640"/>
          </a:xfrm>
          <a:prstGeom prst="rect">
            <a:avLst/>
          </a:prstGeom>
          <a:noFill/>
          <a:ln/>
        </p:spPr>
        <p:txBody>
          <a:bodyPr wrap="square" lIns="0" tIns="0" rIns="0" bIns="0" rtlCol="0" anchor="t"/>
          <a:lstStyle/>
          <a:p>
            <a:pPr marL="0" indent="0">
              <a:lnSpc>
                <a:spcPts val="1340"/>
              </a:lnSpc>
              <a:buNone/>
            </a:pPr>
            <a:r>
              <a:rPr lang="en-US" sz="1030">
                <a:solidFill>
                  <a:srgbClr val="6B7280"/>
                </a:solidFill>
                <a:latin typeface="Calibri" pitchFamily="34" charset="0"/>
                <a:ea typeface="Calibri" pitchFamily="34" charset="-122"/>
                <a:cs typeface="Calibri" pitchFamily="34" charset="-120"/>
              </a:rPr>
              <a:t>Reduce what is reachable while connected, and do not carry the network into tomorrow.</a:t>
            </a:r>
            <a:endParaRPr lang="en-US" sz="1030"/>
          </a:p>
        </p:txBody>
      </p:sp>
      <p:sp>
        <p:nvSpPr>
          <p:cNvPr id="35" name="Shape 27"/>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36" name="Image 6" descr="/home/claude/icons/FaClipboardCheck_w.png"/>
          <p:cNvPicPr>
            <a:picLocks noChangeAspect="1"/>
          </p:cNvPicPr>
          <p:nvPr/>
        </p:nvPicPr>
        <p:blipFill>
          <a:blip r:embed="rId9"/>
          <a:stretch>
            <a:fillRect/>
          </a:stretch>
        </p:blipFill>
        <p:spPr>
          <a:xfrm>
            <a:off x="768096" y="5811012"/>
            <a:ext cx="228600" cy="228600"/>
          </a:xfrm>
          <a:prstGeom prst="rect">
            <a:avLst/>
          </a:prstGeom>
        </p:spPr>
      </p:pic>
      <p:sp>
        <p:nvSpPr>
          <p:cNvPr id="37" name="Text 28"/>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Framing for the exam: each habit is a security control. Be ready to say which attack it mitigates and what residual risk it leaves behind.</a:t>
            </a:r>
            <a:endParaRPr lang="en-US" sz="1150"/>
          </a:p>
        </p:txBody>
      </p:sp>
      <p:sp>
        <p:nvSpPr>
          <p:cNvPr id="38" name="Text 29"/>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9" name="Text 30"/>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33</a:t>
            </a:r>
            <a:endParaRPr lang="en-US" sz="9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66928" y="347472"/>
            <a:ext cx="1481328" cy="274320"/>
          </a:xfrm>
          <a:prstGeom prst="roundRect">
            <a:avLst>
              <a:gd name="adj" fmla="val 20000"/>
            </a:avLst>
          </a:prstGeom>
          <a:solidFill>
            <a:srgbClr val="D9483F"/>
          </a:solidFill>
          <a:ln/>
        </p:spPr>
        <p:txBody>
          <a:bodyPr/>
          <a:lstStyle/>
          <a:p>
            <a:endParaRPr lang="en-US"/>
          </a:p>
        </p:txBody>
      </p:sp>
      <p:sp>
        <p:nvSpPr>
          <p:cNvPr id="3" name="Text 1"/>
          <p:cNvSpPr/>
          <p:nvPr/>
        </p:nvSpPr>
        <p:spPr>
          <a:xfrm>
            <a:off x="566928" y="347472"/>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NEWS CASE</a:t>
            </a:r>
            <a:endParaRPr lang="en-US" sz="950"/>
          </a:p>
        </p:txBody>
      </p:sp>
      <p:sp>
        <p:nvSpPr>
          <p:cNvPr id="4" name="Text 2"/>
          <p:cNvSpPr/>
          <p:nvPr/>
        </p:nvSpPr>
        <p:spPr>
          <a:xfrm>
            <a:off x="2231136" y="347472"/>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IN THE NEWS  ·  TOPIC 1.3</a:t>
            </a:r>
            <a:endParaRPr lang="en-US" sz="1050"/>
          </a:p>
        </p:txBody>
      </p:sp>
      <p:sp>
        <p:nvSpPr>
          <p:cNvPr id="5" name="Text 3"/>
          <p:cNvSpPr/>
          <p:nvPr/>
        </p:nvSpPr>
        <p:spPr>
          <a:xfrm>
            <a:off x="566928" y="768096"/>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Evil twin networks at airports — and in the air</a:t>
            </a:r>
            <a:endParaRPr lang="en-US" sz="3000"/>
          </a:p>
        </p:txBody>
      </p:sp>
      <p:sp>
        <p:nvSpPr>
          <p:cNvPr id="6" name="Text 4"/>
          <p:cNvSpPr/>
          <p:nvPr/>
        </p:nvSpPr>
        <p:spPr>
          <a:xfrm>
            <a:off x="566928" y="1417320"/>
            <a:ext cx="11057839" cy="365760"/>
          </a:xfrm>
          <a:prstGeom prst="rect">
            <a:avLst/>
          </a:prstGeom>
          <a:noFill/>
          <a:ln/>
        </p:spPr>
        <p:txBody>
          <a:bodyPr wrap="square" lIns="0" tIns="0" rIns="0" bIns="0" rtlCol="0" anchor="t"/>
          <a:lstStyle/>
          <a:p>
            <a:pPr marL="0" indent="0">
              <a:lnSpc>
                <a:spcPts val="1900"/>
              </a:lnSpc>
              <a:buNone/>
            </a:pPr>
            <a:r>
              <a:rPr lang="en-US" sz="1250" i="1">
                <a:solidFill>
                  <a:srgbClr val="6B7280"/>
                </a:solidFill>
                <a:latin typeface="Calibri" pitchFamily="34" charset="0"/>
                <a:ea typeface="Calibri" pitchFamily="34" charset="-122"/>
                <a:cs typeface="Calibri" pitchFamily="34" charset="-120"/>
              </a:rPr>
              <a:t>An Australian case that ran from an airline's own report of a suspicious network to a seven-year sentence.</a:t>
            </a:r>
            <a:endParaRPr lang="en-US" sz="1250"/>
          </a:p>
        </p:txBody>
      </p:sp>
      <p:sp>
        <p:nvSpPr>
          <p:cNvPr id="7" name="Shape 5"/>
          <p:cNvSpPr/>
          <p:nvPr/>
        </p:nvSpPr>
        <p:spPr>
          <a:xfrm>
            <a:off x="566928" y="2139696"/>
            <a:ext cx="6949440" cy="777240"/>
          </a:xfrm>
          <a:prstGeom prst="roundRect">
            <a:avLst>
              <a:gd name="adj" fmla="val 10588"/>
            </a:avLst>
          </a:prstGeom>
          <a:solidFill>
            <a:srgbClr val="F2F4F8"/>
          </a:solidFill>
          <a:ln/>
        </p:spPr>
        <p:txBody>
          <a:bodyPr/>
          <a:lstStyle/>
          <a:p>
            <a:endParaRPr lang="en-US"/>
          </a:p>
        </p:txBody>
      </p:sp>
      <p:sp>
        <p:nvSpPr>
          <p:cNvPr id="8" name="Text 6"/>
          <p:cNvSpPr/>
          <p:nvPr/>
        </p:nvSpPr>
        <p:spPr>
          <a:xfrm>
            <a:off x="768096" y="2249424"/>
            <a:ext cx="1371600" cy="457200"/>
          </a:xfrm>
          <a:prstGeom prst="rect">
            <a:avLst/>
          </a:prstGeom>
          <a:noFill/>
          <a:ln/>
        </p:spPr>
        <p:txBody>
          <a:bodyPr wrap="square" lIns="0" tIns="0" rIns="0" bIns="0" rtlCol="0" anchor="ctr"/>
          <a:lstStyle/>
          <a:p>
            <a:pPr marL="0" indent="0">
              <a:lnSpc>
                <a:spcPts val="1300"/>
              </a:lnSpc>
              <a:buNone/>
            </a:pPr>
            <a:r>
              <a:rPr lang="en-US" sz="1000" b="1">
                <a:solidFill>
                  <a:srgbClr val="D9483F"/>
                </a:solidFill>
                <a:latin typeface="Calibri" pitchFamily="34" charset="0"/>
                <a:ea typeface="Calibri" pitchFamily="34" charset="-122"/>
                <a:cs typeface="Calibri" pitchFamily="34" charset="-120"/>
              </a:rPr>
              <a:t>April 2024</a:t>
            </a:r>
            <a:endParaRPr lang="en-US" sz="1000"/>
          </a:p>
        </p:txBody>
      </p:sp>
      <p:sp>
        <p:nvSpPr>
          <p:cNvPr id="9" name="Text 7"/>
          <p:cNvSpPr/>
          <p:nvPr/>
        </p:nvSpPr>
        <p:spPr>
          <a:xfrm>
            <a:off x="2258568" y="2249424"/>
            <a:ext cx="5120640" cy="621792"/>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An airline reported that its employees had spotted a suspicious Wi-Fi network during a domestic flight, and the Australian Federal Police opened an investigation.</a:t>
            </a:r>
            <a:endParaRPr lang="en-US" sz="1030"/>
          </a:p>
        </p:txBody>
      </p:sp>
      <p:sp>
        <p:nvSpPr>
          <p:cNvPr id="10" name="Shape 8"/>
          <p:cNvSpPr/>
          <p:nvPr/>
        </p:nvSpPr>
        <p:spPr>
          <a:xfrm>
            <a:off x="566928" y="2999232"/>
            <a:ext cx="6949440" cy="777240"/>
          </a:xfrm>
          <a:prstGeom prst="roundRect">
            <a:avLst>
              <a:gd name="adj" fmla="val 10588"/>
            </a:avLst>
          </a:prstGeom>
          <a:solidFill>
            <a:srgbClr val="FFFFFF"/>
          </a:solidFill>
          <a:ln/>
        </p:spPr>
        <p:txBody>
          <a:bodyPr/>
          <a:lstStyle/>
          <a:p>
            <a:endParaRPr lang="en-US"/>
          </a:p>
        </p:txBody>
      </p:sp>
      <p:sp>
        <p:nvSpPr>
          <p:cNvPr id="11" name="Text 9"/>
          <p:cNvSpPr/>
          <p:nvPr/>
        </p:nvSpPr>
        <p:spPr>
          <a:xfrm>
            <a:off x="768096" y="3108960"/>
            <a:ext cx="1371600" cy="457200"/>
          </a:xfrm>
          <a:prstGeom prst="rect">
            <a:avLst/>
          </a:prstGeom>
          <a:noFill/>
          <a:ln/>
        </p:spPr>
        <p:txBody>
          <a:bodyPr wrap="square" lIns="0" tIns="0" rIns="0" bIns="0" rtlCol="0" anchor="ctr"/>
          <a:lstStyle/>
          <a:p>
            <a:pPr marL="0" indent="0">
              <a:lnSpc>
                <a:spcPts val="1300"/>
              </a:lnSpc>
              <a:buNone/>
            </a:pPr>
            <a:r>
              <a:rPr lang="en-US" sz="1000" b="1">
                <a:solidFill>
                  <a:srgbClr val="D9483F"/>
                </a:solidFill>
                <a:latin typeface="Calibri" pitchFamily="34" charset="0"/>
                <a:ea typeface="Calibri" pitchFamily="34" charset="-122"/>
                <a:cs typeface="Calibri" pitchFamily="34" charset="-120"/>
              </a:rPr>
              <a:t>19 April 2024</a:t>
            </a:r>
            <a:endParaRPr lang="en-US" sz="1000"/>
          </a:p>
        </p:txBody>
      </p:sp>
      <p:sp>
        <p:nvSpPr>
          <p:cNvPr id="12" name="Text 10"/>
          <p:cNvSpPr/>
          <p:nvPr/>
        </p:nvSpPr>
        <p:spPr>
          <a:xfrm>
            <a:off x="2258568" y="3108960"/>
            <a:ext cx="5120640" cy="621792"/>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Investigators searched the man's hand luggage at Perth Airport and seized a portable wireless access device, a laptop, and a mobile phone.</a:t>
            </a:r>
            <a:endParaRPr lang="en-US" sz="1030"/>
          </a:p>
        </p:txBody>
      </p:sp>
      <p:sp>
        <p:nvSpPr>
          <p:cNvPr id="13" name="Shape 11"/>
          <p:cNvSpPr/>
          <p:nvPr/>
        </p:nvSpPr>
        <p:spPr>
          <a:xfrm>
            <a:off x="566928" y="3858768"/>
            <a:ext cx="6949440" cy="777240"/>
          </a:xfrm>
          <a:prstGeom prst="roundRect">
            <a:avLst>
              <a:gd name="adj" fmla="val 10588"/>
            </a:avLst>
          </a:prstGeom>
          <a:solidFill>
            <a:srgbClr val="F2F4F8"/>
          </a:solidFill>
          <a:ln/>
        </p:spPr>
        <p:txBody>
          <a:bodyPr/>
          <a:lstStyle/>
          <a:p>
            <a:endParaRPr lang="en-US"/>
          </a:p>
        </p:txBody>
      </p:sp>
      <p:sp>
        <p:nvSpPr>
          <p:cNvPr id="14" name="Text 12"/>
          <p:cNvSpPr/>
          <p:nvPr/>
        </p:nvSpPr>
        <p:spPr>
          <a:xfrm>
            <a:off x="768096" y="3968496"/>
            <a:ext cx="1371600" cy="457200"/>
          </a:xfrm>
          <a:prstGeom prst="rect">
            <a:avLst/>
          </a:prstGeom>
          <a:noFill/>
          <a:ln/>
        </p:spPr>
        <p:txBody>
          <a:bodyPr wrap="square" lIns="0" tIns="0" rIns="0" bIns="0" rtlCol="0" anchor="ctr"/>
          <a:lstStyle/>
          <a:p>
            <a:pPr marL="0" indent="0">
              <a:lnSpc>
                <a:spcPts val="1300"/>
              </a:lnSpc>
              <a:buNone/>
            </a:pPr>
            <a:r>
              <a:rPr lang="en-US" sz="1000" b="1">
                <a:solidFill>
                  <a:srgbClr val="D9483F"/>
                </a:solidFill>
                <a:latin typeface="Calibri" pitchFamily="34" charset="0"/>
                <a:ea typeface="Calibri" pitchFamily="34" charset="-122"/>
                <a:cs typeface="Calibri" pitchFamily="34" charset="-120"/>
              </a:rPr>
              <a:t>June 2024</a:t>
            </a:r>
            <a:endParaRPr lang="en-US" sz="1000"/>
          </a:p>
        </p:txBody>
      </p:sp>
      <p:sp>
        <p:nvSpPr>
          <p:cNvPr id="15" name="Text 13"/>
          <p:cNvSpPr/>
          <p:nvPr/>
        </p:nvSpPr>
        <p:spPr>
          <a:xfrm>
            <a:off x="2258568" y="3968496"/>
            <a:ext cx="5120640" cy="621792"/>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Nine cybercrime charges were laid. Police said fraudulent Wi-Fi pages had been used at airports in Perth, Melbourne and Adelaide, and on domestic flights.</a:t>
            </a:r>
            <a:endParaRPr lang="en-US" sz="1030"/>
          </a:p>
        </p:txBody>
      </p:sp>
      <p:sp>
        <p:nvSpPr>
          <p:cNvPr id="16" name="Shape 14"/>
          <p:cNvSpPr/>
          <p:nvPr/>
        </p:nvSpPr>
        <p:spPr>
          <a:xfrm>
            <a:off x="566928" y="4718304"/>
            <a:ext cx="6949440" cy="777240"/>
          </a:xfrm>
          <a:prstGeom prst="roundRect">
            <a:avLst>
              <a:gd name="adj" fmla="val 10588"/>
            </a:avLst>
          </a:prstGeom>
          <a:solidFill>
            <a:srgbClr val="FFFFFF"/>
          </a:solidFill>
          <a:ln/>
        </p:spPr>
        <p:txBody>
          <a:bodyPr/>
          <a:lstStyle/>
          <a:p>
            <a:endParaRPr lang="en-US"/>
          </a:p>
        </p:txBody>
      </p:sp>
      <p:sp>
        <p:nvSpPr>
          <p:cNvPr id="17" name="Text 15"/>
          <p:cNvSpPr/>
          <p:nvPr/>
        </p:nvSpPr>
        <p:spPr>
          <a:xfrm>
            <a:off x="768096" y="4828032"/>
            <a:ext cx="1371600" cy="457200"/>
          </a:xfrm>
          <a:prstGeom prst="rect">
            <a:avLst/>
          </a:prstGeom>
          <a:noFill/>
          <a:ln/>
        </p:spPr>
        <p:txBody>
          <a:bodyPr wrap="square" lIns="0" tIns="0" rIns="0" bIns="0" rtlCol="0" anchor="ctr"/>
          <a:lstStyle/>
          <a:p>
            <a:pPr marL="0" indent="0">
              <a:lnSpc>
                <a:spcPts val="1300"/>
              </a:lnSpc>
              <a:buNone/>
            </a:pPr>
            <a:r>
              <a:rPr lang="en-US" sz="1000" b="1">
                <a:solidFill>
                  <a:srgbClr val="D9483F"/>
                </a:solidFill>
                <a:latin typeface="Calibri" pitchFamily="34" charset="0"/>
                <a:ea typeface="Calibri" pitchFamily="34" charset="-122"/>
                <a:cs typeface="Calibri" pitchFamily="34" charset="-120"/>
              </a:rPr>
              <a:t>November 2025</a:t>
            </a:r>
            <a:endParaRPr lang="en-US" sz="1000"/>
          </a:p>
        </p:txBody>
      </p:sp>
      <p:sp>
        <p:nvSpPr>
          <p:cNvPr id="18" name="Text 16"/>
          <p:cNvSpPr/>
          <p:nvPr/>
        </p:nvSpPr>
        <p:spPr>
          <a:xfrm>
            <a:off x="2258568" y="4828032"/>
            <a:ext cx="5120640" cy="621792"/>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Sentenced in Perth District Court to seven years and four months, with parole eligibility after five. Investigators recovered credentials and private material belonging to victims.</a:t>
            </a:r>
            <a:endParaRPr lang="en-US" sz="1030"/>
          </a:p>
        </p:txBody>
      </p:sp>
      <p:sp>
        <p:nvSpPr>
          <p:cNvPr id="19" name="Shape 17"/>
          <p:cNvSpPr/>
          <p:nvPr/>
        </p:nvSpPr>
        <p:spPr>
          <a:xfrm>
            <a:off x="7699248" y="2139696"/>
            <a:ext cx="3922776" cy="2011680"/>
          </a:xfrm>
          <a:prstGeom prst="roundRect">
            <a:avLst>
              <a:gd name="adj" fmla="val 4091"/>
            </a:avLst>
          </a:prstGeom>
          <a:solidFill>
            <a:srgbClr val="12141C"/>
          </a:solidFill>
          <a:ln/>
        </p:spPr>
        <p:txBody>
          <a:bodyPr/>
          <a:lstStyle/>
          <a:p>
            <a:endParaRPr lang="en-US"/>
          </a:p>
        </p:txBody>
      </p:sp>
      <p:sp>
        <p:nvSpPr>
          <p:cNvPr id="20" name="Text 18"/>
          <p:cNvSpPr/>
          <p:nvPr/>
        </p:nvSpPr>
        <p:spPr>
          <a:xfrm>
            <a:off x="7955280" y="2286000"/>
            <a:ext cx="329184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THE TECHNIQUE</a:t>
            </a:r>
            <a:endParaRPr lang="en-US" sz="900"/>
          </a:p>
        </p:txBody>
      </p:sp>
      <p:sp>
        <p:nvSpPr>
          <p:cNvPr id="21" name="Text 19"/>
          <p:cNvSpPr/>
          <p:nvPr/>
        </p:nvSpPr>
        <p:spPr>
          <a:xfrm>
            <a:off x="7955280" y="2596896"/>
            <a:ext cx="3429000" cy="1417320"/>
          </a:xfrm>
          <a:prstGeom prst="rect">
            <a:avLst/>
          </a:prstGeom>
          <a:noFill/>
          <a:ln/>
        </p:spPr>
        <p:txBody>
          <a:bodyPr wrap="square" lIns="0" tIns="0" rIns="0" bIns="0" rtlCol="0" anchor="t"/>
          <a:lstStyle/>
          <a:p>
            <a:pPr marL="0" indent="0">
              <a:lnSpc>
                <a:spcPts val="1340"/>
              </a:lnSpc>
              <a:buNone/>
            </a:pPr>
            <a:r>
              <a:rPr lang="en-US" sz="1020">
                <a:solidFill>
                  <a:srgbClr val="9AA3B2"/>
                </a:solidFill>
                <a:latin typeface="Calibri" pitchFamily="34" charset="0"/>
                <a:ea typeface="Calibri" pitchFamily="34" charset="-122"/>
                <a:cs typeface="Calibri" pitchFamily="34" charset="-120"/>
              </a:rPr>
              <a:t>A portable penetration-testing access point was used to listen for the networks nearby phones were already searching for, then broadcast a matching name. Devices that had been told to reconnect automatically did exactly that. Victims were sent to a page asking them to sign in with an email or social-media account — and those details were saved.</a:t>
            </a:r>
            <a:endParaRPr lang="en-US" sz="1020"/>
          </a:p>
        </p:txBody>
      </p:sp>
      <p:sp>
        <p:nvSpPr>
          <p:cNvPr id="22" name="Shape 20"/>
          <p:cNvSpPr/>
          <p:nvPr/>
        </p:nvSpPr>
        <p:spPr>
          <a:xfrm>
            <a:off x="7699248" y="4297680"/>
            <a:ext cx="3922776" cy="1207008"/>
          </a:xfrm>
          <a:prstGeom prst="roundRect">
            <a:avLst>
              <a:gd name="adj" fmla="val 6818"/>
            </a:avLst>
          </a:prstGeom>
          <a:solidFill>
            <a:srgbClr val="FBECEA"/>
          </a:solidFill>
          <a:ln/>
        </p:spPr>
        <p:txBody>
          <a:bodyPr/>
          <a:lstStyle/>
          <a:p>
            <a:endParaRPr lang="en-US"/>
          </a:p>
        </p:txBody>
      </p:sp>
      <p:sp>
        <p:nvSpPr>
          <p:cNvPr id="23" name="Text 21"/>
          <p:cNvSpPr/>
          <p:nvPr/>
        </p:nvSpPr>
        <p:spPr>
          <a:xfrm>
            <a:off x="7955280" y="4425696"/>
            <a:ext cx="3657600" cy="201168"/>
          </a:xfrm>
          <a:prstGeom prst="rect">
            <a:avLst/>
          </a:prstGeom>
          <a:noFill/>
          <a:ln/>
        </p:spPr>
        <p:txBody>
          <a:bodyPr wrap="square" lIns="0" tIns="0" rIns="0" bIns="0" rtlCol="0" anchor="ctr"/>
          <a:lstStyle/>
          <a:p>
            <a:pPr marL="0" indent="0">
              <a:buNone/>
            </a:pPr>
            <a:r>
              <a:rPr lang="en-US" sz="900" b="1" kern="0" spc="120">
                <a:solidFill>
                  <a:srgbClr val="D9483F"/>
                </a:solidFill>
                <a:latin typeface="Calibri" pitchFamily="34" charset="0"/>
                <a:ea typeface="Calibri" pitchFamily="34" charset="-122"/>
                <a:cs typeface="Calibri" pitchFamily="34" charset="-120"/>
              </a:rPr>
              <a:t>POLICE ADVICE AT SENTENCING</a:t>
            </a:r>
            <a:endParaRPr lang="en-US" sz="900"/>
          </a:p>
        </p:txBody>
      </p:sp>
      <p:sp>
        <p:nvSpPr>
          <p:cNvPr id="24" name="Text 22"/>
          <p:cNvSpPr/>
          <p:nvPr/>
        </p:nvSpPr>
        <p:spPr>
          <a:xfrm>
            <a:off x="7955280" y="4681728"/>
            <a:ext cx="3429000" cy="749808"/>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Avoid any public network that asks for an email or social-media login; use a reputable VPN; disable file sharing; do not bank on public Wi-Fi; and set the device to forget the network afterwards.</a:t>
            </a:r>
            <a:endParaRPr lang="en-US" sz="1020"/>
          </a:p>
        </p:txBody>
      </p:sp>
      <p:sp>
        <p:nvSpPr>
          <p:cNvPr id="25" name="Shape 23"/>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26" name="Image 0" descr="/home/claude/icons/FaNewspaper_w.png"/>
          <p:cNvPicPr>
            <a:picLocks noChangeAspect="1"/>
          </p:cNvPicPr>
          <p:nvPr/>
        </p:nvPicPr>
        <p:blipFill>
          <a:blip r:embed="rId3"/>
          <a:stretch>
            <a:fillRect/>
          </a:stretch>
        </p:blipFill>
        <p:spPr>
          <a:xfrm>
            <a:off x="768096" y="5811012"/>
            <a:ext cx="228600" cy="228600"/>
          </a:xfrm>
          <a:prstGeom prst="rect">
            <a:avLst/>
          </a:prstGeom>
        </p:spPr>
      </p:pic>
      <p:sp>
        <p:nvSpPr>
          <p:cNvPr id="27" name="Text 24"/>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Sources: Australian Federal Police media releases (June 2024; 28 November 2025) · reporting by SecurityWeek, Infosecurity Magazine and Malwarebytes.</a:t>
            </a:r>
            <a:endParaRPr lang="en-US" sz="1150"/>
          </a:p>
        </p:txBody>
      </p:sp>
      <p:sp>
        <p:nvSpPr>
          <p:cNvPr id="28" name="Text 2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9" name="Text 2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34</a:t>
            </a:r>
            <a:endParaRPr lang="en-US" sz="9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566928" y="384048"/>
            <a:ext cx="1737360" cy="274320"/>
          </a:xfrm>
          <a:prstGeom prst="roundRect">
            <a:avLst>
              <a:gd name="adj" fmla="val 20000"/>
            </a:avLst>
          </a:prstGeom>
          <a:solidFill>
            <a:srgbClr val="D9483F"/>
          </a:solidFill>
          <a:ln/>
        </p:spPr>
        <p:txBody>
          <a:bodyPr/>
          <a:lstStyle/>
          <a:p>
            <a:endParaRPr lang="en-US"/>
          </a:p>
        </p:txBody>
      </p:sp>
      <p:sp>
        <p:nvSpPr>
          <p:cNvPr id="3" name="Text 1"/>
          <p:cNvSpPr/>
          <p:nvPr/>
        </p:nvSpPr>
        <p:spPr>
          <a:xfrm>
            <a:off x="566928" y="384048"/>
            <a:ext cx="1737360" cy="274320"/>
          </a:xfrm>
          <a:prstGeom prst="rect">
            <a:avLst/>
          </a:prstGeom>
          <a:noFill/>
          <a:ln/>
        </p:spPr>
        <p:txBody>
          <a:bodyPr wrap="square" lIns="0" tIns="0" rIns="0" bIns="0" rtlCol="0" anchor="ctr"/>
          <a:lstStyle/>
          <a:p>
            <a:pPr marL="0" indent="0" algn="ctr">
              <a:buNone/>
            </a:pPr>
            <a:r>
              <a:rPr lang="en-US" sz="950" b="1" kern="0" spc="100">
                <a:solidFill>
                  <a:srgbClr val="12141C"/>
                </a:solidFill>
                <a:latin typeface="Calibri" pitchFamily="34" charset="0"/>
                <a:ea typeface="Calibri" pitchFamily="34" charset="-122"/>
                <a:cs typeface="Calibri" pitchFamily="34" charset="-120"/>
              </a:rPr>
              <a:t>SCENARIO 1C</a:t>
            </a:r>
            <a:endParaRPr lang="en-US" sz="950"/>
          </a:p>
        </p:txBody>
      </p:sp>
      <p:sp>
        <p:nvSpPr>
          <p:cNvPr id="4" name="Text 2"/>
          <p:cNvSpPr/>
          <p:nvPr/>
        </p:nvSpPr>
        <p:spPr>
          <a:xfrm>
            <a:off x="2487168" y="384048"/>
            <a:ext cx="7315200" cy="274320"/>
          </a:xfrm>
          <a:prstGeom prst="rect">
            <a:avLst/>
          </a:prstGeom>
          <a:noFill/>
          <a:ln/>
        </p:spPr>
        <p:txBody>
          <a:bodyPr wrap="square" lIns="0" tIns="0" rIns="0" bIns="0" rtlCol="0" anchor="ctr"/>
          <a:lstStyle/>
          <a:p>
            <a:pPr marL="0" indent="0">
              <a:buNone/>
            </a:pPr>
            <a:r>
              <a:rPr lang="en-US" sz="950" b="1" kern="0" spc="130">
                <a:solidFill>
                  <a:srgbClr val="9AA3B2"/>
                </a:solidFill>
                <a:latin typeface="Calibri" pitchFamily="34" charset="0"/>
                <a:ea typeface="Calibri" pitchFamily="34" charset="-122"/>
                <a:cs typeface="Calibri" pitchFamily="34" charset="-120"/>
              </a:rPr>
              <a:t>FROM THE COURSE AND EXAM DESCRIPTION</a:t>
            </a:r>
            <a:endParaRPr lang="en-US" sz="950"/>
          </a:p>
        </p:txBody>
      </p:sp>
      <p:sp>
        <p:nvSpPr>
          <p:cNvPr id="5" name="Text 3"/>
          <p:cNvSpPr/>
          <p:nvPr/>
        </p:nvSpPr>
        <p:spPr>
          <a:xfrm>
            <a:off x="566928" y="841248"/>
            <a:ext cx="10058400" cy="54864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Verifying Network Authenticity</a:t>
            </a:r>
            <a:endParaRPr lang="en-US" sz="3000"/>
          </a:p>
        </p:txBody>
      </p:sp>
      <p:sp>
        <p:nvSpPr>
          <p:cNvPr id="6" name="Shape 4"/>
          <p:cNvSpPr/>
          <p:nvPr/>
        </p:nvSpPr>
        <p:spPr>
          <a:xfrm>
            <a:off x="566928" y="1572768"/>
            <a:ext cx="5806440" cy="1920240"/>
          </a:xfrm>
          <a:prstGeom prst="roundRect">
            <a:avLst>
              <a:gd name="adj" fmla="val 4286"/>
            </a:avLst>
          </a:prstGeom>
          <a:solidFill>
            <a:srgbClr val="1D2331"/>
          </a:solidFill>
          <a:ln/>
        </p:spPr>
        <p:txBody>
          <a:bodyPr/>
          <a:lstStyle/>
          <a:p>
            <a:endParaRPr lang="en-US"/>
          </a:p>
        </p:txBody>
      </p:sp>
      <p:sp>
        <p:nvSpPr>
          <p:cNvPr id="7" name="Text 5"/>
          <p:cNvSpPr/>
          <p:nvPr/>
        </p:nvSpPr>
        <p:spPr>
          <a:xfrm>
            <a:off x="822960" y="1719072"/>
            <a:ext cx="2743200" cy="201168"/>
          </a:xfrm>
          <a:prstGeom prst="rect">
            <a:avLst/>
          </a:prstGeom>
          <a:noFill/>
          <a:ln/>
        </p:spPr>
        <p:txBody>
          <a:bodyPr wrap="square" lIns="0" tIns="0" rIns="0" bIns="0" rtlCol="0" anchor="ctr"/>
          <a:lstStyle/>
          <a:p>
            <a:pPr marL="0" indent="0">
              <a:buNone/>
            </a:pPr>
            <a:r>
              <a:rPr lang="en-US" sz="900" b="1" kern="0" spc="120">
                <a:solidFill>
                  <a:srgbClr val="D9483F"/>
                </a:solidFill>
                <a:latin typeface="Calibri" pitchFamily="34" charset="0"/>
                <a:ea typeface="Calibri" pitchFamily="34" charset="-122"/>
                <a:cs typeface="Calibri" pitchFamily="34" charset="-120"/>
              </a:rPr>
              <a:t>THE SITUATION</a:t>
            </a:r>
            <a:endParaRPr lang="en-US" sz="900"/>
          </a:p>
        </p:txBody>
      </p:sp>
      <p:sp>
        <p:nvSpPr>
          <p:cNvPr id="8" name="Text 6"/>
          <p:cNvSpPr/>
          <p:nvPr/>
        </p:nvSpPr>
        <p:spPr>
          <a:xfrm>
            <a:off x="822960" y="2011680"/>
            <a:ext cx="5303520" cy="1325880"/>
          </a:xfrm>
          <a:prstGeom prst="rect">
            <a:avLst/>
          </a:prstGeom>
          <a:noFill/>
          <a:ln/>
        </p:spPr>
        <p:txBody>
          <a:bodyPr wrap="square" lIns="0" tIns="0" rIns="0" bIns="0" rtlCol="0" anchor="ctr"/>
          <a:lstStyle/>
          <a:p>
            <a:pPr marL="0" indent="0">
              <a:lnSpc>
                <a:spcPts val="1700"/>
              </a:lnSpc>
              <a:buNone/>
            </a:pPr>
            <a:r>
              <a:rPr lang="en-US" sz="1200">
                <a:solidFill>
                  <a:srgbClr val="FFFFFF"/>
                </a:solidFill>
                <a:latin typeface="Calibri" pitchFamily="34" charset="0"/>
                <a:ea typeface="Calibri" pitchFamily="34" charset="-122"/>
                <a:cs typeface="Calibri" pitchFamily="34" charset="-120"/>
              </a:rPr>
              <a:t>At a coffee shop you join a network called "Guest Wi-Fi" and a captive portal offers to sign you in with an existing account. You use your credentials for a popular platform and get online. Later your music stops, you have been logged out, and your password no longer works. A sign on the wall names a different network: "Sunshine Coffee Wi-Fi".</a:t>
            </a:r>
            <a:endParaRPr lang="en-US" sz="1200"/>
          </a:p>
        </p:txBody>
      </p:sp>
      <p:sp>
        <p:nvSpPr>
          <p:cNvPr id="9" name="Shape 7"/>
          <p:cNvSpPr/>
          <p:nvPr/>
        </p:nvSpPr>
        <p:spPr>
          <a:xfrm>
            <a:off x="566928" y="3639312"/>
            <a:ext cx="5806440" cy="1874520"/>
          </a:xfrm>
          <a:prstGeom prst="roundRect">
            <a:avLst>
              <a:gd name="adj" fmla="val 4390"/>
            </a:avLst>
          </a:prstGeom>
          <a:solidFill>
            <a:srgbClr val="1D2331"/>
          </a:solidFill>
          <a:ln/>
        </p:spPr>
        <p:txBody>
          <a:bodyPr/>
          <a:lstStyle/>
          <a:p>
            <a:endParaRPr lang="en-US"/>
          </a:p>
        </p:txBody>
      </p:sp>
      <p:sp>
        <p:nvSpPr>
          <p:cNvPr id="10" name="Text 8"/>
          <p:cNvSpPr/>
          <p:nvPr/>
        </p:nvSpPr>
        <p:spPr>
          <a:xfrm>
            <a:off x="822960" y="3785616"/>
            <a:ext cx="3657600" cy="201168"/>
          </a:xfrm>
          <a:prstGeom prst="rect">
            <a:avLst/>
          </a:prstGeom>
          <a:noFill/>
          <a:ln/>
        </p:spPr>
        <p:txBody>
          <a:bodyPr wrap="square" lIns="0" tIns="0" rIns="0" bIns="0" rtlCol="0" anchor="ctr"/>
          <a:lstStyle/>
          <a:p>
            <a:pPr marL="0" indent="0">
              <a:buNone/>
            </a:pPr>
            <a:r>
              <a:rPr lang="en-US" sz="900" b="1" kern="0" spc="120">
                <a:solidFill>
                  <a:srgbClr val="D9483F"/>
                </a:solidFill>
                <a:latin typeface="Calibri" pitchFamily="34" charset="0"/>
                <a:ea typeface="Calibri" pitchFamily="34" charset="-122"/>
                <a:cs typeface="Calibri" pitchFamily="34" charset="-120"/>
              </a:rPr>
              <a:t>CONSIDER THE FOLLOWING</a:t>
            </a:r>
            <a:endParaRPr lang="en-US" sz="900"/>
          </a:p>
        </p:txBody>
      </p:sp>
      <p:sp>
        <p:nvSpPr>
          <p:cNvPr id="11" name="Text 9"/>
          <p:cNvSpPr/>
          <p:nvPr/>
        </p:nvSpPr>
        <p:spPr>
          <a:xfrm>
            <a:off x="822960" y="4078224"/>
            <a:ext cx="228600" cy="219456"/>
          </a:xfrm>
          <a:prstGeom prst="rect">
            <a:avLst/>
          </a:prstGeom>
          <a:noFill/>
          <a:ln/>
        </p:spPr>
        <p:txBody>
          <a:bodyPr wrap="square" lIns="0" tIns="0" rIns="0" bIns="0" rtlCol="0" anchor="ctr"/>
          <a:lstStyle/>
          <a:p>
            <a:pPr marL="0" indent="0">
              <a:buNone/>
            </a:pPr>
            <a:r>
              <a:rPr lang="en-US" sz="1050" b="1">
                <a:solidFill>
                  <a:srgbClr val="D9483F"/>
                </a:solidFill>
                <a:latin typeface="Calibri" pitchFamily="34" charset="0"/>
                <a:ea typeface="Calibri" pitchFamily="34" charset="-122"/>
                <a:cs typeface="Calibri" pitchFamily="34" charset="-120"/>
              </a:rPr>
              <a:t>1</a:t>
            </a:r>
            <a:endParaRPr lang="en-US" sz="1050"/>
          </a:p>
        </p:txBody>
      </p:sp>
      <p:sp>
        <p:nvSpPr>
          <p:cNvPr id="12" name="Text 10"/>
          <p:cNvSpPr/>
          <p:nvPr/>
        </p:nvSpPr>
        <p:spPr>
          <a:xfrm>
            <a:off x="1097280" y="40782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How could you have avoided joining the malicious network?</a:t>
            </a:r>
            <a:endParaRPr lang="en-US" sz="1100"/>
          </a:p>
        </p:txBody>
      </p:sp>
      <p:sp>
        <p:nvSpPr>
          <p:cNvPr id="13" name="Text 11"/>
          <p:cNvSpPr/>
          <p:nvPr/>
        </p:nvSpPr>
        <p:spPr>
          <a:xfrm>
            <a:off x="822960" y="4535424"/>
            <a:ext cx="228600" cy="219456"/>
          </a:xfrm>
          <a:prstGeom prst="rect">
            <a:avLst/>
          </a:prstGeom>
          <a:noFill/>
          <a:ln/>
        </p:spPr>
        <p:txBody>
          <a:bodyPr wrap="square" lIns="0" tIns="0" rIns="0" bIns="0" rtlCol="0" anchor="ctr"/>
          <a:lstStyle/>
          <a:p>
            <a:pPr marL="0" indent="0">
              <a:buNone/>
            </a:pPr>
            <a:r>
              <a:rPr lang="en-US" sz="1050" b="1">
                <a:solidFill>
                  <a:srgbClr val="D9483F"/>
                </a:solidFill>
                <a:latin typeface="Calibri" pitchFamily="34" charset="0"/>
                <a:ea typeface="Calibri" pitchFamily="34" charset="-122"/>
                <a:cs typeface="Calibri" pitchFamily="34" charset="-120"/>
              </a:rPr>
              <a:t>2</a:t>
            </a:r>
            <a:endParaRPr lang="en-US" sz="1050"/>
          </a:p>
        </p:txBody>
      </p:sp>
      <p:sp>
        <p:nvSpPr>
          <p:cNvPr id="14" name="Text 12"/>
          <p:cNvSpPr/>
          <p:nvPr/>
        </p:nvSpPr>
        <p:spPr>
          <a:xfrm>
            <a:off x="1097280" y="45354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What are the benefits and hazards of using one platform to log in to many services?</a:t>
            </a:r>
            <a:endParaRPr lang="en-US" sz="1100"/>
          </a:p>
        </p:txBody>
      </p:sp>
      <p:sp>
        <p:nvSpPr>
          <p:cNvPr id="15" name="Text 13"/>
          <p:cNvSpPr/>
          <p:nvPr/>
        </p:nvSpPr>
        <p:spPr>
          <a:xfrm>
            <a:off x="822960" y="4992624"/>
            <a:ext cx="228600" cy="219456"/>
          </a:xfrm>
          <a:prstGeom prst="rect">
            <a:avLst/>
          </a:prstGeom>
          <a:noFill/>
          <a:ln/>
        </p:spPr>
        <p:txBody>
          <a:bodyPr wrap="square" lIns="0" tIns="0" rIns="0" bIns="0" rtlCol="0" anchor="ctr"/>
          <a:lstStyle/>
          <a:p>
            <a:pPr marL="0" indent="0">
              <a:buNone/>
            </a:pPr>
            <a:r>
              <a:rPr lang="en-US" sz="1050" b="1">
                <a:solidFill>
                  <a:srgbClr val="D9483F"/>
                </a:solidFill>
                <a:latin typeface="Calibri" pitchFamily="34" charset="0"/>
                <a:ea typeface="Calibri" pitchFamily="34" charset="-122"/>
                <a:cs typeface="Calibri" pitchFamily="34" charset="-120"/>
              </a:rPr>
              <a:t>3</a:t>
            </a:r>
            <a:endParaRPr lang="en-US" sz="1050"/>
          </a:p>
        </p:txBody>
      </p:sp>
      <p:sp>
        <p:nvSpPr>
          <p:cNvPr id="16" name="Text 14"/>
          <p:cNvSpPr/>
          <p:nvPr/>
        </p:nvSpPr>
        <p:spPr>
          <a:xfrm>
            <a:off x="1097280" y="49926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What should you do first, now that you know the credentials were captured?</a:t>
            </a:r>
            <a:endParaRPr lang="en-US" sz="1100"/>
          </a:p>
        </p:txBody>
      </p:sp>
      <p:sp>
        <p:nvSpPr>
          <p:cNvPr id="17" name="Shape 15"/>
          <p:cNvSpPr/>
          <p:nvPr/>
        </p:nvSpPr>
        <p:spPr>
          <a:xfrm>
            <a:off x="6656832" y="1572768"/>
            <a:ext cx="4965192" cy="3941064"/>
          </a:xfrm>
          <a:prstGeom prst="roundRect">
            <a:avLst>
              <a:gd name="adj" fmla="val 2088"/>
            </a:avLst>
          </a:prstGeom>
          <a:solidFill>
            <a:srgbClr val="1D2331"/>
          </a:solidFill>
          <a:ln w="12700">
            <a:solidFill>
              <a:srgbClr val="2C3446"/>
            </a:solidFill>
            <a:prstDash val="solid"/>
          </a:ln>
        </p:spPr>
        <p:txBody>
          <a:bodyPr/>
          <a:lstStyle/>
          <a:p>
            <a:endParaRPr lang="en-US"/>
          </a:p>
        </p:txBody>
      </p:sp>
      <p:sp>
        <p:nvSpPr>
          <p:cNvPr id="18" name="Text 16"/>
          <p:cNvSpPr/>
          <p:nvPr/>
        </p:nvSpPr>
        <p:spPr>
          <a:xfrm>
            <a:off x="6912864" y="1737360"/>
            <a:ext cx="4114800" cy="201168"/>
          </a:xfrm>
          <a:prstGeom prst="rect">
            <a:avLst/>
          </a:prstGeom>
          <a:noFill/>
          <a:ln/>
        </p:spPr>
        <p:txBody>
          <a:bodyPr wrap="square" lIns="0" tIns="0" rIns="0" bIns="0" rtlCol="0" anchor="ctr"/>
          <a:lstStyle/>
          <a:p>
            <a:pPr marL="0" indent="0">
              <a:buNone/>
            </a:pPr>
            <a:r>
              <a:rPr lang="en-US" sz="900" b="1" kern="0" spc="120">
                <a:solidFill>
                  <a:srgbClr val="D9483F"/>
                </a:solidFill>
                <a:latin typeface="Calibri" pitchFamily="34" charset="0"/>
                <a:ea typeface="Calibri" pitchFamily="34" charset="-122"/>
                <a:cs typeface="Calibri" pitchFamily="34" charset="-120"/>
              </a:rPr>
              <a:t>WHAT A STRONG ANSWER DOES</a:t>
            </a:r>
            <a:endParaRPr lang="en-US" sz="900"/>
          </a:p>
        </p:txBody>
      </p:sp>
      <p:sp>
        <p:nvSpPr>
          <p:cNvPr id="19" name="Text 17"/>
          <p:cNvSpPr/>
          <p:nvPr/>
        </p:nvSpPr>
        <p:spPr>
          <a:xfrm>
            <a:off x="6912864" y="2084832"/>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Names the verification step</a:t>
            </a:r>
            <a:endParaRPr lang="en-US" sz="1200"/>
          </a:p>
        </p:txBody>
      </p:sp>
      <p:sp>
        <p:nvSpPr>
          <p:cNvPr id="20" name="Text 18"/>
          <p:cNvSpPr/>
          <p:nvPr/>
        </p:nvSpPr>
        <p:spPr>
          <a:xfrm>
            <a:off x="6912864" y="2377440"/>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Ask staff for the exact SSID and compare it character by character — the sign was the available evidence and it was not checked.</a:t>
            </a:r>
            <a:endParaRPr lang="en-US" sz="1060"/>
          </a:p>
        </p:txBody>
      </p:sp>
      <p:sp>
        <p:nvSpPr>
          <p:cNvPr id="21" name="Text 19"/>
          <p:cNvSpPr/>
          <p:nvPr/>
        </p:nvSpPr>
        <p:spPr>
          <a:xfrm>
            <a:off x="6912864" y="3255264"/>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Weighs both sides of single sign-on</a:t>
            </a:r>
            <a:endParaRPr lang="en-US" sz="1200"/>
          </a:p>
        </p:txBody>
      </p:sp>
      <p:sp>
        <p:nvSpPr>
          <p:cNvPr id="22" name="Text 20"/>
          <p:cNvSpPr/>
          <p:nvPr/>
        </p:nvSpPr>
        <p:spPr>
          <a:xfrm>
            <a:off x="6912864" y="3547872"/>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Fewer passwords and stronger central protection, against one credential that unlocks everything linked to it.</a:t>
            </a:r>
            <a:endParaRPr lang="en-US" sz="1060"/>
          </a:p>
        </p:txBody>
      </p:sp>
      <p:sp>
        <p:nvSpPr>
          <p:cNvPr id="23" name="Text 21"/>
          <p:cNvSpPr/>
          <p:nvPr/>
        </p:nvSpPr>
        <p:spPr>
          <a:xfrm>
            <a:off x="6912864" y="4425696"/>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Sequences the recovery</a:t>
            </a:r>
            <a:endParaRPr lang="en-US" sz="1200"/>
          </a:p>
        </p:txBody>
      </p:sp>
      <p:sp>
        <p:nvSpPr>
          <p:cNvPr id="24" name="Text 22"/>
          <p:cNvSpPr/>
          <p:nvPr/>
        </p:nvSpPr>
        <p:spPr>
          <a:xfrm>
            <a:off x="6912864" y="4718304"/>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Leave the network; use cellular data; recover the platform account; change the password; revoke sessions; check what else was linked.</a:t>
            </a:r>
            <a:endParaRPr lang="en-US" sz="1060"/>
          </a:p>
        </p:txBody>
      </p:sp>
      <p:sp>
        <p:nvSpPr>
          <p:cNvPr id="25" name="Text 23"/>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6" name="Text 24"/>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35</a:t>
            </a:r>
            <a:endParaRPr lang="en-US" sz="9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66928" y="384048"/>
            <a:ext cx="1481328" cy="274320"/>
          </a:xfrm>
          <a:prstGeom prst="roundRect">
            <a:avLst>
              <a:gd name="adj" fmla="val 20000"/>
            </a:avLst>
          </a:prstGeom>
          <a:solidFill>
            <a:srgbClr val="12141C"/>
          </a:solidFill>
          <a:ln/>
        </p:spPr>
        <p:txBody>
          <a:bodyPr/>
          <a:lstStyle/>
          <a:p>
            <a:endParaRPr lang="en-US"/>
          </a:p>
        </p:txBody>
      </p:sp>
      <p:sp>
        <p:nvSpPr>
          <p:cNvPr id="3" name="Text 1"/>
          <p:cNvSpPr/>
          <p:nvPr/>
        </p:nvSpPr>
        <p:spPr>
          <a:xfrm>
            <a:off x="566928" y="384048"/>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CHECK</a:t>
            </a:r>
            <a:endParaRPr lang="en-US" sz="950"/>
          </a:p>
        </p:txBody>
      </p:sp>
      <p:sp>
        <p:nvSpPr>
          <p:cNvPr id="4" name="Text 2"/>
          <p:cNvSpPr/>
          <p:nvPr/>
        </p:nvSpPr>
        <p:spPr>
          <a:xfrm>
            <a:off x="2231136" y="384048"/>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TOPIC 1.3</a:t>
            </a:r>
            <a:endParaRPr lang="en-US" sz="1050"/>
          </a:p>
        </p:txBody>
      </p:sp>
      <p:sp>
        <p:nvSpPr>
          <p:cNvPr id="5" name="Text 3"/>
          <p:cNvSpPr/>
          <p:nvPr/>
        </p:nvSpPr>
        <p:spPr>
          <a:xfrm>
            <a:off x="566928" y="804672"/>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Check for understanding</a:t>
            </a:r>
            <a:endParaRPr lang="en-US" sz="3000"/>
          </a:p>
        </p:txBody>
      </p:sp>
      <p:sp>
        <p:nvSpPr>
          <p:cNvPr id="6" name="Shape 4"/>
          <p:cNvSpPr/>
          <p:nvPr/>
        </p:nvSpPr>
        <p:spPr>
          <a:xfrm>
            <a:off x="566928" y="1627632"/>
            <a:ext cx="11057839" cy="914400"/>
          </a:xfrm>
          <a:prstGeom prst="roundRect">
            <a:avLst>
              <a:gd name="adj" fmla="val 9000"/>
            </a:avLst>
          </a:prstGeom>
          <a:solidFill>
            <a:srgbClr val="EAF0FA"/>
          </a:solidFill>
          <a:ln/>
        </p:spPr>
        <p:txBody>
          <a:bodyPr/>
          <a:lstStyle/>
          <a:p>
            <a:endParaRPr lang="en-US"/>
          </a:p>
        </p:txBody>
      </p:sp>
      <p:sp>
        <p:nvSpPr>
          <p:cNvPr id="7" name="Shape 5"/>
          <p:cNvSpPr/>
          <p:nvPr/>
        </p:nvSpPr>
        <p:spPr>
          <a:xfrm>
            <a:off x="804672" y="1773936"/>
            <a:ext cx="868680" cy="237744"/>
          </a:xfrm>
          <a:prstGeom prst="roundRect">
            <a:avLst>
              <a:gd name="adj" fmla="val 23077"/>
            </a:avLst>
          </a:prstGeom>
          <a:solidFill>
            <a:srgbClr val="D9483F"/>
          </a:solidFill>
          <a:ln/>
        </p:spPr>
        <p:txBody>
          <a:bodyPr/>
          <a:lstStyle/>
          <a:p>
            <a:endParaRPr lang="en-US"/>
          </a:p>
        </p:txBody>
      </p:sp>
      <p:sp>
        <p:nvSpPr>
          <p:cNvPr id="8" name="Text 6"/>
          <p:cNvSpPr/>
          <p:nvPr/>
        </p:nvSpPr>
        <p:spPr>
          <a:xfrm>
            <a:off x="804672" y="1773936"/>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Recall</a:t>
            </a:r>
            <a:endParaRPr lang="en-US" sz="900"/>
          </a:p>
        </p:txBody>
      </p:sp>
      <p:sp>
        <p:nvSpPr>
          <p:cNvPr id="9" name="Text 7"/>
          <p:cNvSpPr/>
          <p:nvPr/>
        </p:nvSpPr>
        <p:spPr>
          <a:xfrm>
            <a:off x="1828800" y="1755648"/>
            <a:ext cx="274320" cy="274320"/>
          </a:xfrm>
          <a:prstGeom prst="rect">
            <a:avLst/>
          </a:prstGeom>
          <a:noFill/>
          <a:ln/>
        </p:spPr>
        <p:txBody>
          <a:bodyPr wrap="square" lIns="0" tIns="0" rIns="0" bIns="0" rtlCol="0" anchor="ctr"/>
          <a:lstStyle/>
          <a:p>
            <a:pPr marL="0" indent="0">
              <a:buNone/>
            </a:pPr>
            <a:r>
              <a:rPr lang="en-US" sz="1500" b="1">
                <a:solidFill>
                  <a:srgbClr val="D9483F"/>
                </a:solidFill>
                <a:latin typeface="Cambria" pitchFamily="34" charset="0"/>
                <a:ea typeface="Cambria" pitchFamily="34" charset="-122"/>
                <a:cs typeface="Cambria" pitchFamily="34" charset="-120"/>
              </a:rPr>
              <a:t>1</a:t>
            </a:r>
            <a:endParaRPr lang="en-US" sz="1500"/>
          </a:p>
        </p:txBody>
      </p:sp>
      <p:sp>
        <p:nvSpPr>
          <p:cNvPr id="10" name="Text 8"/>
          <p:cNvSpPr/>
          <p:nvPr/>
        </p:nvSpPr>
        <p:spPr>
          <a:xfrm>
            <a:off x="2194560" y="1773936"/>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Define an evil twin attack and state the one thing the adversary still cannot read once you are connected.</a:t>
            </a:r>
            <a:endParaRPr lang="en-US" sz="1180"/>
          </a:p>
        </p:txBody>
      </p:sp>
      <p:sp>
        <p:nvSpPr>
          <p:cNvPr id="11" name="Shape 9"/>
          <p:cNvSpPr/>
          <p:nvPr/>
        </p:nvSpPr>
        <p:spPr>
          <a:xfrm>
            <a:off x="566928" y="2651760"/>
            <a:ext cx="11057839" cy="914400"/>
          </a:xfrm>
          <a:prstGeom prst="roundRect">
            <a:avLst>
              <a:gd name="adj" fmla="val 9000"/>
            </a:avLst>
          </a:prstGeom>
          <a:solidFill>
            <a:srgbClr val="E6F5F3"/>
          </a:solidFill>
          <a:ln/>
        </p:spPr>
        <p:txBody>
          <a:bodyPr/>
          <a:lstStyle/>
          <a:p>
            <a:endParaRPr lang="en-US"/>
          </a:p>
        </p:txBody>
      </p:sp>
      <p:sp>
        <p:nvSpPr>
          <p:cNvPr id="12" name="Shape 10"/>
          <p:cNvSpPr/>
          <p:nvPr/>
        </p:nvSpPr>
        <p:spPr>
          <a:xfrm>
            <a:off x="804672" y="2798064"/>
            <a:ext cx="868680" cy="237744"/>
          </a:xfrm>
          <a:prstGeom prst="roundRect">
            <a:avLst>
              <a:gd name="adj" fmla="val 23077"/>
            </a:avLst>
          </a:prstGeom>
          <a:solidFill>
            <a:srgbClr val="D9483F"/>
          </a:solidFill>
          <a:ln/>
        </p:spPr>
        <p:txBody>
          <a:bodyPr/>
          <a:lstStyle/>
          <a:p>
            <a:endParaRPr lang="en-US"/>
          </a:p>
        </p:txBody>
      </p:sp>
      <p:sp>
        <p:nvSpPr>
          <p:cNvPr id="13" name="Text 11"/>
          <p:cNvSpPr/>
          <p:nvPr/>
        </p:nvSpPr>
        <p:spPr>
          <a:xfrm>
            <a:off x="804672" y="2798064"/>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Classify</a:t>
            </a:r>
            <a:endParaRPr lang="en-US" sz="900"/>
          </a:p>
        </p:txBody>
      </p:sp>
      <p:sp>
        <p:nvSpPr>
          <p:cNvPr id="14" name="Text 12"/>
          <p:cNvSpPr/>
          <p:nvPr/>
        </p:nvSpPr>
        <p:spPr>
          <a:xfrm>
            <a:off x="1828800" y="2779776"/>
            <a:ext cx="274320" cy="274320"/>
          </a:xfrm>
          <a:prstGeom prst="rect">
            <a:avLst/>
          </a:prstGeom>
          <a:noFill/>
          <a:ln/>
        </p:spPr>
        <p:txBody>
          <a:bodyPr wrap="square" lIns="0" tIns="0" rIns="0" bIns="0" rtlCol="0" anchor="ctr"/>
          <a:lstStyle/>
          <a:p>
            <a:pPr marL="0" indent="0">
              <a:buNone/>
            </a:pPr>
            <a:r>
              <a:rPr lang="en-US" sz="1500" b="1">
                <a:solidFill>
                  <a:srgbClr val="D9483F"/>
                </a:solidFill>
                <a:latin typeface="Cambria" pitchFamily="34" charset="0"/>
                <a:ea typeface="Cambria" pitchFamily="34" charset="-122"/>
                <a:cs typeface="Cambria" pitchFamily="34" charset="-120"/>
              </a:rPr>
              <a:t>2</a:t>
            </a:r>
            <a:endParaRPr lang="en-US" sz="1500"/>
          </a:p>
        </p:txBody>
      </p:sp>
      <p:sp>
        <p:nvSpPr>
          <p:cNvPr id="15" name="Text 13"/>
          <p:cNvSpPr/>
          <p:nvPr/>
        </p:nvSpPr>
        <p:spPr>
          <a:xfrm>
            <a:off x="2194560" y="2798064"/>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 hotel's Wi-Fi becomes unusable for two hours during a conference, with no data stolen. Name the attack type and the security property it targeted.</a:t>
            </a:r>
            <a:endParaRPr lang="en-US" sz="1180"/>
          </a:p>
        </p:txBody>
      </p:sp>
      <p:sp>
        <p:nvSpPr>
          <p:cNvPr id="16" name="Shape 14"/>
          <p:cNvSpPr/>
          <p:nvPr/>
        </p:nvSpPr>
        <p:spPr>
          <a:xfrm>
            <a:off x="566928" y="3675888"/>
            <a:ext cx="11057839" cy="914400"/>
          </a:xfrm>
          <a:prstGeom prst="roundRect">
            <a:avLst>
              <a:gd name="adj" fmla="val 9000"/>
            </a:avLst>
          </a:prstGeom>
          <a:solidFill>
            <a:srgbClr val="FDF2E2"/>
          </a:solidFill>
          <a:ln/>
        </p:spPr>
        <p:txBody>
          <a:bodyPr/>
          <a:lstStyle/>
          <a:p>
            <a:endParaRPr lang="en-US"/>
          </a:p>
        </p:txBody>
      </p:sp>
      <p:sp>
        <p:nvSpPr>
          <p:cNvPr id="17" name="Shape 15"/>
          <p:cNvSpPr/>
          <p:nvPr/>
        </p:nvSpPr>
        <p:spPr>
          <a:xfrm>
            <a:off x="804672" y="3822192"/>
            <a:ext cx="868680" cy="237744"/>
          </a:xfrm>
          <a:prstGeom prst="roundRect">
            <a:avLst>
              <a:gd name="adj" fmla="val 23077"/>
            </a:avLst>
          </a:prstGeom>
          <a:solidFill>
            <a:srgbClr val="D9483F"/>
          </a:solidFill>
          <a:ln/>
        </p:spPr>
        <p:txBody>
          <a:bodyPr/>
          <a:lstStyle/>
          <a:p>
            <a:endParaRPr lang="en-US"/>
          </a:p>
        </p:txBody>
      </p:sp>
      <p:sp>
        <p:nvSpPr>
          <p:cNvPr id="18" name="Text 16"/>
          <p:cNvSpPr/>
          <p:nvPr/>
        </p:nvSpPr>
        <p:spPr>
          <a:xfrm>
            <a:off x="804672" y="3822192"/>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Explain</a:t>
            </a:r>
            <a:endParaRPr lang="en-US" sz="900"/>
          </a:p>
        </p:txBody>
      </p:sp>
      <p:sp>
        <p:nvSpPr>
          <p:cNvPr id="19" name="Text 17"/>
          <p:cNvSpPr/>
          <p:nvPr/>
        </p:nvSpPr>
        <p:spPr>
          <a:xfrm>
            <a:off x="1828800" y="3803904"/>
            <a:ext cx="274320" cy="274320"/>
          </a:xfrm>
          <a:prstGeom prst="rect">
            <a:avLst/>
          </a:prstGeom>
          <a:noFill/>
          <a:ln/>
        </p:spPr>
        <p:txBody>
          <a:bodyPr wrap="square" lIns="0" tIns="0" rIns="0" bIns="0" rtlCol="0" anchor="ctr"/>
          <a:lstStyle/>
          <a:p>
            <a:pPr marL="0" indent="0">
              <a:buNone/>
            </a:pPr>
            <a:r>
              <a:rPr lang="en-US" sz="1500" b="1">
                <a:solidFill>
                  <a:srgbClr val="D9483F"/>
                </a:solidFill>
                <a:latin typeface="Cambria" pitchFamily="34" charset="0"/>
                <a:ea typeface="Cambria" pitchFamily="34" charset="-122"/>
                <a:cs typeface="Cambria" pitchFamily="34" charset="-120"/>
              </a:rPr>
              <a:t>3</a:t>
            </a:r>
            <a:endParaRPr lang="en-US" sz="1500"/>
          </a:p>
        </p:txBody>
      </p:sp>
      <p:sp>
        <p:nvSpPr>
          <p:cNvPr id="20" name="Text 18"/>
          <p:cNvSpPr/>
          <p:nvPr/>
        </p:nvSpPr>
        <p:spPr>
          <a:xfrm>
            <a:off x="2194560" y="3822192"/>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Explain why a padlock icon in the browser does not tell you that a website is trustworthy, using the idea of authenticity.</a:t>
            </a:r>
            <a:endParaRPr lang="en-US" sz="1180"/>
          </a:p>
        </p:txBody>
      </p:sp>
      <p:sp>
        <p:nvSpPr>
          <p:cNvPr id="21" name="Shape 19"/>
          <p:cNvSpPr/>
          <p:nvPr/>
        </p:nvSpPr>
        <p:spPr>
          <a:xfrm>
            <a:off x="566928" y="4700016"/>
            <a:ext cx="11057839" cy="914400"/>
          </a:xfrm>
          <a:prstGeom prst="roundRect">
            <a:avLst>
              <a:gd name="adj" fmla="val 9000"/>
            </a:avLst>
          </a:prstGeom>
          <a:solidFill>
            <a:srgbClr val="EFEDFA"/>
          </a:solidFill>
          <a:ln/>
        </p:spPr>
        <p:txBody>
          <a:bodyPr/>
          <a:lstStyle/>
          <a:p>
            <a:endParaRPr lang="en-US"/>
          </a:p>
        </p:txBody>
      </p:sp>
      <p:sp>
        <p:nvSpPr>
          <p:cNvPr id="22" name="Shape 20"/>
          <p:cNvSpPr/>
          <p:nvPr/>
        </p:nvSpPr>
        <p:spPr>
          <a:xfrm>
            <a:off x="804672" y="4846320"/>
            <a:ext cx="868680" cy="237744"/>
          </a:xfrm>
          <a:prstGeom prst="roundRect">
            <a:avLst>
              <a:gd name="adj" fmla="val 23077"/>
            </a:avLst>
          </a:prstGeom>
          <a:solidFill>
            <a:srgbClr val="D9483F"/>
          </a:solidFill>
          <a:ln/>
        </p:spPr>
        <p:txBody>
          <a:bodyPr/>
          <a:lstStyle/>
          <a:p>
            <a:endParaRPr lang="en-US"/>
          </a:p>
        </p:txBody>
      </p:sp>
      <p:sp>
        <p:nvSpPr>
          <p:cNvPr id="23" name="Text 21"/>
          <p:cNvSpPr/>
          <p:nvPr/>
        </p:nvSpPr>
        <p:spPr>
          <a:xfrm>
            <a:off x="804672" y="4846320"/>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Evaluate</a:t>
            </a:r>
            <a:endParaRPr lang="en-US" sz="900"/>
          </a:p>
        </p:txBody>
      </p:sp>
      <p:sp>
        <p:nvSpPr>
          <p:cNvPr id="24" name="Text 22"/>
          <p:cNvSpPr/>
          <p:nvPr/>
        </p:nvSpPr>
        <p:spPr>
          <a:xfrm>
            <a:off x="1828800" y="4828032"/>
            <a:ext cx="274320" cy="274320"/>
          </a:xfrm>
          <a:prstGeom prst="rect">
            <a:avLst/>
          </a:prstGeom>
          <a:noFill/>
          <a:ln/>
        </p:spPr>
        <p:txBody>
          <a:bodyPr wrap="square" lIns="0" tIns="0" rIns="0" bIns="0" rtlCol="0" anchor="ctr"/>
          <a:lstStyle/>
          <a:p>
            <a:pPr marL="0" indent="0">
              <a:buNone/>
            </a:pPr>
            <a:r>
              <a:rPr lang="en-US" sz="1500" b="1">
                <a:solidFill>
                  <a:srgbClr val="D9483F"/>
                </a:solidFill>
                <a:latin typeface="Cambria" pitchFamily="34" charset="0"/>
                <a:ea typeface="Cambria" pitchFamily="34" charset="-122"/>
                <a:cs typeface="Cambria" pitchFamily="34" charset="-120"/>
              </a:rPr>
              <a:t>4</a:t>
            </a:r>
            <a:endParaRPr lang="en-US" sz="1500"/>
          </a:p>
        </p:txBody>
      </p:sp>
      <p:sp>
        <p:nvSpPr>
          <p:cNvPr id="25" name="Text 23"/>
          <p:cNvSpPr/>
          <p:nvPr/>
        </p:nvSpPr>
        <p:spPr>
          <a:xfrm>
            <a:off x="2194560" y="4846320"/>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 friend says "I always use a VPN, so public Wi-Fi is completely safe for me." Identify two things wrong with that claim.</a:t>
            </a:r>
            <a:endParaRPr lang="en-US" sz="1180"/>
          </a:p>
        </p:txBody>
      </p:sp>
      <p:sp>
        <p:nvSpPr>
          <p:cNvPr id="26" name="Shape 24"/>
          <p:cNvSpPr/>
          <p:nvPr/>
        </p:nvSpPr>
        <p:spPr>
          <a:xfrm>
            <a:off x="566928" y="5779008"/>
            <a:ext cx="11057839" cy="512064"/>
          </a:xfrm>
          <a:prstGeom prst="roundRect">
            <a:avLst>
              <a:gd name="adj" fmla="val 14286"/>
            </a:avLst>
          </a:prstGeom>
          <a:solidFill>
            <a:srgbClr val="12141C"/>
          </a:solidFill>
          <a:ln/>
        </p:spPr>
        <p:txBody>
          <a:bodyPr/>
          <a:lstStyle/>
          <a:p>
            <a:endParaRPr lang="en-US"/>
          </a:p>
        </p:txBody>
      </p:sp>
      <p:pic>
        <p:nvPicPr>
          <p:cNvPr id="27" name="Image 0" descr="/home/claude/icons/FaClipboardCheck_w.png"/>
          <p:cNvPicPr>
            <a:picLocks noChangeAspect="1"/>
          </p:cNvPicPr>
          <p:nvPr/>
        </p:nvPicPr>
        <p:blipFill>
          <a:blip r:embed="rId3"/>
          <a:stretch>
            <a:fillRect/>
          </a:stretch>
        </p:blipFill>
        <p:spPr>
          <a:xfrm>
            <a:off x="768096" y="5920740"/>
            <a:ext cx="228600" cy="228600"/>
          </a:xfrm>
          <a:prstGeom prst="rect">
            <a:avLst/>
          </a:prstGeom>
        </p:spPr>
      </p:pic>
      <p:sp>
        <p:nvSpPr>
          <p:cNvPr id="28" name="Text 25"/>
          <p:cNvSpPr/>
          <p:nvPr/>
        </p:nvSpPr>
        <p:spPr>
          <a:xfrm>
            <a:off x="1133856" y="5779008"/>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Exit ticket: name the one setting you will change on your own device tonight, and the attack it defends against.</a:t>
            </a:r>
            <a:endParaRPr lang="en-US" sz="1150"/>
          </a:p>
        </p:txBody>
      </p:sp>
      <p:sp>
        <p:nvSpPr>
          <p:cNvPr id="29" name="Text 2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0" name="Text 2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36</a:t>
            </a:r>
            <a:endParaRPr lang="en-US" sz="9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6720840" y="0"/>
            <a:ext cx="5468112" cy="6858000"/>
          </a:xfrm>
          <a:prstGeom prst="roundRect">
            <a:avLst/>
          </a:prstGeom>
          <a:solidFill>
            <a:srgbClr val="1D2331"/>
          </a:solidFill>
          <a:ln/>
        </p:spPr>
        <p:txBody>
          <a:bodyPr/>
          <a:lstStyle/>
          <a:p>
            <a:endParaRPr lang="en-US"/>
          </a:p>
        </p:txBody>
      </p:sp>
      <p:sp>
        <p:nvSpPr>
          <p:cNvPr id="3" name="Text 1"/>
          <p:cNvSpPr/>
          <p:nvPr/>
        </p:nvSpPr>
        <p:spPr>
          <a:xfrm>
            <a:off x="566928" y="1234440"/>
            <a:ext cx="5669280" cy="237744"/>
          </a:xfrm>
          <a:prstGeom prst="rect">
            <a:avLst/>
          </a:prstGeom>
          <a:noFill/>
          <a:ln/>
        </p:spPr>
        <p:txBody>
          <a:bodyPr wrap="square" lIns="0" tIns="0" rIns="0" bIns="0" rtlCol="0" anchor="ctr"/>
          <a:lstStyle/>
          <a:p>
            <a:pPr marL="0" indent="0">
              <a:buNone/>
            </a:pPr>
            <a:r>
              <a:rPr lang="en-US" sz="1050" b="1" kern="0" spc="160">
                <a:solidFill>
                  <a:srgbClr val="6A5AC7"/>
                </a:solidFill>
                <a:latin typeface="Calibri" pitchFamily="34" charset="0"/>
                <a:ea typeface="Calibri" pitchFamily="34" charset="-122"/>
                <a:cs typeface="Calibri" pitchFamily="34" charset="-120"/>
              </a:rPr>
              <a:t>TOPIC 1.4   ·   ~2 class periods</a:t>
            </a:r>
            <a:endParaRPr lang="en-US" sz="1050"/>
          </a:p>
        </p:txBody>
      </p:sp>
      <p:sp>
        <p:nvSpPr>
          <p:cNvPr id="4" name="Text 2"/>
          <p:cNvSpPr/>
          <p:nvPr/>
        </p:nvSpPr>
        <p:spPr>
          <a:xfrm>
            <a:off x="566928" y="1627632"/>
            <a:ext cx="5760720" cy="1554480"/>
          </a:xfrm>
          <a:prstGeom prst="rect">
            <a:avLst/>
          </a:prstGeom>
          <a:noFill/>
          <a:ln/>
        </p:spPr>
        <p:txBody>
          <a:bodyPr wrap="square" lIns="0" tIns="0" rIns="0" bIns="0" rtlCol="0" anchor="ctr"/>
          <a:lstStyle/>
          <a:p>
            <a:pPr marL="0" indent="0">
              <a:lnSpc>
                <a:spcPts val="4400"/>
              </a:lnSpc>
              <a:buNone/>
            </a:pPr>
            <a:r>
              <a:rPr lang="en-US" sz="4000" b="1">
                <a:solidFill>
                  <a:srgbClr val="FFFFFF"/>
                </a:solidFill>
                <a:latin typeface="Cambria" pitchFamily="34" charset="0"/>
                <a:ea typeface="Cambria" pitchFamily="34" charset="-122"/>
                <a:cs typeface="Cambria" pitchFamily="34" charset="-120"/>
              </a:rPr>
              <a:t>AI-Based</a:t>
            </a:r>
            <a:endParaRPr lang="en-US" sz="4000"/>
          </a:p>
          <a:p>
            <a:pPr marL="0" indent="0">
              <a:lnSpc>
                <a:spcPts val="4400"/>
              </a:lnSpc>
              <a:buNone/>
            </a:pPr>
            <a:r>
              <a:rPr lang="en-US" sz="4000" b="1">
                <a:solidFill>
                  <a:srgbClr val="FFFFFF"/>
                </a:solidFill>
                <a:latin typeface="Cambria" pitchFamily="34" charset="0"/>
                <a:ea typeface="Cambria" pitchFamily="34" charset="-122"/>
                <a:cs typeface="Cambria" pitchFamily="34" charset="-120"/>
              </a:rPr>
              <a:t>Cybersecurity Attacks</a:t>
            </a:r>
            <a:endParaRPr lang="en-US" sz="4000"/>
          </a:p>
        </p:txBody>
      </p:sp>
      <p:sp>
        <p:nvSpPr>
          <p:cNvPr id="5" name="Shape 3"/>
          <p:cNvSpPr/>
          <p:nvPr/>
        </p:nvSpPr>
        <p:spPr>
          <a:xfrm>
            <a:off x="566928" y="3310128"/>
            <a:ext cx="4023360" cy="10973"/>
          </a:xfrm>
          <a:prstGeom prst="rect">
            <a:avLst/>
          </a:prstGeom>
          <a:solidFill>
            <a:srgbClr val="2C3446"/>
          </a:solidFill>
          <a:ln/>
        </p:spPr>
        <p:txBody>
          <a:bodyPr/>
          <a:lstStyle/>
          <a:p>
            <a:endParaRPr lang="en-US"/>
          </a:p>
        </p:txBody>
      </p:sp>
      <p:sp>
        <p:nvSpPr>
          <p:cNvPr id="6" name="Text 4"/>
          <p:cNvSpPr/>
          <p:nvPr/>
        </p:nvSpPr>
        <p:spPr>
          <a:xfrm>
            <a:off x="566928" y="3493008"/>
            <a:ext cx="5577840" cy="914400"/>
          </a:xfrm>
          <a:prstGeom prst="rect">
            <a:avLst/>
          </a:prstGeom>
          <a:noFill/>
          <a:ln/>
        </p:spPr>
        <p:txBody>
          <a:bodyPr wrap="square" lIns="0" tIns="0" rIns="0" bIns="0" rtlCol="0" anchor="ctr"/>
          <a:lstStyle/>
          <a:p>
            <a:pPr marL="0" indent="0">
              <a:lnSpc>
                <a:spcPts val="1800"/>
              </a:lnSpc>
              <a:buNone/>
            </a:pPr>
            <a:r>
              <a:rPr lang="en-US" sz="1300" i="1">
                <a:solidFill>
                  <a:srgbClr val="9AA3B2"/>
                </a:solidFill>
                <a:latin typeface="Calibri" pitchFamily="34" charset="0"/>
                <a:ea typeface="Calibri" pitchFamily="34" charset="-122"/>
                <a:cs typeface="Calibri" pitchFamily="34" charset="-120"/>
              </a:rPr>
              <a:t>AI does not invent a new category of attack. It removes the limits that used to make old attacks slow, expensive, or obviously fake.</a:t>
            </a:r>
            <a:endParaRPr lang="en-US" sz="1300"/>
          </a:p>
        </p:txBody>
      </p:sp>
      <p:sp>
        <p:nvSpPr>
          <p:cNvPr id="7" name="Shape 5"/>
          <p:cNvSpPr/>
          <p:nvPr/>
        </p:nvSpPr>
        <p:spPr>
          <a:xfrm>
            <a:off x="566928" y="4617720"/>
            <a:ext cx="566928" cy="566928"/>
          </a:xfrm>
          <a:prstGeom prst="ellipse">
            <a:avLst/>
          </a:prstGeom>
          <a:solidFill>
            <a:srgbClr val="6A5AC7"/>
          </a:solidFill>
          <a:ln/>
        </p:spPr>
        <p:txBody>
          <a:bodyPr/>
          <a:lstStyle/>
          <a:p>
            <a:endParaRPr lang="en-US"/>
          </a:p>
        </p:txBody>
      </p:sp>
      <p:pic>
        <p:nvPicPr>
          <p:cNvPr id="8" name="Image 0" descr="/home/claude/icons/FaRobot_w.png"/>
          <p:cNvPicPr>
            <a:picLocks noChangeAspect="1"/>
          </p:cNvPicPr>
          <p:nvPr/>
        </p:nvPicPr>
        <p:blipFill>
          <a:blip r:embed="rId3"/>
          <a:stretch>
            <a:fillRect/>
          </a:stretch>
        </p:blipFill>
        <p:spPr>
          <a:xfrm>
            <a:off x="714329" y="4765121"/>
            <a:ext cx="272125" cy="272125"/>
          </a:xfrm>
          <a:prstGeom prst="rect">
            <a:avLst/>
          </a:prstGeom>
        </p:spPr>
      </p:pic>
      <p:sp>
        <p:nvSpPr>
          <p:cNvPr id="9" name="Text 6"/>
          <p:cNvSpPr/>
          <p:nvPr/>
        </p:nvSpPr>
        <p:spPr>
          <a:xfrm>
            <a:off x="1316736" y="4617720"/>
            <a:ext cx="4572000" cy="566928"/>
          </a:xfrm>
          <a:prstGeom prst="rect">
            <a:avLst/>
          </a:prstGeom>
          <a:noFill/>
          <a:ln/>
        </p:spPr>
        <p:txBody>
          <a:bodyPr wrap="square" lIns="0" tIns="0" rIns="0" bIns="0" rtlCol="0" anchor="ctr"/>
          <a:lstStyle/>
          <a:p>
            <a:pPr marL="0" indent="0">
              <a:buNone/>
            </a:pPr>
            <a:r>
              <a:rPr lang="en-US" sz="1100" b="1" kern="0" spc="120">
                <a:solidFill>
                  <a:srgbClr val="6A5AC7"/>
                </a:solidFill>
                <a:latin typeface="Calibri" pitchFamily="34" charset="0"/>
                <a:ea typeface="Calibri" pitchFamily="34" charset="-122"/>
                <a:cs typeface="Calibri" pitchFamily="34" charset="-120"/>
              </a:rPr>
              <a:t>SKILLS 1.A + 2.A · ANALYZE AND MITIGATE RISK</a:t>
            </a:r>
            <a:endParaRPr lang="en-US" sz="1100"/>
          </a:p>
        </p:txBody>
      </p:sp>
      <p:sp>
        <p:nvSpPr>
          <p:cNvPr id="10" name="Text 7"/>
          <p:cNvSpPr/>
          <p:nvPr/>
        </p:nvSpPr>
        <p:spPr>
          <a:xfrm>
            <a:off x="7269480" y="1371600"/>
            <a:ext cx="4572000" cy="237744"/>
          </a:xfrm>
          <a:prstGeom prst="rect">
            <a:avLst/>
          </a:prstGeom>
          <a:noFill/>
          <a:ln/>
        </p:spPr>
        <p:txBody>
          <a:bodyPr wrap="square" lIns="0" tIns="0" rIns="0" bIns="0" rtlCol="0" anchor="ctr"/>
          <a:lstStyle/>
          <a:p>
            <a:pPr marL="0" indent="0">
              <a:buNone/>
            </a:pPr>
            <a:r>
              <a:rPr lang="en-US" sz="1000" b="1" kern="0" spc="150">
                <a:solidFill>
                  <a:srgbClr val="6A5AC7"/>
                </a:solidFill>
                <a:latin typeface="Calibri" pitchFamily="34" charset="0"/>
                <a:ea typeface="Calibri" pitchFamily="34" charset="-122"/>
                <a:cs typeface="Calibri" pitchFamily="34" charset="-120"/>
              </a:rPr>
              <a:t>LEARNING OBJECTIVES</a:t>
            </a:r>
            <a:endParaRPr lang="en-US" sz="1000"/>
          </a:p>
        </p:txBody>
      </p:sp>
      <p:sp>
        <p:nvSpPr>
          <p:cNvPr id="11" name="Shape 8"/>
          <p:cNvSpPr/>
          <p:nvPr/>
        </p:nvSpPr>
        <p:spPr>
          <a:xfrm>
            <a:off x="7269480" y="1828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2" name="Shape 9"/>
          <p:cNvSpPr/>
          <p:nvPr/>
        </p:nvSpPr>
        <p:spPr>
          <a:xfrm>
            <a:off x="7498080" y="1993392"/>
            <a:ext cx="713232" cy="237744"/>
          </a:xfrm>
          <a:prstGeom prst="roundRect">
            <a:avLst>
              <a:gd name="adj" fmla="val 23077"/>
            </a:avLst>
          </a:prstGeom>
          <a:solidFill>
            <a:srgbClr val="6A5AC7"/>
          </a:solidFill>
          <a:ln/>
        </p:spPr>
        <p:txBody>
          <a:bodyPr/>
          <a:lstStyle/>
          <a:p>
            <a:endParaRPr lang="en-US"/>
          </a:p>
        </p:txBody>
      </p:sp>
      <p:sp>
        <p:nvSpPr>
          <p:cNvPr id="13" name="Text 10"/>
          <p:cNvSpPr/>
          <p:nvPr/>
        </p:nvSpPr>
        <p:spPr>
          <a:xfrm>
            <a:off x="7498080" y="1993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1.4.A</a:t>
            </a:r>
            <a:endParaRPr lang="en-US" sz="950"/>
          </a:p>
        </p:txBody>
      </p:sp>
      <p:sp>
        <p:nvSpPr>
          <p:cNvPr id="14" name="Text 11"/>
          <p:cNvSpPr/>
          <p:nvPr/>
        </p:nvSpPr>
        <p:spPr>
          <a:xfrm>
            <a:off x="7498080" y="2286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Explain how adversaries use AI-powered tools to augment cyberattacks.</a:t>
            </a:r>
            <a:endParaRPr lang="en-US" sz="1100"/>
          </a:p>
        </p:txBody>
      </p:sp>
      <p:sp>
        <p:nvSpPr>
          <p:cNvPr id="15" name="Shape 12"/>
          <p:cNvSpPr/>
          <p:nvPr/>
        </p:nvSpPr>
        <p:spPr>
          <a:xfrm>
            <a:off x="7269480" y="2971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6" name="Shape 13"/>
          <p:cNvSpPr/>
          <p:nvPr/>
        </p:nvSpPr>
        <p:spPr>
          <a:xfrm>
            <a:off x="7498080" y="3136392"/>
            <a:ext cx="713232" cy="237744"/>
          </a:xfrm>
          <a:prstGeom prst="roundRect">
            <a:avLst>
              <a:gd name="adj" fmla="val 23077"/>
            </a:avLst>
          </a:prstGeom>
          <a:solidFill>
            <a:srgbClr val="6A5AC7"/>
          </a:solidFill>
          <a:ln/>
        </p:spPr>
        <p:txBody>
          <a:bodyPr/>
          <a:lstStyle/>
          <a:p>
            <a:endParaRPr lang="en-US"/>
          </a:p>
        </p:txBody>
      </p:sp>
      <p:sp>
        <p:nvSpPr>
          <p:cNvPr id="17" name="Text 14"/>
          <p:cNvSpPr/>
          <p:nvPr/>
        </p:nvSpPr>
        <p:spPr>
          <a:xfrm>
            <a:off x="7498080" y="3136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1.4.B</a:t>
            </a:r>
            <a:endParaRPr lang="en-US" sz="950"/>
          </a:p>
        </p:txBody>
      </p:sp>
      <p:sp>
        <p:nvSpPr>
          <p:cNvPr id="18" name="Text 15"/>
          <p:cNvSpPr/>
          <p:nvPr/>
        </p:nvSpPr>
        <p:spPr>
          <a:xfrm>
            <a:off x="7498080" y="3429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Explain how to protect against some AI-augmented cyberattacks.</a:t>
            </a:r>
            <a:endParaRPr lang="en-US" sz="1100"/>
          </a:p>
        </p:txBody>
      </p:sp>
      <p:sp>
        <p:nvSpPr>
          <p:cNvPr id="19" name="Text 1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0" name="Text 1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37</a:t>
            </a:r>
            <a:endParaRPr lang="en-US" sz="9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6A5AC7"/>
                </a:solidFill>
                <a:latin typeface="Calibri" pitchFamily="34" charset="0"/>
                <a:ea typeface="Calibri" pitchFamily="34" charset="-122"/>
                <a:cs typeface="Calibri" pitchFamily="34" charset="-120"/>
              </a:rPr>
              <a:t>1.4.A  ·  SIX USES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Six ways adversaries put AI to work</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Every one of these is listed in the course framework. Learn the underlying attack in the second line of each card.</a:t>
            </a:r>
            <a:endParaRPr lang="en-US" sz="1400"/>
          </a:p>
        </p:txBody>
      </p:sp>
      <p:sp>
        <p:nvSpPr>
          <p:cNvPr id="5" name="Shape 3"/>
          <p:cNvSpPr/>
          <p:nvPr/>
        </p:nvSpPr>
        <p:spPr>
          <a:xfrm>
            <a:off x="566928" y="1938528"/>
            <a:ext cx="3529584" cy="1682496"/>
          </a:xfrm>
          <a:prstGeom prst="roundRect">
            <a:avLst>
              <a:gd name="adj" fmla="val 4891"/>
            </a:avLst>
          </a:prstGeom>
          <a:solidFill>
            <a:srgbClr val="EFEDFA"/>
          </a:solidFill>
          <a:ln/>
        </p:spPr>
        <p:txBody>
          <a:bodyPr/>
          <a:lstStyle/>
          <a:p>
            <a:endParaRPr lang="en-US"/>
          </a:p>
        </p:txBody>
      </p:sp>
      <p:sp>
        <p:nvSpPr>
          <p:cNvPr id="6" name="Shape 4"/>
          <p:cNvSpPr/>
          <p:nvPr/>
        </p:nvSpPr>
        <p:spPr>
          <a:xfrm>
            <a:off x="804672" y="2139696"/>
            <a:ext cx="457200" cy="457200"/>
          </a:xfrm>
          <a:prstGeom prst="ellipse">
            <a:avLst/>
          </a:prstGeom>
          <a:solidFill>
            <a:srgbClr val="6A5AC7"/>
          </a:solidFill>
          <a:ln/>
        </p:spPr>
        <p:txBody>
          <a:bodyPr/>
          <a:lstStyle/>
          <a:p>
            <a:endParaRPr lang="en-US"/>
          </a:p>
        </p:txBody>
      </p:sp>
      <p:pic>
        <p:nvPicPr>
          <p:cNvPr id="7" name="Image 0" descr="/home/claude/icons/FaVideo_w.png"/>
          <p:cNvPicPr>
            <a:picLocks noChangeAspect="1"/>
          </p:cNvPicPr>
          <p:nvPr/>
        </p:nvPicPr>
        <p:blipFill>
          <a:blip r:embed="rId3"/>
          <a:stretch>
            <a:fillRect/>
          </a:stretch>
        </p:blipFill>
        <p:spPr>
          <a:xfrm>
            <a:off x="923544" y="2258568"/>
            <a:ext cx="219456" cy="219456"/>
          </a:xfrm>
          <a:prstGeom prst="rect">
            <a:avLst/>
          </a:prstGeom>
        </p:spPr>
      </p:pic>
      <p:sp>
        <p:nvSpPr>
          <p:cNvPr id="8" name="Text 5"/>
          <p:cNvSpPr/>
          <p:nvPr/>
        </p:nvSpPr>
        <p:spPr>
          <a:xfrm>
            <a:off x="1371600" y="2157984"/>
            <a:ext cx="2606040" cy="256032"/>
          </a:xfrm>
          <a:prstGeom prst="rect">
            <a:avLst/>
          </a:prstGeom>
          <a:noFill/>
          <a:ln/>
        </p:spPr>
        <p:txBody>
          <a:bodyPr wrap="square" lIns="0" tIns="0" rIns="0" bIns="0" rtlCol="0" anchor="ctr"/>
          <a:lstStyle/>
          <a:p>
            <a:pPr marL="0" indent="0">
              <a:buNone/>
            </a:pPr>
            <a:r>
              <a:rPr lang="en-US" sz="1180" b="1">
                <a:solidFill>
                  <a:srgbClr val="12141C"/>
                </a:solidFill>
                <a:latin typeface="Calibri" pitchFamily="34" charset="0"/>
                <a:ea typeface="Calibri" pitchFamily="34" charset="-122"/>
                <a:cs typeface="Calibri" pitchFamily="34" charset="-120"/>
              </a:rPr>
              <a:t>Digital impersonation</a:t>
            </a:r>
            <a:endParaRPr lang="en-US" sz="1180"/>
          </a:p>
        </p:txBody>
      </p:sp>
      <p:sp>
        <p:nvSpPr>
          <p:cNvPr id="9" name="Text 6"/>
          <p:cNvSpPr/>
          <p:nvPr/>
        </p:nvSpPr>
        <p:spPr>
          <a:xfrm>
            <a:off x="804672" y="2688336"/>
            <a:ext cx="3108960" cy="658368"/>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Voice and image samples of a real person are used to build a convincing avatar for a phone or video call.</a:t>
            </a:r>
            <a:endParaRPr lang="en-US" sz="1020"/>
          </a:p>
        </p:txBody>
      </p:sp>
      <p:sp>
        <p:nvSpPr>
          <p:cNvPr id="10" name="Text 7"/>
          <p:cNvSpPr/>
          <p:nvPr/>
        </p:nvSpPr>
        <p:spPr>
          <a:xfrm>
            <a:off x="804672" y="3337560"/>
            <a:ext cx="3108960" cy="237744"/>
          </a:xfrm>
          <a:prstGeom prst="rect">
            <a:avLst/>
          </a:prstGeom>
          <a:noFill/>
          <a:ln/>
        </p:spPr>
        <p:txBody>
          <a:bodyPr wrap="square" lIns="0" tIns="0" rIns="0" bIns="0" rtlCol="0" anchor="t"/>
          <a:lstStyle/>
          <a:p>
            <a:pPr marL="0" indent="0">
              <a:lnSpc>
                <a:spcPts val="1700"/>
              </a:lnSpc>
              <a:buNone/>
            </a:pPr>
            <a:r>
              <a:rPr lang="en-US" sz="920" b="1" i="1">
                <a:solidFill>
                  <a:srgbClr val="6A5AC7"/>
                </a:solidFill>
                <a:latin typeface="Calibri" pitchFamily="34" charset="0"/>
                <a:ea typeface="Calibri" pitchFamily="34" charset="-122"/>
                <a:cs typeface="Calibri" pitchFamily="34" charset="-120"/>
              </a:rPr>
              <a:t>Underlying attack: vishing and pretexting</a:t>
            </a:r>
            <a:endParaRPr lang="en-US" sz="920"/>
          </a:p>
        </p:txBody>
      </p:sp>
      <p:sp>
        <p:nvSpPr>
          <p:cNvPr id="11" name="Shape 8"/>
          <p:cNvSpPr/>
          <p:nvPr/>
        </p:nvSpPr>
        <p:spPr>
          <a:xfrm>
            <a:off x="4325112" y="1938528"/>
            <a:ext cx="3529584" cy="1682496"/>
          </a:xfrm>
          <a:prstGeom prst="roundRect">
            <a:avLst>
              <a:gd name="adj" fmla="val 4891"/>
            </a:avLst>
          </a:prstGeom>
          <a:solidFill>
            <a:srgbClr val="EFEDFA"/>
          </a:solidFill>
          <a:ln/>
        </p:spPr>
        <p:txBody>
          <a:bodyPr/>
          <a:lstStyle/>
          <a:p>
            <a:endParaRPr lang="en-US"/>
          </a:p>
        </p:txBody>
      </p:sp>
      <p:sp>
        <p:nvSpPr>
          <p:cNvPr id="12" name="Shape 9"/>
          <p:cNvSpPr/>
          <p:nvPr/>
        </p:nvSpPr>
        <p:spPr>
          <a:xfrm>
            <a:off x="4562856" y="2139696"/>
            <a:ext cx="457200" cy="457200"/>
          </a:xfrm>
          <a:prstGeom prst="ellipse">
            <a:avLst/>
          </a:prstGeom>
          <a:solidFill>
            <a:srgbClr val="6A5AC7"/>
          </a:solidFill>
          <a:ln/>
        </p:spPr>
        <p:txBody>
          <a:bodyPr/>
          <a:lstStyle/>
          <a:p>
            <a:endParaRPr lang="en-US"/>
          </a:p>
        </p:txBody>
      </p:sp>
      <p:pic>
        <p:nvPicPr>
          <p:cNvPr id="13" name="Image 1" descr="/home/claude/icons/FaEnvelopeOpenText_w.png"/>
          <p:cNvPicPr>
            <a:picLocks noChangeAspect="1"/>
          </p:cNvPicPr>
          <p:nvPr/>
        </p:nvPicPr>
        <p:blipFill>
          <a:blip r:embed="rId4"/>
          <a:stretch>
            <a:fillRect/>
          </a:stretch>
        </p:blipFill>
        <p:spPr>
          <a:xfrm>
            <a:off x="4681728" y="2258568"/>
            <a:ext cx="219456" cy="219456"/>
          </a:xfrm>
          <a:prstGeom prst="rect">
            <a:avLst/>
          </a:prstGeom>
        </p:spPr>
      </p:pic>
      <p:sp>
        <p:nvSpPr>
          <p:cNvPr id="14" name="Text 10"/>
          <p:cNvSpPr/>
          <p:nvPr/>
        </p:nvSpPr>
        <p:spPr>
          <a:xfrm>
            <a:off x="5129784" y="2157984"/>
            <a:ext cx="2606040" cy="256032"/>
          </a:xfrm>
          <a:prstGeom prst="rect">
            <a:avLst/>
          </a:prstGeom>
          <a:noFill/>
          <a:ln/>
        </p:spPr>
        <p:txBody>
          <a:bodyPr wrap="square" lIns="0" tIns="0" rIns="0" bIns="0" rtlCol="0" anchor="ctr"/>
          <a:lstStyle/>
          <a:p>
            <a:pPr marL="0" indent="0">
              <a:buNone/>
            </a:pPr>
            <a:r>
              <a:rPr lang="en-US" sz="1180" b="1">
                <a:solidFill>
                  <a:srgbClr val="12141C"/>
                </a:solidFill>
                <a:latin typeface="Calibri" pitchFamily="34" charset="0"/>
                <a:ea typeface="Calibri" pitchFamily="34" charset="-122"/>
                <a:cs typeface="Calibri" pitchFamily="34" charset="-120"/>
              </a:rPr>
              <a:t>Fluent phishing at scale</a:t>
            </a:r>
            <a:endParaRPr lang="en-US" sz="1180"/>
          </a:p>
        </p:txBody>
      </p:sp>
      <p:sp>
        <p:nvSpPr>
          <p:cNvPr id="15" name="Text 11"/>
          <p:cNvSpPr/>
          <p:nvPr/>
        </p:nvSpPr>
        <p:spPr>
          <a:xfrm>
            <a:off x="4562856" y="2688336"/>
            <a:ext cx="3108960" cy="658368"/>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Large language models write natural, native-sounding messages in any target language.</a:t>
            </a:r>
            <a:endParaRPr lang="en-US" sz="1020"/>
          </a:p>
        </p:txBody>
      </p:sp>
      <p:sp>
        <p:nvSpPr>
          <p:cNvPr id="16" name="Text 12"/>
          <p:cNvSpPr/>
          <p:nvPr/>
        </p:nvSpPr>
        <p:spPr>
          <a:xfrm>
            <a:off x="4562856" y="3337560"/>
            <a:ext cx="3108960" cy="237744"/>
          </a:xfrm>
          <a:prstGeom prst="rect">
            <a:avLst/>
          </a:prstGeom>
          <a:noFill/>
          <a:ln/>
        </p:spPr>
        <p:txBody>
          <a:bodyPr wrap="square" lIns="0" tIns="0" rIns="0" bIns="0" rtlCol="0" anchor="t"/>
          <a:lstStyle/>
          <a:p>
            <a:pPr marL="0" indent="0">
              <a:lnSpc>
                <a:spcPts val="1700"/>
              </a:lnSpc>
              <a:buNone/>
            </a:pPr>
            <a:r>
              <a:rPr lang="en-US" sz="920" b="1" i="1">
                <a:solidFill>
                  <a:srgbClr val="6A5AC7"/>
                </a:solidFill>
                <a:latin typeface="Calibri" pitchFamily="34" charset="0"/>
                <a:ea typeface="Calibri" pitchFamily="34" charset="-122"/>
                <a:cs typeface="Calibri" pitchFamily="34" charset="-120"/>
              </a:rPr>
              <a:t>Underlying attack: phishing and spear phishing</a:t>
            </a:r>
            <a:endParaRPr lang="en-US" sz="920"/>
          </a:p>
        </p:txBody>
      </p:sp>
      <p:sp>
        <p:nvSpPr>
          <p:cNvPr id="17" name="Shape 13"/>
          <p:cNvSpPr/>
          <p:nvPr/>
        </p:nvSpPr>
        <p:spPr>
          <a:xfrm>
            <a:off x="8083296" y="1938528"/>
            <a:ext cx="3529584" cy="1682496"/>
          </a:xfrm>
          <a:prstGeom prst="roundRect">
            <a:avLst>
              <a:gd name="adj" fmla="val 4891"/>
            </a:avLst>
          </a:prstGeom>
          <a:solidFill>
            <a:srgbClr val="EFEDFA"/>
          </a:solidFill>
          <a:ln/>
        </p:spPr>
        <p:txBody>
          <a:bodyPr/>
          <a:lstStyle/>
          <a:p>
            <a:endParaRPr lang="en-US"/>
          </a:p>
        </p:txBody>
      </p:sp>
      <p:sp>
        <p:nvSpPr>
          <p:cNvPr id="18" name="Shape 14"/>
          <p:cNvSpPr/>
          <p:nvPr/>
        </p:nvSpPr>
        <p:spPr>
          <a:xfrm>
            <a:off x="8321040" y="2139696"/>
            <a:ext cx="457200" cy="457200"/>
          </a:xfrm>
          <a:prstGeom prst="ellipse">
            <a:avLst/>
          </a:prstGeom>
          <a:solidFill>
            <a:srgbClr val="6A5AC7"/>
          </a:solidFill>
          <a:ln/>
        </p:spPr>
        <p:txBody>
          <a:bodyPr/>
          <a:lstStyle/>
          <a:p>
            <a:endParaRPr lang="en-US"/>
          </a:p>
        </p:txBody>
      </p:sp>
      <p:pic>
        <p:nvPicPr>
          <p:cNvPr id="19" name="Image 2" descr="/home/claude/icons/FaCommentDots_w.png"/>
          <p:cNvPicPr>
            <a:picLocks noChangeAspect="1"/>
          </p:cNvPicPr>
          <p:nvPr/>
        </p:nvPicPr>
        <p:blipFill>
          <a:blip r:embed="rId5"/>
          <a:stretch>
            <a:fillRect/>
          </a:stretch>
        </p:blipFill>
        <p:spPr>
          <a:xfrm>
            <a:off x="8439912" y="2258568"/>
            <a:ext cx="219456" cy="219456"/>
          </a:xfrm>
          <a:prstGeom prst="rect">
            <a:avLst/>
          </a:prstGeom>
        </p:spPr>
      </p:pic>
      <p:sp>
        <p:nvSpPr>
          <p:cNvPr id="20" name="Text 15"/>
          <p:cNvSpPr/>
          <p:nvPr/>
        </p:nvSpPr>
        <p:spPr>
          <a:xfrm>
            <a:off x="8887968" y="2157984"/>
            <a:ext cx="2606040" cy="256032"/>
          </a:xfrm>
          <a:prstGeom prst="rect">
            <a:avLst/>
          </a:prstGeom>
          <a:noFill/>
          <a:ln/>
        </p:spPr>
        <p:txBody>
          <a:bodyPr wrap="square" lIns="0" tIns="0" rIns="0" bIns="0" rtlCol="0" anchor="ctr"/>
          <a:lstStyle/>
          <a:p>
            <a:pPr marL="0" indent="0">
              <a:buNone/>
            </a:pPr>
            <a:r>
              <a:rPr lang="en-US" sz="1180" b="1">
                <a:solidFill>
                  <a:srgbClr val="12141C"/>
                </a:solidFill>
                <a:latin typeface="Calibri" pitchFamily="34" charset="0"/>
                <a:ea typeface="Calibri" pitchFamily="34" charset="-122"/>
                <a:cs typeface="Calibri" pitchFamily="34" charset="-120"/>
              </a:rPr>
              <a:t>Extracting data from models</a:t>
            </a:r>
            <a:endParaRPr lang="en-US" sz="1180"/>
          </a:p>
        </p:txBody>
      </p:sp>
      <p:sp>
        <p:nvSpPr>
          <p:cNvPr id="21" name="Text 16"/>
          <p:cNvSpPr/>
          <p:nvPr/>
        </p:nvSpPr>
        <p:spPr>
          <a:xfrm>
            <a:off x="8321040" y="2688336"/>
            <a:ext cx="3108960" cy="658368"/>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Crafted prompts pull secure or sensitive information back out of a model — from user input or training data.</a:t>
            </a:r>
            <a:endParaRPr lang="en-US" sz="1020"/>
          </a:p>
        </p:txBody>
      </p:sp>
      <p:sp>
        <p:nvSpPr>
          <p:cNvPr id="22" name="Text 17"/>
          <p:cNvSpPr/>
          <p:nvPr/>
        </p:nvSpPr>
        <p:spPr>
          <a:xfrm>
            <a:off x="8321040" y="3337560"/>
            <a:ext cx="3108960" cy="237744"/>
          </a:xfrm>
          <a:prstGeom prst="rect">
            <a:avLst/>
          </a:prstGeom>
          <a:noFill/>
          <a:ln/>
        </p:spPr>
        <p:txBody>
          <a:bodyPr wrap="square" lIns="0" tIns="0" rIns="0" bIns="0" rtlCol="0" anchor="t"/>
          <a:lstStyle/>
          <a:p>
            <a:pPr marL="0" indent="0">
              <a:lnSpc>
                <a:spcPts val="1700"/>
              </a:lnSpc>
              <a:buNone/>
            </a:pPr>
            <a:r>
              <a:rPr lang="en-US" sz="920" b="1" i="1">
                <a:solidFill>
                  <a:srgbClr val="6A5AC7"/>
                </a:solidFill>
                <a:latin typeface="Calibri" pitchFamily="34" charset="0"/>
                <a:ea typeface="Calibri" pitchFamily="34" charset="-122"/>
                <a:cs typeface="Calibri" pitchFamily="34" charset="-120"/>
              </a:rPr>
              <a:t>Underlying attack: information disclosure</a:t>
            </a:r>
            <a:endParaRPr lang="en-US" sz="920"/>
          </a:p>
        </p:txBody>
      </p:sp>
      <p:sp>
        <p:nvSpPr>
          <p:cNvPr id="23" name="Shape 18"/>
          <p:cNvSpPr/>
          <p:nvPr/>
        </p:nvSpPr>
        <p:spPr>
          <a:xfrm>
            <a:off x="566928" y="3749040"/>
            <a:ext cx="3529584" cy="1682496"/>
          </a:xfrm>
          <a:prstGeom prst="roundRect">
            <a:avLst>
              <a:gd name="adj" fmla="val 4891"/>
            </a:avLst>
          </a:prstGeom>
          <a:solidFill>
            <a:srgbClr val="EFEDFA"/>
          </a:solidFill>
          <a:ln/>
        </p:spPr>
        <p:txBody>
          <a:bodyPr/>
          <a:lstStyle/>
          <a:p>
            <a:endParaRPr lang="en-US"/>
          </a:p>
        </p:txBody>
      </p:sp>
      <p:sp>
        <p:nvSpPr>
          <p:cNvPr id="24" name="Shape 19"/>
          <p:cNvSpPr/>
          <p:nvPr/>
        </p:nvSpPr>
        <p:spPr>
          <a:xfrm>
            <a:off x="804672" y="3950208"/>
            <a:ext cx="457200" cy="457200"/>
          </a:xfrm>
          <a:prstGeom prst="ellipse">
            <a:avLst/>
          </a:prstGeom>
          <a:solidFill>
            <a:srgbClr val="6A5AC7"/>
          </a:solidFill>
          <a:ln/>
        </p:spPr>
        <p:txBody>
          <a:bodyPr/>
          <a:lstStyle/>
          <a:p>
            <a:endParaRPr lang="en-US"/>
          </a:p>
        </p:txBody>
      </p:sp>
      <p:pic>
        <p:nvPicPr>
          <p:cNvPr id="25" name="Image 3" descr="/home/claude/icons/FaGlobe_w.png"/>
          <p:cNvPicPr>
            <a:picLocks noChangeAspect="1"/>
          </p:cNvPicPr>
          <p:nvPr/>
        </p:nvPicPr>
        <p:blipFill>
          <a:blip r:embed="rId6"/>
          <a:stretch>
            <a:fillRect/>
          </a:stretch>
        </p:blipFill>
        <p:spPr>
          <a:xfrm>
            <a:off x="923544" y="4069080"/>
            <a:ext cx="219456" cy="219456"/>
          </a:xfrm>
          <a:prstGeom prst="rect">
            <a:avLst/>
          </a:prstGeom>
        </p:spPr>
      </p:pic>
      <p:sp>
        <p:nvSpPr>
          <p:cNvPr id="26" name="Text 20"/>
          <p:cNvSpPr/>
          <p:nvPr/>
        </p:nvSpPr>
        <p:spPr>
          <a:xfrm>
            <a:off x="1371600" y="3968496"/>
            <a:ext cx="2606040" cy="256032"/>
          </a:xfrm>
          <a:prstGeom prst="rect">
            <a:avLst/>
          </a:prstGeom>
          <a:noFill/>
          <a:ln/>
        </p:spPr>
        <p:txBody>
          <a:bodyPr wrap="square" lIns="0" tIns="0" rIns="0" bIns="0" rtlCol="0" anchor="ctr"/>
          <a:lstStyle/>
          <a:p>
            <a:pPr marL="0" indent="0">
              <a:buNone/>
            </a:pPr>
            <a:r>
              <a:rPr lang="en-US" sz="1180" b="1">
                <a:solidFill>
                  <a:srgbClr val="12141C"/>
                </a:solidFill>
                <a:latin typeface="Calibri" pitchFamily="34" charset="0"/>
                <a:ea typeface="Calibri" pitchFamily="34" charset="-122"/>
                <a:cs typeface="Calibri" pitchFamily="34" charset="-120"/>
              </a:rPr>
              <a:t>Poisoning what models learn</a:t>
            </a:r>
            <a:endParaRPr lang="en-US" sz="1180"/>
          </a:p>
        </p:txBody>
      </p:sp>
      <p:sp>
        <p:nvSpPr>
          <p:cNvPr id="27" name="Text 21"/>
          <p:cNvSpPr/>
          <p:nvPr/>
        </p:nvSpPr>
        <p:spPr>
          <a:xfrm>
            <a:off x="804672" y="4498848"/>
            <a:ext cx="3108960" cy="658368"/>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Publishing or editing web pages so false information enters training sets and the model repeats it.</a:t>
            </a:r>
            <a:endParaRPr lang="en-US" sz="1020"/>
          </a:p>
        </p:txBody>
      </p:sp>
      <p:sp>
        <p:nvSpPr>
          <p:cNvPr id="28" name="Text 22"/>
          <p:cNvSpPr/>
          <p:nvPr/>
        </p:nvSpPr>
        <p:spPr>
          <a:xfrm>
            <a:off x="804672" y="5148072"/>
            <a:ext cx="3108960" cy="237744"/>
          </a:xfrm>
          <a:prstGeom prst="rect">
            <a:avLst/>
          </a:prstGeom>
          <a:noFill/>
          <a:ln/>
        </p:spPr>
        <p:txBody>
          <a:bodyPr wrap="square" lIns="0" tIns="0" rIns="0" bIns="0" rtlCol="0" anchor="t"/>
          <a:lstStyle/>
          <a:p>
            <a:pPr marL="0" indent="0">
              <a:lnSpc>
                <a:spcPts val="1700"/>
              </a:lnSpc>
              <a:buNone/>
            </a:pPr>
            <a:r>
              <a:rPr lang="en-US" sz="920" b="1" i="1">
                <a:solidFill>
                  <a:srgbClr val="6A5AC7"/>
                </a:solidFill>
                <a:latin typeface="Calibri" pitchFamily="34" charset="0"/>
                <a:ea typeface="Calibri" pitchFamily="34" charset="-122"/>
                <a:cs typeface="Calibri" pitchFamily="34" charset="-120"/>
              </a:rPr>
              <a:t>Underlying attack: misinformation and integrity</a:t>
            </a:r>
            <a:endParaRPr lang="en-US" sz="920"/>
          </a:p>
        </p:txBody>
      </p:sp>
      <p:sp>
        <p:nvSpPr>
          <p:cNvPr id="29" name="Shape 23"/>
          <p:cNvSpPr/>
          <p:nvPr/>
        </p:nvSpPr>
        <p:spPr>
          <a:xfrm>
            <a:off x="4325112" y="3749040"/>
            <a:ext cx="3529584" cy="1682496"/>
          </a:xfrm>
          <a:prstGeom prst="roundRect">
            <a:avLst>
              <a:gd name="adj" fmla="val 4891"/>
            </a:avLst>
          </a:prstGeom>
          <a:solidFill>
            <a:srgbClr val="EFEDFA"/>
          </a:solidFill>
          <a:ln/>
        </p:spPr>
        <p:txBody>
          <a:bodyPr/>
          <a:lstStyle/>
          <a:p>
            <a:endParaRPr lang="en-US"/>
          </a:p>
        </p:txBody>
      </p:sp>
      <p:sp>
        <p:nvSpPr>
          <p:cNvPr id="30" name="Shape 24"/>
          <p:cNvSpPr/>
          <p:nvPr/>
        </p:nvSpPr>
        <p:spPr>
          <a:xfrm>
            <a:off x="4562856" y="3950208"/>
            <a:ext cx="457200" cy="457200"/>
          </a:xfrm>
          <a:prstGeom prst="ellipse">
            <a:avLst/>
          </a:prstGeom>
          <a:solidFill>
            <a:srgbClr val="6A5AC7"/>
          </a:solidFill>
          <a:ln/>
        </p:spPr>
        <p:txBody>
          <a:bodyPr/>
          <a:lstStyle/>
          <a:p>
            <a:endParaRPr lang="en-US"/>
          </a:p>
        </p:txBody>
      </p:sp>
      <p:pic>
        <p:nvPicPr>
          <p:cNvPr id="31" name="Image 4" descr="/home/claude/icons/FaMagnifyingGlassChart_w.png"/>
          <p:cNvPicPr>
            <a:picLocks noChangeAspect="1"/>
          </p:cNvPicPr>
          <p:nvPr/>
        </p:nvPicPr>
        <p:blipFill>
          <a:blip r:embed="rId7"/>
          <a:stretch>
            <a:fillRect/>
          </a:stretch>
        </p:blipFill>
        <p:spPr>
          <a:xfrm>
            <a:off x="4681728" y="4069080"/>
            <a:ext cx="219456" cy="219456"/>
          </a:xfrm>
          <a:prstGeom prst="rect">
            <a:avLst/>
          </a:prstGeom>
        </p:spPr>
      </p:pic>
      <p:sp>
        <p:nvSpPr>
          <p:cNvPr id="32" name="Text 25"/>
          <p:cNvSpPr/>
          <p:nvPr/>
        </p:nvSpPr>
        <p:spPr>
          <a:xfrm>
            <a:off x="5129784" y="3968496"/>
            <a:ext cx="2606040" cy="256032"/>
          </a:xfrm>
          <a:prstGeom prst="rect">
            <a:avLst/>
          </a:prstGeom>
          <a:noFill/>
          <a:ln/>
        </p:spPr>
        <p:txBody>
          <a:bodyPr wrap="square" lIns="0" tIns="0" rIns="0" bIns="0" rtlCol="0" anchor="ctr"/>
          <a:lstStyle/>
          <a:p>
            <a:pPr marL="0" indent="0">
              <a:buNone/>
            </a:pPr>
            <a:r>
              <a:rPr lang="en-US" sz="1180" b="1">
                <a:solidFill>
                  <a:srgbClr val="12141C"/>
                </a:solidFill>
                <a:latin typeface="Calibri" pitchFamily="34" charset="0"/>
                <a:ea typeface="Calibri" pitchFamily="34" charset="-122"/>
                <a:cs typeface="Calibri" pitchFamily="34" charset="-120"/>
              </a:rPr>
              <a:t>Automated reconnaissance</a:t>
            </a:r>
            <a:endParaRPr lang="en-US" sz="1180"/>
          </a:p>
        </p:txBody>
      </p:sp>
      <p:sp>
        <p:nvSpPr>
          <p:cNvPr id="33" name="Text 26"/>
          <p:cNvSpPr/>
          <p:nvPr/>
        </p:nvSpPr>
        <p:spPr>
          <a:xfrm>
            <a:off x="4562856" y="4498848"/>
            <a:ext cx="3108960" cy="658368"/>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Tools scan the internet, social media and public sites to assemble a profile of a target.</a:t>
            </a:r>
            <a:endParaRPr lang="en-US" sz="1020"/>
          </a:p>
        </p:txBody>
      </p:sp>
      <p:sp>
        <p:nvSpPr>
          <p:cNvPr id="34" name="Text 27"/>
          <p:cNvSpPr/>
          <p:nvPr/>
        </p:nvSpPr>
        <p:spPr>
          <a:xfrm>
            <a:off x="4562856" y="5148072"/>
            <a:ext cx="3108960" cy="237744"/>
          </a:xfrm>
          <a:prstGeom prst="rect">
            <a:avLst/>
          </a:prstGeom>
          <a:noFill/>
          <a:ln/>
        </p:spPr>
        <p:txBody>
          <a:bodyPr wrap="square" lIns="0" tIns="0" rIns="0" bIns="0" rtlCol="0" anchor="t"/>
          <a:lstStyle/>
          <a:p>
            <a:pPr marL="0" indent="0">
              <a:lnSpc>
                <a:spcPts val="1700"/>
              </a:lnSpc>
              <a:buNone/>
            </a:pPr>
            <a:r>
              <a:rPr lang="en-US" sz="920" b="1" i="1">
                <a:solidFill>
                  <a:srgbClr val="6A5AC7"/>
                </a:solidFill>
                <a:latin typeface="Calibri" pitchFamily="34" charset="0"/>
                <a:ea typeface="Calibri" pitchFamily="34" charset="-122"/>
                <a:cs typeface="Calibri" pitchFamily="34" charset="-120"/>
              </a:rPr>
              <a:t>Underlying attack: OSINT before spear phishing</a:t>
            </a:r>
            <a:endParaRPr lang="en-US" sz="920"/>
          </a:p>
        </p:txBody>
      </p:sp>
      <p:sp>
        <p:nvSpPr>
          <p:cNvPr id="35" name="Shape 28"/>
          <p:cNvSpPr/>
          <p:nvPr/>
        </p:nvSpPr>
        <p:spPr>
          <a:xfrm>
            <a:off x="8083296" y="3749040"/>
            <a:ext cx="3529584" cy="1682496"/>
          </a:xfrm>
          <a:prstGeom prst="roundRect">
            <a:avLst>
              <a:gd name="adj" fmla="val 4891"/>
            </a:avLst>
          </a:prstGeom>
          <a:solidFill>
            <a:srgbClr val="EFEDFA"/>
          </a:solidFill>
          <a:ln/>
        </p:spPr>
        <p:txBody>
          <a:bodyPr/>
          <a:lstStyle/>
          <a:p>
            <a:endParaRPr lang="en-US"/>
          </a:p>
        </p:txBody>
      </p:sp>
      <p:sp>
        <p:nvSpPr>
          <p:cNvPr id="36" name="Shape 29"/>
          <p:cNvSpPr/>
          <p:nvPr/>
        </p:nvSpPr>
        <p:spPr>
          <a:xfrm>
            <a:off x="8321040" y="3950208"/>
            <a:ext cx="457200" cy="457200"/>
          </a:xfrm>
          <a:prstGeom prst="ellipse">
            <a:avLst/>
          </a:prstGeom>
          <a:solidFill>
            <a:srgbClr val="6A5AC7"/>
          </a:solidFill>
          <a:ln/>
        </p:spPr>
        <p:txBody>
          <a:bodyPr/>
          <a:lstStyle/>
          <a:p>
            <a:endParaRPr lang="en-US"/>
          </a:p>
        </p:txBody>
      </p:sp>
      <p:pic>
        <p:nvPicPr>
          <p:cNvPr id="37" name="Image 5" descr="/home/claude/icons/FaFileCode_w.png"/>
          <p:cNvPicPr>
            <a:picLocks noChangeAspect="1"/>
          </p:cNvPicPr>
          <p:nvPr/>
        </p:nvPicPr>
        <p:blipFill>
          <a:blip r:embed="rId8"/>
          <a:stretch>
            <a:fillRect/>
          </a:stretch>
        </p:blipFill>
        <p:spPr>
          <a:xfrm>
            <a:off x="8439912" y="4069080"/>
            <a:ext cx="219456" cy="219456"/>
          </a:xfrm>
          <a:prstGeom prst="rect">
            <a:avLst/>
          </a:prstGeom>
        </p:spPr>
      </p:pic>
      <p:sp>
        <p:nvSpPr>
          <p:cNvPr id="38" name="Text 30"/>
          <p:cNvSpPr/>
          <p:nvPr/>
        </p:nvSpPr>
        <p:spPr>
          <a:xfrm>
            <a:off x="8887968" y="3968496"/>
            <a:ext cx="2606040" cy="256032"/>
          </a:xfrm>
          <a:prstGeom prst="rect">
            <a:avLst/>
          </a:prstGeom>
          <a:noFill/>
          <a:ln/>
        </p:spPr>
        <p:txBody>
          <a:bodyPr wrap="square" lIns="0" tIns="0" rIns="0" bIns="0" rtlCol="0" anchor="ctr"/>
          <a:lstStyle/>
          <a:p>
            <a:pPr marL="0" indent="0">
              <a:buNone/>
            </a:pPr>
            <a:r>
              <a:rPr lang="en-US" sz="1180" b="1">
                <a:solidFill>
                  <a:srgbClr val="12141C"/>
                </a:solidFill>
                <a:latin typeface="Calibri" pitchFamily="34" charset="0"/>
                <a:ea typeface="Calibri" pitchFamily="34" charset="-122"/>
                <a:cs typeface="Calibri" pitchFamily="34" charset="-120"/>
              </a:rPr>
              <a:t>Malicious coding assistance</a:t>
            </a:r>
            <a:endParaRPr lang="en-US" sz="1180"/>
          </a:p>
        </p:txBody>
      </p:sp>
      <p:sp>
        <p:nvSpPr>
          <p:cNvPr id="39" name="Text 31"/>
          <p:cNvSpPr/>
          <p:nvPr/>
        </p:nvSpPr>
        <p:spPr>
          <a:xfrm>
            <a:off x="8321040" y="4498848"/>
            <a:ext cx="3108960" cy="658368"/>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Writing new malware, altering existing code to behave maliciously, or finding flaws in large codebases.</a:t>
            </a:r>
            <a:endParaRPr lang="en-US" sz="1020"/>
          </a:p>
        </p:txBody>
      </p:sp>
      <p:sp>
        <p:nvSpPr>
          <p:cNvPr id="40" name="Text 32"/>
          <p:cNvSpPr/>
          <p:nvPr/>
        </p:nvSpPr>
        <p:spPr>
          <a:xfrm>
            <a:off x="8321040" y="5148072"/>
            <a:ext cx="3108960" cy="237744"/>
          </a:xfrm>
          <a:prstGeom prst="rect">
            <a:avLst/>
          </a:prstGeom>
          <a:noFill/>
          <a:ln/>
        </p:spPr>
        <p:txBody>
          <a:bodyPr wrap="square" lIns="0" tIns="0" rIns="0" bIns="0" rtlCol="0" anchor="t"/>
          <a:lstStyle/>
          <a:p>
            <a:pPr marL="0" indent="0">
              <a:lnSpc>
                <a:spcPts val="1700"/>
              </a:lnSpc>
              <a:buNone/>
            </a:pPr>
            <a:r>
              <a:rPr lang="en-US" sz="920" b="1" i="1">
                <a:solidFill>
                  <a:srgbClr val="6A5AC7"/>
                </a:solidFill>
                <a:latin typeface="Calibri" pitchFamily="34" charset="0"/>
                <a:ea typeface="Calibri" pitchFamily="34" charset="-122"/>
                <a:cs typeface="Calibri" pitchFamily="34" charset="-120"/>
              </a:rPr>
              <a:t>Underlying attack: malware development</a:t>
            </a:r>
            <a:endParaRPr lang="en-US" sz="920"/>
          </a:p>
        </p:txBody>
      </p:sp>
      <p:sp>
        <p:nvSpPr>
          <p:cNvPr id="41" name="Shape 33"/>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42" name="Image 6" descr="/home/claude/icons/FaRobot_w.png"/>
          <p:cNvPicPr>
            <a:picLocks noChangeAspect="1"/>
          </p:cNvPicPr>
          <p:nvPr/>
        </p:nvPicPr>
        <p:blipFill>
          <a:blip r:embed="rId9"/>
          <a:stretch>
            <a:fillRect/>
          </a:stretch>
        </p:blipFill>
        <p:spPr>
          <a:xfrm>
            <a:off x="768096" y="5811012"/>
            <a:ext cx="228600" cy="228600"/>
          </a:xfrm>
          <a:prstGeom prst="rect">
            <a:avLst/>
          </a:prstGeom>
        </p:spPr>
      </p:pic>
      <p:sp>
        <p:nvSpPr>
          <p:cNvPr id="43" name="Text 34"/>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Sentence frame for 1.4.A: "This is a [attack]. AI changes it by making it [faster / cheaper / more personalised / more fluent / harder to distinguish from the real thing]."</a:t>
            </a:r>
            <a:endParaRPr lang="en-US" sz="1150"/>
          </a:p>
        </p:txBody>
      </p:sp>
      <p:sp>
        <p:nvSpPr>
          <p:cNvPr id="44" name="Text 3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5" name="Text 3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38</a:t>
            </a:r>
            <a:endParaRPr lang="en-US" sz="9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6A5AC7"/>
                </a:solidFill>
                <a:latin typeface="Calibri" pitchFamily="34" charset="0"/>
                <a:ea typeface="Calibri" pitchFamily="34" charset="-122"/>
                <a:cs typeface="Calibri" pitchFamily="34" charset="-120"/>
              </a:rPr>
              <a:t>1.4.A.1  ·  MECHANISM</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How a voice or face gets cloned</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raw material is public. That is what makes this attack cheap.</a:t>
            </a:r>
            <a:endParaRPr lang="en-US" sz="1400"/>
          </a:p>
        </p:txBody>
      </p:sp>
      <p:sp>
        <p:nvSpPr>
          <p:cNvPr id="5" name="Shape 3"/>
          <p:cNvSpPr/>
          <p:nvPr/>
        </p:nvSpPr>
        <p:spPr>
          <a:xfrm>
            <a:off x="566928" y="1938528"/>
            <a:ext cx="2048256" cy="2212848"/>
          </a:xfrm>
          <a:prstGeom prst="roundRect">
            <a:avLst>
              <a:gd name="adj" fmla="val 4018"/>
            </a:avLst>
          </a:prstGeom>
          <a:solidFill>
            <a:srgbClr val="F2F4F8"/>
          </a:solidFill>
          <a:ln/>
        </p:spPr>
        <p:txBody>
          <a:bodyPr/>
          <a:lstStyle/>
          <a:p>
            <a:endParaRPr lang="en-US"/>
          </a:p>
        </p:txBody>
      </p:sp>
      <p:sp>
        <p:nvSpPr>
          <p:cNvPr id="6" name="Shape 4"/>
          <p:cNvSpPr/>
          <p:nvPr/>
        </p:nvSpPr>
        <p:spPr>
          <a:xfrm>
            <a:off x="786384" y="2139696"/>
            <a:ext cx="457200" cy="457200"/>
          </a:xfrm>
          <a:prstGeom prst="ellipse">
            <a:avLst/>
          </a:prstGeom>
          <a:solidFill>
            <a:srgbClr val="9AA3B2"/>
          </a:solidFill>
          <a:ln/>
        </p:spPr>
        <p:txBody>
          <a:bodyPr/>
          <a:lstStyle/>
          <a:p>
            <a:endParaRPr lang="en-US"/>
          </a:p>
        </p:txBody>
      </p:sp>
      <p:pic>
        <p:nvPicPr>
          <p:cNvPr id="7" name="Image 0" descr="/home/claude/icons/FaMagnifyingGlassChart_w.png"/>
          <p:cNvPicPr>
            <a:picLocks noChangeAspect="1"/>
          </p:cNvPicPr>
          <p:nvPr/>
        </p:nvPicPr>
        <p:blipFill>
          <a:blip r:embed="rId3"/>
          <a:stretch>
            <a:fillRect/>
          </a:stretch>
        </p:blipFill>
        <p:spPr>
          <a:xfrm>
            <a:off x="905256" y="2258568"/>
            <a:ext cx="219456" cy="219456"/>
          </a:xfrm>
          <a:prstGeom prst="rect">
            <a:avLst/>
          </a:prstGeom>
        </p:spPr>
      </p:pic>
      <p:sp>
        <p:nvSpPr>
          <p:cNvPr id="8" name="Text 5"/>
          <p:cNvSpPr/>
          <p:nvPr/>
        </p:nvSpPr>
        <p:spPr>
          <a:xfrm>
            <a:off x="786384"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Collect</a:t>
            </a:r>
            <a:endParaRPr lang="en-US" sz="1200"/>
          </a:p>
        </p:txBody>
      </p:sp>
      <p:sp>
        <p:nvSpPr>
          <p:cNvPr id="9" name="Text 6"/>
          <p:cNvSpPr/>
          <p:nvPr/>
        </p:nvSpPr>
        <p:spPr>
          <a:xfrm>
            <a:off x="786384" y="2962656"/>
            <a:ext cx="1755648" cy="1051560"/>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Videos, livestreams, interviews, voice notes and posts are gathered from public profiles.</a:t>
            </a:r>
            <a:endParaRPr lang="en-US" sz="980"/>
          </a:p>
        </p:txBody>
      </p:sp>
      <p:sp>
        <p:nvSpPr>
          <p:cNvPr id="10" name="Shape 7"/>
          <p:cNvSpPr/>
          <p:nvPr/>
        </p:nvSpPr>
        <p:spPr>
          <a:xfrm rot="5400000">
            <a:off x="2642616" y="2834640"/>
            <a:ext cx="128016" cy="146304"/>
          </a:xfrm>
          <a:prstGeom prst="triangle">
            <a:avLst/>
          </a:prstGeom>
          <a:solidFill>
            <a:srgbClr val="9AA3B2"/>
          </a:solidFill>
          <a:ln/>
        </p:spPr>
        <p:txBody>
          <a:bodyPr/>
          <a:lstStyle/>
          <a:p>
            <a:endParaRPr lang="en-US"/>
          </a:p>
        </p:txBody>
      </p:sp>
      <p:sp>
        <p:nvSpPr>
          <p:cNvPr id="11" name="Shape 8"/>
          <p:cNvSpPr/>
          <p:nvPr/>
        </p:nvSpPr>
        <p:spPr>
          <a:xfrm>
            <a:off x="2816352" y="1938528"/>
            <a:ext cx="2048256" cy="2212848"/>
          </a:xfrm>
          <a:prstGeom prst="roundRect">
            <a:avLst>
              <a:gd name="adj" fmla="val 4018"/>
            </a:avLst>
          </a:prstGeom>
          <a:solidFill>
            <a:srgbClr val="F2F4F8"/>
          </a:solidFill>
          <a:ln/>
        </p:spPr>
        <p:txBody>
          <a:bodyPr/>
          <a:lstStyle/>
          <a:p>
            <a:endParaRPr lang="en-US"/>
          </a:p>
        </p:txBody>
      </p:sp>
      <p:sp>
        <p:nvSpPr>
          <p:cNvPr id="12" name="Shape 9"/>
          <p:cNvSpPr/>
          <p:nvPr/>
        </p:nvSpPr>
        <p:spPr>
          <a:xfrm>
            <a:off x="3035808" y="2139696"/>
            <a:ext cx="457200" cy="457200"/>
          </a:xfrm>
          <a:prstGeom prst="ellipse">
            <a:avLst/>
          </a:prstGeom>
          <a:solidFill>
            <a:srgbClr val="6A5AC7"/>
          </a:solidFill>
          <a:ln/>
        </p:spPr>
        <p:txBody>
          <a:bodyPr/>
          <a:lstStyle/>
          <a:p>
            <a:endParaRPr lang="en-US"/>
          </a:p>
        </p:txBody>
      </p:sp>
      <p:pic>
        <p:nvPicPr>
          <p:cNvPr id="13" name="Image 1" descr="/home/claude/icons/FaBrain_w.png"/>
          <p:cNvPicPr>
            <a:picLocks noChangeAspect="1"/>
          </p:cNvPicPr>
          <p:nvPr/>
        </p:nvPicPr>
        <p:blipFill>
          <a:blip r:embed="rId4"/>
          <a:stretch>
            <a:fillRect/>
          </a:stretch>
        </p:blipFill>
        <p:spPr>
          <a:xfrm>
            <a:off x="3154680" y="2258568"/>
            <a:ext cx="219456" cy="219456"/>
          </a:xfrm>
          <a:prstGeom prst="rect">
            <a:avLst/>
          </a:prstGeom>
        </p:spPr>
      </p:pic>
      <p:sp>
        <p:nvSpPr>
          <p:cNvPr id="14" name="Text 10"/>
          <p:cNvSpPr/>
          <p:nvPr/>
        </p:nvSpPr>
        <p:spPr>
          <a:xfrm>
            <a:off x="3035808"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Train</a:t>
            </a:r>
            <a:endParaRPr lang="en-US" sz="1200"/>
          </a:p>
        </p:txBody>
      </p:sp>
      <p:sp>
        <p:nvSpPr>
          <p:cNvPr id="15" name="Text 11"/>
          <p:cNvSpPr/>
          <p:nvPr/>
        </p:nvSpPr>
        <p:spPr>
          <a:xfrm>
            <a:off x="3035808" y="2962656"/>
            <a:ext cx="1755648" cy="1051560"/>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A model learns the voice, face, and speech patterns from those samples.</a:t>
            </a:r>
            <a:endParaRPr lang="en-US" sz="980"/>
          </a:p>
        </p:txBody>
      </p:sp>
      <p:sp>
        <p:nvSpPr>
          <p:cNvPr id="16" name="Shape 12"/>
          <p:cNvSpPr/>
          <p:nvPr/>
        </p:nvSpPr>
        <p:spPr>
          <a:xfrm rot="5400000">
            <a:off x="4892040" y="2834640"/>
            <a:ext cx="128016" cy="146304"/>
          </a:xfrm>
          <a:prstGeom prst="triangle">
            <a:avLst/>
          </a:prstGeom>
          <a:solidFill>
            <a:srgbClr val="9AA3B2"/>
          </a:solidFill>
          <a:ln/>
        </p:spPr>
        <p:txBody>
          <a:bodyPr/>
          <a:lstStyle/>
          <a:p>
            <a:endParaRPr lang="en-US"/>
          </a:p>
        </p:txBody>
      </p:sp>
      <p:sp>
        <p:nvSpPr>
          <p:cNvPr id="17" name="Shape 13"/>
          <p:cNvSpPr/>
          <p:nvPr/>
        </p:nvSpPr>
        <p:spPr>
          <a:xfrm>
            <a:off x="5065776" y="1938528"/>
            <a:ext cx="2048256" cy="2212848"/>
          </a:xfrm>
          <a:prstGeom prst="roundRect">
            <a:avLst>
              <a:gd name="adj" fmla="val 4018"/>
            </a:avLst>
          </a:prstGeom>
          <a:solidFill>
            <a:srgbClr val="F2F4F8"/>
          </a:solidFill>
          <a:ln/>
        </p:spPr>
        <p:txBody>
          <a:bodyPr/>
          <a:lstStyle/>
          <a:p>
            <a:endParaRPr lang="en-US"/>
          </a:p>
        </p:txBody>
      </p:sp>
      <p:sp>
        <p:nvSpPr>
          <p:cNvPr id="18" name="Shape 14"/>
          <p:cNvSpPr/>
          <p:nvPr/>
        </p:nvSpPr>
        <p:spPr>
          <a:xfrm>
            <a:off x="5285232" y="2139696"/>
            <a:ext cx="457200" cy="457200"/>
          </a:xfrm>
          <a:prstGeom prst="ellipse">
            <a:avLst/>
          </a:prstGeom>
          <a:solidFill>
            <a:srgbClr val="F2A03D"/>
          </a:solidFill>
          <a:ln/>
        </p:spPr>
        <p:txBody>
          <a:bodyPr/>
          <a:lstStyle/>
          <a:p>
            <a:endParaRPr lang="en-US"/>
          </a:p>
        </p:txBody>
      </p:sp>
      <p:pic>
        <p:nvPicPr>
          <p:cNvPr id="19" name="Image 2" descr="/home/claude/icons/FaPeopleGroup_w.png"/>
          <p:cNvPicPr>
            <a:picLocks noChangeAspect="1"/>
          </p:cNvPicPr>
          <p:nvPr/>
        </p:nvPicPr>
        <p:blipFill>
          <a:blip r:embed="rId5"/>
          <a:stretch>
            <a:fillRect/>
          </a:stretch>
        </p:blipFill>
        <p:spPr>
          <a:xfrm>
            <a:off x="5404104" y="2258568"/>
            <a:ext cx="219456" cy="219456"/>
          </a:xfrm>
          <a:prstGeom prst="rect">
            <a:avLst/>
          </a:prstGeom>
        </p:spPr>
      </p:pic>
      <p:sp>
        <p:nvSpPr>
          <p:cNvPr id="20" name="Text 15"/>
          <p:cNvSpPr/>
          <p:nvPr/>
        </p:nvSpPr>
        <p:spPr>
          <a:xfrm>
            <a:off x="5285232"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Target</a:t>
            </a:r>
            <a:endParaRPr lang="en-US" sz="1200"/>
          </a:p>
        </p:txBody>
      </p:sp>
      <p:sp>
        <p:nvSpPr>
          <p:cNvPr id="21" name="Text 16"/>
          <p:cNvSpPr/>
          <p:nvPr/>
        </p:nvSpPr>
        <p:spPr>
          <a:xfrm>
            <a:off x="5285232" y="2962656"/>
            <a:ext cx="1755648" cy="1051560"/>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Reconnaissance identifies who trusts the person and who can authorise money or access.</a:t>
            </a:r>
            <a:endParaRPr lang="en-US" sz="980"/>
          </a:p>
        </p:txBody>
      </p:sp>
      <p:sp>
        <p:nvSpPr>
          <p:cNvPr id="22" name="Shape 17"/>
          <p:cNvSpPr/>
          <p:nvPr/>
        </p:nvSpPr>
        <p:spPr>
          <a:xfrm rot="5400000">
            <a:off x="7141464" y="2834640"/>
            <a:ext cx="128016" cy="146304"/>
          </a:xfrm>
          <a:prstGeom prst="triangle">
            <a:avLst/>
          </a:prstGeom>
          <a:solidFill>
            <a:srgbClr val="9AA3B2"/>
          </a:solidFill>
          <a:ln/>
        </p:spPr>
        <p:txBody>
          <a:bodyPr/>
          <a:lstStyle/>
          <a:p>
            <a:endParaRPr lang="en-US"/>
          </a:p>
        </p:txBody>
      </p:sp>
      <p:sp>
        <p:nvSpPr>
          <p:cNvPr id="23" name="Shape 18"/>
          <p:cNvSpPr/>
          <p:nvPr/>
        </p:nvSpPr>
        <p:spPr>
          <a:xfrm>
            <a:off x="7315200" y="1938528"/>
            <a:ext cx="2048256" cy="2212848"/>
          </a:xfrm>
          <a:prstGeom prst="roundRect">
            <a:avLst>
              <a:gd name="adj" fmla="val 4018"/>
            </a:avLst>
          </a:prstGeom>
          <a:solidFill>
            <a:srgbClr val="F2F4F8"/>
          </a:solidFill>
          <a:ln/>
        </p:spPr>
        <p:txBody>
          <a:bodyPr/>
          <a:lstStyle/>
          <a:p>
            <a:endParaRPr lang="en-US"/>
          </a:p>
        </p:txBody>
      </p:sp>
      <p:sp>
        <p:nvSpPr>
          <p:cNvPr id="24" name="Shape 19"/>
          <p:cNvSpPr/>
          <p:nvPr/>
        </p:nvSpPr>
        <p:spPr>
          <a:xfrm>
            <a:off x="7534656" y="2139696"/>
            <a:ext cx="457200" cy="457200"/>
          </a:xfrm>
          <a:prstGeom prst="ellipse">
            <a:avLst/>
          </a:prstGeom>
          <a:solidFill>
            <a:srgbClr val="F2A03D"/>
          </a:solidFill>
          <a:ln/>
        </p:spPr>
        <p:txBody>
          <a:bodyPr/>
          <a:lstStyle/>
          <a:p>
            <a:endParaRPr lang="en-US"/>
          </a:p>
        </p:txBody>
      </p:sp>
      <p:pic>
        <p:nvPicPr>
          <p:cNvPr id="25" name="Image 3" descr="/home/claude/icons/FaPhoneVolume_w.png"/>
          <p:cNvPicPr>
            <a:picLocks noChangeAspect="1"/>
          </p:cNvPicPr>
          <p:nvPr/>
        </p:nvPicPr>
        <p:blipFill>
          <a:blip r:embed="rId6"/>
          <a:stretch>
            <a:fillRect/>
          </a:stretch>
        </p:blipFill>
        <p:spPr>
          <a:xfrm>
            <a:off x="7653528" y="2258568"/>
            <a:ext cx="219456" cy="219456"/>
          </a:xfrm>
          <a:prstGeom prst="rect">
            <a:avLst/>
          </a:prstGeom>
        </p:spPr>
      </p:pic>
      <p:sp>
        <p:nvSpPr>
          <p:cNvPr id="26" name="Text 20"/>
          <p:cNvSpPr/>
          <p:nvPr/>
        </p:nvSpPr>
        <p:spPr>
          <a:xfrm>
            <a:off x="7534656"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Contact</a:t>
            </a:r>
            <a:endParaRPr lang="en-US" sz="1200"/>
          </a:p>
        </p:txBody>
      </p:sp>
      <p:sp>
        <p:nvSpPr>
          <p:cNvPr id="27" name="Text 21"/>
          <p:cNvSpPr/>
          <p:nvPr/>
        </p:nvSpPr>
        <p:spPr>
          <a:xfrm>
            <a:off x="7534656" y="2962656"/>
            <a:ext cx="1755648" cy="1051560"/>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A call or video meeting delivers an urgent, confidential request in that familiar voice.</a:t>
            </a:r>
            <a:endParaRPr lang="en-US" sz="980"/>
          </a:p>
        </p:txBody>
      </p:sp>
      <p:sp>
        <p:nvSpPr>
          <p:cNvPr id="28" name="Shape 22"/>
          <p:cNvSpPr/>
          <p:nvPr/>
        </p:nvSpPr>
        <p:spPr>
          <a:xfrm rot="5400000">
            <a:off x="9390888" y="2834640"/>
            <a:ext cx="128016" cy="146304"/>
          </a:xfrm>
          <a:prstGeom prst="triangle">
            <a:avLst/>
          </a:prstGeom>
          <a:solidFill>
            <a:srgbClr val="9AA3B2"/>
          </a:solidFill>
          <a:ln/>
        </p:spPr>
        <p:txBody>
          <a:bodyPr/>
          <a:lstStyle/>
          <a:p>
            <a:endParaRPr lang="en-US"/>
          </a:p>
        </p:txBody>
      </p:sp>
      <p:sp>
        <p:nvSpPr>
          <p:cNvPr id="29" name="Shape 23"/>
          <p:cNvSpPr/>
          <p:nvPr/>
        </p:nvSpPr>
        <p:spPr>
          <a:xfrm>
            <a:off x="9564624" y="1938528"/>
            <a:ext cx="2048256" cy="2212848"/>
          </a:xfrm>
          <a:prstGeom prst="roundRect">
            <a:avLst>
              <a:gd name="adj" fmla="val 4018"/>
            </a:avLst>
          </a:prstGeom>
          <a:solidFill>
            <a:srgbClr val="F2F4F8"/>
          </a:solidFill>
          <a:ln/>
        </p:spPr>
        <p:txBody>
          <a:bodyPr/>
          <a:lstStyle/>
          <a:p>
            <a:endParaRPr lang="en-US"/>
          </a:p>
        </p:txBody>
      </p:sp>
      <p:sp>
        <p:nvSpPr>
          <p:cNvPr id="30" name="Shape 24"/>
          <p:cNvSpPr/>
          <p:nvPr/>
        </p:nvSpPr>
        <p:spPr>
          <a:xfrm>
            <a:off x="9784080" y="2139696"/>
            <a:ext cx="457200" cy="457200"/>
          </a:xfrm>
          <a:prstGeom prst="ellipse">
            <a:avLst/>
          </a:prstGeom>
          <a:solidFill>
            <a:srgbClr val="D9483F"/>
          </a:solidFill>
          <a:ln/>
        </p:spPr>
        <p:txBody>
          <a:bodyPr/>
          <a:lstStyle/>
          <a:p>
            <a:endParaRPr lang="en-US"/>
          </a:p>
        </p:txBody>
      </p:sp>
      <p:pic>
        <p:nvPicPr>
          <p:cNvPr id="31" name="Image 4" descr="/home/claude/icons/FaMoneyBillTransfer_w.png"/>
          <p:cNvPicPr>
            <a:picLocks noChangeAspect="1"/>
          </p:cNvPicPr>
          <p:nvPr/>
        </p:nvPicPr>
        <p:blipFill>
          <a:blip r:embed="rId7"/>
          <a:stretch>
            <a:fillRect/>
          </a:stretch>
        </p:blipFill>
        <p:spPr>
          <a:xfrm>
            <a:off x="9902952" y="2258568"/>
            <a:ext cx="219456" cy="219456"/>
          </a:xfrm>
          <a:prstGeom prst="rect">
            <a:avLst/>
          </a:prstGeom>
        </p:spPr>
      </p:pic>
      <p:sp>
        <p:nvSpPr>
          <p:cNvPr id="32" name="Text 25"/>
          <p:cNvSpPr/>
          <p:nvPr/>
        </p:nvSpPr>
        <p:spPr>
          <a:xfrm>
            <a:off x="9784080"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Extract</a:t>
            </a:r>
            <a:endParaRPr lang="en-US" sz="1200"/>
          </a:p>
        </p:txBody>
      </p:sp>
      <p:sp>
        <p:nvSpPr>
          <p:cNvPr id="33" name="Text 26"/>
          <p:cNvSpPr/>
          <p:nvPr/>
        </p:nvSpPr>
        <p:spPr>
          <a:xfrm>
            <a:off x="9784080" y="2962656"/>
            <a:ext cx="1755648" cy="1051560"/>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Funds are transferred, or credentials and sensitive information are handed over.</a:t>
            </a:r>
            <a:endParaRPr lang="en-US" sz="980"/>
          </a:p>
        </p:txBody>
      </p:sp>
      <p:sp>
        <p:nvSpPr>
          <p:cNvPr id="34" name="Shape 27"/>
          <p:cNvSpPr/>
          <p:nvPr/>
        </p:nvSpPr>
        <p:spPr>
          <a:xfrm>
            <a:off x="566928" y="4334256"/>
            <a:ext cx="5486400" cy="1170432"/>
          </a:xfrm>
          <a:prstGeom prst="roundRect">
            <a:avLst>
              <a:gd name="adj" fmla="val 7031"/>
            </a:avLst>
          </a:prstGeom>
          <a:solidFill>
            <a:srgbClr val="EFEDFA"/>
          </a:solidFill>
          <a:ln/>
        </p:spPr>
        <p:txBody>
          <a:bodyPr/>
          <a:lstStyle/>
          <a:p>
            <a:endParaRPr lang="en-US"/>
          </a:p>
        </p:txBody>
      </p:sp>
      <p:sp>
        <p:nvSpPr>
          <p:cNvPr id="35" name="Shape 28"/>
          <p:cNvSpPr/>
          <p:nvPr/>
        </p:nvSpPr>
        <p:spPr>
          <a:xfrm>
            <a:off x="822960" y="4553712"/>
            <a:ext cx="438912" cy="438912"/>
          </a:xfrm>
          <a:prstGeom prst="ellipse">
            <a:avLst/>
          </a:prstGeom>
          <a:solidFill>
            <a:srgbClr val="6A5AC7"/>
          </a:solidFill>
          <a:ln/>
        </p:spPr>
        <p:txBody>
          <a:bodyPr/>
          <a:lstStyle/>
          <a:p>
            <a:endParaRPr lang="en-US"/>
          </a:p>
        </p:txBody>
      </p:sp>
      <p:pic>
        <p:nvPicPr>
          <p:cNvPr id="36" name="Image 5" descr="/home/claude/icons/FaMicrophoneLines_w.png"/>
          <p:cNvPicPr>
            <a:picLocks noChangeAspect="1"/>
          </p:cNvPicPr>
          <p:nvPr/>
        </p:nvPicPr>
        <p:blipFill>
          <a:blip r:embed="rId8"/>
          <a:stretch>
            <a:fillRect/>
          </a:stretch>
        </p:blipFill>
        <p:spPr>
          <a:xfrm>
            <a:off x="937077" y="4667829"/>
            <a:ext cx="210678" cy="210678"/>
          </a:xfrm>
          <a:prstGeom prst="rect">
            <a:avLst/>
          </a:prstGeom>
        </p:spPr>
      </p:pic>
      <p:sp>
        <p:nvSpPr>
          <p:cNvPr id="37" name="Text 29"/>
          <p:cNvSpPr/>
          <p:nvPr/>
        </p:nvSpPr>
        <p:spPr>
          <a:xfrm>
            <a:off x="1389888" y="4517136"/>
            <a:ext cx="438912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Why voice matters more than it used to</a:t>
            </a:r>
            <a:endParaRPr lang="en-US" sz="1200"/>
          </a:p>
        </p:txBody>
      </p:sp>
      <p:sp>
        <p:nvSpPr>
          <p:cNvPr id="38" name="Text 30"/>
          <p:cNvSpPr/>
          <p:nvPr/>
        </p:nvSpPr>
        <p:spPr>
          <a:xfrm>
            <a:off x="1389888" y="4791456"/>
            <a:ext cx="4572000" cy="640080"/>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As more organisations adopt voice-based authentication, a cloned voice stops being merely persuasive and becomes a credential. The CED makes this point directly: the potential impact of voice impersonation grows as voice becomes a login.</a:t>
            </a:r>
            <a:endParaRPr lang="en-US" sz="1030"/>
          </a:p>
        </p:txBody>
      </p:sp>
      <p:sp>
        <p:nvSpPr>
          <p:cNvPr id="39" name="Shape 31"/>
          <p:cNvSpPr/>
          <p:nvPr/>
        </p:nvSpPr>
        <p:spPr>
          <a:xfrm>
            <a:off x="6263640" y="4334256"/>
            <a:ext cx="5358384" cy="1170432"/>
          </a:xfrm>
          <a:prstGeom prst="roundRect">
            <a:avLst>
              <a:gd name="adj" fmla="val 7031"/>
            </a:avLst>
          </a:prstGeom>
          <a:solidFill>
            <a:srgbClr val="12141C"/>
          </a:solidFill>
          <a:ln/>
        </p:spPr>
        <p:txBody>
          <a:bodyPr/>
          <a:lstStyle/>
          <a:p>
            <a:endParaRPr lang="en-US"/>
          </a:p>
        </p:txBody>
      </p:sp>
      <p:sp>
        <p:nvSpPr>
          <p:cNvPr id="40" name="Shape 32"/>
          <p:cNvSpPr/>
          <p:nvPr/>
        </p:nvSpPr>
        <p:spPr>
          <a:xfrm>
            <a:off x="6519672" y="4553712"/>
            <a:ext cx="438912" cy="438912"/>
          </a:xfrm>
          <a:prstGeom prst="ellipse">
            <a:avLst/>
          </a:prstGeom>
          <a:solidFill>
            <a:srgbClr val="F2A03D"/>
          </a:solidFill>
          <a:ln/>
        </p:spPr>
        <p:txBody>
          <a:bodyPr/>
          <a:lstStyle/>
          <a:p>
            <a:endParaRPr lang="en-US"/>
          </a:p>
        </p:txBody>
      </p:sp>
      <p:pic>
        <p:nvPicPr>
          <p:cNvPr id="41" name="Image 6" descr="/home/claude/icons/FaHand_w.png"/>
          <p:cNvPicPr>
            <a:picLocks noChangeAspect="1"/>
          </p:cNvPicPr>
          <p:nvPr/>
        </p:nvPicPr>
        <p:blipFill>
          <a:blip r:embed="rId9"/>
          <a:stretch>
            <a:fillRect/>
          </a:stretch>
        </p:blipFill>
        <p:spPr>
          <a:xfrm>
            <a:off x="6633789" y="4667829"/>
            <a:ext cx="210678" cy="210678"/>
          </a:xfrm>
          <a:prstGeom prst="rect">
            <a:avLst/>
          </a:prstGeom>
        </p:spPr>
      </p:pic>
      <p:sp>
        <p:nvSpPr>
          <p:cNvPr id="42" name="Text 33"/>
          <p:cNvSpPr/>
          <p:nvPr/>
        </p:nvSpPr>
        <p:spPr>
          <a:xfrm>
            <a:off x="7086600" y="4517136"/>
            <a:ext cx="438912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The indicator that still works</a:t>
            </a:r>
            <a:endParaRPr lang="en-US" sz="1200"/>
          </a:p>
        </p:txBody>
      </p:sp>
      <p:sp>
        <p:nvSpPr>
          <p:cNvPr id="43" name="Text 34"/>
          <p:cNvSpPr/>
          <p:nvPr/>
        </p:nvSpPr>
        <p:spPr>
          <a:xfrm>
            <a:off x="7086600" y="4791456"/>
            <a:ext cx="4389120" cy="640080"/>
          </a:xfrm>
          <a:prstGeom prst="rect">
            <a:avLst/>
          </a:prstGeom>
          <a:noFill/>
          <a:ln/>
        </p:spPr>
        <p:txBody>
          <a:bodyPr wrap="square" lIns="0" tIns="0" rIns="0" bIns="0" rtlCol="0" anchor="t"/>
          <a:lstStyle/>
          <a:p>
            <a:pPr marL="0" indent="0">
              <a:lnSpc>
                <a:spcPts val="1340"/>
              </a:lnSpc>
              <a:buNone/>
            </a:pPr>
            <a:r>
              <a:rPr lang="en-US" sz="1030">
                <a:solidFill>
                  <a:srgbClr val="9AA3B2"/>
                </a:solidFill>
                <a:latin typeface="Calibri" pitchFamily="34" charset="0"/>
                <a:ea typeface="Calibri" pitchFamily="34" charset="-122"/>
                <a:cs typeface="Calibri" pitchFamily="34" charset="-120"/>
              </a:rPr>
              <a:t>The request, not the voice. Secrecy, urgency, an unusual payment route, and pressure to bypass a normal process are exactly what they always were — and no amount of realism changes them.</a:t>
            </a:r>
            <a:endParaRPr lang="en-US" sz="1030"/>
          </a:p>
        </p:txBody>
      </p:sp>
      <p:sp>
        <p:nvSpPr>
          <p:cNvPr id="44" name="Text 3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5" name="Text 3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39</a:t>
            </a:r>
            <a:endParaRPr lang="en-US" sz="9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6A5AC7"/>
                </a:solidFill>
                <a:latin typeface="Calibri" pitchFamily="34" charset="0"/>
                <a:ea typeface="Calibri" pitchFamily="34" charset="-122"/>
                <a:cs typeface="Calibri" pitchFamily="34" charset="-120"/>
              </a:rPr>
              <a:t>1.4.A.3 – 1.4.A.4  ·  ATTACKING THE MODEL ITSELF</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When the AI tool is the target, not the weapon</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Two risks that are unique to systems built on large language models.</a:t>
            </a:r>
            <a:endParaRPr lang="en-US" sz="1400"/>
          </a:p>
        </p:txBody>
      </p:sp>
      <p:sp>
        <p:nvSpPr>
          <p:cNvPr id="5" name="Shape 3"/>
          <p:cNvSpPr/>
          <p:nvPr/>
        </p:nvSpPr>
        <p:spPr>
          <a:xfrm>
            <a:off x="566928" y="1938528"/>
            <a:ext cx="5394960" cy="3566160"/>
          </a:xfrm>
          <a:prstGeom prst="roundRect">
            <a:avLst>
              <a:gd name="adj" fmla="val 2308"/>
            </a:avLst>
          </a:prstGeom>
          <a:solidFill>
            <a:srgbClr val="F2F4F8"/>
          </a:solidFill>
          <a:ln/>
        </p:spPr>
        <p:txBody>
          <a:bodyPr/>
          <a:lstStyle/>
          <a:p>
            <a:endParaRPr lang="en-US"/>
          </a:p>
        </p:txBody>
      </p:sp>
      <p:sp>
        <p:nvSpPr>
          <p:cNvPr id="6" name="Shape 4"/>
          <p:cNvSpPr/>
          <p:nvPr/>
        </p:nvSpPr>
        <p:spPr>
          <a:xfrm>
            <a:off x="822960" y="2139696"/>
            <a:ext cx="493776" cy="493776"/>
          </a:xfrm>
          <a:prstGeom prst="ellipse">
            <a:avLst/>
          </a:prstGeom>
          <a:solidFill>
            <a:srgbClr val="6A5AC7"/>
          </a:solidFill>
          <a:ln/>
        </p:spPr>
        <p:txBody>
          <a:bodyPr/>
          <a:lstStyle/>
          <a:p>
            <a:endParaRPr lang="en-US"/>
          </a:p>
        </p:txBody>
      </p:sp>
      <p:pic>
        <p:nvPicPr>
          <p:cNvPr id="7" name="Image 0" descr="/home/claude/icons/FaCommentDots_w.png"/>
          <p:cNvPicPr>
            <a:picLocks noChangeAspect="1"/>
          </p:cNvPicPr>
          <p:nvPr/>
        </p:nvPicPr>
        <p:blipFill>
          <a:blip r:embed="rId3"/>
          <a:stretch>
            <a:fillRect/>
          </a:stretch>
        </p:blipFill>
        <p:spPr>
          <a:xfrm>
            <a:off x="951342" y="2268078"/>
            <a:ext cx="237012" cy="237012"/>
          </a:xfrm>
          <a:prstGeom prst="rect">
            <a:avLst/>
          </a:prstGeom>
        </p:spPr>
      </p:pic>
      <p:sp>
        <p:nvSpPr>
          <p:cNvPr id="8" name="Text 5"/>
          <p:cNvSpPr/>
          <p:nvPr/>
        </p:nvSpPr>
        <p:spPr>
          <a:xfrm>
            <a:off x="1426464" y="2194560"/>
            <a:ext cx="4297680" cy="256032"/>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Extracting sensitive information</a:t>
            </a:r>
            <a:endParaRPr lang="en-US" sz="1300"/>
          </a:p>
        </p:txBody>
      </p:sp>
      <p:sp>
        <p:nvSpPr>
          <p:cNvPr id="9" name="Text 6"/>
          <p:cNvSpPr/>
          <p:nvPr/>
        </p:nvSpPr>
        <p:spPr>
          <a:xfrm>
            <a:off x="822960" y="2798064"/>
            <a:ext cx="4846320" cy="914400"/>
          </a:xfrm>
          <a:prstGeom prst="rect">
            <a:avLst/>
          </a:prstGeom>
          <a:noFill/>
          <a:ln/>
        </p:spPr>
        <p:txBody>
          <a:bodyPr wrap="square" lIns="0" tIns="0" rIns="0" bIns="0" rtlCol="0" anchor="t"/>
          <a:lstStyle/>
          <a:p>
            <a:pPr marL="0" indent="0">
              <a:lnSpc>
                <a:spcPts val="1400"/>
              </a:lnSpc>
              <a:buNone/>
            </a:pPr>
            <a:r>
              <a:rPr lang="en-US" sz="1080">
                <a:solidFill>
                  <a:srgbClr val="2B303C"/>
                </a:solidFill>
                <a:latin typeface="Calibri" pitchFamily="34" charset="0"/>
                <a:ea typeface="Calibri" pitchFamily="34" charset="-122"/>
                <a:cs typeface="Calibri" pitchFamily="34" charset="-120"/>
              </a:rPr>
              <a:t>An adversary writes prompts designed to make a model reveal information it should not. That information can come from two places: what other users typed into it, and the large datasets it was trained on.</a:t>
            </a:r>
            <a:endParaRPr lang="en-US" sz="1080"/>
          </a:p>
        </p:txBody>
      </p:sp>
      <p:sp>
        <p:nvSpPr>
          <p:cNvPr id="10" name="Shape 7"/>
          <p:cNvSpPr/>
          <p:nvPr/>
        </p:nvSpPr>
        <p:spPr>
          <a:xfrm>
            <a:off x="822960" y="3785616"/>
            <a:ext cx="4864608" cy="749808"/>
          </a:xfrm>
          <a:prstGeom prst="roundRect">
            <a:avLst>
              <a:gd name="adj" fmla="val 10976"/>
            </a:avLst>
          </a:prstGeom>
          <a:solidFill>
            <a:srgbClr val="FFFFFF"/>
          </a:solidFill>
          <a:ln/>
        </p:spPr>
        <p:txBody>
          <a:bodyPr/>
          <a:lstStyle/>
          <a:p>
            <a:endParaRPr lang="en-US"/>
          </a:p>
        </p:txBody>
      </p:sp>
      <p:sp>
        <p:nvSpPr>
          <p:cNvPr id="11" name="Text 8"/>
          <p:cNvSpPr/>
          <p:nvPr/>
        </p:nvSpPr>
        <p:spPr>
          <a:xfrm>
            <a:off x="987552" y="3877056"/>
            <a:ext cx="4553712" cy="603504"/>
          </a:xfrm>
          <a:prstGeom prst="rect">
            <a:avLst/>
          </a:prstGeom>
          <a:noFill/>
          <a:ln/>
        </p:spPr>
        <p:txBody>
          <a:bodyPr wrap="square" lIns="0" tIns="0" rIns="0" bIns="0" rtlCol="0" anchor="t"/>
          <a:lstStyle/>
          <a:p>
            <a:pPr marL="0" indent="0">
              <a:lnSpc>
                <a:spcPts val="1280"/>
              </a:lnSpc>
              <a:buNone/>
            </a:pPr>
            <a:r>
              <a:rPr lang="en-US" sz="990">
                <a:solidFill>
                  <a:srgbClr val="6B7280"/>
                </a:solidFill>
                <a:latin typeface="Calibri" pitchFamily="34" charset="0"/>
                <a:ea typeface="Calibri" pitchFamily="34" charset="-122"/>
                <a:cs typeface="Calibri" pitchFamily="34" charset="-120"/>
              </a:rPr>
              <a:t>Concrete case: an employee pastes a customer list into a chatbot to summarise it. Later prompts are crafted to draw that content back out.</a:t>
            </a:r>
            <a:endParaRPr lang="en-US" sz="990"/>
          </a:p>
        </p:txBody>
      </p:sp>
      <p:sp>
        <p:nvSpPr>
          <p:cNvPr id="12" name="Shape 9"/>
          <p:cNvSpPr/>
          <p:nvPr/>
        </p:nvSpPr>
        <p:spPr>
          <a:xfrm>
            <a:off x="822960" y="4626864"/>
            <a:ext cx="4864608" cy="749808"/>
          </a:xfrm>
          <a:prstGeom prst="roundRect">
            <a:avLst>
              <a:gd name="adj" fmla="val 10976"/>
            </a:avLst>
          </a:prstGeom>
          <a:solidFill>
            <a:srgbClr val="EFEDFA"/>
          </a:solidFill>
          <a:ln/>
        </p:spPr>
        <p:txBody>
          <a:bodyPr/>
          <a:lstStyle/>
          <a:p>
            <a:endParaRPr lang="en-US"/>
          </a:p>
        </p:txBody>
      </p:sp>
      <p:sp>
        <p:nvSpPr>
          <p:cNvPr id="13" name="Text 10"/>
          <p:cNvSpPr/>
          <p:nvPr/>
        </p:nvSpPr>
        <p:spPr>
          <a:xfrm>
            <a:off x="987552" y="4700016"/>
            <a:ext cx="4553712" cy="640080"/>
          </a:xfrm>
          <a:prstGeom prst="rect">
            <a:avLst/>
          </a:prstGeom>
          <a:noFill/>
          <a:ln/>
        </p:spPr>
        <p:txBody>
          <a:bodyPr wrap="square" lIns="0" tIns="0" rIns="0" bIns="0" rtlCol="0" anchor="t"/>
          <a:lstStyle/>
          <a:p>
            <a:pPr marL="0" indent="0">
              <a:lnSpc>
                <a:spcPts val="1280"/>
              </a:lnSpc>
              <a:buNone/>
            </a:pPr>
            <a:r>
              <a:rPr lang="en-US" sz="990">
                <a:solidFill>
                  <a:srgbClr val="12141C"/>
                </a:solidFill>
                <a:latin typeface="Calibri" pitchFamily="34" charset="0"/>
                <a:ea typeface="Calibri" pitchFamily="34" charset="-122"/>
                <a:cs typeface="Calibri" pitchFamily="34" charset="-120"/>
              </a:rPr>
              <a:t>Control: never enter personal or sensitive data into an AI tool. Some tools feed user input back into the model for continued training.</a:t>
            </a:r>
            <a:endParaRPr lang="en-US" sz="990"/>
          </a:p>
        </p:txBody>
      </p:sp>
      <p:sp>
        <p:nvSpPr>
          <p:cNvPr id="14" name="Shape 11"/>
          <p:cNvSpPr/>
          <p:nvPr/>
        </p:nvSpPr>
        <p:spPr>
          <a:xfrm>
            <a:off x="6190488" y="1938528"/>
            <a:ext cx="5394960" cy="3566160"/>
          </a:xfrm>
          <a:prstGeom prst="roundRect">
            <a:avLst>
              <a:gd name="adj" fmla="val 2308"/>
            </a:avLst>
          </a:prstGeom>
          <a:solidFill>
            <a:srgbClr val="F2F4F8"/>
          </a:solidFill>
          <a:ln/>
        </p:spPr>
        <p:txBody>
          <a:bodyPr/>
          <a:lstStyle/>
          <a:p>
            <a:endParaRPr lang="en-US"/>
          </a:p>
        </p:txBody>
      </p:sp>
      <p:sp>
        <p:nvSpPr>
          <p:cNvPr id="15" name="Shape 12"/>
          <p:cNvSpPr/>
          <p:nvPr/>
        </p:nvSpPr>
        <p:spPr>
          <a:xfrm>
            <a:off x="6446520" y="2139696"/>
            <a:ext cx="493776" cy="493776"/>
          </a:xfrm>
          <a:prstGeom prst="ellipse">
            <a:avLst/>
          </a:prstGeom>
          <a:solidFill>
            <a:srgbClr val="F2A03D"/>
          </a:solidFill>
          <a:ln/>
        </p:spPr>
        <p:txBody>
          <a:bodyPr/>
          <a:lstStyle/>
          <a:p>
            <a:endParaRPr lang="en-US"/>
          </a:p>
        </p:txBody>
      </p:sp>
      <p:pic>
        <p:nvPicPr>
          <p:cNvPr id="16" name="Image 1" descr="/home/claude/icons/FaGlobe_w.png"/>
          <p:cNvPicPr>
            <a:picLocks noChangeAspect="1"/>
          </p:cNvPicPr>
          <p:nvPr/>
        </p:nvPicPr>
        <p:blipFill>
          <a:blip r:embed="rId4"/>
          <a:stretch>
            <a:fillRect/>
          </a:stretch>
        </p:blipFill>
        <p:spPr>
          <a:xfrm>
            <a:off x="6574902" y="2268078"/>
            <a:ext cx="237012" cy="237012"/>
          </a:xfrm>
          <a:prstGeom prst="rect">
            <a:avLst/>
          </a:prstGeom>
        </p:spPr>
      </p:pic>
      <p:sp>
        <p:nvSpPr>
          <p:cNvPr id="17" name="Text 13"/>
          <p:cNvSpPr/>
          <p:nvPr/>
        </p:nvSpPr>
        <p:spPr>
          <a:xfrm>
            <a:off x="7050024" y="2194560"/>
            <a:ext cx="4297680" cy="256032"/>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Poisoning what the model learns</a:t>
            </a:r>
            <a:endParaRPr lang="en-US" sz="1300"/>
          </a:p>
        </p:txBody>
      </p:sp>
      <p:sp>
        <p:nvSpPr>
          <p:cNvPr id="18" name="Text 14"/>
          <p:cNvSpPr/>
          <p:nvPr/>
        </p:nvSpPr>
        <p:spPr>
          <a:xfrm>
            <a:off x="6446520" y="2798064"/>
            <a:ext cx="4846320" cy="914400"/>
          </a:xfrm>
          <a:prstGeom prst="rect">
            <a:avLst/>
          </a:prstGeom>
          <a:noFill/>
          <a:ln/>
        </p:spPr>
        <p:txBody>
          <a:bodyPr wrap="square" lIns="0" tIns="0" rIns="0" bIns="0" rtlCol="0" anchor="t"/>
          <a:lstStyle/>
          <a:p>
            <a:pPr marL="0" indent="0">
              <a:lnSpc>
                <a:spcPts val="1400"/>
              </a:lnSpc>
              <a:buNone/>
            </a:pPr>
            <a:r>
              <a:rPr lang="en-US" sz="1080">
                <a:solidFill>
                  <a:srgbClr val="2B303C"/>
                </a:solidFill>
                <a:latin typeface="Calibri" pitchFamily="34" charset="0"/>
                <a:ea typeface="Calibri" pitchFamily="34" charset="-122"/>
                <a:cs typeface="Calibri" pitchFamily="34" charset="-120"/>
              </a:rPr>
              <a:t>An adversary publishes new pages, or edits existing ones, containing false information — specifically so that the false information is picked up into training data and repeated by the model as fact.</a:t>
            </a:r>
            <a:endParaRPr lang="en-US" sz="1080"/>
          </a:p>
        </p:txBody>
      </p:sp>
      <p:sp>
        <p:nvSpPr>
          <p:cNvPr id="19" name="Shape 15"/>
          <p:cNvSpPr/>
          <p:nvPr/>
        </p:nvSpPr>
        <p:spPr>
          <a:xfrm>
            <a:off x="6446520" y="3785616"/>
            <a:ext cx="4864608" cy="749808"/>
          </a:xfrm>
          <a:prstGeom prst="roundRect">
            <a:avLst>
              <a:gd name="adj" fmla="val 10976"/>
            </a:avLst>
          </a:prstGeom>
          <a:solidFill>
            <a:srgbClr val="FFFFFF"/>
          </a:solidFill>
          <a:ln/>
        </p:spPr>
        <p:txBody>
          <a:bodyPr/>
          <a:lstStyle/>
          <a:p>
            <a:endParaRPr lang="en-US"/>
          </a:p>
        </p:txBody>
      </p:sp>
      <p:sp>
        <p:nvSpPr>
          <p:cNvPr id="20" name="Text 16"/>
          <p:cNvSpPr/>
          <p:nvPr/>
        </p:nvSpPr>
        <p:spPr>
          <a:xfrm>
            <a:off x="6611112" y="3877056"/>
            <a:ext cx="4553712" cy="603504"/>
          </a:xfrm>
          <a:prstGeom prst="rect">
            <a:avLst/>
          </a:prstGeom>
          <a:noFill/>
          <a:ln/>
        </p:spPr>
        <p:txBody>
          <a:bodyPr wrap="square" lIns="0" tIns="0" rIns="0" bIns="0" rtlCol="0" anchor="t"/>
          <a:lstStyle/>
          <a:p>
            <a:pPr marL="0" indent="0">
              <a:lnSpc>
                <a:spcPts val="1280"/>
              </a:lnSpc>
              <a:buNone/>
            </a:pPr>
            <a:r>
              <a:rPr lang="en-US" sz="990">
                <a:solidFill>
                  <a:srgbClr val="6B7280"/>
                </a:solidFill>
                <a:latin typeface="Calibri" pitchFamily="34" charset="0"/>
                <a:ea typeface="Calibri" pitchFamily="34" charset="-122"/>
                <a:cs typeface="Calibri" pitchFamily="34" charset="-120"/>
              </a:rPr>
              <a:t>Concrete case: seeding pages with a fake 'official support number' so that assistants recommend it to people looking for help.</a:t>
            </a:r>
            <a:endParaRPr lang="en-US" sz="990"/>
          </a:p>
        </p:txBody>
      </p:sp>
      <p:sp>
        <p:nvSpPr>
          <p:cNvPr id="21" name="Shape 17"/>
          <p:cNvSpPr/>
          <p:nvPr/>
        </p:nvSpPr>
        <p:spPr>
          <a:xfrm>
            <a:off x="6446520" y="4626864"/>
            <a:ext cx="4864608" cy="749808"/>
          </a:xfrm>
          <a:prstGeom prst="roundRect">
            <a:avLst>
              <a:gd name="adj" fmla="val 10976"/>
            </a:avLst>
          </a:prstGeom>
          <a:solidFill>
            <a:srgbClr val="FDF2E2"/>
          </a:solidFill>
          <a:ln/>
        </p:spPr>
        <p:txBody>
          <a:bodyPr/>
          <a:lstStyle/>
          <a:p>
            <a:endParaRPr lang="en-US"/>
          </a:p>
        </p:txBody>
      </p:sp>
      <p:sp>
        <p:nvSpPr>
          <p:cNvPr id="22" name="Text 18"/>
          <p:cNvSpPr/>
          <p:nvPr/>
        </p:nvSpPr>
        <p:spPr>
          <a:xfrm>
            <a:off x="6611112" y="4700016"/>
            <a:ext cx="4553712" cy="640080"/>
          </a:xfrm>
          <a:prstGeom prst="rect">
            <a:avLst/>
          </a:prstGeom>
          <a:noFill/>
          <a:ln/>
        </p:spPr>
        <p:txBody>
          <a:bodyPr wrap="square" lIns="0" tIns="0" rIns="0" bIns="0" rtlCol="0" anchor="t"/>
          <a:lstStyle/>
          <a:p>
            <a:pPr marL="0" indent="0">
              <a:lnSpc>
                <a:spcPts val="1280"/>
              </a:lnSpc>
              <a:buNone/>
            </a:pPr>
            <a:r>
              <a:rPr lang="en-US" sz="990">
                <a:solidFill>
                  <a:srgbClr val="12141C"/>
                </a:solidFill>
                <a:latin typeface="Calibri" pitchFamily="34" charset="0"/>
                <a:ea typeface="Calibri" pitchFamily="34" charset="-122"/>
                <a:cs typeface="Calibri" pitchFamily="34" charset="-120"/>
              </a:rPr>
              <a:t>Control: verify AI output against reputable, stable, non-AI sources before acting on it — especially anything that involves contacting someone or moving money.</a:t>
            </a:r>
            <a:endParaRPr lang="en-US" sz="990"/>
          </a:p>
        </p:txBody>
      </p:sp>
      <p:sp>
        <p:nvSpPr>
          <p:cNvPr id="23" name="Text 19"/>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4" name="Text 20"/>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40</a:t>
            </a:r>
            <a:endParaRPr lang="en-US" sz="9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66928" y="347472"/>
            <a:ext cx="1481328" cy="274320"/>
          </a:xfrm>
          <a:prstGeom prst="roundRect">
            <a:avLst>
              <a:gd name="adj" fmla="val 20000"/>
            </a:avLst>
          </a:prstGeom>
          <a:solidFill>
            <a:srgbClr val="D9483F"/>
          </a:solidFill>
          <a:ln/>
        </p:spPr>
        <p:txBody>
          <a:bodyPr/>
          <a:lstStyle/>
          <a:p>
            <a:endParaRPr lang="en-US"/>
          </a:p>
        </p:txBody>
      </p:sp>
      <p:sp>
        <p:nvSpPr>
          <p:cNvPr id="3" name="Text 1"/>
          <p:cNvSpPr/>
          <p:nvPr/>
        </p:nvSpPr>
        <p:spPr>
          <a:xfrm>
            <a:off x="566928" y="347472"/>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NEWS CASE</a:t>
            </a:r>
            <a:endParaRPr lang="en-US" sz="950"/>
          </a:p>
        </p:txBody>
      </p:sp>
      <p:sp>
        <p:nvSpPr>
          <p:cNvPr id="4" name="Text 2"/>
          <p:cNvSpPr/>
          <p:nvPr/>
        </p:nvSpPr>
        <p:spPr>
          <a:xfrm>
            <a:off x="2231136" y="347472"/>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IN THE NEWS  ·  TOPIC 1.4</a:t>
            </a:r>
            <a:endParaRPr lang="en-US" sz="1050"/>
          </a:p>
        </p:txBody>
      </p:sp>
      <p:sp>
        <p:nvSpPr>
          <p:cNvPr id="5" name="Text 3"/>
          <p:cNvSpPr/>
          <p:nvPr/>
        </p:nvSpPr>
        <p:spPr>
          <a:xfrm>
            <a:off x="566928" y="768096"/>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A video call in which everyone but the victim was fake</a:t>
            </a:r>
            <a:endParaRPr lang="en-US" sz="3000"/>
          </a:p>
        </p:txBody>
      </p:sp>
      <p:sp>
        <p:nvSpPr>
          <p:cNvPr id="6" name="Text 4"/>
          <p:cNvSpPr/>
          <p:nvPr/>
        </p:nvSpPr>
        <p:spPr>
          <a:xfrm>
            <a:off x="566928" y="1417320"/>
            <a:ext cx="11057839" cy="365760"/>
          </a:xfrm>
          <a:prstGeom prst="rect">
            <a:avLst/>
          </a:prstGeom>
          <a:noFill/>
          <a:ln/>
        </p:spPr>
        <p:txBody>
          <a:bodyPr wrap="square" lIns="0" tIns="0" rIns="0" bIns="0" rtlCol="0" anchor="t"/>
          <a:lstStyle/>
          <a:p>
            <a:pPr marL="0" indent="0">
              <a:lnSpc>
                <a:spcPts val="1900"/>
              </a:lnSpc>
              <a:buNone/>
            </a:pPr>
            <a:r>
              <a:rPr lang="en-US" sz="1250" i="1">
                <a:solidFill>
                  <a:srgbClr val="6B7280"/>
                </a:solidFill>
                <a:latin typeface="Calibri" pitchFamily="34" charset="0"/>
                <a:ea typeface="Calibri" pitchFamily="34" charset="-122"/>
                <a:cs typeface="Calibri" pitchFamily="34" charset="-120"/>
              </a:rPr>
              <a:t>The engineering firm Arup lost about US$25 million in an attack that used no malware and exploited no software vulnerability.</a:t>
            </a:r>
            <a:endParaRPr lang="en-US" sz="1250"/>
          </a:p>
        </p:txBody>
      </p:sp>
      <p:sp>
        <p:nvSpPr>
          <p:cNvPr id="7" name="Shape 5"/>
          <p:cNvSpPr/>
          <p:nvPr/>
        </p:nvSpPr>
        <p:spPr>
          <a:xfrm>
            <a:off x="566928" y="2103120"/>
            <a:ext cx="6903720" cy="3401568"/>
          </a:xfrm>
          <a:prstGeom prst="roundRect">
            <a:avLst>
              <a:gd name="adj" fmla="val 2419"/>
            </a:avLst>
          </a:prstGeom>
          <a:solidFill>
            <a:srgbClr val="F2F4F8"/>
          </a:solidFill>
          <a:ln/>
        </p:spPr>
        <p:txBody>
          <a:bodyPr/>
          <a:lstStyle/>
          <a:p>
            <a:endParaRPr lang="en-US"/>
          </a:p>
        </p:txBody>
      </p:sp>
      <p:sp>
        <p:nvSpPr>
          <p:cNvPr id="8" name="Text 6"/>
          <p:cNvSpPr/>
          <p:nvPr/>
        </p:nvSpPr>
        <p:spPr>
          <a:xfrm>
            <a:off x="841248" y="2249424"/>
            <a:ext cx="1417320" cy="237744"/>
          </a:xfrm>
          <a:prstGeom prst="rect">
            <a:avLst/>
          </a:prstGeom>
          <a:noFill/>
          <a:ln/>
        </p:spPr>
        <p:txBody>
          <a:bodyPr wrap="square" lIns="0" tIns="0" rIns="0" bIns="0" rtlCol="0" anchor="ctr"/>
          <a:lstStyle/>
          <a:p>
            <a:pPr marL="0" indent="0">
              <a:buNone/>
            </a:pPr>
            <a:r>
              <a:rPr lang="en-US" sz="1050" b="1">
                <a:solidFill>
                  <a:srgbClr val="6A5AC7"/>
                </a:solidFill>
                <a:latin typeface="Calibri" pitchFamily="34" charset="0"/>
                <a:ea typeface="Calibri" pitchFamily="34" charset="-122"/>
                <a:cs typeface="Calibri" pitchFamily="34" charset="-120"/>
              </a:rPr>
              <a:t>The approach</a:t>
            </a:r>
            <a:endParaRPr lang="en-US" sz="1050"/>
          </a:p>
        </p:txBody>
      </p:sp>
      <p:sp>
        <p:nvSpPr>
          <p:cNvPr id="9" name="Text 7"/>
          <p:cNvSpPr/>
          <p:nvPr/>
        </p:nvSpPr>
        <p:spPr>
          <a:xfrm>
            <a:off x="2350008" y="223113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An employee in the Hong Kong office received a message appearing to come from the company's UK-based chief financial officer, about a confidential transaction.</a:t>
            </a:r>
            <a:endParaRPr lang="en-US" sz="1020"/>
          </a:p>
        </p:txBody>
      </p:sp>
      <p:sp>
        <p:nvSpPr>
          <p:cNvPr id="10" name="Text 8"/>
          <p:cNvSpPr/>
          <p:nvPr/>
        </p:nvSpPr>
        <p:spPr>
          <a:xfrm>
            <a:off x="841248" y="2889504"/>
            <a:ext cx="1417320" cy="237744"/>
          </a:xfrm>
          <a:prstGeom prst="rect">
            <a:avLst/>
          </a:prstGeom>
          <a:noFill/>
          <a:ln/>
        </p:spPr>
        <p:txBody>
          <a:bodyPr wrap="square" lIns="0" tIns="0" rIns="0" bIns="0" rtlCol="0" anchor="ctr"/>
          <a:lstStyle/>
          <a:p>
            <a:pPr marL="0" indent="0">
              <a:buNone/>
            </a:pPr>
            <a:r>
              <a:rPr lang="en-US" sz="1050" b="1">
                <a:solidFill>
                  <a:srgbClr val="6A5AC7"/>
                </a:solidFill>
                <a:latin typeface="Calibri" pitchFamily="34" charset="0"/>
                <a:ea typeface="Calibri" pitchFamily="34" charset="-122"/>
                <a:cs typeface="Calibri" pitchFamily="34" charset="-120"/>
              </a:rPr>
              <a:t>The doubt</a:t>
            </a:r>
            <a:endParaRPr lang="en-US" sz="1050"/>
          </a:p>
        </p:txBody>
      </p:sp>
      <p:sp>
        <p:nvSpPr>
          <p:cNvPr id="11" name="Text 9"/>
          <p:cNvSpPr/>
          <p:nvPr/>
        </p:nvSpPr>
        <p:spPr>
          <a:xfrm>
            <a:off x="2350008" y="287121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The employee suspected a phishing attempt. By the standards of ordinary security training, this was the correct response.</a:t>
            </a:r>
            <a:endParaRPr lang="en-US" sz="1020"/>
          </a:p>
        </p:txBody>
      </p:sp>
      <p:sp>
        <p:nvSpPr>
          <p:cNvPr id="12" name="Text 10"/>
          <p:cNvSpPr/>
          <p:nvPr/>
        </p:nvSpPr>
        <p:spPr>
          <a:xfrm>
            <a:off x="841248" y="3529584"/>
            <a:ext cx="1417320" cy="237744"/>
          </a:xfrm>
          <a:prstGeom prst="rect">
            <a:avLst/>
          </a:prstGeom>
          <a:noFill/>
          <a:ln/>
        </p:spPr>
        <p:txBody>
          <a:bodyPr wrap="square" lIns="0" tIns="0" rIns="0" bIns="0" rtlCol="0" anchor="ctr"/>
          <a:lstStyle/>
          <a:p>
            <a:pPr marL="0" indent="0">
              <a:buNone/>
            </a:pPr>
            <a:r>
              <a:rPr lang="en-US" sz="1050" b="1">
                <a:solidFill>
                  <a:srgbClr val="6A5AC7"/>
                </a:solidFill>
                <a:latin typeface="Calibri" pitchFamily="34" charset="0"/>
                <a:ea typeface="Calibri" pitchFamily="34" charset="-122"/>
                <a:cs typeface="Calibri" pitchFamily="34" charset="-120"/>
              </a:rPr>
              <a:t>The escalation</a:t>
            </a:r>
            <a:endParaRPr lang="en-US" sz="1050"/>
          </a:p>
        </p:txBody>
      </p:sp>
      <p:sp>
        <p:nvSpPr>
          <p:cNvPr id="13" name="Text 11"/>
          <p:cNvSpPr/>
          <p:nvPr/>
        </p:nvSpPr>
        <p:spPr>
          <a:xfrm>
            <a:off x="2350008" y="351129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A video conference was arranged. The CFO and several recognisable colleagues appeared and spoke. Every participant except the victim was AI-generated, built from publicly available recordings of real executives.</a:t>
            </a:r>
            <a:endParaRPr lang="en-US" sz="1020"/>
          </a:p>
        </p:txBody>
      </p:sp>
      <p:sp>
        <p:nvSpPr>
          <p:cNvPr id="14" name="Text 12"/>
          <p:cNvSpPr/>
          <p:nvPr/>
        </p:nvSpPr>
        <p:spPr>
          <a:xfrm>
            <a:off x="841248" y="4169664"/>
            <a:ext cx="1417320" cy="237744"/>
          </a:xfrm>
          <a:prstGeom prst="rect">
            <a:avLst/>
          </a:prstGeom>
          <a:noFill/>
          <a:ln/>
        </p:spPr>
        <p:txBody>
          <a:bodyPr wrap="square" lIns="0" tIns="0" rIns="0" bIns="0" rtlCol="0" anchor="ctr"/>
          <a:lstStyle/>
          <a:p>
            <a:pPr marL="0" indent="0">
              <a:buNone/>
            </a:pPr>
            <a:r>
              <a:rPr lang="en-US" sz="1050" b="1">
                <a:solidFill>
                  <a:srgbClr val="6A5AC7"/>
                </a:solidFill>
                <a:latin typeface="Calibri" pitchFamily="34" charset="0"/>
                <a:ea typeface="Calibri" pitchFamily="34" charset="-122"/>
                <a:cs typeface="Calibri" pitchFamily="34" charset="-120"/>
              </a:rPr>
              <a:t>The loss</a:t>
            </a:r>
            <a:endParaRPr lang="en-US" sz="1050"/>
          </a:p>
        </p:txBody>
      </p:sp>
      <p:sp>
        <p:nvSpPr>
          <p:cNvPr id="15" name="Text 13"/>
          <p:cNvSpPr/>
          <p:nvPr/>
        </p:nvSpPr>
        <p:spPr>
          <a:xfrm>
            <a:off x="2350008" y="415137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Reassured, the employee made fifteen transfers totalling roughly HK$200 million (about US$25 million) to five accounts. The fraud was discovered only when the employee later contacted head office.</a:t>
            </a:r>
            <a:endParaRPr lang="en-US" sz="1020"/>
          </a:p>
        </p:txBody>
      </p:sp>
      <p:sp>
        <p:nvSpPr>
          <p:cNvPr id="16" name="Text 14"/>
          <p:cNvSpPr/>
          <p:nvPr/>
        </p:nvSpPr>
        <p:spPr>
          <a:xfrm>
            <a:off x="841248" y="4809744"/>
            <a:ext cx="1417320" cy="237744"/>
          </a:xfrm>
          <a:prstGeom prst="rect">
            <a:avLst/>
          </a:prstGeom>
          <a:noFill/>
          <a:ln/>
        </p:spPr>
        <p:txBody>
          <a:bodyPr wrap="square" lIns="0" tIns="0" rIns="0" bIns="0" rtlCol="0" anchor="ctr"/>
          <a:lstStyle/>
          <a:p>
            <a:pPr marL="0" indent="0">
              <a:buNone/>
            </a:pPr>
            <a:r>
              <a:rPr lang="en-US" sz="1050" b="1">
                <a:solidFill>
                  <a:srgbClr val="6A5AC7"/>
                </a:solidFill>
                <a:latin typeface="Calibri" pitchFamily="34" charset="0"/>
                <a:ea typeface="Calibri" pitchFamily="34" charset="-122"/>
                <a:cs typeface="Calibri" pitchFamily="34" charset="-120"/>
              </a:rPr>
              <a:t>The verdict</a:t>
            </a:r>
            <a:endParaRPr lang="en-US" sz="1050"/>
          </a:p>
        </p:txBody>
      </p:sp>
      <p:sp>
        <p:nvSpPr>
          <p:cNvPr id="17" name="Text 15"/>
          <p:cNvSpPr/>
          <p:nvPr/>
        </p:nvSpPr>
        <p:spPr>
          <a:xfrm>
            <a:off x="2350008" y="479145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Arup's chief information officer described it as technology-enhanced social engineering: no systems were compromised and no data was taken. The attack went through a person.</a:t>
            </a:r>
            <a:endParaRPr lang="en-US" sz="1020"/>
          </a:p>
        </p:txBody>
      </p:sp>
      <p:sp>
        <p:nvSpPr>
          <p:cNvPr id="18" name="Shape 16"/>
          <p:cNvSpPr/>
          <p:nvPr/>
        </p:nvSpPr>
        <p:spPr>
          <a:xfrm>
            <a:off x="7699248" y="2103120"/>
            <a:ext cx="3922776" cy="1600200"/>
          </a:xfrm>
          <a:prstGeom prst="roundRect">
            <a:avLst>
              <a:gd name="adj" fmla="val 5143"/>
            </a:avLst>
          </a:prstGeom>
          <a:solidFill>
            <a:srgbClr val="12141C"/>
          </a:solidFill>
          <a:ln/>
        </p:spPr>
        <p:txBody>
          <a:bodyPr/>
          <a:lstStyle/>
          <a:p>
            <a:endParaRPr lang="en-US"/>
          </a:p>
        </p:txBody>
      </p:sp>
      <p:sp>
        <p:nvSpPr>
          <p:cNvPr id="19" name="Text 17"/>
          <p:cNvSpPr/>
          <p:nvPr/>
        </p:nvSpPr>
        <p:spPr>
          <a:xfrm>
            <a:off x="7955280" y="2249424"/>
            <a:ext cx="3657600" cy="201168"/>
          </a:xfrm>
          <a:prstGeom prst="rect">
            <a:avLst/>
          </a:prstGeom>
          <a:noFill/>
          <a:ln/>
        </p:spPr>
        <p:txBody>
          <a:bodyPr wrap="square" lIns="0" tIns="0" rIns="0" bIns="0" rtlCol="0" anchor="ctr"/>
          <a:lstStyle/>
          <a:p>
            <a:pPr marL="0" indent="0">
              <a:buNone/>
            </a:pPr>
            <a:r>
              <a:rPr lang="en-US" sz="900" b="1" kern="0" spc="120">
                <a:solidFill>
                  <a:srgbClr val="6A5AC7"/>
                </a:solidFill>
                <a:latin typeface="Calibri" pitchFamily="34" charset="0"/>
                <a:ea typeface="Calibri" pitchFamily="34" charset="-122"/>
                <a:cs typeface="Calibri" pitchFamily="34" charset="-120"/>
              </a:rPr>
              <a:t>WHY THE USUAL ADVICE FAILED</a:t>
            </a:r>
            <a:endParaRPr lang="en-US" sz="900"/>
          </a:p>
        </p:txBody>
      </p:sp>
      <p:sp>
        <p:nvSpPr>
          <p:cNvPr id="20" name="Text 18"/>
          <p:cNvSpPr/>
          <p:nvPr/>
        </p:nvSpPr>
        <p:spPr>
          <a:xfrm>
            <a:off x="7955280" y="2560320"/>
            <a:ext cx="3429000" cy="1005840"/>
          </a:xfrm>
          <a:prstGeom prst="rect">
            <a:avLst/>
          </a:prstGeom>
          <a:noFill/>
          <a:ln/>
        </p:spPr>
        <p:txBody>
          <a:bodyPr wrap="square" lIns="0" tIns="0" rIns="0" bIns="0" rtlCol="0" anchor="t"/>
          <a:lstStyle/>
          <a:p>
            <a:pPr marL="0" indent="0">
              <a:lnSpc>
                <a:spcPts val="1360"/>
              </a:lnSpc>
              <a:buNone/>
            </a:pPr>
            <a:r>
              <a:rPr lang="en-US" sz="1030">
                <a:solidFill>
                  <a:srgbClr val="9AA3B2"/>
                </a:solidFill>
                <a:latin typeface="Calibri" pitchFamily="34" charset="0"/>
                <a:ea typeface="Calibri" pitchFamily="34" charset="-122"/>
                <a:cs typeface="Calibri" pitchFamily="34" charset="-120"/>
              </a:rPr>
              <a:t>"Verify by talking to the person" has been the standard fallback for decades. This attack was designed precisely to defeat it — the verification channel itself was fabricated, and it was more convincing than the email that raised the suspicion.</a:t>
            </a:r>
            <a:endParaRPr lang="en-US" sz="1030"/>
          </a:p>
        </p:txBody>
      </p:sp>
      <p:sp>
        <p:nvSpPr>
          <p:cNvPr id="21" name="Shape 19"/>
          <p:cNvSpPr/>
          <p:nvPr/>
        </p:nvSpPr>
        <p:spPr>
          <a:xfrm>
            <a:off x="7699248" y="3858768"/>
            <a:ext cx="3922776" cy="1645920"/>
          </a:xfrm>
          <a:prstGeom prst="roundRect">
            <a:avLst>
              <a:gd name="adj" fmla="val 5000"/>
            </a:avLst>
          </a:prstGeom>
          <a:solidFill>
            <a:srgbClr val="EFEDFA"/>
          </a:solidFill>
          <a:ln/>
        </p:spPr>
        <p:txBody>
          <a:bodyPr/>
          <a:lstStyle/>
          <a:p>
            <a:endParaRPr lang="en-US"/>
          </a:p>
        </p:txBody>
      </p:sp>
      <p:sp>
        <p:nvSpPr>
          <p:cNvPr id="22" name="Text 20"/>
          <p:cNvSpPr/>
          <p:nvPr/>
        </p:nvSpPr>
        <p:spPr>
          <a:xfrm>
            <a:off x="7955280" y="3986784"/>
            <a:ext cx="3657600" cy="201168"/>
          </a:xfrm>
          <a:prstGeom prst="rect">
            <a:avLst/>
          </a:prstGeom>
          <a:noFill/>
          <a:ln/>
        </p:spPr>
        <p:txBody>
          <a:bodyPr wrap="square" lIns="0" tIns="0" rIns="0" bIns="0" rtlCol="0" anchor="ctr"/>
          <a:lstStyle/>
          <a:p>
            <a:pPr marL="0" indent="0">
              <a:buNone/>
            </a:pPr>
            <a:r>
              <a:rPr lang="en-US" sz="900" b="1" kern="0" spc="120">
                <a:solidFill>
                  <a:srgbClr val="6A5AC7"/>
                </a:solidFill>
                <a:latin typeface="Calibri" pitchFamily="34" charset="0"/>
                <a:ea typeface="Calibri" pitchFamily="34" charset="-122"/>
                <a:cs typeface="Calibri" pitchFamily="34" charset="-120"/>
              </a:rPr>
              <a:t>WHAT WOULD HAVE STOPPED IT</a:t>
            </a:r>
            <a:endParaRPr lang="en-US" sz="900"/>
          </a:p>
        </p:txBody>
      </p:sp>
      <p:sp>
        <p:nvSpPr>
          <p:cNvPr id="23" name="Text 21"/>
          <p:cNvSpPr/>
          <p:nvPr/>
        </p:nvSpPr>
        <p:spPr>
          <a:xfrm>
            <a:off x="7955280" y="4242816"/>
            <a:ext cx="3429000" cy="1188720"/>
          </a:xfrm>
          <a:prstGeom prst="rect">
            <a:avLst/>
          </a:prstGeom>
          <a:noFill/>
          <a:ln/>
        </p:spPr>
        <p:txBody>
          <a:bodyPr wrap="square" lIns="0" tIns="0" rIns="0" bIns="0" rtlCol="0" anchor="t"/>
          <a:lstStyle/>
          <a:p>
            <a:pPr marL="177800" indent="-177800">
              <a:lnSpc>
                <a:spcPts val="1650"/>
              </a:lnSpc>
              <a:spcAft>
                <a:spcPts val="400"/>
              </a:spcAft>
              <a:buSzPct val="100000"/>
              <a:buChar char="▪"/>
            </a:pPr>
            <a:r>
              <a:rPr lang="en-US" sz="990">
                <a:solidFill>
                  <a:srgbClr val="2B303C"/>
                </a:solidFill>
                <a:latin typeface="Calibri" pitchFamily="34" charset="0"/>
                <a:ea typeface="Calibri" pitchFamily="34" charset="-122"/>
                <a:cs typeface="Calibri" pitchFamily="34" charset="-120"/>
              </a:rPr>
              <a:t>A callback on a number from the internal directory, not from the message.</a:t>
            </a:r>
            <a:endParaRPr lang="en-US" sz="990"/>
          </a:p>
          <a:p>
            <a:pPr marL="177800" indent="-177800">
              <a:lnSpc>
                <a:spcPts val="1650"/>
              </a:lnSpc>
              <a:spcAft>
                <a:spcPts val="400"/>
              </a:spcAft>
              <a:buSzPct val="100000"/>
              <a:buChar char="▪"/>
            </a:pPr>
            <a:r>
              <a:rPr lang="en-US" sz="990">
                <a:solidFill>
                  <a:srgbClr val="2B303C"/>
                </a:solidFill>
                <a:latin typeface="Calibri" pitchFamily="34" charset="0"/>
                <a:ea typeface="Calibri" pitchFamily="34" charset="-122"/>
                <a:cs typeface="Calibri" pitchFamily="34" charset="-120"/>
              </a:rPr>
              <a:t>A pre-agreed code word for high-value instructions.</a:t>
            </a:r>
            <a:endParaRPr lang="en-US" sz="990"/>
          </a:p>
          <a:p>
            <a:pPr marL="177800" indent="-177800">
              <a:lnSpc>
                <a:spcPts val="1650"/>
              </a:lnSpc>
              <a:spcAft>
                <a:spcPts val="400"/>
              </a:spcAft>
              <a:buSzPct val="100000"/>
              <a:buChar char="▪"/>
            </a:pPr>
            <a:r>
              <a:rPr lang="en-US" sz="990">
                <a:solidFill>
                  <a:srgbClr val="2B303C"/>
                </a:solidFill>
                <a:latin typeface="Calibri" pitchFamily="34" charset="0"/>
                <a:ea typeface="Calibri" pitchFamily="34" charset="-122"/>
                <a:cs typeface="Calibri" pitchFamily="34" charset="-120"/>
              </a:rPr>
              <a:t>Multi-person authorisation for large transfers.</a:t>
            </a:r>
            <a:endParaRPr lang="en-US" sz="990"/>
          </a:p>
          <a:p>
            <a:pPr marL="177800" indent="-177800">
              <a:lnSpc>
                <a:spcPts val="1650"/>
              </a:lnSpc>
              <a:spcAft>
                <a:spcPts val="400"/>
              </a:spcAft>
              <a:buSzPct val="100000"/>
              <a:buChar char="▪"/>
            </a:pPr>
            <a:r>
              <a:rPr lang="en-US" sz="990">
                <a:solidFill>
                  <a:srgbClr val="2B303C"/>
                </a:solidFill>
                <a:latin typeface="Calibri" pitchFamily="34" charset="0"/>
                <a:ea typeface="Calibri" pitchFamily="34" charset="-122"/>
                <a:cs typeface="Calibri" pitchFamily="34" charset="-120"/>
              </a:rPr>
              <a:t>A policy that no genuine payment request is ever confidential from the finance controls.</a:t>
            </a:r>
            <a:endParaRPr lang="en-US" sz="990"/>
          </a:p>
        </p:txBody>
      </p:sp>
      <p:sp>
        <p:nvSpPr>
          <p:cNvPr id="24" name="Shape 22"/>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25" name="Image 0" descr="/home/claude/icons/FaNewspaper_w.png"/>
          <p:cNvPicPr>
            <a:picLocks noChangeAspect="1"/>
          </p:cNvPicPr>
          <p:nvPr/>
        </p:nvPicPr>
        <p:blipFill>
          <a:blip r:embed="rId3"/>
          <a:stretch>
            <a:fillRect/>
          </a:stretch>
        </p:blipFill>
        <p:spPr>
          <a:xfrm>
            <a:off x="768096" y="5811012"/>
            <a:ext cx="228600" cy="228600"/>
          </a:xfrm>
          <a:prstGeom prst="rect">
            <a:avLst/>
          </a:prstGeom>
        </p:spPr>
      </p:pic>
      <p:sp>
        <p:nvSpPr>
          <p:cNvPr id="26" name="Text 23"/>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Sources: Hong Kong Police statements reported by CNN and the Financial Times (2024) · Arup public comments · CFO Dive.</a:t>
            </a:r>
            <a:endParaRPr lang="en-US" sz="1150"/>
          </a:p>
        </p:txBody>
      </p:sp>
      <p:sp>
        <p:nvSpPr>
          <p:cNvPr id="27" name="Text 24"/>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8" name="Text 25"/>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41</a:t>
            </a:r>
            <a:endParaRPr lang="en-US" sz="9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6A5AC7"/>
                </a:solidFill>
                <a:latin typeface="Calibri" pitchFamily="34" charset="0"/>
                <a:ea typeface="Calibri" pitchFamily="34" charset="-122"/>
                <a:cs typeface="Calibri" pitchFamily="34" charset="-120"/>
              </a:rPr>
              <a:t>THE NUMBERS  ·  TOPIC 1.4</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AI enters the crime statistics for the first time</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FBI's 2025 Internet Crime Report, published April 2026, carried a dedicated artificial-intelligence section for the first time in the report's history.</a:t>
            </a:r>
            <a:endParaRPr lang="en-US" sz="1400"/>
          </a:p>
        </p:txBody>
      </p:sp>
      <p:sp>
        <p:nvSpPr>
          <p:cNvPr id="5" name="Shape 3"/>
          <p:cNvSpPr/>
          <p:nvPr/>
        </p:nvSpPr>
        <p:spPr>
          <a:xfrm>
            <a:off x="566928" y="1965960"/>
            <a:ext cx="5486400" cy="1828800"/>
          </a:xfrm>
          <a:prstGeom prst="roundRect">
            <a:avLst>
              <a:gd name="adj" fmla="val 4500"/>
            </a:avLst>
          </a:prstGeom>
          <a:solidFill>
            <a:srgbClr val="EFEDFA"/>
          </a:solidFill>
          <a:ln/>
        </p:spPr>
        <p:txBody>
          <a:bodyPr/>
          <a:lstStyle/>
          <a:p>
            <a:endParaRPr lang="en-US"/>
          </a:p>
        </p:txBody>
      </p:sp>
      <p:sp>
        <p:nvSpPr>
          <p:cNvPr id="6" name="Text 4"/>
          <p:cNvSpPr/>
          <p:nvPr/>
        </p:nvSpPr>
        <p:spPr>
          <a:xfrm>
            <a:off x="886968" y="2194560"/>
            <a:ext cx="2377440" cy="731520"/>
          </a:xfrm>
          <a:prstGeom prst="rect">
            <a:avLst/>
          </a:prstGeom>
          <a:noFill/>
          <a:ln/>
        </p:spPr>
        <p:txBody>
          <a:bodyPr wrap="square" lIns="0" tIns="0" rIns="0" bIns="0" rtlCol="0" anchor="ctr"/>
          <a:lstStyle/>
          <a:p>
            <a:pPr marL="0" indent="0">
              <a:buNone/>
            </a:pPr>
            <a:r>
              <a:rPr lang="en-US" sz="4600" b="1">
                <a:solidFill>
                  <a:srgbClr val="6A5AC7"/>
                </a:solidFill>
                <a:latin typeface="Cambria" pitchFamily="34" charset="0"/>
                <a:ea typeface="Cambria" pitchFamily="34" charset="-122"/>
                <a:cs typeface="Cambria" pitchFamily="34" charset="-120"/>
              </a:rPr>
              <a:t>22,364</a:t>
            </a:r>
            <a:endParaRPr lang="en-US" sz="4600"/>
          </a:p>
        </p:txBody>
      </p:sp>
      <p:sp>
        <p:nvSpPr>
          <p:cNvPr id="7" name="Text 5"/>
          <p:cNvSpPr/>
          <p:nvPr/>
        </p:nvSpPr>
        <p:spPr>
          <a:xfrm>
            <a:off x="886968" y="2980944"/>
            <a:ext cx="4846320" cy="640080"/>
          </a:xfrm>
          <a:prstGeom prst="rect">
            <a:avLst/>
          </a:prstGeom>
          <a:noFill/>
          <a:ln/>
        </p:spPr>
        <p:txBody>
          <a:bodyPr wrap="square" lIns="0" tIns="0" rIns="0" bIns="0" rtlCol="0" anchor="t"/>
          <a:lstStyle/>
          <a:p>
            <a:pPr marL="0" indent="0">
              <a:lnSpc>
                <a:spcPts val="1500"/>
              </a:lnSpc>
              <a:buNone/>
            </a:pPr>
            <a:r>
              <a:rPr lang="en-US" sz="1150">
                <a:solidFill>
                  <a:srgbClr val="12141C"/>
                </a:solidFill>
                <a:latin typeface="Calibri" pitchFamily="34" charset="0"/>
                <a:ea typeface="Calibri" pitchFamily="34" charset="-122"/>
                <a:cs typeface="Calibri" pitchFamily="34" charset="-120"/>
              </a:rPr>
              <a:t>complaints in 2025 were categorised as AI-related — the first year the FBI reported this separately.</a:t>
            </a:r>
            <a:endParaRPr lang="en-US" sz="1150"/>
          </a:p>
        </p:txBody>
      </p:sp>
      <p:sp>
        <p:nvSpPr>
          <p:cNvPr id="8" name="Shape 6"/>
          <p:cNvSpPr/>
          <p:nvPr/>
        </p:nvSpPr>
        <p:spPr>
          <a:xfrm>
            <a:off x="6263640" y="1965960"/>
            <a:ext cx="5358384" cy="1828800"/>
          </a:xfrm>
          <a:prstGeom prst="roundRect">
            <a:avLst>
              <a:gd name="adj" fmla="val 4500"/>
            </a:avLst>
          </a:prstGeom>
          <a:solidFill>
            <a:srgbClr val="12141C"/>
          </a:solidFill>
          <a:ln/>
        </p:spPr>
        <p:txBody>
          <a:bodyPr/>
          <a:lstStyle/>
          <a:p>
            <a:endParaRPr lang="en-US"/>
          </a:p>
        </p:txBody>
      </p:sp>
      <p:sp>
        <p:nvSpPr>
          <p:cNvPr id="9" name="Text 7"/>
          <p:cNvSpPr/>
          <p:nvPr/>
        </p:nvSpPr>
        <p:spPr>
          <a:xfrm>
            <a:off x="6583680" y="2194560"/>
            <a:ext cx="2560320" cy="731520"/>
          </a:xfrm>
          <a:prstGeom prst="rect">
            <a:avLst/>
          </a:prstGeom>
          <a:noFill/>
          <a:ln/>
        </p:spPr>
        <p:txBody>
          <a:bodyPr wrap="square" lIns="0" tIns="0" rIns="0" bIns="0" rtlCol="0" anchor="ctr"/>
          <a:lstStyle/>
          <a:p>
            <a:pPr marL="0" indent="0">
              <a:buNone/>
            </a:pPr>
            <a:r>
              <a:rPr lang="en-US" sz="4600" b="1">
                <a:solidFill>
                  <a:srgbClr val="F2A03D"/>
                </a:solidFill>
                <a:latin typeface="Cambria" pitchFamily="34" charset="0"/>
                <a:ea typeface="Cambria" pitchFamily="34" charset="-122"/>
                <a:cs typeface="Cambria" pitchFamily="34" charset="-120"/>
              </a:rPr>
              <a:t>$893m</a:t>
            </a:r>
            <a:endParaRPr lang="en-US" sz="4600"/>
          </a:p>
        </p:txBody>
      </p:sp>
      <p:sp>
        <p:nvSpPr>
          <p:cNvPr id="10" name="Text 8"/>
          <p:cNvSpPr/>
          <p:nvPr/>
        </p:nvSpPr>
        <p:spPr>
          <a:xfrm>
            <a:off x="6583680" y="2980944"/>
            <a:ext cx="4754880" cy="658368"/>
          </a:xfrm>
          <a:prstGeom prst="rect">
            <a:avLst/>
          </a:prstGeom>
          <a:noFill/>
          <a:ln/>
        </p:spPr>
        <p:txBody>
          <a:bodyPr wrap="square" lIns="0" tIns="0" rIns="0" bIns="0" rtlCol="0" anchor="t"/>
          <a:lstStyle/>
          <a:p>
            <a:pPr marL="0" indent="0">
              <a:lnSpc>
                <a:spcPts val="1500"/>
              </a:lnSpc>
              <a:buNone/>
            </a:pPr>
            <a:r>
              <a:rPr lang="en-US" sz="1150">
                <a:solidFill>
                  <a:srgbClr val="9AA3B2"/>
                </a:solidFill>
                <a:latin typeface="Calibri" pitchFamily="34" charset="0"/>
                <a:ea typeface="Calibri" pitchFamily="34" charset="-122"/>
                <a:cs typeface="Calibri" pitchFamily="34" charset="-120"/>
              </a:rPr>
              <a:t>in reported losses attached to those complaints — fake profiles, cloned voices, forged identity documents, and synthetic video of public figures and relatives.</a:t>
            </a:r>
            <a:endParaRPr lang="en-US" sz="1150"/>
          </a:p>
        </p:txBody>
      </p:sp>
      <p:sp>
        <p:nvSpPr>
          <p:cNvPr id="11" name="Shape 9"/>
          <p:cNvSpPr/>
          <p:nvPr/>
        </p:nvSpPr>
        <p:spPr>
          <a:xfrm>
            <a:off x="566928" y="3977640"/>
            <a:ext cx="11057839" cy="1481328"/>
          </a:xfrm>
          <a:prstGeom prst="roundRect">
            <a:avLst>
              <a:gd name="adj" fmla="val 5556"/>
            </a:avLst>
          </a:prstGeom>
          <a:solidFill>
            <a:srgbClr val="F2F4F8"/>
          </a:solidFill>
          <a:ln/>
        </p:spPr>
        <p:txBody>
          <a:bodyPr/>
          <a:lstStyle/>
          <a:p>
            <a:endParaRPr lang="en-US"/>
          </a:p>
        </p:txBody>
      </p:sp>
      <p:sp>
        <p:nvSpPr>
          <p:cNvPr id="12" name="Text 10"/>
          <p:cNvSpPr/>
          <p:nvPr/>
        </p:nvSpPr>
        <p:spPr>
          <a:xfrm>
            <a:off x="841248" y="4114800"/>
            <a:ext cx="548640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How to use a statistic like this in an answer</a:t>
            </a:r>
            <a:endParaRPr lang="en-US" sz="1250"/>
          </a:p>
        </p:txBody>
      </p:sp>
      <p:sp>
        <p:nvSpPr>
          <p:cNvPr id="13" name="Text 11"/>
          <p:cNvSpPr/>
          <p:nvPr/>
        </p:nvSpPr>
        <p:spPr>
          <a:xfrm>
            <a:off x="841248" y="4443984"/>
            <a:ext cx="10515600" cy="914400"/>
          </a:xfrm>
          <a:prstGeom prst="rect">
            <a:avLst/>
          </a:prstGeom>
          <a:noFill/>
          <a:ln/>
        </p:spPr>
        <p:txBody>
          <a:bodyPr wrap="square" lIns="0" tIns="0" rIns="0" bIns="0" rtlCol="0" anchor="t"/>
          <a:lstStyle/>
          <a:p>
            <a:pPr marL="177800" indent="-177800">
              <a:lnSpc>
                <a:spcPts val="1650"/>
              </a:lnSpc>
              <a:spcAft>
                <a:spcPts val="500"/>
              </a:spcAft>
              <a:buSzPct val="100000"/>
              <a:buChar char="▪"/>
            </a:pPr>
            <a:r>
              <a:rPr lang="en-US" sz="1080">
                <a:solidFill>
                  <a:srgbClr val="2B303C"/>
                </a:solidFill>
                <a:latin typeface="Calibri" pitchFamily="34" charset="0"/>
                <a:ea typeface="Calibri" pitchFamily="34" charset="-122"/>
                <a:cs typeface="Calibri" pitchFamily="34" charset="-120"/>
              </a:rPr>
              <a:t>State what it measures: complaints voluntarily reported to one national body in one country, in one year.</a:t>
            </a:r>
            <a:endParaRPr lang="en-US" sz="1080"/>
          </a:p>
          <a:p>
            <a:pPr marL="177800" indent="-177800">
              <a:lnSpc>
                <a:spcPts val="1650"/>
              </a:lnSpc>
              <a:spcAft>
                <a:spcPts val="500"/>
              </a:spcAft>
              <a:buSzPct val="100000"/>
              <a:buChar char="▪"/>
            </a:pPr>
            <a:r>
              <a:rPr lang="en-US" sz="1080">
                <a:solidFill>
                  <a:srgbClr val="2B303C"/>
                </a:solidFill>
                <a:latin typeface="Calibri" pitchFamily="34" charset="0"/>
                <a:ea typeface="Calibri" pitchFamily="34" charset="-122"/>
                <a:cs typeface="Calibri" pitchFamily="34" charset="-120"/>
              </a:rPr>
              <a:t>State what it does not measure: unreported incidents, losses outside the United States, and cases where the victim never realised AI was involved — so treat it as a floor, not a total.</a:t>
            </a:r>
            <a:endParaRPr lang="en-US" sz="1080"/>
          </a:p>
          <a:p>
            <a:pPr marL="177800" indent="-177800">
              <a:lnSpc>
                <a:spcPts val="1650"/>
              </a:lnSpc>
              <a:spcAft>
                <a:spcPts val="500"/>
              </a:spcAft>
              <a:buSzPct val="100000"/>
              <a:buChar char="▪"/>
            </a:pPr>
            <a:r>
              <a:rPr lang="en-US" sz="1080">
                <a:solidFill>
                  <a:srgbClr val="2B303C"/>
                </a:solidFill>
                <a:latin typeface="Calibri" pitchFamily="34" charset="0"/>
                <a:ea typeface="Calibri" pitchFamily="34" charset="-122"/>
                <a:cs typeface="Calibri" pitchFamily="34" charset="-120"/>
              </a:rPr>
              <a:t>Use it to support a claim about direction and scale, not to prove a precise fact: it is evidence that AI-assisted fraud is now large enough to count separately.</a:t>
            </a:r>
            <a:endParaRPr lang="en-US" sz="1080"/>
          </a:p>
        </p:txBody>
      </p:sp>
      <p:sp>
        <p:nvSpPr>
          <p:cNvPr id="14" name="Shape 12"/>
          <p:cNvSpPr/>
          <p:nvPr/>
        </p:nvSpPr>
        <p:spPr>
          <a:xfrm>
            <a:off x="566928" y="5632704"/>
            <a:ext cx="11057839" cy="512064"/>
          </a:xfrm>
          <a:prstGeom prst="roundRect">
            <a:avLst>
              <a:gd name="adj" fmla="val 14286"/>
            </a:avLst>
          </a:prstGeom>
          <a:solidFill>
            <a:srgbClr val="12141C"/>
          </a:solidFill>
          <a:ln/>
        </p:spPr>
        <p:txBody>
          <a:bodyPr/>
          <a:lstStyle/>
          <a:p>
            <a:endParaRPr lang="en-US"/>
          </a:p>
        </p:txBody>
      </p:sp>
      <p:pic>
        <p:nvPicPr>
          <p:cNvPr id="15" name="Image 0" descr="/home/claude/icons/FaNewspaper_w.png"/>
          <p:cNvPicPr>
            <a:picLocks noChangeAspect="1"/>
          </p:cNvPicPr>
          <p:nvPr/>
        </p:nvPicPr>
        <p:blipFill>
          <a:blip r:embed="rId3"/>
          <a:stretch>
            <a:fillRect/>
          </a:stretch>
        </p:blipFill>
        <p:spPr>
          <a:xfrm>
            <a:off x="768096" y="5774436"/>
            <a:ext cx="228600" cy="228600"/>
          </a:xfrm>
          <a:prstGeom prst="rect">
            <a:avLst/>
          </a:prstGeom>
        </p:spPr>
      </p:pic>
      <p:sp>
        <p:nvSpPr>
          <p:cNvPr id="16" name="Text 13"/>
          <p:cNvSpPr/>
          <p:nvPr/>
        </p:nvSpPr>
        <p:spPr>
          <a:xfrm>
            <a:off x="1133856" y="5632704"/>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Source: FBI Internet Crime Complaint Center, 2025 Internet Crime Report (ic3.gov), and FBI press release, April 2026.</a:t>
            </a:r>
            <a:endParaRPr lang="en-US" sz="1150"/>
          </a:p>
        </p:txBody>
      </p:sp>
      <p:sp>
        <p:nvSpPr>
          <p:cNvPr id="17" name="Text 14"/>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18" name="Text 15"/>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42</a:t>
            </a:r>
            <a:endParaRPr lang="en-US" sz="9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6A5AC7"/>
                </a:solidFill>
                <a:latin typeface="Calibri" pitchFamily="34" charset="0"/>
                <a:ea typeface="Calibri" pitchFamily="34" charset="-122"/>
                <a:cs typeface="Calibri" pitchFamily="34" charset="-120"/>
              </a:rPr>
              <a:t>1.4.B  ·  DEFENCES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Four protections against AI-augmented attacks</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All four work by refusing to rely on how convincing something looks or sounds.</a:t>
            </a:r>
            <a:endParaRPr lang="en-US" sz="1400"/>
          </a:p>
        </p:txBody>
      </p:sp>
      <p:sp>
        <p:nvSpPr>
          <p:cNvPr id="5" name="Shape 3"/>
          <p:cNvSpPr/>
          <p:nvPr/>
        </p:nvSpPr>
        <p:spPr>
          <a:xfrm>
            <a:off x="566928" y="1938528"/>
            <a:ext cx="5394960" cy="1444752"/>
          </a:xfrm>
          <a:prstGeom prst="roundRect">
            <a:avLst>
              <a:gd name="adj" fmla="val 5696"/>
            </a:avLst>
          </a:prstGeom>
          <a:solidFill>
            <a:srgbClr val="EFEDFA"/>
          </a:solidFill>
          <a:ln/>
        </p:spPr>
        <p:txBody>
          <a:bodyPr/>
          <a:lstStyle/>
          <a:p>
            <a:endParaRPr lang="en-US"/>
          </a:p>
        </p:txBody>
      </p:sp>
      <p:sp>
        <p:nvSpPr>
          <p:cNvPr id="6" name="Shape 4"/>
          <p:cNvSpPr/>
          <p:nvPr/>
        </p:nvSpPr>
        <p:spPr>
          <a:xfrm>
            <a:off x="822960" y="2176272"/>
            <a:ext cx="493776" cy="493776"/>
          </a:xfrm>
          <a:prstGeom prst="ellipse">
            <a:avLst/>
          </a:prstGeom>
          <a:solidFill>
            <a:srgbClr val="6A5AC7"/>
          </a:solidFill>
          <a:ln/>
        </p:spPr>
        <p:txBody>
          <a:bodyPr/>
          <a:lstStyle/>
          <a:p>
            <a:endParaRPr lang="en-US"/>
          </a:p>
        </p:txBody>
      </p:sp>
      <p:pic>
        <p:nvPicPr>
          <p:cNvPr id="7" name="Image 0" descr="/home/claude/icons/FaComments_w.png"/>
          <p:cNvPicPr>
            <a:picLocks noChangeAspect="1"/>
          </p:cNvPicPr>
          <p:nvPr/>
        </p:nvPicPr>
        <p:blipFill>
          <a:blip r:embed="rId3"/>
          <a:stretch>
            <a:fillRect/>
          </a:stretch>
        </p:blipFill>
        <p:spPr>
          <a:xfrm>
            <a:off x="951342" y="2304654"/>
            <a:ext cx="237012" cy="237012"/>
          </a:xfrm>
          <a:prstGeom prst="rect">
            <a:avLst/>
          </a:prstGeom>
        </p:spPr>
      </p:pic>
      <p:sp>
        <p:nvSpPr>
          <p:cNvPr id="8" name="Text 5"/>
          <p:cNvSpPr/>
          <p:nvPr/>
        </p:nvSpPr>
        <p:spPr>
          <a:xfrm>
            <a:off x="1426464" y="2194560"/>
            <a:ext cx="42976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Agree a shared secret</a:t>
            </a:r>
            <a:endParaRPr lang="en-US" sz="1250"/>
          </a:p>
        </p:txBody>
      </p:sp>
      <p:sp>
        <p:nvSpPr>
          <p:cNvPr id="9" name="Text 6"/>
          <p:cNvSpPr/>
          <p:nvPr/>
        </p:nvSpPr>
        <p:spPr>
          <a:xfrm>
            <a:off x="822960" y="2724912"/>
            <a:ext cx="4846320" cy="566928"/>
          </a:xfrm>
          <a:prstGeom prst="rect">
            <a:avLst/>
          </a:prstGeom>
          <a:noFill/>
          <a:ln/>
        </p:spPr>
        <p:txBody>
          <a:bodyPr wrap="square" lIns="0" tIns="0" rIns="0" bIns="0" rtlCol="0" anchor="t"/>
          <a:lstStyle/>
          <a:p>
            <a:pPr marL="0" indent="0">
              <a:lnSpc>
                <a:spcPts val="1360"/>
              </a:lnSpc>
              <a:buNone/>
            </a:pPr>
            <a:r>
              <a:rPr lang="en-US" sz="1040">
                <a:solidFill>
                  <a:srgbClr val="2B303C"/>
                </a:solidFill>
                <a:latin typeface="Calibri" pitchFamily="34" charset="0"/>
                <a:ea typeface="Calibri" pitchFamily="34" charset="-122"/>
                <a:cs typeface="Calibri" pitchFamily="34" charset="-120"/>
              </a:rPr>
              <a:t>Set a word or phrase known only to you and the people closest to you, and use it to verify identity in high-stakes moments. A cloned voice cannot supply a secret that was never spoken publicly.</a:t>
            </a:r>
            <a:endParaRPr lang="en-US" sz="1040"/>
          </a:p>
        </p:txBody>
      </p:sp>
      <p:sp>
        <p:nvSpPr>
          <p:cNvPr id="10" name="Shape 7"/>
          <p:cNvSpPr/>
          <p:nvPr/>
        </p:nvSpPr>
        <p:spPr>
          <a:xfrm>
            <a:off x="6190488" y="1938528"/>
            <a:ext cx="5394960" cy="1444752"/>
          </a:xfrm>
          <a:prstGeom prst="roundRect">
            <a:avLst>
              <a:gd name="adj" fmla="val 5696"/>
            </a:avLst>
          </a:prstGeom>
          <a:solidFill>
            <a:srgbClr val="EFEDFA"/>
          </a:solidFill>
          <a:ln/>
        </p:spPr>
        <p:txBody>
          <a:bodyPr/>
          <a:lstStyle/>
          <a:p>
            <a:endParaRPr lang="en-US"/>
          </a:p>
        </p:txBody>
      </p:sp>
      <p:sp>
        <p:nvSpPr>
          <p:cNvPr id="11" name="Shape 8"/>
          <p:cNvSpPr/>
          <p:nvPr/>
        </p:nvSpPr>
        <p:spPr>
          <a:xfrm>
            <a:off x="6446520" y="2176272"/>
            <a:ext cx="493776" cy="493776"/>
          </a:xfrm>
          <a:prstGeom prst="ellipse">
            <a:avLst/>
          </a:prstGeom>
          <a:solidFill>
            <a:srgbClr val="6A5AC7"/>
          </a:solidFill>
          <a:ln/>
        </p:spPr>
        <p:txBody>
          <a:bodyPr/>
          <a:lstStyle/>
          <a:p>
            <a:endParaRPr lang="en-US"/>
          </a:p>
        </p:txBody>
      </p:sp>
      <p:pic>
        <p:nvPicPr>
          <p:cNvPr id="12" name="Image 1" descr="/home/claude/icons/FaShieldHalved_w.png"/>
          <p:cNvPicPr>
            <a:picLocks noChangeAspect="1"/>
          </p:cNvPicPr>
          <p:nvPr/>
        </p:nvPicPr>
        <p:blipFill>
          <a:blip r:embed="rId4"/>
          <a:stretch>
            <a:fillRect/>
          </a:stretch>
        </p:blipFill>
        <p:spPr>
          <a:xfrm>
            <a:off x="6574902" y="2304654"/>
            <a:ext cx="237012" cy="237012"/>
          </a:xfrm>
          <a:prstGeom prst="rect">
            <a:avLst/>
          </a:prstGeom>
        </p:spPr>
      </p:pic>
      <p:sp>
        <p:nvSpPr>
          <p:cNvPr id="13" name="Text 9"/>
          <p:cNvSpPr/>
          <p:nvPr/>
        </p:nvSpPr>
        <p:spPr>
          <a:xfrm>
            <a:off x="7050024" y="2194560"/>
            <a:ext cx="42976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Keep MFA switched on</a:t>
            </a:r>
            <a:endParaRPr lang="en-US" sz="1250"/>
          </a:p>
        </p:txBody>
      </p:sp>
      <p:sp>
        <p:nvSpPr>
          <p:cNvPr id="14" name="Text 10"/>
          <p:cNvSpPr/>
          <p:nvPr/>
        </p:nvSpPr>
        <p:spPr>
          <a:xfrm>
            <a:off x="6446520" y="2724912"/>
            <a:ext cx="4846320" cy="566928"/>
          </a:xfrm>
          <a:prstGeom prst="rect">
            <a:avLst/>
          </a:prstGeom>
          <a:noFill/>
          <a:ln/>
        </p:spPr>
        <p:txBody>
          <a:bodyPr wrap="square" lIns="0" tIns="0" rIns="0" bIns="0" rtlCol="0" anchor="t"/>
          <a:lstStyle/>
          <a:p>
            <a:pPr marL="0" indent="0">
              <a:lnSpc>
                <a:spcPts val="1360"/>
              </a:lnSpc>
              <a:buNone/>
            </a:pPr>
            <a:r>
              <a:rPr lang="en-US" sz="1040">
                <a:solidFill>
                  <a:srgbClr val="2B303C"/>
                </a:solidFill>
                <a:latin typeface="Calibri" pitchFamily="34" charset="0"/>
                <a:ea typeface="Calibri" pitchFamily="34" charset="-122"/>
                <a:cs typeface="Calibri" pitchFamily="34" charset="-120"/>
              </a:rPr>
              <a:t>If an adversary clones a voice to defeat voice authentication, a second, different factor still stands between them and the account.</a:t>
            </a:r>
            <a:endParaRPr lang="en-US" sz="1040"/>
          </a:p>
        </p:txBody>
      </p:sp>
      <p:sp>
        <p:nvSpPr>
          <p:cNvPr id="15" name="Shape 11"/>
          <p:cNvSpPr/>
          <p:nvPr/>
        </p:nvSpPr>
        <p:spPr>
          <a:xfrm>
            <a:off x="566928" y="3511296"/>
            <a:ext cx="5394960" cy="1444752"/>
          </a:xfrm>
          <a:prstGeom prst="roundRect">
            <a:avLst>
              <a:gd name="adj" fmla="val 5696"/>
            </a:avLst>
          </a:prstGeom>
          <a:solidFill>
            <a:srgbClr val="F2F4F8"/>
          </a:solidFill>
          <a:ln/>
        </p:spPr>
        <p:txBody>
          <a:bodyPr/>
          <a:lstStyle/>
          <a:p>
            <a:endParaRPr lang="en-US"/>
          </a:p>
        </p:txBody>
      </p:sp>
      <p:sp>
        <p:nvSpPr>
          <p:cNvPr id="16" name="Shape 12"/>
          <p:cNvSpPr/>
          <p:nvPr/>
        </p:nvSpPr>
        <p:spPr>
          <a:xfrm>
            <a:off x="822960" y="3749040"/>
            <a:ext cx="493776" cy="493776"/>
          </a:xfrm>
          <a:prstGeom prst="ellipse">
            <a:avLst/>
          </a:prstGeom>
          <a:solidFill>
            <a:srgbClr val="6A5AC7"/>
          </a:solidFill>
          <a:ln/>
        </p:spPr>
        <p:txBody>
          <a:bodyPr/>
          <a:lstStyle/>
          <a:p>
            <a:endParaRPr lang="en-US"/>
          </a:p>
        </p:txBody>
      </p:sp>
      <p:pic>
        <p:nvPicPr>
          <p:cNvPr id="17" name="Image 2" descr="/home/claude/icons/FaFileShield_w.png"/>
          <p:cNvPicPr>
            <a:picLocks noChangeAspect="1"/>
          </p:cNvPicPr>
          <p:nvPr/>
        </p:nvPicPr>
        <p:blipFill>
          <a:blip r:embed="rId5"/>
          <a:stretch>
            <a:fillRect/>
          </a:stretch>
        </p:blipFill>
        <p:spPr>
          <a:xfrm>
            <a:off x="951342" y="3877422"/>
            <a:ext cx="237012" cy="237012"/>
          </a:xfrm>
          <a:prstGeom prst="rect">
            <a:avLst/>
          </a:prstGeom>
        </p:spPr>
      </p:pic>
      <p:sp>
        <p:nvSpPr>
          <p:cNvPr id="18" name="Text 13"/>
          <p:cNvSpPr/>
          <p:nvPr/>
        </p:nvSpPr>
        <p:spPr>
          <a:xfrm>
            <a:off x="1426464" y="3767328"/>
            <a:ext cx="42976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Keep sensitive data out of AI tools</a:t>
            </a:r>
            <a:endParaRPr lang="en-US" sz="1250"/>
          </a:p>
        </p:txBody>
      </p:sp>
      <p:sp>
        <p:nvSpPr>
          <p:cNvPr id="19" name="Text 14"/>
          <p:cNvSpPr/>
          <p:nvPr/>
        </p:nvSpPr>
        <p:spPr>
          <a:xfrm>
            <a:off x="822960" y="4297680"/>
            <a:ext cx="4846320" cy="566928"/>
          </a:xfrm>
          <a:prstGeom prst="rect">
            <a:avLst/>
          </a:prstGeom>
          <a:noFill/>
          <a:ln/>
        </p:spPr>
        <p:txBody>
          <a:bodyPr wrap="square" lIns="0" tIns="0" rIns="0" bIns="0" rtlCol="0" anchor="t"/>
          <a:lstStyle/>
          <a:p>
            <a:pPr marL="0" indent="0">
              <a:lnSpc>
                <a:spcPts val="1360"/>
              </a:lnSpc>
              <a:buNone/>
            </a:pPr>
            <a:r>
              <a:rPr lang="en-US" sz="1040">
                <a:solidFill>
                  <a:srgbClr val="2B303C"/>
                </a:solidFill>
                <a:latin typeface="Calibri" pitchFamily="34" charset="0"/>
                <a:ea typeface="Calibri" pitchFamily="34" charset="-122"/>
                <a:cs typeface="Calibri" pitchFamily="34" charset="-120"/>
              </a:rPr>
              <a:t>Do not enter personal or confidential information into chatbots and assistants. Some tools feed user input back into the model, and later prompts can draw it out again.</a:t>
            </a:r>
            <a:endParaRPr lang="en-US" sz="1040"/>
          </a:p>
        </p:txBody>
      </p:sp>
      <p:sp>
        <p:nvSpPr>
          <p:cNvPr id="20" name="Shape 15"/>
          <p:cNvSpPr/>
          <p:nvPr/>
        </p:nvSpPr>
        <p:spPr>
          <a:xfrm>
            <a:off x="6190488" y="3511296"/>
            <a:ext cx="5394960" cy="1444752"/>
          </a:xfrm>
          <a:prstGeom prst="roundRect">
            <a:avLst>
              <a:gd name="adj" fmla="val 5696"/>
            </a:avLst>
          </a:prstGeom>
          <a:solidFill>
            <a:srgbClr val="F2F4F8"/>
          </a:solidFill>
          <a:ln/>
        </p:spPr>
        <p:txBody>
          <a:bodyPr/>
          <a:lstStyle/>
          <a:p>
            <a:endParaRPr lang="en-US"/>
          </a:p>
        </p:txBody>
      </p:sp>
      <p:sp>
        <p:nvSpPr>
          <p:cNvPr id="21" name="Shape 16"/>
          <p:cNvSpPr/>
          <p:nvPr/>
        </p:nvSpPr>
        <p:spPr>
          <a:xfrm>
            <a:off x="6446520" y="3749040"/>
            <a:ext cx="493776" cy="493776"/>
          </a:xfrm>
          <a:prstGeom prst="ellipse">
            <a:avLst/>
          </a:prstGeom>
          <a:solidFill>
            <a:srgbClr val="6A5AC7"/>
          </a:solidFill>
          <a:ln/>
        </p:spPr>
        <p:txBody>
          <a:bodyPr/>
          <a:lstStyle/>
          <a:p>
            <a:endParaRPr lang="en-US"/>
          </a:p>
        </p:txBody>
      </p:sp>
      <p:pic>
        <p:nvPicPr>
          <p:cNvPr id="22" name="Image 3" descr="/home/claude/icons/FaCircleCheck_w.png"/>
          <p:cNvPicPr>
            <a:picLocks noChangeAspect="1"/>
          </p:cNvPicPr>
          <p:nvPr/>
        </p:nvPicPr>
        <p:blipFill>
          <a:blip r:embed="rId6"/>
          <a:stretch>
            <a:fillRect/>
          </a:stretch>
        </p:blipFill>
        <p:spPr>
          <a:xfrm>
            <a:off x="6574902" y="3877422"/>
            <a:ext cx="237012" cy="237012"/>
          </a:xfrm>
          <a:prstGeom prst="rect">
            <a:avLst/>
          </a:prstGeom>
        </p:spPr>
      </p:pic>
      <p:sp>
        <p:nvSpPr>
          <p:cNvPr id="23" name="Text 17"/>
          <p:cNvSpPr/>
          <p:nvPr/>
        </p:nvSpPr>
        <p:spPr>
          <a:xfrm>
            <a:off x="7050024" y="3767328"/>
            <a:ext cx="42976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Verify AI output independently</a:t>
            </a:r>
            <a:endParaRPr lang="en-US" sz="1250"/>
          </a:p>
        </p:txBody>
      </p:sp>
      <p:sp>
        <p:nvSpPr>
          <p:cNvPr id="24" name="Text 18"/>
          <p:cNvSpPr/>
          <p:nvPr/>
        </p:nvSpPr>
        <p:spPr>
          <a:xfrm>
            <a:off x="6446520" y="4297680"/>
            <a:ext cx="4846320" cy="566928"/>
          </a:xfrm>
          <a:prstGeom prst="rect">
            <a:avLst/>
          </a:prstGeom>
          <a:noFill/>
          <a:ln/>
        </p:spPr>
        <p:txBody>
          <a:bodyPr wrap="square" lIns="0" tIns="0" rIns="0" bIns="0" rtlCol="0" anchor="t"/>
          <a:lstStyle/>
          <a:p>
            <a:pPr marL="0" indent="0">
              <a:lnSpc>
                <a:spcPts val="1360"/>
              </a:lnSpc>
              <a:buNone/>
            </a:pPr>
            <a:r>
              <a:rPr lang="en-US" sz="1040">
                <a:solidFill>
                  <a:srgbClr val="2B303C"/>
                </a:solidFill>
                <a:latin typeface="Calibri" pitchFamily="34" charset="0"/>
                <a:ea typeface="Calibri" pitchFamily="34" charset="-122"/>
                <a:cs typeface="Calibri" pitchFamily="34" charset="-120"/>
              </a:rPr>
              <a:t>Check anything an AI tool tells you against reputable, stable, non-AI sources before you act on it — particularly names, numbers, and instructions.</a:t>
            </a:r>
            <a:endParaRPr lang="en-US" sz="1040"/>
          </a:p>
        </p:txBody>
      </p:sp>
      <p:sp>
        <p:nvSpPr>
          <p:cNvPr id="25" name="Shape 19"/>
          <p:cNvSpPr/>
          <p:nvPr/>
        </p:nvSpPr>
        <p:spPr>
          <a:xfrm>
            <a:off x="566928" y="5212080"/>
            <a:ext cx="11057839" cy="512064"/>
          </a:xfrm>
          <a:prstGeom prst="roundRect">
            <a:avLst>
              <a:gd name="adj" fmla="val 14286"/>
            </a:avLst>
          </a:prstGeom>
          <a:solidFill>
            <a:srgbClr val="12141C"/>
          </a:solidFill>
          <a:ln/>
        </p:spPr>
        <p:txBody>
          <a:bodyPr/>
          <a:lstStyle/>
          <a:p>
            <a:endParaRPr lang="en-US"/>
          </a:p>
        </p:txBody>
      </p:sp>
      <p:pic>
        <p:nvPicPr>
          <p:cNvPr id="26" name="Image 4" descr="/home/claude/icons/FaScaleBalanced_w.png"/>
          <p:cNvPicPr>
            <a:picLocks noChangeAspect="1"/>
          </p:cNvPicPr>
          <p:nvPr/>
        </p:nvPicPr>
        <p:blipFill>
          <a:blip r:embed="rId7"/>
          <a:stretch>
            <a:fillRect/>
          </a:stretch>
        </p:blipFill>
        <p:spPr>
          <a:xfrm>
            <a:off x="768096" y="5353812"/>
            <a:ext cx="228600" cy="228600"/>
          </a:xfrm>
          <a:prstGeom prst="rect">
            <a:avLst/>
          </a:prstGeom>
        </p:spPr>
      </p:pic>
      <p:sp>
        <p:nvSpPr>
          <p:cNvPr id="27" name="Text 20"/>
          <p:cNvSpPr/>
          <p:nvPr/>
        </p:nvSpPr>
        <p:spPr>
          <a:xfrm>
            <a:off x="1133856" y="52120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Notice what these have in common: not one of them asks you to spot a fake. They all replace perception with an independent check — which is why they keep working as the fakes improve.</a:t>
            </a:r>
            <a:endParaRPr lang="en-US" sz="1150"/>
          </a:p>
        </p:txBody>
      </p:sp>
      <p:sp>
        <p:nvSpPr>
          <p:cNvPr id="28" name="Text 21"/>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9" name="Text 22"/>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43</a:t>
            </a:r>
            <a:endParaRPr lang="en-US" sz="9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566928" y="384048"/>
            <a:ext cx="1737360" cy="274320"/>
          </a:xfrm>
          <a:prstGeom prst="roundRect">
            <a:avLst>
              <a:gd name="adj" fmla="val 20000"/>
            </a:avLst>
          </a:prstGeom>
          <a:solidFill>
            <a:srgbClr val="6A5AC7"/>
          </a:solidFill>
          <a:ln/>
        </p:spPr>
        <p:txBody>
          <a:bodyPr/>
          <a:lstStyle/>
          <a:p>
            <a:endParaRPr lang="en-US"/>
          </a:p>
        </p:txBody>
      </p:sp>
      <p:sp>
        <p:nvSpPr>
          <p:cNvPr id="3" name="Text 1"/>
          <p:cNvSpPr/>
          <p:nvPr/>
        </p:nvSpPr>
        <p:spPr>
          <a:xfrm>
            <a:off x="566928" y="384048"/>
            <a:ext cx="1737360" cy="274320"/>
          </a:xfrm>
          <a:prstGeom prst="rect">
            <a:avLst/>
          </a:prstGeom>
          <a:noFill/>
          <a:ln/>
        </p:spPr>
        <p:txBody>
          <a:bodyPr wrap="square" lIns="0" tIns="0" rIns="0" bIns="0" rtlCol="0" anchor="ctr"/>
          <a:lstStyle/>
          <a:p>
            <a:pPr marL="0" indent="0" algn="ctr">
              <a:buNone/>
            </a:pPr>
            <a:r>
              <a:rPr lang="en-US" sz="950" b="1" kern="0" spc="100">
                <a:solidFill>
                  <a:srgbClr val="12141C"/>
                </a:solidFill>
                <a:latin typeface="Calibri" pitchFamily="34" charset="0"/>
                <a:ea typeface="Calibri" pitchFamily="34" charset="-122"/>
                <a:cs typeface="Calibri" pitchFamily="34" charset="-120"/>
              </a:rPr>
              <a:t>SCENARIO 1D</a:t>
            </a:r>
            <a:endParaRPr lang="en-US" sz="950"/>
          </a:p>
        </p:txBody>
      </p:sp>
      <p:sp>
        <p:nvSpPr>
          <p:cNvPr id="4" name="Text 2"/>
          <p:cNvSpPr/>
          <p:nvPr/>
        </p:nvSpPr>
        <p:spPr>
          <a:xfrm>
            <a:off x="2487168" y="384048"/>
            <a:ext cx="7315200" cy="274320"/>
          </a:xfrm>
          <a:prstGeom prst="rect">
            <a:avLst/>
          </a:prstGeom>
          <a:noFill/>
          <a:ln/>
        </p:spPr>
        <p:txBody>
          <a:bodyPr wrap="square" lIns="0" tIns="0" rIns="0" bIns="0" rtlCol="0" anchor="ctr"/>
          <a:lstStyle/>
          <a:p>
            <a:pPr marL="0" indent="0">
              <a:buNone/>
            </a:pPr>
            <a:r>
              <a:rPr lang="en-US" sz="950" b="1" kern="0" spc="130">
                <a:solidFill>
                  <a:srgbClr val="9AA3B2"/>
                </a:solidFill>
                <a:latin typeface="Calibri" pitchFamily="34" charset="0"/>
                <a:ea typeface="Calibri" pitchFamily="34" charset="-122"/>
                <a:cs typeface="Calibri" pitchFamily="34" charset="-120"/>
              </a:rPr>
              <a:t>FROM THE COURSE AND EXAM DESCRIPTION</a:t>
            </a:r>
            <a:endParaRPr lang="en-US" sz="950"/>
          </a:p>
        </p:txBody>
      </p:sp>
      <p:sp>
        <p:nvSpPr>
          <p:cNvPr id="5" name="Text 3"/>
          <p:cNvSpPr/>
          <p:nvPr/>
        </p:nvSpPr>
        <p:spPr>
          <a:xfrm>
            <a:off x="566928" y="841248"/>
            <a:ext cx="10058400" cy="54864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AI-Powered Cyberattacks</a:t>
            </a:r>
            <a:endParaRPr lang="en-US" sz="3000"/>
          </a:p>
        </p:txBody>
      </p:sp>
      <p:sp>
        <p:nvSpPr>
          <p:cNvPr id="6" name="Shape 4"/>
          <p:cNvSpPr/>
          <p:nvPr/>
        </p:nvSpPr>
        <p:spPr>
          <a:xfrm>
            <a:off x="566928" y="1572768"/>
            <a:ext cx="5806440" cy="1920240"/>
          </a:xfrm>
          <a:prstGeom prst="roundRect">
            <a:avLst>
              <a:gd name="adj" fmla="val 4286"/>
            </a:avLst>
          </a:prstGeom>
          <a:solidFill>
            <a:srgbClr val="1D2331"/>
          </a:solidFill>
          <a:ln/>
        </p:spPr>
        <p:txBody>
          <a:bodyPr/>
          <a:lstStyle/>
          <a:p>
            <a:endParaRPr lang="en-US"/>
          </a:p>
        </p:txBody>
      </p:sp>
      <p:sp>
        <p:nvSpPr>
          <p:cNvPr id="7" name="Text 5"/>
          <p:cNvSpPr/>
          <p:nvPr/>
        </p:nvSpPr>
        <p:spPr>
          <a:xfrm>
            <a:off x="822960" y="1719072"/>
            <a:ext cx="2743200" cy="201168"/>
          </a:xfrm>
          <a:prstGeom prst="rect">
            <a:avLst/>
          </a:prstGeom>
          <a:noFill/>
          <a:ln/>
        </p:spPr>
        <p:txBody>
          <a:bodyPr wrap="square" lIns="0" tIns="0" rIns="0" bIns="0" rtlCol="0" anchor="ctr"/>
          <a:lstStyle/>
          <a:p>
            <a:pPr marL="0" indent="0">
              <a:buNone/>
            </a:pPr>
            <a:r>
              <a:rPr lang="en-US" sz="900" b="1" kern="0" spc="120">
                <a:solidFill>
                  <a:srgbClr val="6A5AC7"/>
                </a:solidFill>
                <a:latin typeface="Calibri" pitchFamily="34" charset="0"/>
                <a:ea typeface="Calibri" pitchFamily="34" charset="-122"/>
                <a:cs typeface="Calibri" pitchFamily="34" charset="-120"/>
              </a:rPr>
              <a:t>THE SITUATION</a:t>
            </a:r>
            <a:endParaRPr lang="en-US" sz="900"/>
          </a:p>
        </p:txBody>
      </p:sp>
      <p:sp>
        <p:nvSpPr>
          <p:cNvPr id="8" name="Text 6"/>
          <p:cNvSpPr/>
          <p:nvPr/>
        </p:nvSpPr>
        <p:spPr>
          <a:xfrm>
            <a:off x="822960" y="2011680"/>
            <a:ext cx="5303520" cy="1325880"/>
          </a:xfrm>
          <a:prstGeom prst="rect">
            <a:avLst/>
          </a:prstGeom>
          <a:noFill/>
          <a:ln/>
        </p:spPr>
        <p:txBody>
          <a:bodyPr wrap="square" lIns="0" tIns="0" rIns="0" bIns="0" rtlCol="0" anchor="ctr"/>
          <a:lstStyle/>
          <a:p>
            <a:pPr marL="0" indent="0">
              <a:lnSpc>
                <a:spcPts val="1700"/>
              </a:lnSpc>
              <a:buNone/>
            </a:pPr>
            <a:r>
              <a:rPr lang="en-US" sz="1200">
                <a:solidFill>
                  <a:srgbClr val="FFFFFF"/>
                </a:solidFill>
                <a:latin typeface="Calibri" pitchFamily="34" charset="0"/>
                <a:ea typeface="Calibri" pitchFamily="34" charset="-122"/>
                <a:cs typeface="Calibri" pitchFamily="34" charset="-120"/>
              </a:rPr>
              <a:t>A relative calls you, frantic: did you get the money they sent, and how did you end up in so much trouble? They say you phoned from jail earlier, arrested for stealing and needing bail. You never called. Two weeks ago you accepted a friend request from someone whose name resembled a classmate's; that account was an adversary, who scraped your posted videos for voice samples, found your relative, and called them in your voice.</a:t>
            </a:r>
            <a:endParaRPr lang="en-US" sz="1200"/>
          </a:p>
        </p:txBody>
      </p:sp>
      <p:sp>
        <p:nvSpPr>
          <p:cNvPr id="9" name="Shape 7"/>
          <p:cNvSpPr/>
          <p:nvPr/>
        </p:nvSpPr>
        <p:spPr>
          <a:xfrm>
            <a:off x="566928" y="3639312"/>
            <a:ext cx="5806440" cy="1874520"/>
          </a:xfrm>
          <a:prstGeom prst="roundRect">
            <a:avLst>
              <a:gd name="adj" fmla="val 4390"/>
            </a:avLst>
          </a:prstGeom>
          <a:solidFill>
            <a:srgbClr val="1D2331"/>
          </a:solidFill>
          <a:ln/>
        </p:spPr>
        <p:txBody>
          <a:bodyPr/>
          <a:lstStyle/>
          <a:p>
            <a:endParaRPr lang="en-US"/>
          </a:p>
        </p:txBody>
      </p:sp>
      <p:sp>
        <p:nvSpPr>
          <p:cNvPr id="10" name="Text 8"/>
          <p:cNvSpPr/>
          <p:nvPr/>
        </p:nvSpPr>
        <p:spPr>
          <a:xfrm>
            <a:off x="822960" y="3785616"/>
            <a:ext cx="3657600" cy="201168"/>
          </a:xfrm>
          <a:prstGeom prst="rect">
            <a:avLst/>
          </a:prstGeom>
          <a:noFill/>
          <a:ln/>
        </p:spPr>
        <p:txBody>
          <a:bodyPr wrap="square" lIns="0" tIns="0" rIns="0" bIns="0" rtlCol="0" anchor="ctr"/>
          <a:lstStyle/>
          <a:p>
            <a:pPr marL="0" indent="0">
              <a:buNone/>
            </a:pPr>
            <a:r>
              <a:rPr lang="en-US" sz="900" b="1" kern="0" spc="120">
                <a:solidFill>
                  <a:srgbClr val="6A5AC7"/>
                </a:solidFill>
                <a:latin typeface="Calibri" pitchFamily="34" charset="0"/>
                <a:ea typeface="Calibri" pitchFamily="34" charset="-122"/>
                <a:cs typeface="Calibri" pitchFamily="34" charset="-120"/>
              </a:rPr>
              <a:t>CONSIDER THE FOLLOWING</a:t>
            </a:r>
            <a:endParaRPr lang="en-US" sz="900"/>
          </a:p>
        </p:txBody>
      </p:sp>
      <p:sp>
        <p:nvSpPr>
          <p:cNvPr id="11" name="Text 9"/>
          <p:cNvSpPr/>
          <p:nvPr/>
        </p:nvSpPr>
        <p:spPr>
          <a:xfrm>
            <a:off x="822960" y="4078224"/>
            <a:ext cx="228600" cy="219456"/>
          </a:xfrm>
          <a:prstGeom prst="rect">
            <a:avLst/>
          </a:prstGeom>
          <a:noFill/>
          <a:ln/>
        </p:spPr>
        <p:txBody>
          <a:bodyPr wrap="square" lIns="0" tIns="0" rIns="0" bIns="0" rtlCol="0" anchor="ctr"/>
          <a:lstStyle/>
          <a:p>
            <a:pPr marL="0" indent="0">
              <a:buNone/>
            </a:pPr>
            <a:r>
              <a:rPr lang="en-US" sz="1050" b="1">
                <a:solidFill>
                  <a:srgbClr val="6A5AC7"/>
                </a:solidFill>
                <a:latin typeface="Calibri" pitchFamily="34" charset="0"/>
                <a:ea typeface="Calibri" pitchFamily="34" charset="-122"/>
                <a:cs typeface="Calibri" pitchFamily="34" charset="-120"/>
              </a:rPr>
              <a:t>1</a:t>
            </a:r>
            <a:endParaRPr lang="en-US" sz="1050"/>
          </a:p>
        </p:txBody>
      </p:sp>
      <p:sp>
        <p:nvSpPr>
          <p:cNvPr id="12" name="Text 10"/>
          <p:cNvSpPr/>
          <p:nvPr/>
        </p:nvSpPr>
        <p:spPr>
          <a:xfrm>
            <a:off x="1097280" y="40782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Do you know all your online connections in real life? Do you know they are who they claim to be?</a:t>
            </a:r>
            <a:endParaRPr lang="en-US" sz="1100"/>
          </a:p>
        </p:txBody>
      </p:sp>
      <p:sp>
        <p:nvSpPr>
          <p:cNvPr id="13" name="Text 11"/>
          <p:cNvSpPr/>
          <p:nvPr/>
        </p:nvSpPr>
        <p:spPr>
          <a:xfrm>
            <a:off x="822960" y="4535424"/>
            <a:ext cx="228600" cy="219456"/>
          </a:xfrm>
          <a:prstGeom prst="rect">
            <a:avLst/>
          </a:prstGeom>
          <a:noFill/>
          <a:ln/>
        </p:spPr>
        <p:txBody>
          <a:bodyPr wrap="square" lIns="0" tIns="0" rIns="0" bIns="0" rtlCol="0" anchor="ctr"/>
          <a:lstStyle/>
          <a:p>
            <a:pPr marL="0" indent="0">
              <a:buNone/>
            </a:pPr>
            <a:r>
              <a:rPr lang="en-US" sz="1050" b="1">
                <a:solidFill>
                  <a:srgbClr val="6A5AC7"/>
                </a:solidFill>
                <a:latin typeface="Calibri" pitchFamily="34" charset="0"/>
                <a:ea typeface="Calibri" pitchFamily="34" charset="-122"/>
                <a:cs typeface="Calibri" pitchFamily="34" charset="-120"/>
              </a:rPr>
              <a:t>2</a:t>
            </a:r>
            <a:endParaRPr lang="en-US" sz="1050"/>
          </a:p>
        </p:txBody>
      </p:sp>
      <p:sp>
        <p:nvSpPr>
          <p:cNvPr id="14" name="Text 12"/>
          <p:cNvSpPr/>
          <p:nvPr/>
        </p:nvSpPr>
        <p:spPr>
          <a:xfrm>
            <a:off x="1097280" y="45354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Have you heard of adversaries impersonating someone to get money from a relative?</a:t>
            </a:r>
            <a:endParaRPr lang="en-US" sz="1100"/>
          </a:p>
        </p:txBody>
      </p:sp>
      <p:sp>
        <p:nvSpPr>
          <p:cNvPr id="15" name="Text 13"/>
          <p:cNvSpPr/>
          <p:nvPr/>
        </p:nvSpPr>
        <p:spPr>
          <a:xfrm>
            <a:off x="822960" y="4992624"/>
            <a:ext cx="228600" cy="219456"/>
          </a:xfrm>
          <a:prstGeom prst="rect">
            <a:avLst/>
          </a:prstGeom>
          <a:noFill/>
          <a:ln/>
        </p:spPr>
        <p:txBody>
          <a:bodyPr wrap="square" lIns="0" tIns="0" rIns="0" bIns="0" rtlCol="0" anchor="ctr"/>
          <a:lstStyle/>
          <a:p>
            <a:pPr marL="0" indent="0">
              <a:buNone/>
            </a:pPr>
            <a:r>
              <a:rPr lang="en-US" sz="1050" b="1">
                <a:solidFill>
                  <a:srgbClr val="6A5AC7"/>
                </a:solidFill>
                <a:latin typeface="Calibri" pitchFamily="34" charset="0"/>
                <a:ea typeface="Calibri" pitchFamily="34" charset="-122"/>
                <a:cs typeface="Calibri" pitchFamily="34" charset="-120"/>
              </a:rPr>
              <a:t>3</a:t>
            </a:r>
            <a:endParaRPr lang="en-US" sz="1050"/>
          </a:p>
        </p:txBody>
      </p:sp>
      <p:sp>
        <p:nvSpPr>
          <p:cNvPr id="16" name="Text 14"/>
          <p:cNvSpPr/>
          <p:nvPr/>
        </p:nvSpPr>
        <p:spPr>
          <a:xfrm>
            <a:off x="1097280" y="49926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How could you help protect relatives from becoming a victim of a scheme like this?</a:t>
            </a:r>
            <a:endParaRPr lang="en-US" sz="1100"/>
          </a:p>
        </p:txBody>
      </p:sp>
      <p:sp>
        <p:nvSpPr>
          <p:cNvPr id="17" name="Shape 15"/>
          <p:cNvSpPr/>
          <p:nvPr/>
        </p:nvSpPr>
        <p:spPr>
          <a:xfrm>
            <a:off x="6656832" y="1572768"/>
            <a:ext cx="4965192" cy="3941064"/>
          </a:xfrm>
          <a:prstGeom prst="roundRect">
            <a:avLst>
              <a:gd name="adj" fmla="val 2088"/>
            </a:avLst>
          </a:prstGeom>
          <a:solidFill>
            <a:srgbClr val="1D2331"/>
          </a:solidFill>
          <a:ln w="12700">
            <a:solidFill>
              <a:srgbClr val="2C3446"/>
            </a:solidFill>
            <a:prstDash val="solid"/>
          </a:ln>
        </p:spPr>
        <p:txBody>
          <a:bodyPr/>
          <a:lstStyle/>
          <a:p>
            <a:endParaRPr lang="en-US"/>
          </a:p>
        </p:txBody>
      </p:sp>
      <p:sp>
        <p:nvSpPr>
          <p:cNvPr id="18" name="Text 16"/>
          <p:cNvSpPr/>
          <p:nvPr/>
        </p:nvSpPr>
        <p:spPr>
          <a:xfrm>
            <a:off x="6912864" y="1737360"/>
            <a:ext cx="4114800" cy="201168"/>
          </a:xfrm>
          <a:prstGeom prst="rect">
            <a:avLst/>
          </a:prstGeom>
          <a:noFill/>
          <a:ln/>
        </p:spPr>
        <p:txBody>
          <a:bodyPr wrap="square" lIns="0" tIns="0" rIns="0" bIns="0" rtlCol="0" anchor="ctr"/>
          <a:lstStyle/>
          <a:p>
            <a:pPr marL="0" indent="0">
              <a:buNone/>
            </a:pPr>
            <a:r>
              <a:rPr lang="en-US" sz="900" b="1" kern="0" spc="120">
                <a:solidFill>
                  <a:srgbClr val="6A5AC7"/>
                </a:solidFill>
                <a:latin typeface="Calibri" pitchFamily="34" charset="0"/>
                <a:ea typeface="Calibri" pitchFamily="34" charset="-122"/>
                <a:cs typeface="Calibri" pitchFamily="34" charset="-120"/>
              </a:rPr>
              <a:t>WHAT A STRONG ANSWER DOES</a:t>
            </a:r>
            <a:endParaRPr lang="en-US" sz="900"/>
          </a:p>
        </p:txBody>
      </p:sp>
      <p:sp>
        <p:nvSpPr>
          <p:cNvPr id="19" name="Text 17"/>
          <p:cNvSpPr/>
          <p:nvPr/>
        </p:nvSpPr>
        <p:spPr>
          <a:xfrm>
            <a:off x="6912864" y="2084832"/>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Traces the material back to its source</a:t>
            </a:r>
            <a:endParaRPr lang="en-US" sz="1200"/>
          </a:p>
        </p:txBody>
      </p:sp>
      <p:sp>
        <p:nvSpPr>
          <p:cNvPr id="20" name="Text 18"/>
          <p:cNvSpPr/>
          <p:nvPr/>
        </p:nvSpPr>
        <p:spPr>
          <a:xfrm>
            <a:off x="6912864" y="2377440"/>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The voice came from posts the victim published themselves — reconnaissance and impersonation are one workflow (1.4.A.5 → 1.4.A.1).</a:t>
            </a:r>
            <a:endParaRPr lang="en-US" sz="1060"/>
          </a:p>
        </p:txBody>
      </p:sp>
      <p:sp>
        <p:nvSpPr>
          <p:cNvPr id="21" name="Text 19"/>
          <p:cNvSpPr/>
          <p:nvPr/>
        </p:nvSpPr>
        <p:spPr>
          <a:xfrm>
            <a:off x="6912864" y="3255264"/>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Identifies the levers, not just the technology</a:t>
            </a:r>
            <a:endParaRPr lang="en-US" sz="1200"/>
          </a:p>
        </p:txBody>
      </p:sp>
      <p:sp>
        <p:nvSpPr>
          <p:cNvPr id="22" name="Text 20"/>
          <p:cNvSpPr/>
          <p:nvPr/>
        </p:nvSpPr>
        <p:spPr>
          <a:xfrm>
            <a:off x="6912864" y="3547872"/>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Intimidation and urgency do the work; the clone only removes the doubt that would otherwise interrupt them.</a:t>
            </a:r>
            <a:endParaRPr lang="en-US" sz="1060"/>
          </a:p>
        </p:txBody>
      </p:sp>
      <p:sp>
        <p:nvSpPr>
          <p:cNvPr id="23" name="Text 21"/>
          <p:cNvSpPr/>
          <p:nvPr/>
        </p:nvSpPr>
        <p:spPr>
          <a:xfrm>
            <a:off x="6912864" y="4425696"/>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Proposes controls that survive a perfect fake</a:t>
            </a:r>
            <a:endParaRPr lang="en-US" sz="1200"/>
          </a:p>
        </p:txBody>
      </p:sp>
      <p:sp>
        <p:nvSpPr>
          <p:cNvPr id="24" name="Text 22"/>
          <p:cNvSpPr/>
          <p:nvPr/>
        </p:nvSpPr>
        <p:spPr>
          <a:xfrm>
            <a:off x="6912864" y="4718304"/>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A family code word; call back on a known number; a rule that no genuine emergency is ever ruined by a five-minute verification.</a:t>
            </a:r>
            <a:endParaRPr lang="en-US" sz="1060"/>
          </a:p>
        </p:txBody>
      </p:sp>
      <p:sp>
        <p:nvSpPr>
          <p:cNvPr id="25" name="Text 23"/>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6" name="Text 24"/>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44</a:t>
            </a:r>
            <a:endParaRPr lang="en-US" sz="9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66928" y="384048"/>
            <a:ext cx="1481328" cy="274320"/>
          </a:xfrm>
          <a:prstGeom prst="roundRect">
            <a:avLst>
              <a:gd name="adj" fmla="val 20000"/>
            </a:avLst>
          </a:prstGeom>
          <a:solidFill>
            <a:srgbClr val="12141C"/>
          </a:solidFill>
          <a:ln/>
        </p:spPr>
        <p:txBody>
          <a:bodyPr/>
          <a:lstStyle/>
          <a:p>
            <a:endParaRPr lang="en-US"/>
          </a:p>
        </p:txBody>
      </p:sp>
      <p:sp>
        <p:nvSpPr>
          <p:cNvPr id="3" name="Text 1"/>
          <p:cNvSpPr/>
          <p:nvPr/>
        </p:nvSpPr>
        <p:spPr>
          <a:xfrm>
            <a:off x="566928" y="384048"/>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CHECK</a:t>
            </a:r>
            <a:endParaRPr lang="en-US" sz="950"/>
          </a:p>
        </p:txBody>
      </p:sp>
      <p:sp>
        <p:nvSpPr>
          <p:cNvPr id="4" name="Text 2"/>
          <p:cNvSpPr/>
          <p:nvPr/>
        </p:nvSpPr>
        <p:spPr>
          <a:xfrm>
            <a:off x="2231136" y="384048"/>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TOPIC 1.4</a:t>
            </a:r>
            <a:endParaRPr lang="en-US" sz="1050"/>
          </a:p>
        </p:txBody>
      </p:sp>
      <p:sp>
        <p:nvSpPr>
          <p:cNvPr id="5" name="Text 3"/>
          <p:cNvSpPr/>
          <p:nvPr/>
        </p:nvSpPr>
        <p:spPr>
          <a:xfrm>
            <a:off x="566928" y="804672"/>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Check for understanding</a:t>
            </a:r>
            <a:endParaRPr lang="en-US" sz="3000"/>
          </a:p>
        </p:txBody>
      </p:sp>
      <p:sp>
        <p:nvSpPr>
          <p:cNvPr id="6" name="Shape 4"/>
          <p:cNvSpPr/>
          <p:nvPr/>
        </p:nvSpPr>
        <p:spPr>
          <a:xfrm>
            <a:off x="566928" y="1627632"/>
            <a:ext cx="11057839" cy="914400"/>
          </a:xfrm>
          <a:prstGeom prst="roundRect">
            <a:avLst>
              <a:gd name="adj" fmla="val 9000"/>
            </a:avLst>
          </a:prstGeom>
          <a:solidFill>
            <a:srgbClr val="EAF0FA"/>
          </a:solidFill>
          <a:ln/>
        </p:spPr>
        <p:txBody>
          <a:bodyPr/>
          <a:lstStyle/>
          <a:p>
            <a:endParaRPr lang="en-US"/>
          </a:p>
        </p:txBody>
      </p:sp>
      <p:sp>
        <p:nvSpPr>
          <p:cNvPr id="7" name="Shape 5"/>
          <p:cNvSpPr/>
          <p:nvPr/>
        </p:nvSpPr>
        <p:spPr>
          <a:xfrm>
            <a:off x="804672" y="1773936"/>
            <a:ext cx="868680" cy="237744"/>
          </a:xfrm>
          <a:prstGeom prst="roundRect">
            <a:avLst>
              <a:gd name="adj" fmla="val 23077"/>
            </a:avLst>
          </a:prstGeom>
          <a:solidFill>
            <a:srgbClr val="6A5AC7"/>
          </a:solidFill>
          <a:ln/>
        </p:spPr>
        <p:txBody>
          <a:bodyPr/>
          <a:lstStyle/>
          <a:p>
            <a:endParaRPr lang="en-US"/>
          </a:p>
        </p:txBody>
      </p:sp>
      <p:sp>
        <p:nvSpPr>
          <p:cNvPr id="8" name="Text 6"/>
          <p:cNvSpPr/>
          <p:nvPr/>
        </p:nvSpPr>
        <p:spPr>
          <a:xfrm>
            <a:off x="804672" y="1773936"/>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Recall</a:t>
            </a:r>
            <a:endParaRPr lang="en-US" sz="900"/>
          </a:p>
        </p:txBody>
      </p:sp>
      <p:sp>
        <p:nvSpPr>
          <p:cNvPr id="9" name="Text 7"/>
          <p:cNvSpPr/>
          <p:nvPr/>
        </p:nvSpPr>
        <p:spPr>
          <a:xfrm>
            <a:off x="1828800" y="1755648"/>
            <a:ext cx="274320" cy="274320"/>
          </a:xfrm>
          <a:prstGeom prst="rect">
            <a:avLst/>
          </a:prstGeom>
          <a:noFill/>
          <a:ln/>
        </p:spPr>
        <p:txBody>
          <a:bodyPr wrap="square" lIns="0" tIns="0" rIns="0" bIns="0" rtlCol="0" anchor="ctr"/>
          <a:lstStyle/>
          <a:p>
            <a:pPr marL="0" indent="0">
              <a:buNone/>
            </a:pPr>
            <a:r>
              <a:rPr lang="en-US" sz="1500" b="1">
                <a:solidFill>
                  <a:srgbClr val="6A5AC7"/>
                </a:solidFill>
                <a:latin typeface="Cambria" pitchFamily="34" charset="0"/>
                <a:ea typeface="Cambria" pitchFamily="34" charset="-122"/>
                <a:cs typeface="Cambria" pitchFamily="34" charset="-120"/>
              </a:rPr>
              <a:t>1</a:t>
            </a:r>
            <a:endParaRPr lang="en-US" sz="1500"/>
          </a:p>
        </p:txBody>
      </p:sp>
      <p:sp>
        <p:nvSpPr>
          <p:cNvPr id="10" name="Text 8"/>
          <p:cNvSpPr/>
          <p:nvPr/>
        </p:nvSpPr>
        <p:spPr>
          <a:xfrm>
            <a:off x="2194560" y="1773936"/>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Name three ways adversaries use AI-powered tools to augment attacks, and give the ordinary attack that sits underneath each one.</a:t>
            </a:r>
            <a:endParaRPr lang="en-US" sz="1180"/>
          </a:p>
        </p:txBody>
      </p:sp>
      <p:sp>
        <p:nvSpPr>
          <p:cNvPr id="11" name="Shape 9"/>
          <p:cNvSpPr/>
          <p:nvPr/>
        </p:nvSpPr>
        <p:spPr>
          <a:xfrm>
            <a:off x="566928" y="2651760"/>
            <a:ext cx="11057839" cy="914400"/>
          </a:xfrm>
          <a:prstGeom prst="roundRect">
            <a:avLst>
              <a:gd name="adj" fmla="val 9000"/>
            </a:avLst>
          </a:prstGeom>
          <a:solidFill>
            <a:srgbClr val="E6F5F3"/>
          </a:solidFill>
          <a:ln/>
        </p:spPr>
        <p:txBody>
          <a:bodyPr/>
          <a:lstStyle/>
          <a:p>
            <a:endParaRPr lang="en-US"/>
          </a:p>
        </p:txBody>
      </p:sp>
      <p:sp>
        <p:nvSpPr>
          <p:cNvPr id="12" name="Shape 10"/>
          <p:cNvSpPr/>
          <p:nvPr/>
        </p:nvSpPr>
        <p:spPr>
          <a:xfrm>
            <a:off x="804672" y="2798064"/>
            <a:ext cx="868680" cy="237744"/>
          </a:xfrm>
          <a:prstGeom prst="roundRect">
            <a:avLst>
              <a:gd name="adj" fmla="val 23077"/>
            </a:avLst>
          </a:prstGeom>
          <a:solidFill>
            <a:srgbClr val="6A5AC7"/>
          </a:solidFill>
          <a:ln/>
        </p:spPr>
        <p:txBody>
          <a:bodyPr/>
          <a:lstStyle/>
          <a:p>
            <a:endParaRPr lang="en-US"/>
          </a:p>
        </p:txBody>
      </p:sp>
      <p:sp>
        <p:nvSpPr>
          <p:cNvPr id="13" name="Text 11"/>
          <p:cNvSpPr/>
          <p:nvPr/>
        </p:nvSpPr>
        <p:spPr>
          <a:xfrm>
            <a:off x="804672" y="2798064"/>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Explain</a:t>
            </a:r>
            <a:endParaRPr lang="en-US" sz="900"/>
          </a:p>
        </p:txBody>
      </p:sp>
      <p:sp>
        <p:nvSpPr>
          <p:cNvPr id="14" name="Text 12"/>
          <p:cNvSpPr/>
          <p:nvPr/>
        </p:nvSpPr>
        <p:spPr>
          <a:xfrm>
            <a:off x="1828800" y="2779776"/>
            <a:ext cx="274320" cy="274320"/>
          </a:xfrm>
          <a:prstGeom prst="rect">
            <a:avLst/>
          </a:prstGeom>
          <a:noFill/>
          <a:ln/>
        </p:spPr>
        <p:txBody>
          <a:bodyPr wrap="square" lIns="0" tIns="0" rIns="0" bIns="0" rtlCol="0" anchor="ctr"/>
          <a:lstStyle/>
          <a:p>
            <a:pPr marL="0" indent="0">
              <a:buNone/>
            </a:pPr>
            <a:r>
              <a:rPr lang="en-US" sz="1500" b="1">
                <a:solidFill>
                  <a:srgbClr val="6A5AC7"/>
                </a:solidFill>
                <a:latin typeface="Cambria" pitchFamily="34" charset="0"/>
                <a:ea typeface="Cambria" pitchFamily="34" charset="-122"/>
                <a:cs typeface="Cambria" pitchFamily="34" charset="-120"/>
              </a:rPr>
              <a:t>2</a:t>
            </a:r>
            <a:endParaRPr lang="en-US" sz="1500"/>
          </a:p>
        </p:txBody>
      </p:sp>
      <p:sp>
        <p:nvSpPr>
          <p:cNvPr id="15" name="Text 13"/>
          <p:cNvSpPr/>
          <p:nvPr/>
        </p:nvSpPr>
        <p:spPr>
          <a:xfrm>
            <a:off x="2194560" y="2798064"/>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Explain why "the English was perfect, so it must be genuine" is no longer sound reasoning, and name two indicators that still work.</a:t>
            </a:r>
            <a:endParaRPr lang="en-US" sz="1180"/>
          </a:p>
        </p:txBody>
      </p:sp>
      <p:sp>
        <p:nvSpPr>
          <p:cNvPr id="16" name="Shape 14"/>
          <p:cNvSpPr/>
          <p:nvPr/>
        </p:nvSpPr>
        <p:spPr>
          <a:xfrm>
            <a:off x="566928" y="3675888"/>
            <a:ext cx="11057839" cy="914400"/>
          </a:xfrm>
          <a:prstGeom prst="roundRect">
            <a:avLst>
              <a:gd name="adj" fmla="val 9000"/>
            </a:avLst>
          </a:prstGeom>
          <a:solidFill>
            <a:srgbClr val="FDF2E2"/>
          </a:solidFill>
          <a:ln/>
        </p:spPr>
        <p:txBody>
          <a:bodyPr/>
          <a:lstStyle/>
          <a:p>
            <a:endParaRPr lang="en-US"/>
          </a:p>
        </p:txBody>
      </p:sp>
      <p:sp>
        <p:nvSpPr>
          <p:cNvPr id="17" name="Shape 15"/>
          <p:cNvSpPr/>
          <p:nvPr/>
        </p:nvSpPr>
        <p:spPr>
          <a:xfrm>
            <a:off x="804672" y="3822192"/>
            <a:ext cx="868680" cy="237744"/>
          </a:xfrm>
          <a:prstGeom prst="roundRect">
            <a:avLst>
              <a:gd name="adj" fmla="val 23077"/>
            </a:avLst>
          </a:prstGeom>
          <a:solidFill>
            <a:srgbClr val="6A5AC7"/>
          </a:solidFill>
          <a:ln/>
        </p:spPr>
        <p:txBody>
          <a:bodyPr/>
          <a:lstStyle/>
          <a:p>
            <a:endParaRPr lang="en-US"/>
          </a:p>
        </p:txBody>
      </p:sp>
      <p:sp>
        <p:nvSpPr>
          <p:cNvPr id="18" name="Text 16"/>
          <p:cNvSpPr/>
          <p:nvPr/>
        </p:nvSpPr>
        <p:spPr>
          <a:xfrm>
            <a:off x="804672" y="3822192"/>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Apply</a:t>
            </a:r>
            <a:endParaRPr lang="en-US" sz="900"/>
          </a:p>
        </p:txBody>
      </p:sp>
      <p:sp>
        <p:nvSpPr>
          <p:cNvPr id="19" name="Text 17"/>
          <p:cNvSpPr/>
          <p:nvPr/>
        </p:nvSpPr>
        <p:spPr>
          <a:xfrm>
            <a:off x="1828800" y="3803904"/>
            <a:ext cx="274320" cy="274320"/>
          </a:xfrm>
          <a:prstGeom prst="rect">
            <a:avLst/>
          </a:prstGeom>
          <a:noFill/>
          <a:ln/>
        </p:spPr>
        <p:txBody>
          <a:bodyPr wrap="square" lIns="0" tIns="0" rIns="0" bIns="0" rtlCol="0" anchor="ctr"/>
          <a:lstStyle/>
          <a:p>
            <a:pPr marL="0" indent="0">
              <a:buNone/>
            </a:pPr>
            <a:r>
              <a:rPr lang="en-US" sz="1500" b="1">
                <a:solidFill>
                  <a:srgbClr val="6A5AC7"/>
                </a:solidFill>
                <a:latin typeface="Cambria" pitchFamily="34" charset="0"/>
                <a:ea typeface="Cambria" pitchFamily="34" charset="-122"/>
                <a:cs typeface="Cambria" pitchFamily="34" charset="-120"/>
              </a:rPr>
              <a:t>3</a:t>
            </a:r>
            <a:endParaRPr lang="en-US" sz="1500"/>
          </a:p>
        </p:txBody>
      </p:sp>
      <p:sp>
        <p:nvSpPr>
          <p:cNvPr id="20" name="Text 18"/>
          <p:cNvSpPr/>
          <p:nvPr/>
        </p:nvSpPr>
        <p:spPr>
          <a:xfrm>
            <a:off x="2194560" y="3822192"/>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 student pastes a friend's private message into an AI assistant to ask for advice on replying. Identify the risk and name the control from 1.4.B that addresses it.</a:t>
            </a:r>
            <a:endParaRPr lang="en-US" sz="1180"/>
          </a:p>
        </p:txBody>
      </p:sp>
      <p:sp>
        <p:nvSpPr>
          <p:cNvPr id="21" name="Shape 19"/>
          <p:cNvSpPr/>
          <p:nvPr/>
        </p:nvSpPr>
        <p:spPr>
          <a:xfrm>
            <a:off x="566928" y="4700016"/>
            <a:ext cx="11057839" cy="914400"/>
          </a:xfrm>
          <a:prstGeom prst="roundRect">
            <a:avLst>
              <a:gd name="adj" fmla="val 9000"/>
            </a:avLst>
          </a:prstGeom>
          <a:solidFill>
            <a:srgbClr val="EFEDFA"/>
          </a:solidFill>
          <a:ln/>
        </p:spPr>
        <p:txBody>
          <a:bodyPr/>
          <a:lstStyle/>
          <a:p>
            <a:endParaRPr lang="en-US"/>
          </a:p>
        </p:txBody>
      </p:sp>
      <p:sp>
        <p:nvSpPr>
          <p:cNvPr id="22" name="Shape 20"/>
          <p:cNvSpPr/>
          <p:nvPr/>
        </p:nvSpPr>
        <p:spPr>
          <a:xfrm>
            <a:off x="804672" y="4846320"/>
            <a:ext cx="868680" cy="237744"/>
          </a:xfrm>
          <a:prstGeom prst="roundRect">
            <a:avLst>
              <a:gd name="adj" fmla="val 23077"/>
            </a:avLst>
          </a:prstGeom>
          <a:solidFill>
            <a:srgbClr val="6A5AC7"/>
          </a:solidFill>
          <a:ln/>
        </p:spPr>
        <p:txBody>
          <a:bodyPr/>
          <a:lstStyle/>
          <a:p>
            <a:endParaRPr lang="en-US"/>
          </a:p>
        </p:txBody>
      </p:sp>
      <p:sp>
        <p:nvSpPr>
          <p:cNvPr id="23" name="Text 21"/>
          <p:cNvSpPr/>
          <p:nvPr/>
        </p:nvSpPr>
        <p:spPr>
          <a:xfrm>
            <a:off x="804672" y="4846320"/>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Evaluate</a:t>
            </a:r>
            <a:endParaRPr lang="en-US" sz="900"/>
          </a:p>
        </p:txBody>
      </p:sp>
      <p:sp>
        <p:nvSpPr>
          <p:cNvPr id="24" name="Text 22"/>
          <p:cNvSpPr/>
          <p:nvPr/>
        </p:nvSpPr>
        <p:spPr>
          <a:xfrm>
            <a:off x="1828800" y="4828032"/>
            <a:ext cx="274320" cy="274320"/>
          </a:xfrm>
          <a:prstGeom prst="rect">
            <a:avLst/>
          </a:prstGeom>
          <a:noFill/>
          <a:ln/>
        </p:spPr>
        <p:txBody>
          <a:bodyPr wrap="square" lIns="0" tIns="0" rIns="0" bIns="0" rtlCol="0" anchor="ctr"/>
          <a:lstStyle/>
          <a:p>
            <a:pPr marL="0" indent="0">
              <a:buNone/>
            </a:pPr>
            <a:r>
              <a:rPr lang="en-US" sz="1500" b="1">
                <a:solidFill>
                  <a:srgbClr val="6A5AC7"/>
                </a:solidFill>
                <a:latin typeface="Cambria" pitchFamily="34" charset="0"/>
                <a:ea typeface="Cambria" pitchFamily="34" charset="-122"/>
                <a:cs typeface="Cambria" pitchFamily="34" charset="-120"/>
              </a:rPr>
              <a:t>4</a:t>
            </a:r>
            <a:endParaRPr lang="en-US" sz="1500"/>
          </a:p>
        </p:txBody>
      </p:sp>
      <p:sp>
        <p:nvSpPr>
          <p:cNvPr id="25" name="Text 23"/>
          <p:cNvSpPr/>
          <p:nvPr/>
        </p:nvSpPr>
        <p:spPr>
          <a:xfrm>
            <a:off x="2194560" y="4846320"/>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"AI has created entirely new kinds of cyberattack." Argue against this claim using two examples from this topic, then state the strongest point on the other side.</a:t>
            </a:r>
            <a:endParaRPr lang="en-US" sz="1180"/>
          </a:p>
        </p:txBody>
      </p:sp>
      <p:sp>
        <p:nvSpPr>
          <p:cNvPr id="26" name="Shape 24"/>
          <p:cNvSpPr/>
          <p:nvPr/>
        </p:nvSpPr>
        <p:spPr>
          <a:xfrm>
            <a:off x="566928" y="5779008"/>
            <a:ext cx="11057839" cy="512064"/>
          </a:xfrm>
          <a:prstGeom prst="roundRect">
            <a:avLst>
              <a:gd name="adj" fmla="val 14286"/>
            </a:avLst>
          </a:prstGeom>
          <a:solidFill>
            <a:srgbClr val="12141C"/>
          </a:solidFill>
          <a:ln/>
        </p:spPr>
        <p:txBody>
          <a:bodyPr/>
          <a:lstStyle/>
          <a:p>
            <a:endParaRPr lang="en-US"/>
          </a:p>
        </p:txBody>
      </p:sp>
      <p:pic>
        <p:nvPicPr>
          <p:cNvPr id="27" name="Image 0" descr="/home/claude/icons/FaClipboardCheck_w.png"/>
          <p:cNvPicPr>
            <a:picLocks noChangeAspect="1"/>
          </p:cNvPicPr>
          <p:nvPr/>
        </p:nvPicPr>
        <p:blipFill>
          <a:blip r:embed="rId3"/>
          <a:stretch>
            <a:fillRect/>
          </a:stretch>
        </p:blipFill>
        <p:spPr>
          <a:xfrm>
            <a:off x="768096" y="5920740"/>
            <a:ext cx="228600" cy="228600"/>
          </a:xfrm>
          <a:prstGeom prst="rect">
            <a:avLst/>
          </a:prstGeom>
        </p:spPr>
      </p:pic>
      <p:sp>
        <p:nvSpPr>
          <p:cNvPr id="28" name="Text 25"/>
          <p:cNvSpPr/>
          <p:nvPr/>
        </p:nvSpPr>
        <p:spPr>
          <a:xfrm>
            <a:off x="1133856" y="5779008"/>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Exit ticket: write the sentence you would say to a relative to explain why your family needs a code word.</a:t>
            </a:r>
            <a:endParaRPr lang="en-US" sz="1150"/>
          </a:p>
        </p:txBody>
      </p:sp>
      <p:sp>
        <p:nvSpPr>
          <p:cNvPr id="29" name="Text 2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0" name="Text 2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45</a:t>
            </a:r>
            <a:endParaRPr lang="en-US" sz="9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6720840" y="0"/>
            <a:ext cx="5468112" cy="6858000"/>
          </a:xfrm>
          <a:prstGeom prst="roundRect">
            <a:avLst/>
          </a:prstGeom>
          <a:solidFill>
            <a:srgbClr val="1D2331"/>
          </a:solidFill>
          <a:ln/>
        </p:spPr>
        <p:txBody>
          <a:bodyPr/>
          <a:lstStyle/>
          <a:p>
            <a:endParaRPr lang="en-US"/>
          </a:p>
        </p:txBody>
      </p:sp>
      <p:sp>
        <p:nvSpPr>
          <p:cNvPr id="3" name="Text 1"/>
          <p:cNvSpPr/>
          <p:nvPr/>
        </p:nvSpPr>
        <p:spPr>
          <a:xfrm>
            <a:off x="566928" y="1234440"/>
            <a:ext cx="566928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TOPIC 1.5   ·   ~2 class periods</a:t>
            </a:r>
            <a:endParaRPr lang="en-US" sz="1050"/>
          </a:p>
        </p:txBody>
      </p:sp>
      <p:sp>
        <p:nvSpPr>
          <p:cNvPr id="4" name="Text 2"/>
          <p:cNvSpPr/>
          <p:nvPr/>
        </p:nvSpPr>
        <p:spPr>
          <a:xfrm>
            <a:off x="566928" y="1627632"/>
            <a:ext cx="5760720" cy="1554480"/>
          </a:xfrm>
          <a:prstGeom prst="rect">
            <a:avLst/>
          </a:prstGeom>
          <a:noFill/>
          <a:ln/>
        </p:spPr>
        <p:txBody>
          <a:bodyPr wrap="square" lIns="0" tIns="0" rIns="0" bIns="0" rtlCol="0" anchor="ctr"/>
          <a:lstStyle/>
          <a:p>
            <a:pPr marL="0" indent="0">
              <a:lnSpc>
                <a:spcPts val="4400"/>
              </a:lnSpc>
              <a:buNone/>
            </a:pPr>
            <a:r>
              <a:rPr lang="en-US" sz="4000" b="1">
                <a:solidFill>
                  <a:srgbClr val="FFFFFF"/>
                </a:solidFill>
                <a:latin typeface="Cambria" pitchFamily="34" charset="0"/>
                <a:ea typeface="Cambria" pitchFamily="34" charset="-122"/>
                <a:cs typeface="Cambria" pitchFamily="34" charset="-120"/>
              </a:rPr>
              <a:t>Leveraging AI</a:t>
            </a:r>
            <a:endParaRPr lang="en-US" sz="4000"/>
          </a:p>
          <a:p>
            <a:pPr marL="0" indent="0">
              <a:lnSpc>
                <a:spcPts val="4400"/>
              </a:lnSpc>
              <a:buNone/>
            </a:pPr>
            <a:r>
              <a:rPr lang="en-US" sz="4000" b="1">
                <a:solidFill>
                  <a:srgbClr val="FFFFFF"/>
                </a:solidFill>
                <a:latin typeface="Cambria" pitchFamily="34" charset="0"/>
                <a:ea typeface="Cambria" pitchFamily="34" charset="-122"/>
                <a:cs typeface="Cambria" pitchFamily="34" charset="-120"/>
              </a:rPr>
              <a:t>in Cyber Defense</a:t>
            </a:r>
            <a:endParaRPr lang="en-US" sz="4000"/>
          </a:p>
        </p:txBody>
      </p:sp>
      <p:sp>
        <p:nvSpPr>
          <p:cNvPr id="5" name="Shape 3"/>
          <p:cNvSpPr/>
          <p:nvPr/>
        </p:nvSpPr>
        <p:spPr>
          <a:xfrm>
            <a:off x="566928" y="3310128"/>
            <a:ext cx="4023360" cy="10973"/>
          </a:xfrm>
          <a:prstGeom prst="rect">
            <a:avLst/>
          </a:prstGeom>
          <a:solidFill>
            <a:srgbClr val="2C3446"/>
          </a:solidFill>
          <a:ln/>
        </p:spPr>
        <p:txBody>
          <a:bodyPr/>
          <a:lstStyle/>
          <a:p>
            <a:endParaRPr lang="en-US"/>
          </a:p>
        </p:txBody>
      </p:sp>
      <p:sp>
        <p:nvSpPr>
          <p:cNvPr id="6" name="Text 4"/>
          <p:cNvSpPr/>
          <p:nvPr/>
        </p:nvSpPr>
        <p:spPr>
          <a:xfrm>
            <a:off x="566928" y="3493008"/>
            <a:ext cx="5577840" cy="914400"/>
          </a:xfrm>
          <a:prstGeom prst="rect">
            <a:avLst/>
          </a:prstGeom>
          <a:noFill/>
          <a:ln/>
        </p:spPr>
        <p:txBody>
          <a:bodyPr wrap="square" lIns="0" tIns="0" rIns="0" bIns="0" rtlCol="0" anchor="ctr"/>
          <a:lstStyle/>
          <a:p>
            <a:pPr marL="0" indent="0">
              <a:lnSpc>
                <a:spcPts val="1800"/>
              </a:lnSpc>
              <a:buNone/>
            </a:pPr>
            <a:r>
              <a:rPr lang="en-US" sz="1300" i="1">
                <a:solidFill>
                  <a:srgbClr val="9AA3B2"/>
                </a:solidFill>
                <a:latin typeface="Calibri" pitchFamily="34" charset="0"/>
                <a:ea typeface="Calibri" pitchFamily="34" charset="-122"/>
                <a:cs typeface="Calibri" pitchFamily="34" charset="-120"/>
              </a:rPr>
              <a:t>Defenders face millions of events a day and cannot read them all. AI's defensive value is triage — and every recommendation it makes is reviewed by a person before it is implemented.</a:t>
            </a:r>
            <a:endParaRPr lang="en-US" sz="1300"/>
          </a:p>
        </p:txBody>
      </p:sp>
      <p:sp>
        <p:nvSpPr>
          <p:cNvPr id="7" name="Shape 5"/>
          <p:cNvSpPr/>
          <p:nvPr/>
        </p:nvSpPr>
        <p:spPr>
          <a:xfrm>
            <a:off x="566928" y="4617720"/>
            <a:ext cx="566928" cy="566928"/>
          </a:xfrm>
          <a:prstGeom prst="ellipse">
            <a:avLst/>
          </a:prstGeom>
          <a:solidFill>
            <a:srgbClr val="1FA697"/>
          </a:solidFill>
          <a:ln/>
        </p:spPr>
        <p:txBody>
          <a:bodyPr/>
          <a:lstStyle/>
          <a:p>
            <a:endParaRPr lang="en-US"/>
          </a:p>
        </p:txBody>
      </p:sp>
      <p:pic>
        <p:nvPicPr>
          <p:cNvPr id="8" name="Image 0" descr="/home/claude/icons/FaUserShield_w.png"/>
          <p:cNvPicPr>
            <a:picLocks noChangeAspect="1"/>
          </p:cNvPicPr>
          <p:nvPr/>
        </p:nvPicPr>
        <p:blipFill>
          <a:blip r:embed="rId3"/>
          <a:stretch>
            <a:fillRect/>
          </a:stretch>
        </p:blipFill>
        <p:spPr>
          <a:xfrm>
            <a:off x="714329" y="4765121"/>
            <a:ext cx="272125" cy="272125"/>
          </a:xfrm>
          <a:prstGeom prst="rect">
            <a:avLst/>
          </a:prstGeom>
        </p:spPr>
      </p:pic>
      <p:sp>
        <p:nvSpPr>
          <p:cNvPr id="9" name="Text 6"/>
          <p:cNvSpPr/>
          <p:nvPr/>
        </p:nvSpPr>
        <p:spPr>
          <a:xfrm>
            <a:off x="1316736" y="4617720"/>
            <a:ext cx="4572000" cy="566928"/>
          </a:xfrm>
          <a:prstGeom prst="rect">
            <a:avLst/>
          </a:prstGeom>
          <a:noFill/>
          <a:ln/>
        </p:spPr>
        <p:txBody>
          <a:bodyPr wrap="square" lIns="0" tIns="0" rIns="0" bIns="0" rtlCol="0" anchor="ctr"/>
          <a:lstStyle/>
          <a:p>
            <a:pPr marL="0" indent="0">
              <a:buNone/>
            </a:pPr>
            <a:r>
              <a:rPr lang="en-US" sz="1100" b="1" kern="0" spc="120">
                <a:solidFill>
                  <a:srgbClr val="1FA697"/>
                </a:solidFill>
                <a:latin typeface="Calibri" pitchFamily="34" charset="0"/>
                <a:ea typeface="Calibri" pitchFamily="34" charset="-122"/>
                <a:cs typeface="Calibri" pitchFamily="34" charset="-120"/>
              </a:rPr>
              <a:t>SKILLS 2.A + 3.A · MITIGATE RISK AND DETECT ATTACKS</a:t>
            </a:r>
            <a:endParaRPr lang="en-US" sz="1100"/>
          </a:p>
        </p:txBody>
      </p:sp>
      <p:sp>
        <p:nvSpPr>
          <p:cNvPr id="10" name="Text 7"/>
          <p:cNvSpPr/>
          <p:nvPr/>
        </p:nvSpPr>
        <p:spPr>
          <a:xfrm>
            <a:off x="7269480" y="1371600"/>
            <a:ext cx="4572000" cy="237744"/>
          </a:xfrm>
          <a:prstGeom prst="rect">
            <a:avLst/>
          </a:prstGeom>
          <a:noFill/>
          <a:ln/>
        </p:spPr>
        <p:txBody>
          <a:bodyPr wrap="square" lIns="0" tIns="0" rIns="0" bIns="0" rtlCol="0" anchor="ctr"/>
          <a:lstStyle/>
          <a:p>
            <a:pPr marL="0" indent="0">
              <a:buNone/>
            </a:pPr>
            <a:r>
              <a:rPr lang="en-US" sz="1000" b="1" kern="0" spc="150">
                <a:solidFill>
                  <a:srgbClr val="1FA697"/>
                </a:solidFill>
                <a:latin typeface="Calibri" pitchFamily="34" charset="0"/>
                <a:ea typeface="Calibri" pitchFamily="34" charset="-122"/>
                <a:cs typeface="Calibri" pitchFamily="34" charset="-120"/>
              </a:rPr>
              <a:t>LEARNING OBJECTIVES</a:t>
            </a:r>
            <a:endParaRPr lang="en-US" sz="1000"/>
          </a:p>
        </p:txBody>
      </p:sp>
      <p:sp>
        <p:nvSpPr>
          <p:cNvPr id="11" name="Shape 8"/>
          <p:cNvSpPr/>
          <p:nvPr/>
        </p:nvSpPr>
        <p:spPr>
          <a:xfrm>
            <a:off x="7269480" y="1828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2" name="Shape 9"/>
          <p:cNvSpPr/>
          <p:nvPr/>
        </p:nvSpPr>
        <p:spPr>
          <a:xfrm>
            <a:off x="7498080" y="1993392"/>
            <a:ext cx="713232" cy="237744"/>
          </a:xfrm>
          <a:prstGeom prst="roundRect">
            <a:avLst>
              <a:gd name="adj" fmla="val 23077"/>
            </a:avLst>
          </a:prstGeom>
          <a:solidFill>
            <a:srgbClr val="1FA697"/>
          </a:solidFill>
          <a:ln/>
        </p:spPr>
        <p:txBody>
          <a:bodyPr/>
          <a:lstStyle/>
          <a:p>
            <a:endParaRPr lang="en-US"/>
          </a:p>
        </p:txBody>
      </p:sp>
      <p:sp>
        <p:nvSpPr>
          <p:cNvPr id="13" name="Text 10"/>
          <p:cNvSpPr/>
          <p:nvPr/>
        </p:nvSpPr>
        <p:spPr>
          <a:xfrm>
            <a:off x="7498080" y="1993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1.5.A</a:t>
            </a:r>
            <a:endParaRPr lang="en-US" sz="950"/>
          </a:p>
        </p:txBody>
      </p:sp>
      <p:sp>
        <p:nvSpPr>
          <p:cNvPr id="14" name="Text 11"/>
          <p:cNvSpPr/>
          <p:nvPr/>
        </p:nvSpPr>
        <p:spPr>
          <a:xfrm>
            <a:off x="7498080" y="2286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Explain how cyber defenders can leverage AI-powered tools to protect networks, applications, and data.</a:t>
            </a:r>
            <a:endParaRPr lang="en-US" sz="1100"/>
          </a:p>
        </p:txBody>
      </p:sp>
      <p:sp>
        <p:nvSpPr>
          <p:cNvPr id="15" name="Shape 12"/>
          <p:cNvSpPr/>
          <p:nvPr/>
        </p:nvSpPr>
        <p:spPr>
          <a:xfrm>
            <a:off x="7269480" y="2971800"/>
            <a:ext cx="4370832" cy="987552"/>
          </a:xfrm>
          <a:prstGeom prst="roundRect">
            <a:avLst>
              <a:gd name="adj" fmla="val 7407"/>
            </a:avLst>
          </a:prstGeom>
          <a:solidFill>
            <a:srgbClr val="12141C"/>
          </a:solidFill>
          <a:ln w="12700">
            <a:solidFill>
              <a:srgbClr val="2C3446"/>
            </a:solidFill>
            <a:prstDash val="solid"/>
          </a:ln>
        </p:spPr>
        <p:txBody>
          <a:bodyPr/>
          <a:lstStyle/>
          <a:p>
            <a:endParaRPr lang="en-US"/>
          </a:p>
        </p:txBody>
      </p:sp>
      <p:sp>
        <p:nvSpPr>
          <p:cNvPr id="16" name="Shape 13"/>
          <p:cNvSpPr/>
          <p:nvPr/>
        </p:nvSpPr>
        <p:spPr>
          <a:xfrm>
            <a:off x="7498080" y="3136392"/>
            <a:ext cx="713232" cy="237744"/>
          </a:xfrm>
          <a:prstGeom prst="roundRect">
            <a:avLst>
              <a:gd name="adj" fmla="val 23077"/>
            </a:avLst>
          </a:prstGeom>
          <a:solidFill>
            <a:srgbClr val="1FA697"/>
          </a:solidFill>
          <a:ln/>
        </p:spPr>
        <p:txBody>
          <a:bodyPr/>
          <a:lstStyle/>
          <a:p>
            <a:endParaRPr lang="en-US"/>
          </a:p>
        </p:txBody>
      </p:sp>
      <p:sp>
        <p:nvSpPr>
          <p:cNvPr id="17" name="Text 14"/>
          <p:cNvSpPr/>
          <p:nvPr/>
        </p:nvSpPr>
        <p:spPr>
          <a:xfrm>
            <a:off x="7498080" y="3136392"/>
            <a:ext cx="713232"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1.5.B</a:t>
            </a:r>
            <a:endParaRPr lang="en-US" sz="950"/>
          </a:p>
        </p:txBody>
      </p:sp>
      <p:sp>
        <p:nvSpPr>
          <p:cNvPr id="18" name="Text 15"/>
          <p:cNvSpPr/>
          <p:nvPr/>
        </p:nvSpPr>
        <p:spPr>
          <a:xfrm>
            <a:off x="7498080" y="3429000"/>
            <a:ext cx="3931920" cy="457200"/>
          </a:xfrm>
          <a:prstGeom prst="rect">
            <a:avLst/>
          </a:prstGeom>
          <a:noFill/>
          <a:ln/>
        </p:spPr>
        <p:txBody>
          <a:bodyPr wrap="square" lIns="0" tIns="0" rIns="0" bIns="0" rtlCol="0" anchor="ctr"/>
          <a:lstStyle/>
          <a:p>
            <a:pPr marL="0" indent="0">
              <a:lnSpc>
                <a:spcPts val="1450"/>
              </a:lnSpc>
              <a:buNone/>
            </a:pPr>
            <a:r>
              <a:rPr lang="en-US" sz="1100">
                <a:solidFill>
                  <a:srgbClr val="FFFFFF"/>
                </a:solidFill>
                <a:latin typeface="Calibri" pitchFamily="34" charset="0"/>
                <a:ea typeface="Calibri" pitchFamily="34" charset="-122"/>
                <a:cs typeface="Calibri" pitchFamily="34" charset="-120"/>
              </a:rPr>
              <a:t>Explain how AI-powered tools are enabling faster and more accurate threat detection and response.</a:t>
            </a:r>
            <a:endParaRPr lang="en-US" sz="1100"/>
          </a:p>
        </p:txBody>
      </p:sp>
      <p:sp>
        <p:nvSpPr>
          <p:cNvPr id="19" name="Text 1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0" name="Text 1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46</a:t>
            </a:r>
            <a:endParaRPr lang="en-US" sz="9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2141C"/>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1.5.B.1  ·  THE PROBLEM</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FFFFFF"/>
                </a:solidFill>
                <a:latin typeface="Cambria" pitchFamily="34" charset="0"/>
                <a:ea typeface="Cambria" pitchFamily="34" charset="-122"/>
                <a:cs typeface="Cambria" pitchFamily="34" charset="-120"/>
              </a:rPr>
              <a:t>Why defenders need help</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9AA3B2"/>
                </a:solidFill>
                <a:latin typeface="Calibri" pitchFamily="34" charset="0"/>
                <a:ea typeface="Calibri" pitchFamily="34" charset="-122"/>
                <a:cs typeface="Calibri" pitchFamily="34" charset="-120"/>
              </a:rPr>
              <a:t>The reason AI matters defensively is arithmetic, not novelty.</a:t>
            </a:r>
            <a:endParaRPr lang="en-US" sz="1400"/>
          </a:p>
        </p:txBody>
      </p:sp>
      <p:sp>
        <p:nvSpPr>
          <p:cNvPr id="5" name="Shape 3"/>
          <p:cNvSpPr/>
          <p:nvPr/>
        </p:nvSpPr>
        <p:spPr>
          <a:xfrm>
            <a:off x="566928" y="2011680"/>
            <a:ext cx="5577840" cy="2286000"/>
          </a:xfrm>
          <a:prstGeom prst="roundRect">
            <a:avLst>
              <a:gd name="adj" fmla="val 3600"/>
            </a:avLst>
          </a:prstGeom>
          <a:solidFill>
            <a:srgbClr val="1D2331"/>
          </a:solidFill>
          <a:ln/>
        </p:spPr>
        <p:txBody>
          <a:bodyPr/>
          <a:lstStyle/>
          <a:p>
            <a:endParaRPr lang="en-US"/>
          </a:p>
        </p:txBody>
      </p:sp>
      <p:sp>
        <p:nvSpPr>
          <p:cNvPr id="6" name="Text 4"/>
          <p:cNvSpPr/>
          <p:nvPr/>
        </p:nvSpPr>
        <p:spPr>
          <a:xfrm>
            <a:off x="932688" y="2286000"/>
            <a:ext cx="4754880" cy="777240"/>
          </a:xfrm>
          <a:prstGeom prst="rect">
            <a:avLst/>
          </a:prstGeom>
          <a:noFill/>
          <a:ln/>
        </p:spPr>
        <p:txBody>
          <a:bodyPr wrap="square" lIns="0" tIns="0" rIns="0" bIns="0" rtlCol="0" anchor="ctr"/>
          <a:lstStyle/>
          <a:p>
            <a:pPr marL="0" indent="0">
              <a:buNone/>
            </a:pPr>
            <a:r>
              <a:rPr lang="en-US" sz="5200" b="1">
                <a:solidFill>
                  <a:srgbClr val="1FA697"/>
                </a:solidFill>
                <a:latin typeface="Cambria" pitchFamily="34" charset="0"/>
                <a:ea typeface="Cambria" pitchFamily="34" charset="-122"/>
                <a:cs typeface="Cambria" pitchFamily="34" charset="-120"/>
              </a:rPr>
              <a:t>Millions</a:t>
            </a:r>
            <a:endParaRPr lang="en-US" sz="5200"/>
          </a:p>
        </p:txBody>
      </p:sp>
      <p:sp>
        <p:nvSpPr>
          <p:cNvPr id="7" name="Text 5"/>
          <p:cNvSpPr/>
          <p:nvPr/>
        </p:nvSpPr>
        <p:spPr>
          <a:xfrm>
            <a:off x="932688" y="3127248"/>
            <a:ext cx="4846320" cy="1005840"/>
          </a:xfrm>
          <a:prstGeom prst="rect">
            <a:avLst/>
          </a:prstGeom>
          <a:noFill/>
          <a:ln/>
        </p:spPr>
        <p:txBody>
          <a:bodyPr wrap="square" lIns="0" tIns="0" rIns="0" bIns="0" rtlCol="0" anchor="t"/>
          <a:lstStyle/>
          <a:p>
            <a:pPr marL="0" indent="0">
              <a:lnSpc>
                <a:spcPts val="1600"/>
              </a:lnSpc>
              <a:buNone/>
            </a:pPr>
            <a:r>
              <a:rPr lang="en-US" sz="1200">
                <a:solidFill>
                  <a:srgbClr val="9AA3B2"/>
                </a:solidFill>
                <a:latin typeface="Calibri" pitchFamily="34" charset="0"/>
                <a:ea typeface="Calibri" pitchFamily="34" charset="-122"/>
                <a:cs typeface="Calibri" pitchFamily="34" charset="-120"/>
              </a:rPr>
              <a:t>of digital events occur on a large network every day. Some small number of them represent an adversary at work. Humans cannot carefully examine all of them — so without triage, the malicious activity is not hidden, merely unread.</a:t>
            </a:r>
            <a:endParaRPr lang="en-US" sz="1200"/>
          </a:p>
        </p:txBody>
      </p:sp>
      <p:sp>
        <p:nvSpPr>
          <p:cNvPr id="8" name="Shape 6"/>
          <p:cNvSpPr/>
          <p:nvPr/>
        </p:nvSpPr>
        <p:spPr>
          <a:xfrm>
            <a:off x="6446520" y="2011680"/>
            <a:ext cx="5175504" cy="713232"/>
          </a:xfrm>
          <a:prstGeom prst="roundRect">
            <a:avLst>
              <a:gd name="adj" fmla="val 10256"/>
            </a:avLst>
          </a:prstGeom>
          <a:solidFill>
            <a:srgbClr val="1D2331"/>
          </a:solidFill>
          <a:ln/>
        </p:spPr>
        <p:txBody>
          <a:bodyPr/>
          <a:lstStyle/>
          <a:p>
            <a:endParaRPr lang="en-US"/>
          </a:p>
        </p:txBody>
      </p:sp>
      <p:sp>
        <p:nvSpPr>
          <p:cNvPr id="9" name="Shape 7"/>
          <p:cNvSpPr/>
          <p:nvPr/>
        </p:nvSpPr>
        <p:spPr>
          <a:xfrm>
            <a:off x="6675120" y="2139696"/>
            <a:ext cx="457200" cy="457200"/>
          </a:xfrm>
          <a:prstGeom prst="ellipse">
            <a:avLst/>
          </a:prstGeom>
          <a:solidFill>
            <a:srgbClr val="1FA697"/>
          </a:solidFill>
          <a:ln/>
        </p:spPr>
        <p:txBody>
          <a:bodyPr/>
          <a:lstStyle/>
          <a:p>
            <a:endParaRPr lang="en-US"/>
          </a:p>
        </p:txBody>
      </p:sp>
      <p:pic>
        <p:nvPicPr>
          <p:cNvPr id="10" name="Image 0" descr="/home/claude/icons/FaFilter_w.png"/>
          <p:cNvPicPr>
            <a:picLocks noChangeAspect="1"/>
          </p:cNvPicPr>
          <p:nvPr/>
        </p:nvPicPr>
        <p:blipFill>
          <a:blip r:embed="rId3"/>
          <a:stretch>
            <a:fillRect/>
          </a:stretch>
        </p:blipFill>
        <p:spPr>
          <a:xfrm>
            <a:off x="6793992" y="2258568"/>
            <a:ext cx="219456" cy="219456"/>
          </a:xfrm>
          <a:prstGeom prst="rect">
            <a:avLst/>
          </a:prstGeom>
        </p:spPr>
      </p:pic>
      <p:sp>
        <p:nvSpPr>
          <p:cNvPr id="11" name="Text 8"/>
          <p:cNvSpPr/>
          <p:nvPr/>
        </p:nvSpPr>
        <p:spPr>
          <a:xfrm>
            <a:off x="7260336" y="2066544"/>
            <a:ext cx="4023360" cy="256032"/>
          </a:xfrm>
          <a:prstGeom prst="rect">
            <a:avLst/>
          </a:prstGeom>
          <a:noFill/>
          <a:ln/>
        </p:spPr>
        <p:txBody>
          <a:bodyPr wrap="square" lIns="0" tIns="0" rIns="0" bIns="0" rtlCol="0" anchor="ctr"/>
          <a:lstStyle/>
          <a:p>
            <a:pPr marL="0" indent="0">
              <a:buNone/>
            </a:pPr>
            <a:r>
              <a:rPr lang="en-US" sz="1180" b="1">
                <a:solidFill>
                  <a:srgbClr val="FFFFFF"/>
                </a:solidFill>
                <a:latin typeface="Calibri" pitchFamily="34" charset="0"/>
                <a:ea typeface="Calibri" pitchFamily="34" charset="-122"/>
                <a:cs typeface="Calibri" pitchFamily="34" charset="-120"/>
              </a:rPr>
              <a:t>Sort</a:t>
            </a:r>
            <a:endParaRPr lang="en-US" sz="1180"/>
          </a:p>
        </p:txBody>
      </p:sp>
      <p:sp>
        <p:nvSpPr>
          <p:cNvPr id="12" name="Text 9"/>
          <p:cNvSpPr/>
          <p:nvPr/>
        </p:nvSpPr>
        <p:spPr>
          <a:xfrm>
            <a:off x="7260336" y="2322576"/>
            <a:ext cx="4160520" cy="384048"/>
          </a:xfrm>
          <a:prstGeom prst="rect">
            <a:avLst/>
          </a:prstGeom>
          <a:noFill/>
          <a:ln/>
        </p:spPr>
        <p:txBody>
          <a:bodyPr wrap="square" lIns="0" tIns="0" rIns="0" bIns="0" rtlCol="0" anchor="t"/>
          <a:lstStyle/>
          <a:p>
            <a:pPr marL="0" indent="0">
              <a:lnSpc>
                <a:spcPts val="1250"/>
              </a:lnSpc>
              <a:buNone/>
            </a:pPr>
            <a:r>
              <a:rPr lang="en-US" sz="980">
                <a:solidFill>
                  <a:srgbClr val="9AA3B2"/>
                </a:solidFill>
                <a:latin typeface="Calibri" pitchFamily="34" charset="0"/>
                <a:ea typeface="Calibri" pitchFamily="34" charset="-122"/>
                <a:cs typeface="Calibri" pitchFamily="34" charset="-120"/>
              </a:rPr>
              <a:t>Trained tools examine events at speed and separate what is likely malicious from what is harmless.</a:t>
            </a:r>
            <a:endParaRPr lang="en-US" sz="980"/>
          </a:p>
        </p:txBody>
      </p:sp>
      <p:sp>
        <p:nvSpPr>
          <p:cNvPr id="13" name="Shape 10"/>
          <p:cNvSpPr/>
          <p:nvPr/>
        </p:nvSpPr>
        <p:spPr>
          <a:xfrm>
            <a:off x="6446520" y="2798064"/>
            <a:ext cx="5175504" cy="713232"/>
          </a:xfrm>
          <a:prstGeom prst="roundRect">
            <a:avLst>
              <a:gd name="adj" fmla="val 10256"/>
            </a:avLst>
          </a:prstGeom>
          <a:solidFill>
            <a:srgbClr val="1D2331"/>
          </a:solidFill>
          <a:ln/>
        </p:spPr>
        <p:txBody>
          <a:bodyPr/>
          <a:lstStyle/>
          <a:p>
            <a:endParaRPr lang="en-US"/>
          </a:p>
        </p:txBody>
      </p:sp>
      <p:sp>
        <p:nvSpPr>
          <p:cNvPr id="14" name="Shape 11"/>
          <p:cNvSpPr/>
          <p:nvPr/>
        </p:nvSpPr>
        <p:spPr>
          <a:xfrm>
            <a:off x="6675120" y="2926080"/>
            <a:ext cx="457200" cy="457200"/>
          </a:xfrm>
          <a:prstGeom prst="ellipse">
            <a:avLst/>
          </a:prstGeom>
          <a:solidFill>
            <a:srgbClr val="1FA697"/>
          </a:solidFill>
          <a:ln/>
        </p:spPr>
        <p:txBody>
          <a:bodyPr/>
          <a:lstStyle/>
          <a:p>
            <a:endParaRPr lang="en-US"/>
          </a:p>
        </p:txBody>
      </p:sp>
      <p:pic>
        <p:nvPicPr>
          <p:cNvPr id="15" name="Image 1" descr="/home/claude/icons/FaBell_w.png"/>
          <p:cNvPicPr>
            <a:picLocks noChangeAspect="1"/>
          </p:cNvPicPr>
          <p:nvPr/>
        </p:nvPicPr>
        <p:blipFill>
          <a:blip r:embed="rId4"/>
          <a:stretch>
            <a:fillRect/>
          </a:stretch>
        </p:blipFill>
        <p:spPr>
          <a:xfrm>
            <a:off x="6793992" y="3044952"/>
            <a:ext cx="219456" cy="219456"/>
          </a:xfrm>
          <a:prstGeom prst="rect">
            <a:avLst/>
          </a:prstGeom>
        </p:spPr>
      </p:pic>
      <p:sp>
        <p:nvSpPr>
          <p:cNvPr id="16" name="Text 12"/>
          <p:cNvSpPr/>
          <p:nvPr/>
        </p:nvSpPr>
        <p:spPr>
          <a:xfrm>
            <a:off x="7260336" y="2852928"/>
            <a:ext cx="4023360" cy="256032"/>
          </a:xfrm>
          <a:prstGeom prst="rect">
            <a:avLst/>
          </a:prstGeom>
          <a:noFill/>
          <a:ln/>
        </p:spPr>
        <p:txBody>
          <a:bodyPr wrap="square" lIns="0" tIns="0" rIns="0" bIns="0" rtlCol="0" anchor="ctr"/>
          <a:lstStyle/>
          <a:p>
            <a:pPr marL="0" indent="0">
              <a:buNone/>
            </a:pPr>
            <a:r>
              <a:rPr lang="en-US" sz="1180" b="1">
                <a:solidFill>
                  <a:srgbClr val="FFFFFF"/>
                </a:solidFill>
                <a:latin typeface="Calibri" pitchFamily="34" charset="0"/>
                <a:ea typeface="Calibri" pitchFamily="34" charset="-122"/>
                <a:cs typeface="Calibri" pitchFamily="34" charset="-120"/>
              </a:rPr>
              <a:t>Alert or act</a:t>
            </a:r>
            <a:endParaRPr lang="en-US" sz="1180"/>
          </a:p>
        </p:txBody>
      </p:sp>
      <p:sp>
        <p:nvSpPr>
          <p:cNvPr id="17" name="Text 13"/>
          <p:cNvSpPr/>
          <p:nvPr/>
        </p:nvSpPr>
        <p:spPr>
          <a:xfrm>
            <a:off x="7260336" y="3108960"/>
            <a:ext cx="4160520" cy="384048"/>
          </a:xfrm>
          <a:prstGeom prst="rect">
            <a:avLst/>
          </a:prstGeom>
          <a:noFill/>
          <a:ln/>
        </p:spPr>
        <p:txBody>
          <a:bodyPr wrap="square" lIns="0" tIns="0" rIns="0" bIns="0" rtlCol="0" anchor="t"/>
          <a:lstStyle/>
          <a:p>
            <a:pPr marL="0" indent="0">
              <a:lnSpc>
                <a:spcPts val="1250"/>
              </a:lnSpc>
              <a:buNone/>
            </a:pPr>
            <a:r>
              <a:rPr lang="en-US" sz="980">
                <a:solidFill>
                  <a:srgbClr val="9AA3B2"/>
                </a:solidFill>
                <a:latin typeface="Calibri" pitchFamily="34" charset="0"/>
                <a:ea typeface="Calibri" pitchFamily="34" charset="-122"/>
                <a:cs typeface="Calibri" pitchFamily="34" charset="-120"/>
              </a:rPr>
              <a:t>Tools are configured to notify security staff, or to take specific corrective action based on what was detected.</a:t>
            </a:r>
            <a:endParaRPr lang="en-US" sz="980"/>
          </a:p>
        </p:txBody>
      </p:sp>
      <p:sp>
        <p:nvSpPr>
          <p:cNvPr id="18" name="Shape 14"/>
          <p:cNvSpPr/>
          <p:nvPr/>
        </p:nvSpPr>
        <p:spPr>
          <a:xfrm>
            <a:off x="6446520" y="3584448"/>
            <a:ext cx="5175504" cy="713232"/>
          </a:xfrm>
          <a:prstGeom prst="roundRect">
            <a:avLst>
              <a:gd name="adj" fmla="val 10256"/>
            </a:avLst>
          </a:prstGeom>
          <a:solidFill>
            <a:srgbClr val="1D2331"/>
          </a:solidFill>
          <a:ln/>
        </p:spPr>
        <p:txBody>
          <a:bodyPr/>
          <a:lstStyle/>
          <a:p>
            <a:endParaRPr lang="en-US"/>
          </a:p>
        </p:txBody>
      </p:sp>
      <p:sp>
        <p:nvSpPr>
          <p:cNvPr id="19" name="Shape 15"/>
          <p:cNvSpPr/>
          <p:nvPr/>
        </p:nvSpPr>
        <p:spPr>
          <a:xfrm>
            <a:off x="6675120" y="3712464"/>
            <a:ext cx="457200" cy="457200"/>
          </a:xfrm>
          <a:prstGeom prst="ellipse">
            <a:avLst/>
          </a:prstGeom>
          <a:solidFill>
            <a:srgbClr val="1FA697"/>
          </a:solidFill>
          <a:ln/>
        </p:spPr>
        <p:txBody>
          <a:bodyPr/>
          <a:lstStyle/>
          <a:p>
            <a:endParaRPr lang="en-US"/>
          </a:p>
        </p:txBody>
      </p:sp>
      <p:pic>
        <p:nvPicPr>
          <p:cNvPr id="20" name="Image 2" descr="/home/claude/icons/FaStopwatch_w.png"/>
          <p:cNvPicPr>
            <a:picLocks noChangeAspect="1"/>
          </p:cNvPicPr>
          <p:nvPr/>
        </p:nvPicPr>
        <p:blipFill>
          <a:blip r:embed="rId5"/>
          <a:stretch>
            <a:fillRect/>
          </a:stretch>
        </p:blipFill>
        <p:spPr>
          <a:xfrm>
            <a:off x="6793992" y="3831336"/>
            <a:ext cx="219456" cy="219456"/>
          </a:xfrm>
          <a:prstGeom prst="rect">
            <a:avLst/>
          </a:prstGeom>
        </p:spPr>
      </p:pic>
      <p:sp>
        <p:nvSpPr>
          <p:cNvPr id="21" name="Text 16"/>
          <p:cNvSpPr/>
          <p:nvPr/>
        </p:nvSpPr>
        <p:spPr>
          <a:xfrm>
            <a:off x="7260336" y="3639312"/>
            <a:ext cx="4023360" cy="256032"/>
          </a:xfrm>
          <a:prstGeom prst="rect">
            <a:avLst/>
          </a:prstGeom>
          <a:noFill/>
          <a:ln/>
        </p:spPr>
        <p:txBody>
          <a:bodyPr wrap="square" lIns="0" tIns="0" rIns="0" bIns="0" rtlCol="0" anchor="ctr"/>
          <a:lstStyle/>
          <a:p>
            <a:pPr marL="0" indent="0">
              <a:buNone/>
            </a:pPr>
            <a:r>
              <a:rPr lang="en-US" sz="1180" b="1">
                <a:solidFill>
                  <a:srgbClr val="FFFFFF"/>
                </a:solidFill>
                <a:latin typeface="Calibri" pitchFamily="34" charset="0"/>
                <a:ea typeface="Calibri" pitchFamily="34" charset="-122"/>
                <a:cs typeface="Calibri" pitchFamily="34" charset="-120"/>
              </a:rPr>
              <a:t>Intervene early</a:t>
            </a:r>
            <a:endParaRPr lang="en-US" sz="1180"/>
          </a:p>
        </p:txBody>
      </p:sp>
      <p:sp>
        <p:nvSpPr>
          <p:cNvPr id="22" name="Text 17"/>
          <p:cNvSpPr/>
          <p:nvPr/>
        </p:nvSpPr>
        <p:spPr>
          <a:xfrm>
            <a:off x="7260336" y="3895344"/>
            <a:ext cx="4160520" cy="384048"/>
          </a:xfrm>
          <a:prstGeom prst="rect">
            <a:avLst/>
          </a:prstGeom>
          <a:noFill/>
          <a:ln/>
        </p:spPr>
        <p:txBody>
          <a:bodyPr wrap="square" lIns="0" tIns="0" rIns="0" bIns="0" rtlCol="0" anchor="t"/>
          <a:lstStyle/>
          <a:p>
            <a:pPr marL="0" indent="0">
              <a:lnSpc>
                <a:spcPts val="1250"/>
              </a:lnSpc>
              <a:buNone/>
            </a:pPr>
            <a:r>
              <a:rPr lang="en-US" sz="980">
                <a:solidFill>
                  <a:srgbClr val="9AA3B2"/>
                </a:solidFill>
                <a:latin typeface="Calibri" pitchFamily="34" charset="0"/>
                <a:ea typeface="Calibri" pitchFamily="34" charset="-122"/>
                <a:cs typeface="Calibri" pitchFamily="34" charset="-120"/>
              </a:rPr>
              <a:t>Detection and response teams catch activity and step in quickly enough to prevent loss, damage, and destruction.</a:t>
            </a:r>
            <a:endParaRPr lang="en-US" sz="980"/>
          </a:p>
        </p:txBody>
      </p:sp>
      <p:sp>
        <p:nvSpPr>
          <p:cNvPr id="23" name="Shape 18"/>
          <p:cNvSpPr/>
          <p:nvPr/>
        </p:nvSpPr>
        <p:spPr>
          <a:xfrm>
            <a:off x="566928" y="4517136"/>
            <a:ext cx="11057839" cy="1005840"/>
          </a:xfrm>
          <a:prstGeom prst="roundRect">
            <a:avLst>
              <a:gd name="adj" fmla="val 8182"/>
            </a:avLst>
          </a:prstGeom>
          <a:solidFill>
            <a:srgbClr val="1D2331"/>
          </a:solidFill>
          <a:ln w="15875">
            <a:solidFill>
              <a:srgbClr val="1FA697"/>
            </a:solidFill>
            <a:prstDash val="solid"/>
          </a:ln>
        </p:spPr>
        <p:txBody>
          <a:bodyPr/>
          <a:lstStyle/>
          <a:p>
            <a:endParaRPr lang="en-US"/>
          </a:p>
        </p:txBody>
      </p:sp>
      <p:sp>
        <p:nvSpPr>
          <p:cNvPr id="24" name="Shape 19"/>
          <p:cNvSpPr/>
          <p:nvPr/>
        </p:nvSpPr>
        <p:spPr>
          <a:xfrm>
            <a:off x="841248" y="4754880"/>
            <a:ext cx="457200" cy="457200"/>
          </a:xfrm>
          <a:prstGeom prst="ellipse">
            <a:avLst/>
          </a:prstGeom>
          <a:solidFill>
            <a:srgbClr val="1FA697"/>
          </a:solidFill>
          <a:ln/>
        </p:spPr>
        <p:txBody>
          <a:bodyPr/>
          <a:lstStyle/>
          <a:p>
            <a:endParaRPr lang="en-US"/>
          </a:p>
        </p:txBody>
      </p:sp>
      <p:pic>
        <p:nvPicPr>
          <p:cNvPr id="25" name="Image 3" descr="/home/claude/icons/FaMagnifyingGlassChart_w.png"/>
          <p:cNvPicPr>
            <a:picLocks noChangeAspect="1"/>
          </p:cNvPicPr>
          <p:nvPr/>
        </p:nvPicPr>
        <p:blipFill>
          <a:blip r:embed="rId6"/>
          <a:stretch>
            <a:fillRect/>
          </a:stretch>
        </p:blipFill>
        <p:spPr>
          <a:xfrm>
            <a:off x="960120" y="4873752"/>
            <a:ext cx="219456" cy="219456"/>
          </a:xfrm>
          <a:prstGeom prst="rect">
            <a:avLst/>
          </a:prstGeom>
        </p:spPr>
      </p:pic>
      <p:sp>
        <p:nvSpPr>
          <p:cNvPr id="26" name="Text 20"/>
          <p:cNvSpPr/>
          <p:nvPr/>
        </p:nvSpPr>
        <p:spPr>
          <a:xfrm>
            <a:off x="1426464" y="4700016"/>
            <a:ext cx="10149840" cy="685800"/>
          </a:xfrm>
          <a:prstGeom prst="rect">
            <a:avLst/>
          </a:prstGeom>
          <a:noFill/>
          <a:ln/>
        </p:spPr>
        <p:txBody>
          <a:bodyPr wrap="square" lIns="0" tIns="0" rIns="0" bIns="0" rtlCol="0" anchor="t"/>
          <a:lstStyle/>
          <a:p>
            <a:pPr marL="0" indent="0">
              <a:lnSpc>
                <a:spcPts val="1600"/>
              </a:lnSpc>
              <a:buNone/>
            </a:pPr>
            <a:r>
              <a:rPr lang="en-US" sz="1200">
                <a:solidFill>
                  <a:srgbClr val="FFFFFF"/>
                </a:solidFill>
                <a:latin typeface="Calibri" pitchFamily="34" charset="0"/>
                <a:ea typeface="Calibri" pitchFamily="34" charset="-122"/>
                <a:cs typeface="Calibri" pitchFamily="34" charset="-120"/>
              </a:rPr>
              <a:t>Say it precisely for the exam: AI does not find things a human never could. It reduces an unreadable volume of events to a reviewable number of candidates, fast enough for a human to act before the harm lands.</a:t>
            </a:r>
            <a:endParaRPr lang="en-US" sz="1200"/>
          </a:p>
        </p:txBody>
      </p:sp>
      <p:sp>
        <p:nvSpPr>
          <p:cNvPr id="27" name="Text 21"/>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8" name="Text 22"/>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47</a:t>
            </a:r>
            <a:endParaRPr lang="en-US" sz="9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1.5.A  ·  THREE DEFENSIVE USES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Where defenders actually put AI to work</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The course framework names three — and attaches the same condition to every one of them.</a:t>
            </a:r>
            <a:endParaRPr lang="en-US" sz="1400"/>
          </a:p>
        </p:txBody>
      </p:sp>
      <p:sp>
        <p:nvSpPr>
          <p:cNvPr id="5" name="Shape 3"/>
          <p:cNvSpPr/>
          <p:nvPr/>
        </p:nvSpPr>
        <p:spPr>
          <a:xfrm>
            <a:off x="566928" y="1938528"/>
            <a:ext cx="3529584" cy="2514600"/>
          </a:xfrm>
          <a:prstGeom prst="roundRect">
            <a:avLst>
              <a:gd name="adj" fmla="val 3273"/>
            </a:avLst>
          </a:prstGeom>
          <a:solidFill>
            <a:srgbClr val="E6F5F3"/>
          </a:solidFill>
          <a:ln/>
        </p:spPr>
        <p:txBody>
          <a:bodyPr/>
          <a:lstStyle/>
          <a:p>
            <a:endParaRPr lang="en-US"/>
          </a:p>
        </p:txBody>
      </p:sp>
      <p:sp>
        <p:nvSpPr>
          <p:cNvPr id="6" name="Shape 4"/>
          <p:cNvSpPr/>
          <p:nvPr/>
        </p:nvSpPr>
        <p:spPr>
          <a:xfrm>
            <a:off x="822960" y="2139696"/>
            <a:ext cx="512064" cy="512064"/>
          </a:xfrm>
          <a:prstGeom prst="ellipse">
            <a:avLst/>
          </a:prstGeom>
          <a:solidFill>
            <a:srgbClr val="1FA697"/>
          </a:solidFill>
          <a:ln/>
        </p:spPr>
        <p:txBody>
          <a:bodyPr/>
          <a:lstStyle/>
          <a:p>
            <a:endParaRPr lang="en-US"/>
          </a:p>
        </p:txBody>
      </p:sp>
      <p:pic>
        <p:nvPicPr>
          <p:cNvPr id="7" name="Image 0" descr="/home/claude/icons/FaGear_w.png"/>
          <p:cNvPicPr>
            <a:picLocks noChangeAspect="1"/>
          </p:cNvPicPr>
          <p:nvPr/>
        </p:nvPicPr>
        <p:blipFill>
          <a:blip r:embed="rId3"/>
          <a:stretch>
            <a:fillRect/>
          </a:stretch>
        </p:blipFill>
        <p:spPr>
          <a:xfrm>
            <a:off x="956097" y="2272833"/>
            <a:ext cx="245791" cy="245791"/>
          </a:xfrm>
          <a:prstGeom prst="rect">
            <a:avLst/>
          </a:prstGeom>
        </p:spPr>
      </p:pic>
      <p:sp>
        <p:nvSpPr>
          <p:cNvPr id="8" name="Text 5"/>
          <p:cNvSpPr/>
          <p:nvPr/>
        </p:nvSpPr>
        <p:spPr>
          <a:xfrm>
            <a:off x="822960" y="2761488"/>
            <a:ext cx="301752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Review security configurations</a:t>
            </a:r>
            <a:endParaRPr lang="en-US" sz="1250"/>
          </a:p>
        </p:txBody>
      </p:sp>
      <p:sp>
        <p:nvSpPr>
          <p:cNvPr id="9" name="Text 6"/>
          <p:cNvSpPr/>
          <p:nvPr/>
        </p:nvSpPr>
        <p:spPr>
          <a:xfrm>
            <a:off x="822960" y="3127248"/>
            <a:ext cx="3035808" cy="658368"/>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Examine firewall rules and access controls, then recommend more secure options.</a:t>
            </a:r>
            <a:endParaRPr lang="en-US" sz="1050"/>
          </a:p>
        </p:txBody>
      </p:sp>
      <p:sp>
        <p:nvSpPr>
          <p:cNvPr id="10" name="Shape 7"/>
          <p:cNvSpPr/>
          <p:nvPr/>
        </p:nvSpPr>
        <p:spPr>
          <a:xfrm>
            <a:off x="822960" y="3785616"/>
            <a:ext cx="3035808" cy="548640"/>
          </a:xfrm>
          <a:prstGeom prst="roundRect">
            <a:avLst>
              <a:gd name="adj" fmla="val 15000"/>
            </a:avLst>
          </a:prstGeom>
          <a:solidFill>
            <a:srgbClr val="12141C"/>
          </a:solidFill>
          <a:ln/>
        </p:spPr>
        <p:txBody>
          <a:bodyPr/>
          <a:lstStyle/>
          <a:p>
            <a:endParaRPr lang="en-US"/>
          </a:p>
        </p:txBody>
      </p:sp>
      <p:sp>
        <p:nvSpPr>
          <p:cNvPr id="11" name="Text 8"/>
          <p:cNvSpPr/>
          <p:nvPr/>
        </p:nvSpPr>
        <p:spPr>
          <a:xfrm>
            <a:off x="950976" y="3785616"/>
            <a:ext cx="2779776" cy="548640"/>
          </a:xfrm>
          <a:prstGeom prst="rect">
            <a:avLst/>
          </a:prstGeom>
          <a:noFill/>
          <a:ln/>
        </p:spPr>
        <p:txBody>
          <a:bodyPr wrap="square" lIns="0" tIns="0" rIns="0" bIns="0" rtlCol="0" anchor="ctr"/>
          <a:lstStyle/>
          <a:p>
            <a:pPr marL="0" indent="0">
              <a:lnSpc>
                <a:spcPts val="1200"/>
              </a:lnSpc>
              <a:buNone/>
            </a:pPr>
            <a:r>
              <a:rPr lang="en-US" sz="950">
                <a:solidFill>
                  <a:srgbClr val="FFFFFF"/>
                </a:solidFill>
                <a:latin typeface="Calibri" pitchFamily="34" charset="0"/>
                <a:ea typeface="Calibri" pitchFamily="34" charset="-122"/>
                <a:cs typeface="Calibri" pitchFamily="34" charset="-120"/>
              </a:rPr>
              <a:t>Checked by a knowledgeable security technician before implementation.</a:t>
            </a:r>
            <a:endParaRPr lang="en-US" sz="950"/>
          </a:p>
        </p:txBody>
      </p:sp>
      <p:sp>
        <p:nvSpPr>
          <p:cNvPr id="12" name="Shape 9"/>
          <p:cNvSpPr/>
          <p:nvPr/>
        </p:nvSpPr>
        <p:spPr>
          <a:xfrm>
            <a:off x="4325112" y="1938528"/>
            <a:ext cx="3529584" cy="2514600"/>
          </a:xfrm>
          <a:prstGeom prst="roundRect">
            <a:avLst>
              <a:gd name="adj" fmla="val 3273"/>
            </a:avLst>
          </a:prstGeom>
          <a:solidFill>
            <a:srgbClr val="E6F5F3"/>
          </a:solidFill>
          <a:ln/>
        </p:spPr>
        <p:txBody>
          <a:bodyPr/>
          <a:lstStyle/>
          <a:p>
            <a:endParaRPr lang="en-US"/>
          </a:p>
        </p:txBody>
      </p:sp>
      <p:sp>
        <p:nvSpPr>
          <p:cNvPr id="13" name="Shape 10"/>
          <p:cNvSpPr/>
          <p:nvPr/>
        </p:nvSpPr>
        <p:spPr>
          <a:xfrm>
            <a:off x="4581144" y="2139696"/>
            <a:ext cx="512064" cy="512064"/>
          </a:xfrm>
          <a:prstGeom prst="ellipse">
            <a:avLst/>
          </a:prstGeom>
          <a:solidFill>
            <a:srgbClr val="1FA697"/>
          </a:solidFill>
          <a:ln/>
        </p:spPr>
        <p:txBody>
          <a:bodyPr/>
          <a:lstStyle/>
          <a:p>
            <a:endParaRPr lang="en-US"/>
          </a:p>
        </p:txBody>
      </p:sp>
      <p:pic>
        <p:nvPicPr>
          <p:cNvPr id="14" name="Image 1" descr="/home/claude/icons/FaFileCode_w.png"/>
          <p:cNvPicPr>
            <a:picLocks noChangeAspect="1"/>
          </p:cNvPicPr>
          <p:nvPr/>
        </p:nvPicPr>
        <p:blipFill>
          <a:blip r:embed="rId4"/>
          <a:stretch>
            <a:fillRect/>
          </a:stretch>
        </p:blipFill>
        <p:spPr>
          <a:xfrm>
            <a:off x="4714281" y="2272833"/>
            <a:ext cx="245791" cy="245791"/>
          </a:xfrm>
          <a:prstGeom prst="rect">
            <a:avLst/>
          </a:prstGeom>
        </p:spPr>
      </p:pic>
      <p:sp>
        <p:nvSpPr>
          <p:cNvPr id="15" name="Text 11"/>
          <p:cNvSpPr/>
          <p:nvPr/>
        </p:nvSpPr>
        <p:spPr>
          <a:xfrm>
            <a:off x="4581144" y="2761488"/>
            <a:ext cx="301752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Analyse application code</a:t>
            </a:r>
            <a:endParaRPr lang="en-US" sz="1250"/>
          </a:p>
        </p:txBody>
      </p:sp>
      <p:sp>
        <p:nvSpPr>
          <p:cNvPr id="16" name="Text 12"/>
          <p:cNvSpPr/>
          <p:nvPr/>
        </p:nvSpPr>
        <p:spPr>
          <a:xfrm>
            <a:off x="4581144" y="3127248"/>
            <a:ext cx="3035808" cy="658368"/>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Find vulnerabilities in code and recommend mitigations for them.</a:t>
            </a:r>
            <a:endParaRPr lang="en-US" sz="1050"/>
          </a:p>
        </p:txBody>
      </p:sp>
      <p:sp>
        <p:nvSpPr>
          <p:cNvPr id="17" name="Shape 13"/>
          <p:cNvSpPr/>
          <p:nvPr/>
        </p:nvSpPr>
        <p:spPr>
          <a:xfrm>
            <a:off x="4581144" y="3785616"/>
            <a:ext cx="3035808" cy="548640"/>
          </a:xfrm>
          <a:prstGeom prst="roundRect">
            <a:avLst>
              <a:gd name="adj" fmla="val 15000"/>
            </a:avLst>
          </a:prstGeom>
          <a:solidFill>
            <a:srgbClr val="12141C"/>
          </a:solidFill>
          <a:ln/>
        </p:spPr>
        <p:txBody>
          <a:bodyPr/>
          <a:lstStyle/>
          <a:p>
            <a:endParaRPr lang="en-US"/>
          </a:p>
        </p:txBody>
      </p:sp>
      <p:sp>
        <p:nvSpPr>
          <p:cNvPr id="18" name="Text 14"/>
          <p:cNvSpPr/>
          <p:nvPr/>
        </p:nvSpPr>
        <p:spPr>
          <a:xfrm>
            <a:off x="4709160" y="3785616"/>
            <a:ext cx="2779776" cy="548640"/>
          </a:xfrm>
          <a:prstGeom prst="rect">
            <a:avLst/>
          </a:prstGeom>
          <a:noFill/>
          <a:ln/>
        </p:spPr>
        <p:txBody>
          <a:bodyPr wrap="square" lIns="0" tIns="0" rIns="0" bIns="0" rtlCol="0" anchor="ctr"/>
          <a:lstStyle/>
          <a:p>
            <a:pPr marL="0" indent="0">
              <a:lnSpc>
                <a:spcPts val="1200"/>
              </a:lnSpc>
              <a:buNone/>
            </a:pPr>
            <a:r>
              <a:rPr lang="en-US" sz="950">
                <a:solidFill>
                  <a:srgbClr val="FFFFFF"/>
                </a:solidFill>
                <a:latin typeface="Calibri" pitchFamily="34" charset="0"/>
                <a:ea typeface="Calibri" pitchFamily="34" charset="-122"/>
                <a:cs typeface="Calibri" pitchFamily="34" charset="-120"/>
              </a:rPr>
              <a:t>Reviewed by a knowledgeable programmer before implementation.</a:t>
            </a:r>
            <a:endParaRPr lang="en-US" sz="950"/>
          </a:p>
        </p:txBody>
      </p:sp>
      <p:sp>
        <p:nvSpPr>
          <p:cNvPr id="19" name="Shape 15"/>
          <p:cNvSpPr/>
          <p:nvPr/>
        </p:nvSpPr>
        <p:spPr>
          <a:xfrm>
            <a:off x="8083296" y="1938528"/>
            <a:ext cx="3529584" cy="2514600"/>
          </a:xfrm>
          <a:prstGeom prst="roundRect">
            <a:avLst>
              <a:gd name="adj" fmla="val 3273"/>
            </a:avLst>
          </a:prstGeom>
          <a:solidFill>
            <a:srgbClr val="E6F5F3"/>
          </a:solidFill>
          <a:ln/>
        </p:spPr>
        <p:txBody>
          <a:bodyPr/>
          <a:lstStyle/>
          <a:p>
            <a:endParaRPr lang="en-US"/>
          </a:p>
        </p:txBody>
      </p:sp>
      <p:sp>
        <p:nvSpPr>
          <p:cNvPr id="20" name="Shape 16"/>
          <p:cNvSpPr/>
          <p:nvPr/>
        </p:nvSpPr>
        <p:spPr>
          <a:xfrm>
            <a:off x="8339328" y="2139696"/>
            <a:ext cx="512064" cy="512064"/>
          </a:xfrm>
          <a:prstGeom prst="ellipse">
            <a:avLst/>
          </a:prstGeom>
          <a:solidFill>
            <a:srgbClr val="1FA697"/>
          </a:solidFill>
          <a:ln/>
        </p:spPr>
        <p:txBody>
          <a:bodyPr/>
          <a:lstStyle/>
          <a:p>
            <a:endParaRPr lang="en-US"/>
          </a:p>
        </p:txBody>
      </p:sp>
      <p:pic>
        <p:nvPicPr>
          <p:cNvPr id="21" name="Image 2" descr="/home/claude/icons/FaListCheck_w.png"/>
          <p:cNvPicPr>
            <a:picLocks noChangeAspect="1"/>
          </p:cNvPicPr>
          <p:nvPr/>
        </p:nvPicPr>
        <p:blipFill>
          <a:blip r:embed="rId5"/>
          <a:stretch>
            <a:fillRect/>
          </a:stretch>
        </p:blipFill>
        <p:spPr>
          <a:xfrm>
            <a:off x="8472465" y="2272833"/>
            <a:ext cx="245791" cy="245791"/>
          </a:xfrm>
          <a:prstGeom prst="rect">
            <a:avLst/>
          </a:prstGeom>
        </p:spPr>
      </p:pic>
      <p:sp>
        <p:nvSpPr>
          <p:cNvPr id="22" name="Text 17"/>
          <p:cNvSpPr/>
          <p:nvPr/>
        </p:nvSpPr>
        <p:spPr>
          <a:xfrm>
            <a:off x="8339328" y="2761488"/>
            <a:ext cx="301752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Suggest detection rules</a:t>
            </a:r>
            <a:endParaRPr lang="en-US" sz="1250"/>
          </a:p>
        </p:txBody>
      </p:sp>
      <p:sp>
        <p:nvSpPr>
          <p:cNvPr id="23" name="Text 18"/>
          <p:cNvSpPr/>
          <p:nvPr/>
        </p:nvSpPr>
        <p:spPr>
          <a:xfrm>
            <a:off x="8339328" y="3127248"/>
            <a:ext cx="3035808" cy="658368"/>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Propose rules for automated detection systems to use.</a:t>
            </a:r>
            <a:endParaRPr lang="en-US" sz="1050"/>
          </a:p>
        </p:txBody>
      </p:sp>
      <p:sp>
        <p:nvSpPr>
          <p:cNvPr id="24" name="Shape 19"/>
          <p:cNvSpPr/>
          <p:nvPr/>
        </p:nvSpPr>
        <p:spPr>
          <a:xfrm>
            <a:off x="8339328" y="3785616"/>
            <a:ext cx="3035808" cy="548640"/>
          </a:xfrm>
          <a:prstGeom prst="roundRect">
            <a:avLst>
              <a:gd name="adj" fmla="val 15000"/>
            </a:avLst>
          </a:prstGeom>
          <a:solidFill>
            <a:srgbClr val="12141C"/>
          </a:solidFill>
          <a:ln/>
        </p:spPr>
        <p:txBody>
          <a:bodyPr/>
          <a:lstStyle/>
          <a:p>
            <a:endParaRPr lang="en-US"/>
          </a:p>
        </p:txBody>
      </p:sp>
      <p:sp>
        <p:nvSpPr>
          <p:cNvPr id="25" name="Text 20"/>
          <p:cNvSpPr/>
          <p:nvPr/>
        </p:nvSpPr>
        <p:spPr>
          <a:xfrm>
            <a:off x="8467344" y="3785616"/>
            <a:ext cx="2779776" cy="548640"/>
          </a:xfrm>
          <a:prstGeom prst="rect">
            <a:avLst/>
          </a:prstGeom>
          <a:noFill/>
          <a:ln/>
        </p:spPr>
        <p:txBody>
          <a:bodyPr wrap="square" lIns="0" tIns="0" rIns="0" bIns="0" rtlCol="0" anchor="ctr"/>
          <a:lstStyle/>
          <a:p>
            <a:pPr marL="0" indent="0">
              <a:lnSpc>
                <a:spcPts val="1200"/>
              </a:lnSpc>
              <a:buNone/>
            </a:pPr>
            <a:r>
              <a:rPr lang="en-US" sz="950">
                <a:solidFill>
                  <a:srgbClr val="FFFFFF"/>
                </a:solidFill>
                <a:latin typeface="Calibri" pitchFamily="34" charset="0"/>
                <a:ea typeface="Calibri" pitchFamily="34" charset="-122"/>
                <a:cs typeface="Calibri" pitchFamily="34" charset="-120"/>
              </a:rPr>
              <a:t>Reviewed by a knowledgeable detection engineer before it is added to a system.</a:t>
            </a:r>
            <a:endParaRPr lang="en-US" sz="950"/>
          </a:p>
        </p:txBody>
      </p:sp>
      <p:sp>
        <p:nvSpPr>
          <p:cNvPr id="26" name="Shape 21"/>
          <p:cNvSpPr/>
          <p:nvPr/>
        </p:nvSpPr>
        <p:spPr>
          <a:xfrm>
            <a:off x="566928" y="4626864"/>
            <a:ext cx="11057839" cy="914400"/>
          </a:xfrm>
          <a:prstGeom prst="roundRect">
            <a:avLst>
              <a:gd name="adj" fmla="val 9000"/>
            </a:avLst>
          </a:prstGeom>
          <a:solidFill>
            <a:srgbClr val="F2F4F8"/>
          </a:solidFill>
          <a:ln/>
        </p:spPr>
        <p:txBody>
          <a:bodyPr/>
          <a:lstStyle/>
          <a:p>
            <a:endParaRPr lang="en-US"/>
          </a:p>
        </p:txBody>
      </p:sp>
      <p:sp>
        <p:nvSpPr>
          <p:cNvPr id="27" name="Shape 22"/>
          <p:cNvSpPr/>
          <p:nvPr/>
        </p:nvSpPr>
        <p:spPr>
          <a:xfrm>
            <a:off x="841248" y="4855464"/>
            <a:ext cx="457200" cy="457200"/>
          </a:xfrm>
          <a:prstGeom prst="ellipse">
            <a:avLst/>
          </a:prstGeom>
          <a:solidFill>
            <a:srgbClr val="12141C"/>
          </a:solidFill>
          <a:ln/>
        </p:spPr>
        <p:txBody>
          <a:bodyPr/>
          <a:lstStyle/>
          <a:p>
            <a:endParaRPr lang="en-US"/>
          </a:p>
        </p:txBody>
      </p:sp>
      <p:pic>
        <p:nvPicPr>
          <p:cNvPr id="28" name="Image 3" descr="/home/claude/icons/FaChalkboardUser_w.png"/>
          <p:cNvPicPr>
            <a:picLocks noChangeAspect="1"/>
          </p:cNvPicPr>
          <p:nvPr/>
        </p:nvPicPr>
        <p:blipFill>
          <a:blip r:embed="rId6"/>
          <a:stretch>
            <a:fillRect/>
          </a:stretch>
        </p:blipFill>
        <p:spPr>
          <a:xfrm>
            <a:off x="960120" y="4974336"/>
            <a:ext cx="219456" cy="219456"/>
          </a:xfrm>
          <a:prstGeom prst="rect">
            <a:avLst/>
          </a:prstGeom>
        </p:spPr>
      </p:pic>
      <p:sp>
        <p:nvSpPr>
          <p:cNvPr id="29" name="Text 23"/>
          <p:cNvSpPr/>
          <p:nvPr/>
        </p:nvSpPr>
        <p:spPr>
          <a:xfrm>
            <a:off x="1426464" y="4700016"/>
            <a:ext cx="10149840" cy="777240"/>
          </a:xfrm>
          <a:prstGeom prst="rect">
            <a:avLst/>
          </a:prstGeom>
          <a:noFill/>
          <a:ln/>
        </p:spPr>
        <p:txBody>
          <a:bodyPr wrap="square" lIns="0" tIns="0" rIns="0" bIns="0" rtlCol="0" anchor="t"/>
          <a:lstStyle/>
          <a:p>
            <a:pPr marL="0" indent="0">
              <a:lnSpc>
                <a:spcPts val="1480"/>
              </a:lnSpc>
              <a:buNone/>
            </a:pPr>
            <a:r>
              <a:rPr lang="en-US" sz="1100">
                <a:solidFill>
                  <a:srgbClr val="2B303C"/>
                </a:solidFill>
                <a:latin typeface="Calibri" pitchFamily="34" charset="0"/>
                <a:ea typeface="Calibri" pitchFamily="34" charset="-122"/>
                <a:cs typeface="Calibri" pitchFamily="34" charset="-120"/>
              </a:rPr>
              <a:t>Why the condition matters: an AI recommendation is a suggestion generated from patterns, not a decision made with knowledge of your organisation. A firewall rule that looks tighter may break a service people depend on; a code change may fix one flaw and introduce another. The reviewer supplies the context the tool does not have — and remains accountable for the outcome.</a:t>
            </a:r>
            <a:endParaRPr lang="en-US" sz="1100"/>
          </a:p>
        </p:txBody>
      </p:sp>
      <p:sp>
        <p:nvSpPr>
          <p:cNvPr id="30" name="Text 24"/>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1" name="Text 25"/>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48</a:t>
            </a:r>
            <a:endParaRPr lang="en-US" sz="9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1.5.B  ·  MECHANISM</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How AI-assisted detection works, end to end</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Follow one suspicious login through the pipeline. Note where the human sits.</a:t>
            </a:r>
            <a:endParaRPr lang="en-US" sz="1400"/>
          </a:p>
        </p:txBody>
      </p:sp>
      <p:sp>
        <p:nvSpPr>
          <p:cNvPr id="5" name="Shape 3"/>
          <p:cNvSpPr/>
          <p:nvPr/>
        </p:nvSpPr>
        <p:spPr>
          <a:xfrm>
            <a:off x="566928" y="1938528"/>
            <a:ext cx="2048256" cy="2240280"/>
          </a:xfrm>
          <a:prstGeom prst="roundRect">
            <a:avLst>
              <a:gd name="adj" fmla="val 4018"/>
            </a:avLst>
          </a:prstGeom>
          <a:solidFill>
            <a:srgbClr val="F2F4F8"/>
          </a:solidFill>
          <a:ln/>
        </p:spPr>
        <p:txBody>
          <a:bodyPr/>
          <a:lstStyle/>
          <a:p>
            <a:endParaRPr lang="en-US"/>
          </a:p>
        </p:txBody>
      </p:sp>
      <p:sp>
        <p:nvSpPr>
          <p:cNvPr id="6" name="Shape 4"/>
          <p:cNvSpPr/>
          <p:nvPr/>
        </p:nvSpPr>
        <p:spPr>
          <a:xfrm>
            <a:off x="786384" y="2139696"/>
            <a:ext cx="457200" cy="457200"/>
          </a:xfrm>
          <a:prstGeom prst="ellipse">
            <a:avLst/>
          </a:prstGeom>
          <a:solidFill>
            <a:srgbClr val="9AA3B2"/>
          </a:solidFill>
          <a:ln/>
        </p:spPr>
        <p:txBody>
          <a:bodyPr/>
          <a:lstStyle/>
          <a:p>
            <a:endParaRPr lang="en-US"/>
          </a:p>
        </p:txBody>
      </p:sp>
      <p:pic>
        <p:nvPicPr>
          <p:cNvPr id="7" name="Image 0" descr="/home/claude/icons/FaDatabase_w.png"/>
          <p:cNvPicPr>
            <a:picLocks noChangeAspect="1"/>
          </p:cNvPicPr>
          <p:nvPr/>
        </p:nvPicPr>
        <p:blipFill>
          <a:blip r:embed="rId3"/>
          <a:stretch>
            <a:fillRect/>
          </a:stretch>
        </p:blipFill>
        <p:spPr>
          <a:xfrm>
            <a:off x="905256" y="2258568"/>
            <a:ext cx="219456" cy="219456"/>
          </a:xfrm>
          <a:prstGeom prst="rect">
            <a:avLst/>
          </a:prstGeom>
        </p:spPr>
      </p:pic>
      <p:sp>
        <p:nvSpPr>
          <p:cNvPr id="8" name="Text 5"/>
          <p:cNvSpPr/>
          <p:nvPr/>
        </p:nvSpPr>
        <p:spPr>
          <a:xfrm>
            <a:off x="786384"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Collect</a:t>
            </a:r>
            <a:endParaRPr lang="en-US" sz="1200"/>
          </a:p>
        </p:txBody>
      </p:sp>
      <p:sp>
        <p:nvSpPr>
          <p:cNvPr id="9" name="Text 6"/>
          <p:cNvSpPr/>
          <p:nvPr/>
        </p:nvSpPr>
        <p:spPr>
          <a:xfrm>
            <a:off x="786384" y="2962656"/>
            <a:ext cx="1755648" cy="1078992"/>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Logs stream in from devices, servers, applications, and network equipment.</a:t>
            </a:r>
            <a:endParaRPr lang="en-US" sz="980"/>
          </a:p>
        </p:txBody>
      </p:sp>
      <p:sp>
        <p:nvSpPr>
          <p:cNvPr id="10" name="Shape 7"/>
          <p:cNvSpPr/>
          <p:nvPr/>
        </p:nvSpPr>
        <p:spPr>
          <a:xfrm rot="5400000">
            <a:off x="2642616" y="2834640"/>
            <a:ext cx="128016" cy="146304"/>
          </a:xfrm>
          <a:prstGeom prst="triangle">
            <a:avLst/>
          </a:prstGeom>
          <a:solidFill>
            <a:srgbClr val="9AA3B2"/>
          </a:solidFill>
          <a:ln/>
        </p:spPr>
        <p:txBody>
          <a:bodyPr/>
          <a:lstStyle/>
          <a:p>
            <a:endParaRPr lang="en-US"/>
          </a:p>
        </p:txBody>
      </p:sp>
      <p:sp>
        <p:nvSpPr>
          <p:cNvPr id="11" name="Shape 8"/>
          <p:cNvSpPr/>
          <p:nvPr/>
        </p:nvSpPr>
        <p:spPr>
          <a:xfrm>
            <a:off x="2816352" y="1938528"/>
            <a:ext cx="2048256" cy="2240280"/>
          </a:xfrm>
          <a:prstGeom prst="roundRect">
            <a:avLst>
              <a:gd name="adj" fmla="val 4018"/>
            </a:avLst>
          </a:prstGeom>
          <a:solidFill>
            <a:srgbClr val="F2F4F8"/>
          </a:solidFill>
          <a:ln/>
        </p:spPr>
        <p:txBody>
          <a:bodyPr/>
          <a:lstStyle/>
          <a:p>
            <a:endParaRPr lang="en-US"/>
          </a:p>
        </p:txBody>
      </p:sp>
      <p:sp>
        <p:nvSpPr>
          <p:cNvPr id="12" name="Shape 9"/>
          <p:cNvSpPr/>
          <p:nvPr/>
        </p:nvSpPr>
        <p:spPr>
          <a:xfrm>
            <a:off x="3035808" y="2139696"/>
            <a:ext cx="457200" cy="457200"/>
          </a:xfrm>
          <a:prstGeom prst="ellipse">
            <a:avLst/>
          </a:prstGeom>
          <a:solidFill>
            <a:srgbClr val="1FA697"/>
          </a:solidFill>
          <a:ln/>
        </p:spPr>
        <p:txBody>
          <a:bodyPr/>
          <a:lstStyle/>
          <a:p>
            <a:endParaRPr lang="en-US"/>
          </a:p>
        </p:txBody>
      </p:sp>
      <p:pic>
        <p:nvPicPr>
          <p:cNvPr id="13" name="Image 1" descr="/home/claude/icons/FaFilter_w.png"/>
          <p:cNvPicPr>
            <a:picLocks noChangeAspect="1"/>
          </p:cNvPicPr>
          <p:nvPr/>
        </p:nvPicPr>
        <p:blipFill>
          <a:blip r:embed="rId4"/>
          <a:stretch>
            <a:fillRect/>
          </a:stretch>
        </p:blipFill>
        <p:spPr>
          <a:xfrm>
            <a:off x="3154680" y="2258568"/>
            <a:ext cx="219456" cy="219456"/>
          </a:xfrm>
          <a:prstGeom prst="rect">
            <a:avLst/>
          </a:prstGeom>
        </p:spPr>
      </p:pic>
      <p:sp>
        <p:nvSpPr>
          <p:cNvPr id="14" name="Text 10"/>
          <p:cNvSpPr/>
          <p:nvPr/>
        </p:nvSpPr>
        <p:spPr>
          <a:xfrm>
            <a:off x="3035808"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Analyse</a:t>
            </a:r>
            <a:endParaRPr lang="en-US" sz="1200"/>
          </a:p>
        </p:txBody>
      </p:sp>
      <p:sp>
        <p:nvSpPr>
          <p:cNvPr id="15" name="Text 11"/>
          <p:cNvSpPr/>
          <p:nvPr/>
        </p:nvSpPr>
        <p:spPr>
          <a:xfrm>
            <a:off x="3035808" y="2962656"/>
            <a:ext cx="1755648" cy="1078992"/>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Trained models compare events against normal behaviour and score what looks anomalous.</a:t>
            </a:r>
            <a:endParaRPr lang="en-US" sz="980"/>
          </a:p>
        </p:txBody>
      </p:sp>
      <p:sp>
        <p:nvSpPr>
          <p:cNvPr id="16" name="Shape 12"/>
          <p:cNvSpPr/>
          <p:nvPr/>
        </p:nvSpPr>
        <p:spPr>
          <a:xfrm rot="5400000">
            <a:off x="4892040" y="2834640"/>
            <a:ext cx="128016" cy="146304"/>
          </a:xfrm>
          <a:prstGeom prst="triangle">
            <a:avLst/>
          </a:prstGeom>
          <a:solidFill>
            <a:srgbClr val="9AA3B2"/>
          </a:solidFill>
          <a:ln/>
        </p:spPr>
        <p:txBody>
          <a:bodyPr/>
          <a:lstStyle/>
          <a:p>
            <a:endParaRPr lang="en-US"/>
          </a:p>
        </p:txBody>
      </p:sp>
      <p:sp>
        <p:nvSpPr>
          <p:cNvPr id="17" name="Shape 13"/>
          <p:cNvSpPr/>
          <p:nvPr/>
        </p:nvSpPr>
        <p:spPr>
          <a:xfrm>
            <a:off x="5065776" y="1938528"/>
            <a:ext cx="2048256" cy="2240280"/>
          </a:xfrm>
          <a:prstGeom prst="roundRect">
            <a:avLst>
              <a:gd name="adj" fmla="val 4018"/>
            </a:avLst>
          </a:prstGeom>
          <a:solidFill>
            <a:srgbClr val="F2F4F8"/>
          </a:solidFill>
          <a:ln/>
        </p:spPr>
        <p:txBody>
          <a:bodyPr/>
          <a:lstStyle/>
          <a:p>
            <a:endParaRPr lang="en-US"/>
          </a:p>
        </p:txBody>
      </p:sp>
      <p:sp>
        <p:nvSpPr>
          <p:cNvPr id="18" name="Shape 14"/>
          <p:cNvSpPr/>
          <p:nvPr/>
        </p:nvSpPr>
        <p:spPr>
          <a:xfrm>
            <a:off x="5285232" y="2139696"/>
            <a:ext cx="457200" cy="457200"/>
          </a:xfrm>
          <a:prstGeom prst="ellipse">
            <a:avLst/>
          </a:prstGeom>
          <a:solidFill>
            <a:srgbClr val="1FA697"/>
          </a:solidFill>
          <a:ln/>
        </p:spPr>
        <p:txBody>
          <a:bodyPr/>
          <a:lstStyle/>
          <a:p>
            <a:endParaRPr lang="en-US"/>
          </a:p>
        </p:txBody>
      </p:sp>
      <p:pic>
        <p:nvPicPr>
          <p:cNvPr id="19" name="Image 2" descr="/home/claude/icons/FaTrafficLight_w.png"/>
          <p:cNvPicPr>
            <a:picLocks noChangeAspect="1"/>
          </p:cNvPicPr>
          <p:nvPr/>
        </p:nvPicPr>
        <p:blipFill>
          <a:blip r:embed="rId5"/>
          <a:stretch>
            <a:fillRect/>
          </a:stretch>
        </p:blipFill>
        <p:spPr>
          <a:xfrm>
            <a:off x="5404104" y="2258568"/>
            <a:ext cx="219456" cy="219456"/>
          </a:xfrm>
          <a:prstGeom prst="rect">
            <a:avLst/>
          </a:prstGeom>
        </p:spPr>
      </p:pic>
      <p:sp>
        <p:nvSpPr>
          <p:cNvPr id="20" name="Text 15"/>
          <p:cNvSpPr/>
          <p:nvPr/>
        </p:nvSpPr>
        <p:spPr>
          <a:xfrm>
            <a:off x="5285232"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Sort</a:t>
            </a:r>
            <a:endParaRPr lang="en-US" sz="1200"/>
          </a:p>
        </p:txBody>
      </p:sp>
      <p:sp>
        <p:nvSpPr>
          <p:cNvPr id="21" name="Text 16"/>
          <p:cNvSpPr/>
          <p:nvPr/>
        </p:nvSpPr>
        <p:spPr>
          <a:xfrm>
            <a:off x="5285232" y="2962656"/>
            <a:ext cx="1755648" cy="1078992"/>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Likely-malicious events are separated from the harmless majority.</a:t>
            </a:r>
            <a:endParaRPr lang="en-US" sz="980"/>
          </a:p>
        </p:txBody>
      </p:sp>
      <p:sp>
        <p:nvSpPr>
          <p:cNvPr id="22" name="Shape 17"/>
          <p:cNvSpPr/>
          <p:nvPr/>
        </p:nvSpPr>
        <p:spPr>
          <a:xfrm rot="5400000">
            <a:off x="7141464" y="2834640"/>
            <a:ext cx="128016" cy="146304"/>
          </a:xfrm>
          <a:prstGeom prst="triangle">
            <a:avLst/>
          </a:prstGeom>
          <a:solidFill>
            <a:srgbClr val="9AA3B2"/>
          </a:solidFill>
          <a:ln/>
        </p:spPr>
        <p:txBody>
          <a:bodyPr/>
          <a:lstStyle/>
          <a:p>
            <a:endParaRPr lang="en-US"/>
          </a:p>
        </p:txBody>
      </p:sp>
      <p:sp>
        <p:nvSpPr>
          <p:cNvPr id="23" name="Shape 18"/>
          <p:cNvSpPr/>
          <p:nvPr/>
        </p:nvSpPr>
        <p:spPr>
          <a:xfrm>
            <a:off x="7315200" y="1938528"/>
            <a:ext cx="2048256" cy="2240280"/>
          </a:xfrm>
          <a:prstGeom prst="roundRect">
            <a:avLst>
              <a:gd name="adj" fmla="val 4018"/>
            </a:avLst>
          </a:prstGeom>
          <a:solidFill>
            <a:srgbClr val="F2F4F8"/>
          </a:solidFill>
          <a:ln/>
        </p:spPr>
        <p:txBody>
          <a:bodyPr/>
          <a:lstStyle/>
          <a:p>
            <a:endParaRPr lang="en-US"/>
          </a:p>
        </p:txBody>
      </p:sp>
      <p:sp>
        <p:nvSpPr>
          <p:cNvPr id="24" name="Shape 19"/>
          <p:cNvSpPr/>
          <p:nvPr/>
        </p:nvSpPr>
        <p:spPr>
          <a:xfrm>
            <a:off x="7534656" y="2139696"/>
            <a:ext cx="457200" cy="457200"/>
          </a:xfrm>
          <a:prstGeom prst="ellipse">
            <a:avLst/>
          </a:prstGeom>
          <a:solidFill>
            <a:srgbClr val="F2A03D"/>
          </a:solidFill>
          <a:ln/>
        </p:spPr>
        <p:txBody>
          <a:bodyPr/>
          <a:lstStyle/>
          <a:p>
            <a:endParaRPr lang="en-US"/>
          </a:p>
        </p:txBody>
      </p:sp>
      <p:pic>
        <p:nvPicPr>
          <p:cNvPr id="25" name="Image 3" descr="/home/claude/icons/FaBell_w.png"/>
          <p:cNvPicPr>
            <a:picLocks noChangeAspect="1"/>
          </p:cNvPicPr>
          <p:nvPr/>
        </p:nvPicPr>
        <p:blipFill>
          <a:blip r:embed="rId6"/>
          <a:stretch>
            <a:fillRect/>
          </a:stretch>
        </p:blipFill>
        <p:spPr>
          <a:xfrm>
            <a:off x="7653528" y="2258568"/>
            <a:ext cx="219456" cy="219456"/>
          </a:xfrm>
          <a:prstGeom prst="rect">
            <a:avLst/>
          </a:prstGeom>
        </p:spPr>
      </p:pic>
      <p:sp>
        <p:nvSpPr>
          <p:cNvPr id="26" name="Text 20"/>
          <p:cNvSpPr/>
          <p:nvPr/>
        </p:nvSpPr>
        <p:spPr>
          <a:xfrm>
            <a:off x="7534656"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Alert or act</a:t>
            </a:r>
            <a:endParaRPr lang="en-US" sz="1200"/>
          </a:p>
        </p:txBody>
      </p:sp>
      <p:sp>
        <p:nvSpPr>
          <p:cNvPr id="27" name="Text 21"/>
          <p:cNvSpPr/>
          <p:nvPr/>
        </p:nvSpPr>
        <p:spPr>
          <a:xfrm>
            <a:off x="7534656" y="2962656"/>
            <a:ext cx="1755648" cy="1078992"/>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Staff are notified, or a pre-approved corrective action runs automatically.</a:t>
            </a:r>
            <a:endParaRPr lang="en-US" sz="980"/>
          </a:p>
        </p:txBody>
      </p:sp>
      <p:sp>
        <p:nvSpPr>
          <p:cNvPr id="28" name="Shape 22"/>
          <p:cNvSpPr/>
          <p:nvPr/>
        </p:nvSpPr>
        <p:spPr>
          <a:xfrm rot="5400000">
            <a:off x="9390888" y="2834640"/>
            <a:ext cx="128016" cy="146304"/>
          </a:xfrm>
          <a:prstGeom prst="triangle">
            <a:avLst/>
          </a:prstGeom>
          <a:solidFill>
            <a:srgbClr val="9AA3B2"/>
          </a:solidFill>
          <a:ln/>
        </p:spPr>
        <p:txBody>
          <a:bodyPr/>
          <a:lstStyle/>
          <a:p>
            <a:endParaRPr lang="en-US"/>
          </a:p>
        </p:txBody>
      </p:sp>
      <p:sp>
        <p:nvSpPr>
          <p:cNvPr id="29" name="Shape 23"/>
          <p:cNvSpPr/>
          <p:nvPr/>
        </p:nvSpPr>
        <p:spPr>
          <a:xfrm>
            <a:off x="9564624" y="1938528"/>
            <a:ext cx="2048256" cy="2240280"/>
          </a:xfrm>
          <a:prstGeom prst="roundRect">
            <a:avLst>
              <a:gd name="adj" fmla="val 4018"/>
            </a:avLst>
          </a:prstGeom>
          <a:solidFill>
            <a:srgbClr val="FBECEA"/>
          </a:solidFill>
          <a:ln/>
        </p:spPr>
        <p:txBody>
          <a:bodyPr/>
          <a:lstStyle/>
          <a:p>
            <a:endParaRPr lang="en-US"/>
          </a:p>
        </p:txBody>
      </p:sp>
      <p:sp>
        <p:nvSpPr>
          <p:cNvPr id="30" name="Shape 24"/>
          <p:cNvSpPr/>
          <p:nvPr/>
        </p:nvSpPr>
        <p:spPr>
          <a:xfrm>
            <a:off x="9784080" y="2139696"/>
            <a:ext cx="457200" cy="457200"/>
          </a:xfrm>
          <a:prstGeom prst="ellipse">
            <a:avLst/>
          </a:prstGeom>
          <a:solidFill>
            <a:srgbClr val="D9483F"/>
          </a:solidFill>
          <a:ln/>
        </p:spPr>
        <p:txBody>
          <a:bodyPr/>
          <a:lstStyle/>
          <a:p>
            <a:endParaRPr lang="en-US"/>
          </a:p>
        </p:txBody>
      </p:sp>
      <p:pic>
        <p:nvPicPr>
          <p:cNvPr id="31" name="Image 4" descr="/home/claude/icons/FaUserShield_w.png"/>
          <p:cNvPicPr>
            <a:picLocks noChangeAspect="1"/>
          </p:cNvPicPr>
          <p:nvPr/>
        </p:nvPicPr>
        <p:blipFill>
          <a:blip r:embed="rId7"/>
          <a:stretch>
            <a:fillRect/>
          </a:stretch>
        </p:blipFill>
        <p:spPr>
          <a:xfrm>
            <a:off x="9902952" y="2258568"/>
            <a:ext cx="219456" cy="219456"/>
          </a:xfrm>
          <a:prstGeom prst="rect">
            <a:avLst/>
          </a:prstGeom>
        </p:spPr>
      </p:pic>
      <p:sp>
        <p:nvSpPr>
          <p:cNvPr id="32" name="Text 25"/>
          <p:cNvSpPr/>
          <p:nvPr/>
        </p:nvSpPr>
        <p:spPr>
          <a:xfrm>
            <a:off x="9784080" y="2688336"/>
            <a:ext cx="1737360" cy="256032"/>
          </a:xfrm>
          <a:prstGeom prst="rect">
            <a:avLst/>
          </a:prstGeom>
          <a:noFill/>
          <a:ln/>
        </p:spPr>
        <p:txBody>
          <a:bodyPr wrap="square" lIns="0" tIns="0" rIns="0" bIns="0" rtlCol="0" anchor="ctr"/>
          <a:lstStyle/>
          <a:p>
            <a:pPr marL="0" indent="0">
              <a:buNone/>
            </a:pPr>
            <a:r>
              <a:rPr lang="en-US" sz="1200" b="1">
                <a:solidFill>
                  <a:srgbClr val="12141C"/>
                </a:solidFill>
                <a:latin typeface="Calibri" pitchFamily="34" charset="0"/>
                <a:ea typeface="Calibri" pitchFamily="34" charset="-122"/>
                <a:cs typeface="Calibri" pitchFamily="34" charset="-120"/>
              </a:rPr>
              <a:t>Human decides</a:t>
            </a:r>
            <a:endParaRPr lang="en-US" sz="1200"/>
          </a:p>
        </p:txBody>
      </p:sp>
      <p:sp>
        <p:nvSpPr>
          <p:cNvPr id="33" name="Text 26"/>
          <p:cNvSpPr/>
          <p:nvPr/>
        </p:nvSpPr>
        <p:spPr>
          <a:xfrm>
            <a:off x="9784080" y="2962656"/>
            <a:ext cx="1755648" cy="1078992"/>
          </a:xfrm>
          <a:prstGeom prst="rect">
            <a:avLst/>
          </a:prstGeom>
          <a:noFill/>
          <a:ln/>
        </p:spPr>
        <p:txBody>
          <a:bodyPr wrap="square" lIns="0" tIns="0" rIns="0" bIns="0" rtlCol="0" anchor="t"/>
          <a:lstStyle/>
          <a:p>
            <a:pPr marL="0" indent="0">
              <a:lnSpc>
                <a:spcPts val="1280"/>
              </a:lnSpc>
              <a:buNone/>
            </a:pPr>
            <a:r>
              <a:rPr lang="en-US" sz="980">
                <a:solidFill>
                  <a:srgbClr val="6B7280"/>
                </a:solidFill>
                <a:latin typeface="Calibri" pitchFamily="34" charset="0"/>
                <a:ea typeface="Calibri" pitchFamily="34" charset="-122"/>
                <a:cs typeface="Calibri" pitchFamily="34" charset="-120"/>
              </a:rPr>
              <a:t>An analyst confirms, dismisses, or escalates — and owns the decision.</a:t>
            </a:r>
            <a:endParaRPr lang="en-US" sz="980"/>
          </a:p>
        </p:txBody>
      </p:sp>
      <p:sp>
        <p:nvSpPr>
          <p:cNvPr id="34" name="Shape 27"/>
          <p:cNvSpPr/>
          <p:nvPr/>
        </p:nvSpPr>
        <p:spPr>
          <a:xfrm>
            <a:off x="566928" y="4370832"/>
            <a:ext cx="11057839" cy="1170432"/>
          </a:xfrm>
          <a:prstGeom prst="roundRect">
            <a:avLst>
              <a:gd name="adj" fmla="val 7031"/>
            </a:avLst>
          </a:prstGeom>
          <a:solidFill>
            <a:srgbClr val="12141C"/>
          </a:solidFill>
          <a:ln/>
        </p:spPr>
        <p:txBody>
          <a:bodyPr/>
          <a:lstStyle/>
          <a:p>
            <a:endParaRPr lang="en-US"/>
          </a:p>
        </p:txBody>
      </p:sp>
      <p:sp>
        <p:nvSpPr>
          <p:cNvPr id="35" name="Text 28"/>
          <p:cNvSpPr/>
          <p:nvPr/>
        </p:nvSpPr>
        <p:spPr>
          <a:xfrm>
            <a:off x="841248" y="4498848"/>
            <a:ext cx="54864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WORKED EXAMPLE  ·  ONE EVENT THROUGH THE PIPELINE</a:t>
            </a:r>
            <a:endParaRPr lang="en-US" sz="900"/>
          </a:p>
        </p:txBody>
      </p:sp>
      <p:sp>
        <p:nvSpPr>
          <p:cNvPr id="36" name="Text 29"/>
          <p:cNvSpPr/>
          <p:nvPr/>
        </p:nvSpPr>
        <p:spPr>
          <a:xfrm>
            <a:off x="841248" y="4773168"/>
            <a:ext cx="219456"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1</a:t>
            </a:r>
            <a:endParaRPr lang="en-US" sz="1050"/>
          </a:p>
        </p:txBody>
      </p:sp>
      <p:sp>
        <p:nvSpPr>
          <p:cNvPr id="37" name="Text 30"/>
          <p:cNvSpPr/>
          <p:nvPr/>
        </p:nvSpPr>
        <p:spPr>
          <a:xfrm>
            <a:off x="1078992" y="4754880"/>
            <a:ext cx="1874520" cy="658368"/>
          </a:xfrm>
          <a:prstGeom prst="rect">
            <a:avLst/>
          </a:prstGeom>
          <a:noFill/>
          <a:ln/>
        </p:spPr>
        <p:txBody>
          <a:bodyPr wrap="square" lIns="0" tIns="0" rIns="0" bIns="0" rtlCol="0" anchor="ctr"/>
          <a:lstStyle/>
          <a:p>
            <a:pPr marL="0" indent="0">
              <a:lnSpc>
                <a:spcPts val="1180"/>
              </a:lnSpc>
              <a:buNone/>
            </a:pPr>
            <a:r>
              <a:rPr lang="en-US" sz="930">
                <a:solidFill>
                  <a:srgbClr val="9AA3B2"/>
                </a:solidFill>
                <a:latin typeface="Calibri" pitchFamily="34" charset="0"/>
                <a:ea typeface="Calibri" pitchFamily="34" charset="-122"/>
                <a:cs typeface="Calibri" pitchFamily="34" charset="-120"/>
              </a:rPr>
              <a:t>A login succeeds at 03:12 from an unfamiliar address.</a:t>
            </a:r>
            <a:endParaRPr lang="en-US" sz="930"/>
          </a:p>
        </p:txBody>
      </p:sp>
      <p:sp>
        <p:nvSpPr>
          <p:cNvPr id="38" name="Text 31"/>
          <p:cNvSpPr/>
          <p:nvPr/>
        </p:nvSpPr>
        <p:spPr>
          <a:xfrm>
            <a:off x="3054096" y="4773168"/>
            <a:ext cx="219456"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2</a:t>
            </a:r>
            <a:endParaRPr lang="en-US" sz="1050"/>
          </a:p>
        </p:txBody>
      </p:sp>
      <p:sp>
        <p:nvSpPr>
          <p:cNvPr id="39" name="Text 32"/>
          <p:cNvSpPr/>
          <p:nvPr/>
        </p:nvSpPr>
        <p:spPr>
          <a:xfrm>
            <a:off x="3291840" y="4754880"/>
            <a:ext cx="1874520" cy="658368"/>
          </a:xfrm>
          <a:prstGeom prst="rect">
            <a:avLst/>
          </a:prstGeom>
          <a:noFill/>
          <a:ln/>
        </p:spPr>
        <p:txBody>
          <a:bodyPr wrap="square" lIns="0" tIns="0" rIns="0" bIns="0" rtlCol="0" anchor="ctr"/>
          <a:lstStyle/>
          <a:p>
            <a:pPr marL="0" indent="0">
              <a:lnSpc>
                <a:spcPts val="1180"/>
              </a:lnSpc>
              <a:buNone/>
            </a:pPr>
            <a:r>
              <a:rPr lang="en-US" sz="930">
                <a:solidFill>
                  <a:srgbClr val="9AA3B2"/>
                </a:solidFill>
                <a:latin typeface="Calibri" pitchFamily="34" charset="0"/>
                <a:ea typeface="Calibri" pitchFamily="34" charset="-122"/>
                <a:cs typeface="Calibri" pitchFamily="34" charset="-120"/>
              </a:rPr>
              <a:t>The model compares it against this account's normal hours, devices, and locations.</a:t>
            </a:r>
            <a:endParaRPr lang="en-US" sz="930"/>
          </a:p>
        </p:txBody>
      </p:sp>
      <p:sp>
        <p:nvSpPr>
          <p:cNvPr id="40" name="Text 33"/>
          <p:cNvSpPr/>
          <p:nvPr/>
        </p:nvSpPr>
        <p:spPr>
          <a:xfrm>
            <a:off x="5266944" y="4773168"/>
            <a:ext cx="219456"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3</a:t>
            </a:r>
            <a:endParaRPr lang="en-US" sz="1050"/>
          </a:p>
        </p:txBody>
      </p:sp>
      <p:sp>
        <p:nvSpPr>
          <p:cNvPr id="41" name="Text 34"/>
          <p:cNvSpPr/>
          <p:nvPr/>
        </p:nvSpPr>
        <p:spPr>
          <a:xfrm>
            <a:off x="5504688" y="4754880"/>
            <a:ext cx="1874520" cy="658368"/>
          </a:xfrm>
          <a:prstGeom prst="rect">
            <a:avLst/>
          </a:prstGeom>
          <a:noFill/>
          <a:ln/>
        </p:spPr>
        <p:txBody>
          <a:bodyPr wrap="square" lIns="0" tIns="0" rIns="0" bIns="0" rtlCol="0" anchor="ctr"/>
          <a:lstStyle/>
          <a:p>
            <a:pPr marL="0" indent="0">
              <a:lnSpc>
                <a:spcPts val="1180"/>
              </a:lnSpc>
              <a:buNone/>
            </a:pPr>
            <a:r>
              <a:rPr lang="en-US" sz="930">
                <a:solidFill>
                  <a:srgbClr val="9AA3B2"/>
                </a:solidFill>
                <a:latin typeface="Calibri" pitchFamily="34" charset="0"/>
                <a:ea typeface="Calibri" pitchFamily="34" charset="-122"/>
                <a:cs typeface="Calibri" pitchFamily="34" charset="-120"/>
              </a:rPr>
              <a:t>It scores high: three attributes are simultaneously unusual.</a:t>
            </a:r>
            <a:endParaRPr lang="en-US" sz="930"/>
          </a:p>
        </p:txBody>
      </p:sp>
      <p:sp>
        <p:nvSpPr>
          <p:cNvPr id="42" name="Text 35"/>
          <p:cNvSpPr/>
          <p:nvPr/>
        </p:nvSpPr>
        <p:spPr>
          <a:xfrm>
            <a:off x="7479792" y="4773168"/>
            <a:ext cx="219456"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4</a:t>
            </a:r>
            <a:endParaRPr lang="en-US" sz="1050"/>
          </a:p>
        </p:txBody>
      </p:sp>
      <p:sp>
        <p:nvSpPr>
          <p:cNvPr id="43" name="Text 36"/>
          <p:cNvSpPr/>
          <p:nvPr/>
        </p:nvSpPr>
        <p:spPr>
          <a:xfrm>
            <a:off x="7717536" y="4754880"/>
            <a:ext cx="1874520" cy="658368"/>
          </a:xfrm>
          <a:prstGeom prst="rect">
            <a:avLst/>
          </a:prstGeom>
          <a:noFill/>
          <a:ln/>
        </p:spPr>
        <p:txBody>
          <a:bodyPr wrap="square" lIns="0" tIns="0" rIns="0" bIns="0" rtlCol="0" anchor="ctr"/>
          <a:lstStyle/>
          <a:p>
            <a:pPr marL="0" indent="0">
              <a:lnSpc>
                <a:spcPts val="1180"/>
              </a:lnSpc>
              <a:buNone/>
            </a:pPr>
            <a:r>
              <a:rPr lang="en-US" sz="930">
                <a:solidFill>
                  <a:srgbClr val="9AA3B2"/>
                </a:solidFill>
                <a:latin typeface="Calibri" pitchFamily="34" charset="0"/>
                <a:ea typeface="Calibri" pitchFamily="34" charset="-122"/>
                <a:cs typeface="Calibri" pitchFamily="34" charset="-120"/>
              </a:rPr>
              <a:t>An alert fires and the session is suspended automatically.</a:t>
            </a:r>
            <a:endParaRPr lang="en-US" sz="930"/>
          </a:p>
        </p:txBody>
      </p:sp>
      <p:sp>
        <p:nvSpPr>
          <p:cNvPr id="44" name="Text 37"/>
          <p:cNvSpPr/>
          <p:nvPr/>
        </p:nvSpPr>
        <p:spPr>
          <a:xfrm>
            <a:off x="9692640" y="4773168"/>
            <a:ext cx="219456"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5</a:t>
            </a:r>
            <a:endParaRPr lang="en-US" sz="1050"/>
          </a:p>
        </p:txBody>
      </p:sp>
      <p:sp>
        <p:nvSpPr>
          <p:cNvPr id="45" name="Text 38"/>
          <p:cNvSpPr/>
          <p:nvPr/>
        </p:nvSpPr>
        <p:spPr>
          <a:xfrm>
            <a:off x="9930384" y="4754880"/>
            <a:ext cx="1874520" cy="658368"/>
          </a:xfrm>
          <a:prstGeom prst="rect">
            <a:avLst/>
          </a:prstGeom>
          <a:noFill/>
          <a:ln/>
        </p:spPr>
        <p:txBody>
          <a:bodyPr wrap="square" lIns="0" tIns="0" rIns="0" bIns="0" rtlCol="0" anchor="ctr"/>
          <a:lstStyle/>
          <a:p>
            <a:pPr marL="0" indent="0">
              <a:lnSpc>
                <a:spcPts val="1180"/>
              </a:lnSpc>
              <a:buNone/>
            </a:pPr>
            <a:r>
              <a:rPr lang="en-US" sz="930">
                <a:solidFill>
                  <a:srgbClr val="9AA3B2"/>
                </a:solidFill>
                <a:latin typeface="Calibri" pitchFamily="34" charset="0"/>
                <a:ea typeface="Calibri" pitchFamily="34" charset="-122"/>
                <a:cs typeface="Calibri" pitchFamily="34" charset="-120"/>
              </a:rPr>
              <a:t>The analyst checks travel records, confirms compromise, and starts recovery.</a:t>
            </a:r>
            <a:endParaRPr lang="en-US" sz="930"/>
          </a:p>
        </p:txBody>
      </p:sp>
      <p:sp>
        <p:nvSpPr>
          <p:cNvPr id="46" name="Text 39"/>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7" name="Text 40"/>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49</a:t>
            </a:r>
            <a:endParaRPr lang="en-US" sz="9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1.5  ·  LIMITS AND TRADE-OFFS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What defensive AI gets wrong</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Naming a limitation is not scepticism — it is the analytical move the exam rewards.</a:t>
            </a:r>
            <a:endParaRPr lang="en-US" sz="1400"/>
          </a:p>
        </p:txBody>
      </p:sp>
      <p:sp>
        <p:nvSpPr>
          <p:cNvPr id="5" name="Shape 3"/>
          <p:cNvSpPr/>
          <p:nvPr/>
        </p:nvSpPr>
        <p:spPr>
          <a:xfrm>
            <a:off x="566928" y="1938528"/>
            <a:ext cx="5394960" cy="1536192"/>
          </a:xfrm>
          <a:prstGeom prst="roundRect">
            <a:avLst>
              <a:gd name="adj" fmla="val 5357"/>
            </a:avLst>
          </a:prstGeom>
          <a:solidFill>
            <a:srgbClr val="F2F4F8"/>
          </a:solidFill>
          <a:ln/>
        </p:spPr>
        <p:txBody>
          <a:bodyPr/>
          <a:lstStyle/>
          <a:p>
            <a:endParaRPr lang="en-US"/>
          </a:p>
        </p:txBody>
      </p:sp>
      <p:sp>
        <p:nvSpPr>
          <p:cNvPr id="6" name="Shape 4"/>
          <p:cNvSpPr/>
          <p:nvPr/>
        </p:nvSpPr>
        <p:spPr>
          <a:xfrm>
            <a:off x="822960" y="2176272"/>
            <a:ext cx="493776" cy="493776"/>
          </a:xfrm>
          <a:prstGeom prst="ellipse">
            <a:avLst/>
          </a:prstGeom>
          <a:solidFill>
            <a:srgbClr val="F2A03D"/>
          </a:solidFill>
          <a:ln/>
        </p:spPr>
        <p:txBody>
          <a:bodyPr/>
          <a:lstStyle/>
          <a:p>
            <a:endParaRPr lang="en-US"/>
          </a:p>
        </p:txBody>
      </p:sp>
      <p:pic>
        <p:nvPicPr>
          <p:cNvPr id="7" name="Image 0" descr="/home/claude/icons/FaCircleXmark_w.png"/>
          <p:cNvPicPr>
            <a:picLocks noChangeAspect="1"/>
          </p:cNvPicPr>
          <p:nvPr/>
        </p:nvPicPr>
        <p:blipFill>
          <a:blip r:embed="rId3"/>
          <a:stretch>
            <a:fillRect/>
          </a:stretch>
        </p:blipFill>
        <p:spPr>
          <a:xfrm>
            <a:off x="951342" y="2304654"/>
            <a:ext cx="237012" cy="237012"/>
          </a:xfrm>
          <a:prstGeom prst="rect">
            <a:avLst/>
          </a:prstGeom>
        </p:spPr>
      </p:pic>
      <p:sp>
        <p:nvSpPr>
          <p:cNvPr id="8" name="Text 5"/>
          <p:cNvSpPr/>
          <p:nvPr/>
        </p:nvSpPr>
        <p:spPr>
          <a:xfrm>
            <a:off x="1426464" y="2194560"/>
            <a:ext cx="42976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False positives</a:t>
            </a:r>
            <a:endParaRPr lang="en-US" sz="1250"/>
          </a:p>
        </p:txBody>
      </p:sp>
      <p:sp>
        <p:nvSpPr>
          <p:cNvPr id="9" name="Text 6"/>
          <p:cNvSpPr/>
          <p:nvPr/>
        </p:nvSpPr>
        <p:spPr>
          <a:xfrm>
            <a:off x="822960" y="2724912"/>
            <a:ext cx="4864608" cy="676656"/>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Harmless activity flagged as malicious. Each one costs analyst time, and a flood of them causes alert fatigue — the state in which real alerts are dismissed because most were noise.</a:t>
            </a:r>
            <a:endParaRPr lang="en-US" sz="1030"/>
          </a:p>
        </p:txBody>
      </p:sp>
      <p:sp>
        <p:nvSpPr>
          <p:cNvPr id="10" name="Shape 7"/>
          <p:cNvSpPr/>
          <p:nvPr/>
        </p:nvSpPr>
        <p:spPr>
          <a:xfrm>
            <a:off x="6190488" y="1938528"/>
            <a:ext cx="5394960" cy="1536192"/>
          </a:xfrm>
          <a:prstGeom prst="roundRect">
            <a:avLst>
              <a:gd name="adj" fmla="val 5357"/>
            </a:avLst>
          </a:prstGeom>
          <a:solidFill>
            <a:srgbClr val="F2F4F8"/>
          </a:solidFill>
          <a:ln/>
        </p:spPr>
        <p:txBody>
          <a:bodyPr/>
          <a:lstStyle/>
          <a:p>
            <a:endParaRPr lang="en-US"/>
          </a:p>
        </p:txBody>
      </p:sp>
      <p:sp>
        <p:nvSpPr>
          <p:cNvPr id="11" name="Shape 8"/>
          <p:cNvSpPr/>
          <p:nvPr/>
        </p:nvSpPr>
        <p:spPr>
          <a:xfrm>
            <a:off x="6446520" y="2176272"/>
            <a:ext cx="493776" cy="493776"/>
          </a:xfrm>
          <a:prstGeom prst="ellipse">
            <a:avLst/>
          </a:prstGeom>
          <a:solidFill>
            <a:srgbClr val="D9483F"/>
          </a:solidFill>
          <a:ln/>
        </p:spPr>
        <p:txBody>
          <a:bodyPr/>
          <a:lstStyle/>
          <a:p>
            <a:endParaRPr lang="en-US"/>
          </a:p>
        </p:txBody>
      </p:sp>
      <p:pic>
        <p:nvPicPr>
          <p:cNvPr id="12" name="Image 1" descr="/home/claude/icons/FaEye_w.png"/>
          <p:cNvPicPr>
            <a:picLocks noChangeAspect="1"/>
          </p:cNvPicPr>
          <p:nvPr/>
        </p:nvPicPr>
        <p:blipFill>
          <a:blip r:embed="rId4"/>
          <a:stretch>
            <a:fillRect/>
          </a:stretch>
        </p:blipFill>
        <p:spPr>
          <a:xfrm>
            <a:off x="6574902" y="2304654"/>
            <a:ext cx="237012" cy="237012"/>
          </a:xfrm>
          <a:prstGeom prst="rect">
            <a:avLst/>
          </a:prstGeom>
        </p:spPr>
      </p:pic>
      <p:sp>
        <p:nvSpPr>
          <p:cNvPr id="13" name="Text 9"/>
          <p:cNvSpPr/>
          <p:nvPr/>
        </p:nvSpPr>
        <p:spPr>
          <a:xfrm>
            <a:off x="7050024" y="2194560"/>
            <a:ext cx="42976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False negatives</a:t>
            </a:r>
            <a:endParaRPr lang="en-US" sz="1250"/>
          </a:p>
        </p:txBody>
      </p:sp>
      <p:sp>
        <p:nvSpPr>
          <p:cNvPr id="14" name="Text 10"/>
          <p:cNvSpPr/>
          <p:nvPr/>
        </p:nvSpPr>
        <p:spPr>
          <a:xfrm>
            <a:off x="6446520" y="2724912"/>
            <a:ext cx="4864608" cy="676656"/>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Genuine attacks that score as normal and are never surfaced. The more an adversary makes their activity resemble ordinary use, the likelier this becomes.</a:t>
            </a:r>
            <a:endParaRPr lang="en-US" sz="1030"/>
          </a:p>
        </p:txBody>
      </p:sp>
      <p:sp>
        <p:nvSpPr>
          <p:cNvPr id="15" name="Shape 11"/>
          <p:cNvSpPr/>
          <p:nvPr/>
        </p:nvSpPr>
        <p:spPr>
          <a:xfrm>
            <a:off x="566928" y="3602736"/>
            <a:ext cx="5394960" cy="1536192"/>
          </a:xfrm>
          <a:prstGeom prst="roundRect">
            <a:avLst>
              <a:gd name="adj" fmla="val 5357"/>
            </a:avLst>
          </a:prstGeom>
          <a:solidFill>
            <a:srgbClr val="F2F4F8"/>
          </a:solidFill>
          <a:ln/>
        </p:spPr>
        <p:txBody>
          <a:bodyPr/>
          <a:lstStyle/>
          <a:p>
            <a:endParaRPr lang="en-US"/>
          </a:p>
        </p:txBody>
      </p:sp>
      <p:sp>
        <p:nvSpPr>
          <p:cNvPr id="16" name="Shape 12"/>
          <p:cNvSpPr/>
          <p:nvPr/>
        </p:nvSpPr>
        <p:spPr>
          <a:xfrm>
            <a:off x="822960" y="3840480"/>
            <a:ext cx="493776" cy="493776"/>
          </a:xfrm>
          <a:prstGeom prst="ellipse">
            <a:avLst/>
          </a:prstGeom>
          <a:solidFill>
            <a:srgbClr val="6A5AC7"/>
          </a:solidFill>
          <a:ln/>
        </p:spPr>
        <p:txBody>
          <a:bodyPr/>
          <a:lstStyle/>
          <a:p>
            <a:endParaRPr lang="en-US"/>
          </a:p>
        </p:txBody>
      </p:sp>
      <p:sp>
        <p:nvSpPr>
          <p:cNvPr id="18" name="Text 13"/>
          <p:cNvSpPr/>
          <p:nvPr/>
        </p:nvSpPr>
        <p:spPr>
          <a:xfrm>
            <a:off x="1426464" y="3858768"/>
            <a:ext cx="42976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Adversarial input</a:t>
            </a:r>
            <a:endParaRPr lang="en-US" sz="1250"/>
          </a:p>
        </p:txBody>
      </p:sp>
      <p:sp>
        <p:nvSpPr>
          <p:cNvPr id="19" name="Text 14"/>
          <p:cNvSpPr/>
          <p:nvPr/>
        </p:nvSpPr>
        <p:spPr>
          <a:xfrm>
            <a:off x="822960" y="4389120"/>
            <a:ext cx="4864608" cy="676656"/>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Attacks designed to be misclassified — activity deliberately shaped to look benign to a detection model that an adversary has studied.</a:t>
            </a:r>
            <a:endParaRPr lang="en-US" sz="1030"/>
          </a:p>
        </p:txBody>
      </p:sp>
      <p:sp>
        <p:nvSpPr>
          <p:cNvPr id="20" name="Shape 15"/>
          <p:cNvSpPr/>
          <p:nvPr/>
        </p:nvSpPr>
        <p:spPr>
          <a:xfrm>
            <a:off x="6190488" y="3602736"/>
            <a:ext cx="5394960" cy="1536192"/>
          </a:xfrm>
          <a:prstGeom prst="roundRect">
            <a:avLst>
              <a:gd name="adj" fmla="val 5357"/>
            </a:avLst>
          </a:prstGeom>
          <a:solidFill>
            <a:srgbClr val="F2F4F8"/>
          </a:solidFill>
          <a:ln/>
        </p:spPr>
        <p:txBody>
          <a:bodyPr/>
          <a:lstStyle/>
          <a:p>
            <a:endParaRPr lang="en-US"/>
          </a:p>
        </p:txBody>
      </p:sp>
      <p:sp>
        <p:nvSpPr>
          <p:cNvPr id="21" name="Shape 16"/>
          <p:cNvSpPr/>
          <p:nvPr/>
        </p:nvSpPr>
        <p:spPr>
          <a:xfrm>
            <a:off x="6446520" y="3840480"/>
            <a:ext cx="493776" cy="493776"/>
          </a:xfrm>
          <a:prstGeom prst="ellipse">
            <a:avLst/>
          </a:prstGeom>
          <a:solidFill>
            <a:srgbClr val="12141C"/>
          </a:solidFill>
          <a:ln/>
        </p:spPr>
        <p:txBody>
          <a:bodyPr/>
          <a:lstStyle/>
          <a:p>
            <a:endParaRPr lang="en-US"/>
          </a:p>
        </p:txBody>
      </p:sp>
      <p:pic>
        <p:nvPicPr>
          <p:cNvPr id="22" name="Image 3" descr="/home/claude/icons/FaBrain_w.png"/>
          <p:cNvPicPr>
            <a:picLocks noChangeAspect="1"/>
          </p:cNvPicPr>
          <p:nvPr/>
        </p:nvPicPr>
        <p:blipFill>
          <a:blip r:embed="rId5"/>
          <a:stretch>
            <a:fillRect/>
          </a:stretch>
        </p:blipFill>
        <p:spPr>
          <a:xfrm>
            <a:off x="6574902" y="3968862"/>
            <a:ext cx="237012" cy="237012"/>
          </a:xfrm>
          <a:prstGeom prst="rect">
            <a:avLst/>
          </a:prstGeom>
        </p:spPr>
      </p:pic>
      <p:sp>
        <p:nvSpPr>
          <p:cNvPr id="23" name="Text 17"/>
          <p:cNvSpPr/>
          <p:nvPr/>
        </p:nvSpPr>
        <p:spPr>
          <a:xfrm>
            <a:off x="7050024" y="3858768"/>
            <a:ext cx="4297680" cy="256032"/>
          </a:xfrm>
          <a:prstGeom prst="rect">
            <a:avLst/>
          </a:prstGeom>
          <a:noFill/>
          <a:ln/>
        </p:spPr>
        <p:txBody>
          <a:bodyPr wrap="square" lIns="0" tIns="0" rIns="0" bIns="0" rtlCol="0" anchor="ctr"/>
          <a:lstStyle/>
          <a:p>
            <a:pPr marL="0" indent="0">
              <a:buNone/>
            </a:pPr>
            <a:r>
              <a:rPr lang="en-US" sz="1250" b="1">
                <a:solidFill>
                  <a:srgbClr val="12141C"/>
                </a:solidFill>
                <a:latin typeface="Calibri" pitchFamily="34" charset="0"/>
                <a:ea typeface="Calibri" pitchFamily="34" charset="-122"/>
                <a:cs typeface="Calibri" pitchFamily="34" charset="-120"/>
              </a:rPr>
              <a:t>Confident errors</a:t>
            </a:r>
            <a:endParaRPr lang="en-US" sz="1250"/>
          </a:p>
        </p:txBody>
      </p:sp>
      <p:sp>
        <p:nvSpPr>
          <p:cNvPr id="24" name="Text 18"/>
          <p:cNvSpPr/>
          <p:nvPr/>
        </p:nvSpPr>
        <p:spPr>
          <a:xfrm>
            <a:off x="6446520" y="4389120"/>
            <a:ext cx="4864608" cy="676656"/>
          </a:xfrm>
          <a:prstGeom prst="rect">
            <a:avLst/>
          </a:prstGeom>
          <a:noFill/>
          <a:ln/>
        </p:spPr>
        <p:txBody>
          <a:bodyPr wrap="square" lIns="0" tIns="0" rIns="0" bIns="0" rtlCol="0" anchor="t"/>
          <a:lstStyle/>
          <a:p>
            <a:pPr marL="0" indent="0">
              <a:lnSpc>
                <a:spcPts val="1340"/>
              </a:lnSpc>
              <a:buNone/>
            </a:pPr>
            <a:r>
              <a:rPr lang="en-US" sz="1030">
                <a:solidFill>
                  <a:srgbClr val="2B303C"/>
                </a:solidFill>
                <a:latin typeface="Calibri" pitchFamily="34" charset="0"/>
                <a:ea typeface="Calibri" pitchFamily="34" charset="-122"/>
                <a:cs typeface="Calibri" pitchFamily="34" charset="-120"/>
              </a:rPr>
              <a:t>Models can produce fluent, plausible output that is simply wrong, including invented details. Investigators of one AI-run intrusion noted the attackers' own tooling fabricated findings.</a:t>
            </a:r>
            <a:endParaRPr lang="en-US" sz="1030"/>
          </a:p>
        </p:txBody>
      </p:sp>
      <p:sp>
        <p:nvSpPr>
          <p:cNvPr id="25" name="Shape 19"/>
          <p:cNvSpPr/>
          <p:nvPr/>
        </p:nvSpPr>
        <p:spPr>
          <a:xfrm>
            <a:off x="566928" y="5358384"/>
            <a:ext cx="11057839" cy="512064"/>
          </a:xfrm>
          <a:prstGeom prst="roundRect">
            <a:avLst>
              <a:gd name="adj" fmla="val 14286"/>
            </a:avLst>
          </a:prstGeom>
          <a:solidFill>
            <a:srgbClr val="12141C"/>
          </a:solidFill>
          <a:ln/>
        </p:spPr>
        <p:txBody>
          <a:bodyPr/>
          <a:lstStyle/>
          <a:p>
            <a:endParaRPr lang="en-US"/>
          </a:p>
        </p:txBody>
      </p:sp>
      <p:pic>
        <p:nvPicPr>
          <p:cNvPr id="26" name="Image 4" descr="/home/claude/icons/FaScaleBalanced_w.png"/>
          <p:cNvPicPr>
            <a:picLocks noChangeAspect="1"/>
          </p:cNvPicPr>
          <p:nvPr/>
        </p:nvPicPr>
        <p:blipFill>
          <a:blip r:embed="rId6"/>
          <a:stretch>
            <a:fillRect/>
          </a:stretch>
        </p:blipFill>
        <p:spPr>
          <a:xfrm>
            <a:off x="768096" y="5500116"/>
            <a:ext cx="228600" cy="228600"/>
          </a:xfrm>
          <a:prstGeom prst="rect">
            <a:avLst/>
          </a:prstGeom>
        </p:spPr>
      </p:pic>
      <p:sp>
        <p:nvSpPr>
          <p:cNvPr id="27" name="Text 20"/>
          <p:cNvSpPr/>
          <p:nvPr/>
        </p:nvSpPr>
        <p:spPr>
          <a:xfrm>
            <a:off x="1133856" y="5358384"/>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The genuine benefit is analyst attention: by removing the harmless majority, AI lets scarce human judgement be spent where it changes the outcome.</a:t>
            </a:r>
            <a:endParaRPr lang="en-US" sz="1150"/>
          </a:p>
        </p:txBody>
      </p:sp>
      <p:sp>
        <p:nvSpPr>
          <p:cNvPr id="28" name="Text 21"/>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9" name="Text 22"/>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50</a:t>
            </a:r>
            <a:endParaRPr lang="en-US" sz="9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66928" y="347472"/>
            <a:ext cx="1481328" cy="274320"/>
          </a:xfrm>
          <a:prstGeom prst="roundRect">
            <a:avLst>
              <a:gd name="adj" fmla="val 20000"/>
            </a:avLst>
          </a:prstGeom>
          <a:solidFill>
            <a:srgbClr val="D9483F"/>
          </a:solidFill>
          <a:ln/>
        </p:spPr>
        <p:txBody>
          <a:bodyPr/>
          <a:lstStyle/>
          <a:p>
            <a:endParaRPr lang="en-US"/>
          </a:p>
        </p:txBody>
      </p:sp>
      <p:sp>
        <p:nvSpPr>
          <p:cNvPr id="3" name="Text 1"/>
          <p:cNvSpPr/>
          <p:nvPr/>
        </p:nvSpPr>
        <p:spPr>
          <a:xfrm>
            <a:off x="566928" y="347472"/>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NEWS CASE</a:t>
            </a:r>
            <a:endParaRPr lang="en-US" sz="950"/>
          </a:p>
        </p:txBody>
      </p:sp>
      <p:sp>
        <p:nvSpPr>
          <p:cNvPr id="4" name="Text 2"/>
          <p:cNvSpPr/>
          <p:nvPr/>
        </p:nvSpPr>
        <p:spPr>
          <a:xfrm>
            <a:off x="2231136" y="347472"/>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IN THE NEWS  ·  TOPIC 1.5</a:t>
            </a:r>
            <a:endParaRPr lang="en-US" sz="1050"/>
          </a:p>
        </p:txBody>
      </p:sp>
      <p:sp>
        <p:nvSpPr>
          <p:cNvPr id="5" name="Text 3"/>
          <p:cNvSpPr/>
          <p:nvPr/>
        </p:nvSpPr>
        <p:spPr>
          <a:xfrm>
            <a:off x="566928" y="768096"/>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An AI agent found the flaw before the attackers used it</a:t>
            </a:r>
            <a:endParaRPr lang="en-US" sz="3000"/>
          </a:p>
        </p:txBody>
      </p:sp>
      <p:sp>
        <p:nvSpPr>
          <p:cNvPr id="6" name="Text 4"/>
          <p:cNvSpPr/>
          <p:nvPr/>
        </p:nvSpPr>
        <p:spPr>
          <a:xfrm>
            <a:off x="566928" y="1417320"/>
            <a:ext cx="11057839" cy="365760"/>
          </a:xfrm>
          <a:prstGeom prst="rect">
            <a:avLst/>
          </a:prstGeom>
          <a:noFill/>
          <a:ln/>
        </p:spPr>
        <p:txBody>
          <a:bodyPr wrap="square" lIns="0" tIns="0" rIns="0" bIns="0" rtlCol="0" anchor="t"/>
          <a:lstStyle/>
          <a:p>
            <a:pPr marL="0" indent="0">
              <a:lnSpc>
                <a:spcPts val="1900"/>
              </a:lnSpc>
              <a:buNone/>
            </a:pPr>
            <a:r>
              <a:rPr lang="en-US" sz="1250" i="1">
                <a:solidFill>
                  <a:srgbClr val="6B7280"/>
                </a:solidFill>
                <a:latin typeface="Calibri" pitchFamily="34" charset="0"/>
                <a:ea typeface="Calibri" pitchFamily="34" charset="-122"/>
                <a:cs typeface="Calibri" pitchFamily="34" charset="-120"/>
              </a:rPr>
              <a:t>Google reported that its Big Sleep agent identified a critical vulnerability that, it said, was known only to threat actors and at risk of being exploited.</a:t>
            </a:r>
            <a:endParaRPr lang="en-US" sz="1250"/>
          </a:p>
        </p:txBody>
      </p:sp>
      <p:sp>
        <p:nvSpPr>
          <p:cNvPr id="7" name="Shape 5"/>
          <p:cNvSpPr/>
          <p:nvPr/>
        </p:nvSpPr>
        <p:spPr>
          <a:xfrm>
            <a:off x="566928" y="2103120"/>
            <a:ext cx="6903720" cy="3401568"/>
          </a:xfrm>
          <a:prstGeom prst="roundRect">
            <a:avLst>
              <a:gd name="adj" fmla="val 2419"/>
            </a:avLst>
          </a:prstGeom>
          <a:solidFill>
            <a:srgbClr val="F2F4F8"/>
          </a:solidFill>
          <a:ln/>
        </p:spPr>
        <p:txBody>
          <a:bodyPr/>
          <a:lstStyle/>
          <a:p>
            <a:endParaRPr lang="en-US"/>
          </a:p>
        </p:txBody>
      </p:sp>
      <p:sp>
        <p:nvSpPr>
          <p:cNvPr id="8" name="Text 6"/>
          <p:cNvSpPr/>
          <p:nvPr/>
        </p:nvSpPr>
        <p:spPr>
          <a:xfrm>
            <a:off x="841248" y="2249424"/>
            <a:ext cx="1417320" cy="237744"/>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The tool</a:t>
            </a:r>
            <a:endParaRPr lang="en-US" sz="1050"/>
          </a:p>
        </p:txBody>
      </p:sp>
      <p:sp>
        <p:nvSpPr>
          <p:cNvPr id="9" name="Text 7"/>
          <p:cNvSpPr/>
          <p:nvPr/>
        </p:nvSpPr>
        <p:spPr>
          <a:xfrm>
            <a:off x="2350008" y="223113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Big Sleep is a vulnerability-research agent built jointly by Google DeepMind and Project Zero. It reads source code looking for memory-safety flaws that traditional automated testing misses.</a:t>
            </a:r>
            <a:endParaRPr lang="en-US" sz="1020"/>
          </a:p>
        </p:txBody>
      </p:sp>
      <p:sp>
        <p:nvSpPr>
          <p:cNvPr id="10" name="Text 8"/>
          <p:cNvSpPr/>
          <p:nvPr/>
        </p:nvSpPr>
        <p:spPr>
          <a:xfrm>
            <a:off x="841248" y="2889504"/>
            <a:ext cx="1417320" cy="237744"/>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The first find</a:t>
            </a:r>
            <a:endParaRPr lang="en-US" sz="1050"/>
          </a:p>
        </p:txBody>
      </p:sp>
      <p:sp>
        <p:nvSpPr>
          <p:cNvPr id="11" name="Text 9"/>
          <p:cNvSpPr/>
          <p:nvPr/>
        </p:nvSpPr>
        <p:spPr>
          <a:xfrm>
            <a:off x="2350008" y="287121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In November 2024 it reported its first real-world vulnerability, in SQLite — an open-source database engine embedded in an enormous number of applications and devices.</a:t>
            </a:r>
            <a:endParaRPr lang="en-US" sz="1020"/>
          </a:p>
        </p:txBody>
      </p:sp>
      <p:sp>
        <p:nvSpPr>
          <p:cNvPr id="12" name="Text 10"/>
          <p:cNvSpPr/>
          <p:nvPr/>
        </p:nvSpPr>
        <p:spPr>
          <a:xfrm>
            <a:off x="841248" y="3529584"/>
            <a:ext cx="1417320" cy="237744"/>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The 2025 case</a:t>
            </a:r>
            <a:endParaRPr lang="en-US" sz="1050"/>
          </a:p>
        </p:txBody>
      </p:sp>
      <p:sp>
        <p:nvSpPr>
          <p:cNvPr id="13" name="Text 11"/>
          <p:cNvSpPr/>
          <p:nvPr/>
        </p:nvSpPr>
        <p:spPr>
          <a:xfrm>
            <a:off x="2350008" y="351129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In July 2025 Google said the agent, directed by threat intelligence about what attackers were likely to target, found CVE-2025-6965 — a memory-corruption flaw in SQLite versions before 3.50.2.</a:t>
            </a:r>
            <a:endParaRPr lang="en-US" sz="1020"/>
          </a:p>
        </p:txBody>
      </p:sp>
      <p:sp>
        <p:nvSpPr>
          <p:cNvPr id="14" name="Text 12"/>
          <p:cNvSpPr/>
          <p:nvPr/>
        </p:nvSpPr>
        <p:spPr>
          <a:xfrm>
            <a:off x="841248" y="4169664"/>
            <a:ext cx="1417320" cy="237744"/>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Why it mattered</a:t>
            </a:r>
            <a:endParaRPr lang="en-US" sz="1050"/>
          </a:p>
        </p:txBody>
      </p:sp>
      <p:sp>
        <p:nvSpPr>
          <p:cNvPr id="15" name="Text 13"/>
          <p:cNvSpPr/>
          <p:nvPr/>
        </p:nvSpPr>
        <p:spPr>
          <a:xfrm>
            <a:off x="2350008" y="415137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Google described this as the first time an AI agent had been used to directly foil an attempt to exploit a vulnerability in the wild: the flaw was fixed before it could be used at scale.</a:t>
            </a:r>
            <a:endParaRPr lang="en-US" sz="1020"/>
          </a:p>
        </p:txBody>
      </p:sp>
      <p:sp>
        <p:nvSpPr>
          <p:cNvPr id="16" name="Text 14"/>
          <p:cNvSpPr/>
          <p:nvPr/>
        </p:nvSpPr>
        <p:spPr>
          <a:xfrm>
            <a:off x="841248" y="4809744"/>
            <a:ext cx="1417320" cy="237744"/>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The pattern</a:t>
            </a:r>
            <a:endParaRPr lang="en-US" sz="1050"/>
          </a:p>
        </p:txBody>
      </p:sp>
      <p:sp>
        <p:nvSpPr>
          <p:cNvPr id="17" name="Text 15"/>
          <p:cNvSpPr/>
          <p:nvPr/>
        </p:nvSpPr>
        <p:spPr>
          <a:xfrm>
            <a:off x="2350008" y="4791456"/>
            <a:ext cx="4937760" cy="603504"/>
          </a:xfrm>
          <a:prstGeom prst="rect">
            <a:avLst/>
          </a:prstGeom>
          <a:noFill/>
          <a:ln/>
        </p:spPr>
        <p:txBody>
          <a:bodyPr wrap="square" lIns="0" tIns="0" rIns="0" bIns="0" rtlCol="0" anchor="t"/>
          <a:lstStyle/>
          <a:p>
            <a:pPr marL="0" indent="0">
              <a:lnSpc>
                <a:spcPts val="1320"/>
              </a:lnSpc>
              <a:buNone/>
            </a:pPr>
            <a:r>
              <a:rPr lang="en-US" sz="1020">
                <a:solidFill>
                  <a:srgbClr val="2B303C"/>
                </a:solidFill>
                <a:latin typeface="Calibri" pitchFamily="34" charset="0"/>
                <a:ea typeface="Calibri" pitchFamily="34" charset="-122"/>
                <a:cs typeface="Calibri" pitchFamily="34" charset="-120"/>
              </a:rPr>
              <a:t>Human threat intelligence chose where to look; the agent did the reading; human engineers validated and shipped the fix. That is 1.5.A.2 exactly.</a:t>
            </a:r>
            <a:endParaRPr lang="en-US" sz="1020"/>
          </a:p>
        </p:txBody>
      </p:sp>
      <p:sp>
        <p:nvSpPr>
          <p:cNvPr id="18" name="Shape 16"/>
          <p:cNvSpPr/>
          <p:nvPr/>
        </p:nvSpPr>
        <p:spPr>
          <a:xfrm>
            <a:off x="7699248" y="2103120"/>
            <a:ext cx="3922776" cy="1700784"/>
          </a:xfrm>
          <a:prstGeom prst="roundRect">
            <a:avLst>
              <a:gd name="adj" fmla="val 4839"/>
            </a:avLst>
          </a:prstGeom>
          <a:solidFill>
            <a:srgbClr val="12141C"/>
          </a:solidFill>
          <a:ln/>
        </p:spPr>
        <p:txBody>
          <a:bodyPr/>
          <a:lstStyle/>
          <a:p>
            <a:endParaRPr lang="en-US"/>
          </a:p>
        </p:txBody>
      </p:sp>
      <p:sp>
        <p:nvSpPr>
          <p:cNvPr id="19" name="Text 17"/>
          <p:cNvSpPr/>
          <p:nvPr/>
        </p:nvSpPr>
        <p:spPr>
          <a:xfrm>
            <a:off x="7955280" y="2249424"/>
            <a:ext cx="36576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THE DEFENDER'S ADVANTAGE</a:t>
            </a:r>
            <a:endParaRPr lang="en-US" sz="900"/>
          </a:p>
        </p:txBody>
      </p:sp>
      <p:sp>
        <p:nvSpPr>
          <p:cNvPr id="20" name="Text 18"/>
          <p:cNvSpPr/>
          <p:nvPr/>
        </p:nvSpPr>
        <p:spPr>
          <a:xfrm>
            <a:off x="7955280" y="2560320"/>
            <a:ext cx="3429000" cy="1097280"/>
          </a:xfrm>
          <a:prstGeom prst="rect">
            <a:avLst/>
          </a:prstGeom>
          <a:noFill/>
          <a:ln/>
        </p:spPr>
        <p:txBody>
          <a:bodyPr wrap="square" lIns="0" tIns="0" rIns="0" bIns="0" rtlCol="0" anchor="t"/>
          <a:lstStyle/>
          <a:p>
            <a:pPr marL="0" indent="0">
              <a:lnSpc>
                <a:spcPts val="1360"/>
              </a:lnSpc>
              <a:buNone/>
            </a:pPr>
            <a:r>
              <a:rPr lang="en-US" sz="1030">
                <a:solidFill>
                  <a:srgbClr val="9AA3B2"/>
                </a:solidFill>
                <a:latin typeface="Calibri" pitchFamily="34" charset="0"/>
                <a:ea typeface="Calibri" pitchFamily="34" charset="-122"/>
                <a:cs typeface="Calibri" pitchFamily="34" charset="-120"/>
              </a:rPr>
              <a:t>Attack and defence use the same capability — reading code at scale to find flaws. The difference is what happens next: a defender reports and patches, an adversary weaponises. Whoever reads the code first decides which of those occurs.</a:t>
            </a:r>
            <a:endParaRPr lang="en-US" sz="1030"/>
          </a:p>
        </p:txBody>
      </p:sp>
      <p:sp>
        <p:nvSpPr>
          <p:cNvPr id="21" name="Shape 19"/>
          <p:cNvSpPr/>
          <p:nvPr/>
        </p:nvSpPr>
        <p:spPr>
          <a:xfrm>
            <a:off x="7699248" y="3968496"/>
            <a:ext cx="3922776" cy="1536192"/>
          </a:xfrm>
          <a:prstGeom prst="roundRect">
            <a:avLst>
              <a:gd name="adj" fmla="val 5357"/>
            </a:avLst>
          </a:prstGeom>
          <a:solidFill>
            <a:srgbClr val="E6F5F3"/>
          </a:solidFill>
          <a:ln/>
        </p:spPr>
        <p:txBody>
          <a:bodyPr/>
          <a:lstStyle/>
          <a:p>
            <a:endParaRPr lang="en-US"/>
          </a:p>
        </p:txBody>
      </p:sp>
      <p:sp>
        <p:nvSpPr>
          <p:cNvPr id="22" name="Text 20"/>
          <p:cNvSpPr/>
          <p:nvPr/>
        </p:nvSpPr>
        <p:spPr>
          <a:xfrm>
            <a:off x="7955280" y="4096512"/>
            <a:ext cx="3291840" cy="201168"/>
          </a:xfrm>
          <a:prstGeom prst="rect">
            <a:avLst/>
          </a:prstGeom>
          <a:noFill/>
          <a:ln/>
        </p:spPr>
        <p:txBody>
          <a:bodyPr wrap="square" lIns="0" tIns="0" rIns="0" bIns="0" rtlCol="0" anchor="ctr"/>
          <a:lstStyle/>
          <a:p>
            <a:pPr marL="0" indent="0">
              <a:buNone/>
            </a:pPr>
            <a:r>
              <a:rPr lang="en-US" sz="900" b="1" kern="0" spc="120">
                <a:solidFill>
                  <a:srgbClr val="16786D"/>
                </a:solidFill>
                <a:latin typeface="Calibri" pitchFamily="34" charset="0"/>
                <a:ea typeface="Calibri" pitchFamily="34" charset="-122"/>
                <a:cs typeface="Calibri" pitchFamily="34" charset="-120"/>
              </a:rPr>
              <a:t>DISCUSSION</a:t>
            </a:r>
            <a:endParaRPr lang="en-US" sz="900"/>
          </a:p>
        </p:txBody>
      </p:sp>
      <p:sp>
        <p:nvSpPr>
          <p:cNvPr id="23" name="Text 21"/>
          <p:cNvSpPr/>
          <p:nvPr/>
        </p:nvSpPr>
        <p:spPr>
          <a:xfrm>
            <a:off x="7955280" y="4352544"/>
            <a:ext cx="3429000" cy="1005840"/>
          </a:xfrm>
          <a:prstGeom prst="rect">
            <a:avLst/>
          </a:prstGeom>
          <a:noFill/>
          <a:ln/>
        </p:spPr>
        <p:txBody>
          <a:bodyPr wrap="square" lIns="0" tIns="0" rIns="0" bIns="0" rtlCol="0" anchor="t"/>
          <a:lstStyle/>
          <a:p>
            <a:pPr marL="0" indent="0">
              <a:lnSpc>
                <a:spcPts val="1360"/>
              </a:lnSpc>
              <a:buNone/>
            </a:pPr>
            <a:r>
              <a:rPr lang="en-US" sz="1040">
                <a:solidFill>
                  <a:srgbClr val="2B303C"/>
                </a:solidFill>
                <a:latin typeface="Calibri" pitchFamily="34" charset="0"/>
                <a:ea typeface="Calibri" pitchFamily="34" charset="-122"/>
                <a:cs typeface="Calibri" pitchFamily="34" charset="-120"/>
              </a:rPr>
              <a:t>If an AI agent can find zero-day vulnerabilities in widely used software, who should be allowed to run one — and what obligations should come with a discovery? Consider the software's maintainers, its users, and the finder.</a:t>
            </a:r>
            <a:endParaRPr lang="en-US" sz="1040"/>
          </a:p>
        </p:txBody>
      </p:sp>
      <p:sp>
        <p:nvSpPr>
          <p:cNvPr id="24" name="Shape 22"/>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25" name="Image 0" descr="/home/claude/icons/FaNewspaper_w.png"/>
          <p:cNvPicPr>
            <a:picLocks noChangeAspect="1"/>
          </p:cNvPicPr>
          <p:nvPr/>
        </p:nvPicPr>
        <p:blipFill>
          <a:blip r:embed="rId3"/>
          <a:stretch>
            <a:fillRect/>
          </a:stretch>
        </p:blipFill>
        <p:spPr>
          <a:xfrm>
            <a:off x="768096" y="5811012"/>
            <a:ext cx="228600" cy="228600"/>
          </a:xfrm>
          <a:prstGeom prst="rect">
            <a:avLst/>
          </a:prstGeom>
        </p:spPr>
      </p:pic>
      <p:sp>
        <p:nvSpPr>
          <p:cNvPr id="26" name="Text 23"/>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Sources: Google Project Zero and DeepMind announcements (Nov 2024; July 2025) · SQLite advisory for CVE-2025-6965 · reporting by The Hacker News and SecurityWeek.</a:t>
            </a:r>
            <a:endParaRPr lang="en-US" sz="1150"/>
          </a:p>
        </p:txBody>
      </p:sp>
      <p:sp>
        <p:nvSpPr>
          <p:cNvPr id="27" name="Text 24"/>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8" name="Text 25"/>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51</a:t>
            </a:r>
            <a:endParaRPr lang="en-US" sz="9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566928" y="347472"/>
            <a:ext cx="1481328" cy="274320"/>
          </a:xfrm>
          <a:prstGeom prst="roundRect">
            <a:avLst>
              <a:gd name="adj" fmla="val 20000"/>
            </a:avLst>
          </a:prstGeom>
          <a:solidFill>
            <a:srgbClr val="D9483F"/>
          </a:solidFill>
          <a:ln/>
        </p:spPr>
        <p:txBody>
          <a:bodyPr/>
          <a:lstStyle/>
          <a:p>
            <a:endParaRPr lang="en-US"/>
          </a:p>
        </p:txBody>
      </p:sp>
      <p:sp>
        <p:nvSpPr>
          <p:cNvPr id="3" name="Text 1"/>
          <p:cNvSpPr/>
          <p:nvPr/>
        </p:nvSpPr>
        <p:spPr>
          <a:xfrm>
            <a:off x="566928" y="347472"/>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NEWS CASE</a:t>
            </a:r>
            <a:endParaRPr lang="en-US" sz="950"/>
          </a:p>
        </p:txBody>
      </p:sp>
      <p:sp>
        <p:nvSpPr>
          <p:cNvPr id="4" name="Text 2"/>
          <p:cNvSpPr/>
          <p:nvPr/>
        </p:nvSpPr>
        <p:spPr>
          <a:xfrm>
            <a:off x="2231136" y="347472"/>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IN THE NEWS  ·  TOPICS 1.4 AND 1.5</a:t>
            </a:r>
            <a:endParaRPr lang="en-US" sz="1050"/>
          </a:p>
        </p:txBody>
      </p:sp>
      <p:sp>
        <p:nvSpPr>
          <p:cNvPr id="5" name="Text 3"/>
          <p:cNvSpPr/>
          <p:nvPr/>
        </p:nvSpPr>
        <p:spPr>
          <a:xfrm>
            <a:off x="566928" y="768096"/>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The first reported AI-orchestrated intrusion campaign</a:t>
            </a:r>
            <a:endParaRPr lang="en-US" sz="3000"/>
          </a:p>
        </p:txBody>
      </p:sp>
      <p:sp>
        <p:nvSpPr>
          <p:cNvPr id="6" name="Text 4"/>
          <p:cNvSpPr/>
          <p:nvPr/>
        </p:nvSpPr>
        <p:spPr>
          <a:xfrm>
            <a:off x="566928" y="1417320"/>
            <a:ext cx="11057839" cy="365760"/>
          </a:xfrm>
          <a:prstGeom prst="rect">
            <a:avLst/>
          </a:prstGeom>
          <a:noFill/>
          <a:ln/>
        </p:spPr>
        <p:txBody>
          <a:bodyPr wrap="square" lIns="0" tIns="0" rIns="0" bIns="0" rtlCol="0" anchor="t"/>
          <a:lstStyle/>
          <a:p>
            <a:pPr marL="0" indent="0">
              <a:lnSpc>
                <a:spcPts val="1900"/>
              </a:lnSpc>
              <a:buNone/>
            </a:pPr>
            <a:r>
              <a:rPr lang="en-US" sz="1250" i="1">
                <a:solidFill>
                  <a:srgbClr val="6B7280"/>
                </a:solidFill>
                <a:latin typeface="Calibri" pitchFamily="34" charset="0"/>
                <a:ea typeface="Calibri" pitchFamily="34" charset="-122"/>
                <a:cs typeface="Calibri" pitchFamily="34" charset="-120"/>
              </a:rPr>
              <a:t>In November 2025 Anthropic published an account of a cyber-espionage operation in which AI agents, not humans, carried out most of the work.</a:t>
            </a:r>
            <a:endParaRPr lang="en-US" sz="1250"/>
          </a:p>
        </p:txBody>
      </p:sp>
      <p:sp>
        <p:nvSpPr>
          <p:cNvPr id="7" name="Shape 5"/>
          <p:cNvSpPr/>
          <p:nvPr/>
        </p:nvSpPr>
        <p:spPr>
          <a:xfrm>
            <a:off x="566928" y="2103120"/>
            <a:ext cx="5806440" cy="3401568"/>
          </a:xfrm>
          <a:prstGeom prst="roundRect">
            <a:avLst>
              <a:gd name="adj" fmla="val 2419"/>
            </a:avLst>
          </a:prstGeom>
          <a:solidFill>
            <a:srgbClr val="F2F4F8"/>
          </a:solidFill>
          <a:ln/>
        </p:spPr>
        <p:txBody>
          <a:bodyPr/>
          <a:lstStyle/>
          <a:p>
            <a:endParaRPr lang="en-US"/>
          </a:p>
        </p:txBody>
      </p:sp>
      <p:sp>
        <p:nvSpPr>
          <p:cNvPr id="8" name="Text 6"/>
          <p:cNvSpPr/>
          <p:nvPr/>
        </p:nvSpPr>
        <p:spPr>
          <a:xfrm>
            <a:off x="841248" y="2267712"/>
            <a:ext cx="4572000" cy="256032"/>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What was reported</a:t>
            </a:r>
            <a:endParaRPr lang="en-US" sz="1300"/>
          </a:p>
        </p:txBody>
      </p:sp>
      <p:sp>
        <p:nvSpPr>
          <p:cNvPr id="9" name="Text 7"/>
          <p:cNvSpPr/>
          <p:nvPr/>
        </p:nvSpPr>
        <p:spPr>
          <a:xfrm>
            <a:off x="841248" y="2633472"/>
            <a:ext cx="5303520" cy="2743200"/>
          </a:xfrm>
          <a:prstGeom prst="rect">
            <a:avLst/>
          </a:prstGeom>
          <a:noFill/>
          <a:ln/>
        </p:spPr>
        <p:txBody>
          <a:bodyPr wrap="square" lIns="0" tIns="0" rIns="0" bIns="0" rtlCol="0" anchor="t"/>
          <a:lstStyle/>
          <a:p>
            <a:pPr marL="177800" indent="-177800">
              <a:lnSpc>
                <a:spcPts val="1650"/>
              </a:lnSpc>
              <a:spcAft>
                <a:spcPts val="700"/>
              </a:spcAft>
              <a:buSzPct val="100000"/>
              <a:buChar char="▪"/>
            </a:pPr>
            <a:r>
              <a:rPr lang="en-US" sz="1040">
                <a:solidFill>
                  <a:srgbClr val="2B303C"/>
                </a:solidFill>
                <a:latin typeface="Calibri" pitchFamily="34" charset="0"/>
                <a:ea typeface="Calibri" pitchFamily="34" charset="-122"/>
                <a:cs typeface="Calibri" pitchFamily="34" charset="-120"/>
              </a:rPr>
              <a:t>A state-sponsored group, designated GTG-1002, was assessed to have run intrusions against roughly 30 organisations; a small number succeeded.</a:t>
            </a:r>
            <a:endParaRPr lang="en-US" sz="1040"/>
          </a:p>
          <a:p>
            <a:pPr marL="177800" indent="-177800">
              <a:lnSpc>
                <a:spcPts val="1650"/>
              </a:lnSpc>
              <a:spcAft>
                <a:spcPts val="700"/>
              </a:spcAft>
              <a:buSzPct val="100000"/>
              <a:buChar char="▪"/>
            </a:pPr>
            <a:r>
              <a:rPr lang="en-US" sz="1040">
                <a:solidFill>
                  <a:srgbClr val="2B303C"/>
                </a:solidFill>
                <a:latin typeface="Calibri" pitchFamily="34" charset="0"/>
                <a:ea typeface="Calibri" pitchFamily="34" charset="-122"/>
                <a:cs typeface="Calibri" pitchFamily="34" charset="-120"/>
              </a:rPr>
              <a:t>The operators manipulated an AI coding tool into believing it was performing authorised defensive security testing, then tasked groups of agents with the work.</a:t>
            </a:r>
            <a:endParaRPr lang="en-US" sz="1040"/>
          </a:p>
          <a:p>
            <a:pPr marL="177800" indent="-177800">
              <a:lnSpc>
                <a:spcPts val="1650"/>
              </a:lnSpc>
              <a:spcAft>
                <a:spcPts val="700"/>
              </a:spcAft>
              <a:buSzPct val="100000"/>
              <a:buChar char="▪"/>
            </a:pPr>
            <a:r>
              <a:rPr lang="en-US" sz="1040">
                <a:solidFill>
                  <a:srgbClr val="2B303C"/>
                </a:solidFill>
                <a:latin typeface="Calibri" pitchFamily="34" charset="0"/>
                <a:ea typeface="Calibri" pitchFamily="34" charset="-122"/>
                <a:cs typeface="Calibri" pitchFamily="34" charset="-120"/>
              </a:rPr>
              <a:t>Between 80 and 90 percent of the tactical operations — reconnaissance, vulnerability discovery, exploitation, credential harvesting, lateral movement, data analysis — ran without step-by-step human direction.</a:t>
            </a:r>
            <a:endParaRPr lang="en-US" sz="1040"/>
          </a:p>
          <a:p>
            <a:pPr marL="177800" indent="-177800">
              <a:lnSpc>
                <a:spcPts val="1650"/>
              </a:lnSpc>
              <a:spcAft>
                <a:spcPts val="700"/>
              </a:spcAft>
              <a:buSzPct val="100000"/>
              <a:buChar char="▪"/>
            </a:pPr>
            <a:r>
              <a:rPr lang="en-US" sz="1040">
                <a:solidFill>
                  <a:srgbClr val="2B303C"/>
                </a:solidFill>
                <a:latin typeface="Calibri" pitchFamily="34" charset="0"/>
                <a:ea typeface="Calibri" pitchFamily="34" charset="-122"/>
                <a:cs typeface="Calibri" pitchFamily="34" charset="-120"/>
              </a:rPr>
              <a:t>Humans stayed in the loop as approvers at key decision points rather than as operators.</a:t>
            </a:r>
            <a:endParaRPr lang="en-US" sz="1040"/>
          </a:p>
          <a:p>
            <a:pPr marL="177800" indent="-177800">
              <a:lnSpc>
                <a:spcPts val="1650"/>
              </a:lnSpc>
              <a:spcAft>
                <a:spcPts val="700"/>
              </a:spcAft>
              <a:buSzPct val="100000"/>
              <a:buChar char="▪"/>
            </a:pPr>
            <a:r>
              <a:rPr lang="en-US" sz="1040">
                <a:solidFill>
                  <a:srgbClr val="2B303C"/>
                </a:solidFill>
                <a:latin typeface="Calibri" pitchFamily="34" charset="0"/>
                <a:ea typeface="Calibri" pitchFamily="34" charset="-122"/>
                <a:cs typeface="Calibri" pitchFamily="34" charset="-120"/>
              </a:rPr>
              <a:t>Investigators noted a real limitation: the agents sometimes fabricated findings, inventing credentials or presenting public information as a discovery.</a:t>
            </a:r>
            <a:endParaRPr lang="en-US" sz="1040"/>
          </a:p>
        </p:txBody>
      </p:sp>
      <p:sp>
        <p:nvSpPr>
          <p:cNvPr id="10" name="Shape 8"/>
          <p:cNvSpPr/>
          <p:nvPr/>
        </p:nvSpPr>
        <p:spPr>
          <a:xfrm>
            <a:off x="6675120" y="2103120"/>
            <a:ext cx="4946904" cy="1645920"/>
          </a:xfrm>
          <a:prstGeom prst="roundRect">
            <a:avLst>
              <a:gd name="adj" fmla="val 5000"/>
            </a:avLst>
          </a:prstGeom>
          <a:solidFill>
            <a:srgbClr val="12141C"/>
          </a:solidFill>
          <a:ln/>
        </p:spPr>
        <p:txBody>
          <a:bodyPr/>
          <a:lstStyle/>
          <a:p>
            <a:endParaRPr lang="en-US"/>
          </a:p>
        </p:txBody>
      </p:sp>
      <p:sp>
        <p:nvSpPr>
          <p:cNvPr id="11" name="Text 9"/>
          <p:cNvSpPr/>
          <p:nvPr/>
        </p:nvSpPr>
        <p:spPr>
          <a:xfrm>
            <a:off x="6931152" y="2249424"/>
            <a:ext cx="411480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WHY BOTH TOPICS MEET HERE</a:t>
            </a:r>
            <a:endParaRPr lang="en-US" sz="900"/>
          </a:p>
        </p:txBody>
      </p:sp>
      <p:sp>
        <p:nvSpPr>
          <p:cNvPr id="12" name="Text 10"/>
          <p:cNvSpPr/>
          <p:nvPr/>
        </p:nvSpPr>
        <p:spPr>
          <a:xfrm>
            <a:off x="6931152" y="2560320"/>
            <a:ext cx="4434840" cy="1097280"/>
          </a:xfrm>
          <a:prstGeom prst="rect">
            <a:avLst/>
          </a:prstGeom>
          <a:noFill/>
          <a:ln/>
        </p:spPr>
        <p:txBody>
          <a:bodyPr wrap="square" lIns="0" tIns="0" rIns="0" bIns="0" rtlCol="0" anchor="t"/>
          <a:lstStyle/>
          <a:p>
            <a:pPr marL="0" indent="0">
              <a:lnSpc>
                <a:spcPts val="1380"/>
              </a:lnSpc>
              <a:buNone/>
            </a:pPr>
            <a:r>
              <a:rPr lang="en-US" sz="1040">
                <a:solidFill>
                  <a:srgbClr val="9AA3B2"/>
                </a:solidFill>
                <a:latin typeface="Calibri" pitchFamily="34" charset="0"/>
                <a:ea typeface="Calibri" pitchFamily="34" charset="-122"/>
                <a:cs typeface="Calibri" pitchFamily="34" charset="-120"/>
              </a:rPr>
              <a:t>Topic 1.4 said AI makes existing attacks faster and cheaper. This case shows how far that scales: requests at a rate no human team could sustain. Topic 1.5 supplies the only workable answer — defence that also runs at machine speed, with humans deciding rather than reading.</a:t>
            </a:r>
            <a:endParaRPr lang="en-US" sz="1040"/>
          </a:p>
        </p:txBody>
      </p:sp>
      <p:sp>
        <p:nvSpPr>
          <p:cNvPr id="13" name="Shape 11"/>
          <p:cNvSpPr/>
          <p:nvPr/>
        </p:nvSpPr>
        <p:spPr>
          <a:xfrm>
            <a:off x="6675120" y="3913632"/>
            <a:ext cx="4946904" cy="1591056"/>
          </a:xfrm>
          <a:prstGeom prst="roundRect">
            <a:avLst>
              <a:gd name="adj" fmla="val 5172"/>
            </a:avLst>
          </a:prstGeom>
          <a:solidFill>
            <a:srgbClr val="FDF2E2"/>
          </a:solidFill>
          <a:ln/>
        </p:spPr>
        <p:txBody>
          <a:bodyPr/>
          <a:lstStyle/>
          <a:p>
            <a:endParaRPr lang="en-US"/>
          </a:p>
        </p:txBody>
      </p:sp>
      <p:sp>
        <p:nvSpPr>
          <p:cNvPr id="14" name="Text 12"/>
          <p:cNvSpPr/>
          <p:nvPr/>
        </p:nvSpPr>
        <p:spPr>
          <a:xfrm>
            <a:off x="6931152" y="4041648"/>
            <a:ext cx="4114800" cy="201168"/>
          </a:xfrm>
          <a:prstGeom prst="rect">
            <a:avLst/>
          </a:prstGeom>
          <a:noFill/>
          <a:ln/>
        </p:spPr>
        <p:txBody>
          <a:bodyPr wrap="square" lIns="0" tIns="0" rIns="0" bIns="0" rtlCol="0" anchor="ctr"/>
          <a:lstStyle/>
          <a:p>
            <a:pPr marL="0" indent="0">
              <a:buNone/>
            </a:pPr>
            <a:r>
              <a:rPr lang="en-US" sz="900" b="1" kern="0" spc="120">
                <a:solidFill>
                  <a:srgbClr val="B9721F"/>
                </a:solidFill>
                <a:latin typeface="Calibri" pitchFamily="34" charset="0"/>
                <a:ea typeface="Calibri" pitchFamily="34" charset="-122"/>
                <a:cs typeface="Calibri" pitchFamily="34" charset="-120"/>
              </a:rPr>
              <a:t>READ THE EVIDENCE CAREFULLY</a:t>
            </a:r>
            <a:endParaRPr lang="en-US" sz="900"/>
          </a:p>
        </p:txBody>
      </p:sp>
      <p:sp>
        <p:nvSpPr>
          <p:cNvPr id="15" name="Text 13"/>
          <p:cNvSpPr/>
          <p:nvPr/>
        </p:nvSpPr>
        <p:spPr>
          <a:xfrm>
            <a:off x="6931152" y="4315968"/>
            <a:ext cx="4434840" cy="1097280"/>
          </a:xfrm>
          <a:prstGeom prst="rect">
            <a:avLst/>
          </a:prstGeom>
          <a:noFill/>
          <a:ln/>
        </p:spPr>
        <p:txBody>
          <a:bodyPr wrap="square" lIns="0" tIns="0" rIns="0" bIns="0" rtlCol="0" anchor="t"/>
          <a:lstStyle/>
          <a:p>
            <a:pPr marL="0" indent="0">
              <a:lnSpc>
                <a:spcPts val="1380"/>
              </a:lnSpc>
              <a:buNone/>
            </a:pPr>
            <a:r>
              <a:rPr lang="en-US" sz="1040">
                <a:solidFill>
                  <a:srgbClr val="2B303C"/>
                </a:solidFill>
                <a:latin typeface="Calibri" pitchFamily="34" charset="0"/>
                <a:ea typeface="Calibri" pitchFamily="34" charset="-122"/>
                <a:cs typeface="Calibri" pitchFamily="34" charset="-120"/>
              </a:rPr>
              <a:t>This account comes from the vendor whose product was misused, and independent researchers debated how much of the work was genuinely autonomous. A good analyst reports the claim, names the source, and marks what is contested — exactly the habit the free-response section rewards.</a:t>
            </a:r>
            <a:endParaRPr lang="en-US" sz="1040"/>
          </a:p>
        </p:txBody>
      </p:sp>
      <p:sp>
        <p:nvSpPr>
          <p:cNvPr id="16" name="Shape 14"/>
          <p:cNvSpPr/>
          <p:nvPr/>
        </p:nvSpPr>
        <p:spPr>
          <a:xfrm>
            <a:off x="566928" y="5669280"/>
            <a:ext cx="11057839" cy="512064"/>
          </a:xfrm>
          <a:prstGeom prst="roundRect">
            <a:avLst>
              <a:gd name="adj" fmla="val 14286"/>
            </a:avLst>
          </a:prstGeom>
          <a:solidFill>
            <a:srgbClr val="12141C"/>
          </a:solidFill>
          <a:ln/>
        </p:spPr>
        <p:txBody>
          <a:bodyPr/>
          <a:lstStyle/>
          <a:p>
            <a:endParaRPr lang="en-US"/>
          </a:p>
        </p:txBody>
      </p:sp>
      <p:pic>
        <p:nvPicPr>
          <p:cNvPr id="17" name="Image 0" descr="/home/claude/icons/FaNewspaper_w.png"/>
          <p:cNvPicPr>
            <a:picLocks noChangeAspect="1"/>
          </p:cNvPicPr>
          <p:nvPr/>
        </p:nvPicPr>
        <p:blipFill>
          <a:blip r:embed="rId3"/>
          <a:stretch>
            <a:fillRect/>
          </a:stretch>
        </p:blipFill>
        <p:spPr>
          <a:xfrm>
            <a:off x="768096" y="5811012"/>
            <a:ext cx="228600" cy="228600"/>
          </a:xfrm>
          <a:prstGeom prst="rect">
            <a:avLst/>
          </a:prstGeom>
        </p:spPr>
      </p:pic>
      <p:sp>
        <p:nvSpPr>
          <p:cNvPr id="18" name="Text 15"/>
          <p:cNvSpPr/>
          <p:nvPr/>
        </p:nvSpPr>
        <p:spPr>
          <a:xfrm>
            <a:off x="1133856" y="5669280"/>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Sources: Anthropic threat intelligence report, November 2025 · subsequent analysis by The Hacker News, ExtraHop and others.</a:t>
            </a:r>
            <a:endParaRPr lang="en-US" sz="1150"/>
          </a:p>
        </p:txBody>
      </p:sp>
      <p:sp>
        <p:nvSpPr>
          <p:cNvPr id="19" name="Text 1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0" name="Text 1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52</a:t>
            </a:r>
            <a:endParaRPr lang="en-US" sz="9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566928" y="384048"/>
            <a:ext cx="1737360" cy="274320"/>
          </a:xfrm>
          <a:prstGeom prst="roundRect">
            <a:avLst>
              <a:gd name="adj" fmla="val 20000"/>
            </a:avLst>
          </a:prstGeom>
          <a:solidFill>
            <a:srgbClr val="1FA697"/>
          </a:solidFill>
          <a:ln/>
        </p:spPr>
        <p:txBody>
          <a:bodyPr/>
          <a:lstStyle/>
          <a:p>
            <a:endParaRPr lang="en-US"/>
          </a:p>
        </p:txBody>
      </p:sp>
      <p:sp>
        <p:nvSpPr>
          <p:cNvPr id="3" name="Text 1"/>
          <p:cNvSpPr/>
          <p:nvPr/>
        </p:nvSpPr>
        <p:spPr>
          <a:xfrm>
            <a:off x="566928" y="384048"/>
            <a:ext cx="1737360" cy="274320"/>
          </a:xfrm>
          <a:prstGeom prst="rect">
            <a:avLst/>
          </a:prstGeom>
          <a:noFill/>
          <a:ln/>
        </p:spPr>
        <p:txBody>
          <a:bodyPr wrap="square" lIns="0" tIns="0" rIns="0" bIns="0" rtlCol="0" anchor="ctr"/>
          <a:lstStyle/>
          <a:p>
            <a:pPr marL="0" indent="0" algn="ctr">
              <a:buNone/>
            </a:pPr>
            <a:r>
              <a:rPr lang="en-US" sz="950" b="1" kern="0" spc="100">
                <a:solidFill>
                  <a:srgbClr val="12141C"/>
                </a:solidFill>
                <a:latin typeface="Calibri" pitchFamily="34" charset="0"/>
                <a:ea typeface="Calibri" pitchFamily="34" charset="-122"/>
                <a:cs typeface="Calibri" pitchFamily="34" charset="-120"/>
              </a:rPr>
              <a:t>SCENARIO 1E</a:t>
            </a:r>
            <a:endParaRPr lang="en-US" sz="950"/>
          </a:p>
        </p:txBody>
      </p:sp>
      <p:sp>
        <p:nvSpPr>
          <p:cNvPr id="4" name="Text 2"/>
          <p:cNvSpPr/>
          <p:nvPr/>
        </p:nvSpPr>
        <p:spPr>
          <a:xfrm>
            <a:off x="2487168" y="384048"/>
            <a:ext cx="7315200" cy="274320"/>
          </a:xfrm>
          <a:prstGeom prst="rect">
            <a:avLst/>
          </a:prstGeom>
          <a:noFill/>
          <a:ln/>
        </p:spPr>
        <p:txBody>
          <a:bodyPr wrap="square" lIns="0" tIns="0" rIns="0" bIns="0" rtlCol="0" anchor="ctr"/>
          <a:lstStyle/>
          <a:p>
            <a:pPr marL="0" indent="0">
              <a:buNone/>
            </a:pPr>
            <a:r>
              <a:rPr lang="en-US" sz="950" b="1" kern="0" spc="130">
                <a:solidFill>
                  <a:srgbClr val="9AA3B2"/>
                </a:solidFill>
                <a:latin typeface="Calibri" pitchFamily="34" charset="0"/>
                <a:ea typeface="Calibri" pitchFamily="34" charset="-122"/>
                <a:cs typeface="Calibri" pitchFamily="34" charset="-120"/>
              </a:rPr>
              <a:t>FROM THE COURSE AND EXAM DESCRIPTION</a:t>
            </a:r>
            <a:endParaRPr lang="en-US" sz="950"/>
          </a:p>
        </p:txBody>
      </p:sp>
      <p:sp>
        <p:nvSpPr>
          <p:cNvPr id="5" name="Text 3"/>
          <p:cNvSpPr/>
          <p:nvPr/>
        </p:nvSpPr>
        <p:spPr>
          <a:xfrm>
            <a:off x="566928" y="841248"/>
            <a:ext cx="10058400" cy="54864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AI-Powered Cyber Defense</a:t>
            </a:r>
            <a:endParaRPr lang="en-US" sz="3000"/>
          </a:p>
        </p:txBody>
      </p:sp>
      <p:sp>
        <p:nvSpPr>
          <p:cNvPr id="6" name="Shape 4"/>
          <p:cNvSpPr/>
          <p:nvPr/>
        </p:nvSpPr>
        <p:spPr>
          <a:xfrm>
            <a:off x="566928" y="1572768"/>
            <a:ext cx="5806440" cy="1920240"/>
          </a:xfrm>
          <a:prstGeom prst="roundRect">
            <a:avLst>
              <a:gd name="adj" fmla="val 4286"/>
            </a:avLst>
          </a:prstGeom>
          <a:solidFill>
            <a:srgbClr val="1D2331"/>
          </a:solidFill>
          <a:ln/>
        </p:spPr>
        <p:txBody>
          <a:bodyPr/>
          <a:lstStyle/>
          <a:p>
            <a:endParaRPr lang="en-US"/>
          </a:p>
        </p:txBody>
      </p:sp>
      <p:sp>
        <p:nvSpPr>
          <p:cNvPr id="7" name="Text 5"/>
          <p:cNvSpPr/>
          <p:nvPr/>
        </p:nvSpPr>
        <p:spPr>
          <a:xfrm>
            <a:off x="822960" y="1719072"/>
            <a:ext cx="27432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THE SITUATION</a:t>
            </a:r>
            <a:endParaRPr lang="en-US" sz="900"/>
          </a:p>
        </p:txBody>
      </p:sp>
      <p:sp>
        <p:nvSpPr>
          <p:cNvPr id="8" name="Text 6"/>
          <p:cNvSpPr/>
          <p:nvPr/>
        </p:nvSpPr>
        <p:spPr>
          <a:xfrm>
            <a:off x="822960" y="2011680"/>
            <a:ext cx="5303520" cy="1325880"/>
          </a:xfrm>
          <a:prstGeom prst="rect">
            <a:avLst/>
          </a:prstGeom>
          <a:noFill/>
          <a:ln/>
        </p:spPr>
        <p:txBody>
          <a:bodyPr wrap="square" lIns="0" tIns="0" rIns="0" bIns="0" rtlCol="0" anchor="ctr"/>
          <a:lstStyle/>
          <a:p>
            <a:pPr marL="0" indent="0">
              <a:lnSpc>
                <a:spcPts val="1700"/>
              </a:lnSpc>
              <a:buNone/>
            </a:pPr>
            <a:r>
              <a:rPr lang="en-US" sz="1200">
                <a:solidFill>
                  <a:srgbClr val="FFFFFF"/>
                </a:solidFill>
                <a:latin typeface="Calibri" pitchFamily="34" charset="0"/>
                <a:ea typeface="Calibri" pitchFamily="34" charset="-122"/>
                <a:cs typeface="Calibri" pitchFamily="34" charset="-120"/>
              </a:rPr>
              <a:t>Your company is about to launch a web application that lets customers place orders, reading and updating the warehouse inventory database as it goes. Before launch you ask an AI-powered tool to review the code. It flags several places where user input passes straight into database requests, warns that an adversary could read or alter the database through them, and recommends validating and sanitising input first. The development team reviews the suggestions, applies the appropriate ones, and pushes the application to a testing environment.</a:t>
            </a:r>
            <a:endParaRPr lang="en-US" sz="1200"/>
          </a:p>
        </p:txBody>
      </p:sp>
      <p:sp>
        <p:nvSpPr>
          <p:cNvPr id="9" name="Shape 7"/>
          <p:cNvSpPr/>
          <p:nvPr/>
        </p:nvSpPr>
        <p:spPr>
          <a:xfrm>
            <a:off x="566928" y="3639312"/>
            <a:ext cx="5806440" cy="1874520"/>
          </a:xfrm>
          <a:prstGeom prst="roundRect">
            <a:avLst>
              <a:gd name="adj" fmla="val 4390"/>
            </a:avLst>
          </a:prstGeom>
          <a:solidFill>
            <a:srgbClr val="1D2331"/>
          </a:solidFill>
          <a:ln/>
        </p:spPr>
        <p:txBody>
          <a:bodyPr/>
          <a:lstStyle/>
          <a:p>
            <a:endParaRPr lang="en-US"/>
          </a:p>
        </p:txBody>
      </p:sp>
      <p:sp>
        <p:nvSpPr>
          <p:cNvPr id="10" name="Text 8"/>
          <p:cNvSpPr/>
          <p:nvPr/>
        </p:nvSpPr>
        <p:spPr>
          <a:xfrm>
            <a:off x="822960" y="3785616"/>
            <a:ext cx="36576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CONSIDER THE FOLLOWING</a:t>
            </a:r>
            <a:endParaRPr lang="en-US" sz="900"/>
          </a:p>
        </p:txBody>
      </p:sp>
      <p:sp>
        <p:nvSpPr>
          <p:cNvPr id="11" name="Text 9"/>
          <p:cNvSpPr/>
          <p:nvPr/>
        </p:nvSpPr>
        <p:spPr>
          <a:xfrm>
            <a:off x="822960" y="4078224"/>
            <a:ext cx="228600"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1</a:t>
            </a:r>
            <a:endParaRPr lang="en-US" sz="1050"/>
          </a:p>
        </p:txBody>
      </p:sp>
      <p:sp>
        <p:nvSpPr>
          <p:cNvPr id="12" name="Text 10"/>
          <p:cNvSpPr/>
          <p:nvPr/>
        </p:nvSpPr>
        <p:spPr>
          <a:xfrm>
            <a:off x="1097280" y="40782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What are some advantages and disadvantages of using an AI-powered tool to review application code?</a:t>
            </a:r>
            <a:endParaRPr lang="en-US" sz="1100"/>
          </a:p>
        </p:txBody>
      </p:sp>
      <p:sp>
        <p:nvSpPr>
          <p:cNvPr id="13" name="Text 11"/>
          <p:cNvSpPr/>
          <p:nvPr/>
        </p:nvSpPr>
        <p:spPr>
          <a:xfrm>
            <a:off x="822960" y="4535424"/>
            <a:ext cx="228600"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2</a:t>
            </a:r>
            <a:endParaRPr lang="en-US" sz="1050"/>
          </a:p>
        </p:txBody>
      </p:sp>
      <p:sp>
        <p:nvSpPr>
          <p:cNvPr id="14" name="Text 12"/>
          <p:cNvSpPr/>
          <p:nvPr/>
        </p:nvSpPr>
        <p:spPr>
          <a:xfrm>
            <a:off x="1097280" y="45354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Why is it important for the development team to review the changes before implementing them?</a:t>
            </a:r>
            <a:endParaRPr lang="en-US" sz="1100"/>
          </a:p>
        </p:txBody>
      </p:sp>
      <p:sp>
        <p:nvSpPr>
          <p:cNvPr id="15" name="Text 13"/>
          <p:cNvSpPr/>
          <p:nvPr/>
        </p:nvSpPr>
        <p:spPr>
          <a:xfrm>
            <a:off x="822960" y="4992624"/>
            <a:ext cx="228600" cy="219456"/>
          </a:xfrm>
          <a:prstGeom prst="rect">
            <a:avLst/>
          </a:prstGeom>
          <a:noFill/>
          <a:ln/>
        </p:spPr>
        <p:txBody>
          <a:bodyPr wrap="square" lIns="0" tIns="0" rIns="0" bIns="0" rtlCol="0" anchor="ctr"/>
          <a:lstStyle/>
          <a:p>
            <a:pPr marL="0" indent="0">
              <a:buNone/>
            </a:pPr>
            <a:r>
              <a:rPr lang="en-US" sz="1050" b="1">
                <a:solidFill>
                  <a:srgbClr val="1FA697"/>
                </a:solidFill>
                <a:latin typeface="Calibri" pitchFamily="34" charset="0"/>
                <a:ea typeface="Calibri" pitchFamily="34" charset="-122"/>
                <a:cs typeface="Calibri" pitchFamily="34" charset="-120"/>
              </a:rPr>
              <a:t>3</a:t>
            </a:r>
            <a:endParaRPr lang="en-US" sz="1050"/>
          </a:p>
        </p:txBody>
      </p:sp>
      <p:sp>
        <p:nvSpPr>
          <p:cNvPr id="16" name="Text 14"/>
          <p:cNvSpPr/>
          <p:nvPr/>
        </p:nvSpPr>
        <p:spPr>
          <a:xfrm>
            <a:off x="1097280" y="4992624"/>
            <a:ext cx="5029200" cy="420624"/>
          </a:xfrm>
          <a:prstGeom prst="rect">
            <a:avLst/>
          </a:prstGeom>
          <a:noFill/>
          <a:ln/>
        </p:spPr>
        <p:txBody>
          <a:bodyPr wrap="square" lIns="0" tIns="0" rIns="0" bIns="0" rtlCol="0" anchor="ctr"/>
          <a:lstStyle/>
          <a:p>
            <a:pPr marL="0" indent="0">
              <a:lnSpc>
                <a:spcPts val="1400"/>
              </a:lnSpc>
              <a:buNone/>
            </a:pPr>
            <a:r>
              <a:rPr lang="en-US" sz="1100">
                <a:solidFill>
                  <a:srgbClr val="9AA3B2"/>
                </a:solidFill>
                <a:latin typeface="Calibri" pitchFamily="34" charset="0"/>
                <a:ea typeface="Calibri" pitchFamily="34" charset="-122"/>
                <a:cs typeface="Calibri" pitchFamily="34" charset="-120"/>
              </a:rPr>
              <a:t>Are there times when you use AI-powered tools to help review your own work?</a:t>
            </a:r>
            <a:endParaRPr lang="en-US" sz="1100"/>
          </a:p>
        </p:txBody>
      </p:sp>
      <p:sp>
        <p:nvSpPr>
          <p:cNvPr id="17" name="Shape 15"/>
          <p:cNvSpPr/>
          <p:nvPr/>
        </p:nvSpPr>
        <p:spPr>
          <a:xfrm>
            <a:off x="6656832" y="1572768"/>
            <a:ext cx="4965192" cy="3941064"/>
          </a:xfrm>
          <a:prstGeom prst="roundRect">
            <a:avLst>
              <a:gd name="adj" fmla="val 2088"/>
            </a:avLst>
          </a:prstGeom>
          <a:solidFill>
            <a:srgbClr val="1D2331"/>
          </a:solidFill>
          <a:ln w="12700">
            <a:solidFill>
              <a:srgbClr val="2C3446"/>
            </a:solidFill>
            <a:prstDash val="solid"/>
          </a:ln>
        </p:spPr>
        <p:txBody>
          <a:bodyPr/>
          <a:lstStyle/>
          <a:p>
            <a:endParaRPr lang="en-US"/>
          </a:p>
        </p:txBody>
      </p:sp>
      <p:sp>
        <p:nvSpPr>
          <p:cNvPr id="18" name="Text 16"/>
          <p:cNvSpPr/>
          <p:nvPr/>
        </p:nvSpPr>
        <p:spPr>
          <a:xfrm>
            <a:off x="6912864" y="1737360"/>
            <a:ext cx="41148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WHAT A STRONG ANSWER DOES</a:t>
            </a:r>
            <a:endParaRPr lang="en-US" sz="900"/>
          </a:p>
        </p:txBody>
      </p:sp>
      <p:sp>
        <p:nvSpPr>
          <p:cNvPr id="19" name="Text 17"/>
          <p:cNvSpPr/>
          <p:nvPr/>
        </p:nvSpPr>
        <p:spPr>
          <a:xfrm>
            <a:off x="6912864" y="2084832"/>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Gives both sides with specifics</a:t>
            </a:r>
            <a:endParaRPr lang="en-US" sz="1200"/>
          </a:p>
        </p:txBody>
      </p:sp>
      <p:sp>
        <p:nvSpPr>
          <p:cNvPr id="20" name="Text 18"/>
          <p:cNvSpPr/>
          <p:nvPr/>
        </p:nvSpPr>
        <p:spPr>
          <a:xfrm>
            <a:off x="6912864" y="2377440"/>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Advantages: speed, coverage of a large codebase, consistency, catching issues before release. Disadvantages: false positives, missed flaws, no knowledge of this system's context, and suggestions that may not be safe to apply as written.</a:t>
            </a:r>
            <a:endParaRPr lang="en-US" sz="1060"/>
          </a:p>
        </p:txBody>
      </p:sp>
      <p:sp>
        <p:nvSpPr>
          <p:cNvPr id="21" name="Text 19"/>
          <p:cNvSpPr/>
          <p:nvPr/>
        </p:nvSpPr>
        <p:spPr>
          <a:xfrm>
            <a:off x="6912864" y="3255264"/>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Names accountability, not just correctness</a:t>
            </a:r>
            <a:endParaRPr lang="en-US" sz="1200"/>
          </a:p>
        </p:txBody>
      </p:sp>
      <p:sp>
        <p:nvSpPr>
          <p:cNvPr id="22" name="Text 20"/>
          <p:cNvSpPr/>
          <p:nvPr/>
        </p:nvSpPr>
        <p:spPr>
          <a:xfrm>
            <a:off x="6912864" y="3547872"/>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The reviewer supplies context the tool lacks and remains responsible for what ships — the CED attaches this condition to every defensive AI use.</a:t>
            </a:r>
            <a:endParaRPr lang="en-US" sz="1060"/>
          </a:p>
        </p:txBody>
      </p:sp>
      <p:sp>
        <p:nvSpPr>
          <p:cNvPr id="23" name="Text 21"/>
          <p:cNvSpPr/>
          <p:nvPr/>
        </p:nvSpPr>
        <p:spPr>
          <a:xfrm>
            <a:off x="6912864" y="4425696"/>
            <a:ext cx="448056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Transfers the principle honestly</a:t>
            </a:r>
            <a:endParaRPr lang="en-US" sz="1200"/>
          </a:p>
        </p:txBody>
      </p:sp>
      <p:sp>
        <p:nvSpPr>
          <p:cNvPr id="24" name="Text 22"/>
          <p:cNvSpPr/>
          <p:nvPr/>
        </p:nvSpPr>
        <p:spPr>
          <a:xfrm>
            <a:off x="6912864" y="4718304"/>
            <a:ext cx="4453128" cy="777240"/>
          </a:xfrm>
          <a:prstGeom prst="rect">
            <a:avLst/>
          </a:prstGeom>
          <a:noFill/>
          <a:ln/>
        </p:spPr>
        <p:txBody>
          <a:bodyPr wrap="square" lIns="0" tIns="0" rIns="0" bIns="0" rtlCol="0" anchor="ctr"/>
          <a:lstStyle/>
          <a:p>
            <a:pPr marL="0" indent="0">
              <a:lnSpc>
                <a:spcPts val="1400"/>
              </a:lnSpc>
              <a:buNone/>
            </a:pPr>
            <a:r>
              <a:rPr lang="en-US" sz="1060">
                <a:solidFill>
                  <a:srgbClr val="9AA3B2"/>
                </a:solidFill>
                <a:latin typeface="Calibri" pitchFamily="34" charset="0"/>
                <a:ea typeface="Calibri" pitchFamily="34" charset="-122"/>
                <a:cs typeface="Calibri" pitchFamily="34" charset="-120"/>
              </a:rPr>
              <a:t>The same rule applies to schoolwork: an AI suggestion is a draft to evaluate, and the person submitting it owns whatever it contains.</a:t>
            </a:r>
            <a:endParaRPr lang="en-US" sz="1060"/>
          </a:p>
        </p:txBody>
      </p:sp>
      <p:sp>
        <p:nvSpPr>
          <p:cNvPr id="25" name="Text 23"/>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6" name="Text 24"/>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53</a:t>
            </a:r>
            <a:endParaRPr lang="en-US" sz="9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66928" y="384048"/>
            <a:ext cx="1481328" cy="274320"/>
          </a:xfrm>
          <a:prstGeom prst="roundRect">
            <a:avLst>
              <a:gd name="adj" fmla="val 20000"/>
            </a:avLst>
          </a:prstGeom>
          <a:solidFill>
            <a:srgbClr val="12141C"/>
          </a:solidFill>
          <a:ln/>
        </p:spPr>
        <p:txBody>
          <a:bodyPr/>
          <a:lstStyle/>
          <a:p>
            <a:endParaRPr lang="en-US"/>
          </a:p>
        </p:txBody>
      </p:sp>
      <p:sp>
        <p:nvSpPr>
          <p:cNvPr id="3" name="Text 1"/>
          <p:cNvSpPr/>
          <p:nvPr/>
        </p:nvSpPr>
        <p:spPr>
          <a:xfrm>
            <a:off x="566928" y="384048"/>
            <a:ext cx="1481328"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CHECK</a:t>
            </a:r>
            <a:endParaRPr lang="en-US" sz="950"/>
          </a:p>
        </p:txBody>
      </p:sp>
      <p:sp>
        <p:nvSpPr>
          <p:cNvPr id="4" name="Text 2"/>
          <p:cNvSpPr/>
          <p:nvPr/>
        </p:nvSpPr>
        <p:spPr>
          <a:xfrm>
            <a:off x="2231136" y="384048"/>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TOPIC 1.5</a:t>
            </a:r>
            <a:endParaRPr lang="en-US" sz="1050"/>
          </a:p>
        </p:txBody>
      </p:sp>
      <p:sp>
        <p:nvSpPr>
          <p:cNvPr id="5" name="Text 3"/>
          <p:cNvSpPr/>
          <p:nvPr/>
        </p:nvSpPr>
        <p:spPr>
          <a:xfrm>
            <a:off x="566928" y="804672"/>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Check for understanding</a:t>
            </a:r>
            <a:endParaRPr lang="en-US" sz="3000"/>
          </a:p>
        </p:txBody>
      </p:sp>
      <p:sp>
        <p:nvSpPr>
          <p:cNvPr id="6" name="Shape 4"/>
          <p:cNvSpPr/>
          <p:nvPr/>
        </p:nvSpPr>
        <p:spPr>
          <a:xfrm>
            <a:off x="566928" y="1627632"/>
            <a:ext cx="11057839" cy="914400"/>
          </a:xfrm>
          <a:prstGeom prst="roundRect">
            <a:avLst>
              <a:gd name="adj" fmla="val 9000"/>
            </a:avLst>
          </a:prstGeom>
          <a:solidFill>
            <a:srgbClr val="EAF0FA"/>
          </a:solidFill>
          <a:ln/>
        </p:spPr>
        <p:txBody>
          <a:bodyPr/>
          <a:lstStyle/>
          <a:p>
            <a:endParaRPr lang="en-US"/>
          </a:p>
        </p:txBody>
      </p:sp>
      <p:sp>
        <p:nvSpPr>
          <p:cNvPr id="7" name="Shape 5"/>
          <p:cNvSpPr/>
          <p:nvPr/>
        </p:nvSpPr>
        <p:spPr>
          <a:xfrm>
            <a:off x="804672" y="1773936"/>
            <a:ext cx="868680" cy="237744"/>
          </a:xfrm>
          <a:prstGeom prst="roundRect">
            <a:avLst>
              <a:gd name="adj" fmla="val 23077"/>
            </a:avLst>
          </a:prstGeom>
          <a:solidFill>
            <a:srgbClr val="1FA697"/>
          </a:solidFill>
          <a:ln/>
        </p:spPr>
        <p:txBody>
          <a:bodyPr/>
          <a:lstStyle/>
          <a:p>
            <a:endParaRPr lang="en-US"/>
          </a:p>
        </p:txBody>
      </p:sp>
      <p:sp>
        <p:nvSpPr>
          <p:cNvPr id="8" name="Text 6"/>
          <p:cNvSpPr/>
          <p:nvPr/>
        </p:nvSpPr>
        <p:spPr>
          <a:xfrm>
            <a:off x="804672" y="1773936"/>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Recall</a:t>
            </a:r>
            <a:endParaRPr lang="en-US" sz="900"/>
          </a:p>
        </p:txBody>
      </p:sp>
      <p:sp>
        <p:nvSpPr>
          <p:cNvPr id="9" name="Text 7"/>
          <p:cNvSpPr/>
          <p:nvPr/>
        </p:nvSpPr>
        <p:spPr>
          <a:xfrm>
            <a:off x="1828800" y="1755648"/>
            <a:ext cx="274320" cy="274320"/>
          </a:xfrm>
          <a:prstGeom prst="rect">
            <a:avLst/>
          </a:prstGeom>
          <a:noFill/>
          <a:ln/>
        </p:spPr>
        <p:txBody>
          <a:bodyPr wrap="square" lIns="0" tIns="0" rIns="0" bIns="0" rtlCol="0" anchor="ctr"/>
          <a:lstStyle/>
          <a:p>
            <a:pPr marL="0" indent="0">
              <a:buNone/>
            </a:pPr>
            <a:r>
              <a:rPr lang="en-US" sz="1500" b="1">
                <a:solidFill>
                  <a:srgbClr val="1FA697"/>
                </a:solidFill>
                <a:latin typeface="Cambria" pitchFamily="34" charset="0"/>
                <a:ea typeface="Cambria" pitchFamily="34" charset="-122"/>
                <a:cs typeface="Cambria" pitchFamily="34" charset="-120"/>
              </a:rPr>
              <a:t>1</a:t>
            </a:r>
            <a:endParaRPr lang="en-US" sz="1500"/>
          </a:p>
        </p:txBody>
      </p:sp>
      <p:sp>
        <p:nvSpPr>
          <p:cNvPr id="10" name="Text 8"/>
          <p:cNvSpPr/>
          <p:nvPr/>
        </p:nvSpPr>
        <p:spPr>
          <a:xfrm>
            <a:off x="2194560" y="1773936"/>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Name the three defensive uses of AI-powered tools given in the course framework, and state the condition attached to all three.</a:t>
            </a:r>
            <a:endParaRPr lang="en-US" sz="1180"/>
          </a:p>
        </p:txBody>
      </p:sp>
      <p:sp>
        <p:nvSpPr>
          <p:cNvPr id="11" name="Shape 9"/>
          <p:cNvSpPr/>
          <p:nvPr/>
        </p:nvSpPr>
        <p:spPr>
          <a:xfrm>
            <a:off x="566928" y="2651760"/>
            <a:ext cx="11057839" cy="914400"/>
          </a:xfrm>
          <a:prstGeom prst="roundRect">
            <a:avLst>
              <a:gd name="adj" fmla="val 9000"/>
            </a:avLst>
          </a:prstGeom>
          <a:solidFill>
            <a:srgbClr val="E6F5F3"/>
          </a:solidFill>
          <a:ln/>
        </p:spPr>
        <p:txBody>
          <a:bodyPr/>
          <a:lstStyle/>
          <a:p>
            <a:endParaRPr lang="en-US"/>
          </a:p>
        </p:txBody>
      </p:sp>
      <p:sp>
        <p:nvSpPr>
          <p:cNvPr id="12" name="Shape 10"/>
          <p:cNvSpPr/>
          <p:nvPr/>
        </p:nvSpPr>
        <p:spPr>
          <a:xfrm>
            <a:off x="804672" y="2798064"/>
            <a:ext cx="868680" cy="237744"/>
          </a:xfrm>
          <a:prstGeom prst="roundRect">
            <a:avLst>
              <a:gd name="adj" fmla="val 23077"/>
            </a:avLst>
          </a:prstGeom>
          <a:solidFill>
            <a:srgbClr val="1FA697"/>
          </a:solidFill>
          <a:ln/>
        </p:spPr>
        <p:txBody>
          <a:bodyPr/>
          <a:lstStyle/>
          <a:p>
            <a:endParaRPr lang="en-US"/>
          </a:p>
        </p:txBody>
      </p:sp>
      <p:sp>
        <p:nvSpPr>
          <p:cNvPr id="13" name="Text 11"/>
          <p:cNvSpPr/>
          <p:nvPr/>
        </p:nvSpPr>
        <p:spPr>
          <a:xfrm>
            <a:off x="804672" y="2798064"/>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Explain</a:t>
            </a:r>
            <a:endParaRPr lang="en-US" sz="900"/>
          </a:p>
        </p:txBody>
      </p:sp>
      <p:sp>
        <p:nvSpPr>
          <p:cNvPr id="14" name="Text 12"/>
          <p:cNvSpPr/>
          <p:nvPr/>
        </p:nvSpPr>
        <p:spPr>
          <a:xfrm>
            <a:off x="1828800" y="2779776"/>
            <a:ext cx="274320" cy="274320"/>
          </a:xfrm>
          <a:prstGeom prst="rect">
            <a:avLst/>
          </a:prstGeom>
          <a:noFill/>
          <a:ln/>
        </p:spPr>
        <p:txBody>
          <a:bodyPr wrap="square" lIns="0" tIns="0" rIns="0" bIns="0" rtlCol="0" anchor="ctr"/>
          <a:lstStyle/>
          <a:p>
            <a:pPr marL="0" indent="0">
              <a:buNone/>
            </a:pPr>
            <a:r>
              <a:rPr lang="en-US" sz="1500" b="1">
                <a:solidFill>
                  <a:srgbClr val="1FA697"/>
                </a:solidFill>
                <a:latin typeface="Cambria" pitchFamily="34" charset="0"/>
                <a:ea typeface="Cambria" pitchFamily="34" charset="-122"/>
                <a:cs typeface="Cambria" pitchFamily="34" charset="-120"/>
              </a:rPr>
              <a:t>2</a:t>
            </a:r>
            <a:endParaRPr lang="en-US" sz="1500"/>
          </a:p>
        </p:txBody>
      </p:sp>
      <p:sp>
        <p:nvSpPr>
          <p:cNvPr id="15" name="Text 13"/>
          <p:cNvSpPr/>
          <p:nvPr/>
        </p:nvSpPr>
        <p:spPr>
          <a:xfrm>
            <a:off x="2194560" y="2798064"/>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Explain why the volume of daily network events makes automated triage necessary, using the words anomaly and baseline.</a:t>
            </a:r>
            <a:endParaRPr lang="en-US" sz="1180"/>
          </a:p>
        </p:txBody>
      </p:sp>
      <p:sp>
        <p:nvSpPr>
          <p:cNvPr id="16" name="Shape 14"/>
          <p:cNvSpPr/>
          <p:nvPr/>
        </p:nvSpPr>
        <p:spPr>
          <a:xfrm>
            <a:off x="566928" y="3675888"/>
            <a:ext cx="11057839" cy="914400"/>
          </a:xfrm>
          <a:prstGeom prst="roundRect">
            <a:avLst>
              <a:gd name="adj" fmla="val 9000"/>
            </a:avLst>
          </a:prstGeom>
          <a:solidFill>
            <a:srgbClr val="FDF2E2"/>
          </a:solidFill>
          <a:ln/>
        </p:spPr>
        <p:txBody>
          <a:bodyPr/>
          <a:lstStyle/>
          <a:p>
            <a:endParaRPr lang="en-US"/>
          </a:p>
        </p:txBody>
      </p:sp>
      <p:sp>
        <p:nvSpPr>
          <p:cNvPr id="17" name="Shape 15"/>
          <p:cNvSpPr/>
          <p:nvPr/>
        </p:nvSpPr>
        <p:spPr>
          <a:xfrm>
            <a:off x="804672" y="3822192"/>
            <a:ext cx="868680" cy="237744"/>
          </a:xfrm>
          <a:prstGeom prst="roundRect">
            <a:avLst>
              <a:gd name="adj" fmla="val 23077"/>
            </a:avLst>
          </a:prstGeom>
          <a:solidFill>
            <a:srgbClr val="1FA697"/>
          </a:solidFill>
          <a:ln/>
        </p:spPr>
        <p:txBody>
          <a:bodyPr/>
          <a:lstStyle/>
          <a:p>
            <a:endParaRPr lang="en-US"/>
          </a:p>
        </p:txBody>
      </p:sp>
      <p:sp>
        <p:nvSpPr>
          <p:cNvPr id="18" name="Text 16"/>
          <p:cNvSpPr/>
          <p:nvPr/>
        </p:nvSpPr>
        <p:spPr>
          <a:xfrm>
            <a:off x="804672" y="3822192"/>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Analyse</a:t>
            </a:r>
            <a:endParaRPr lang="en-US" sz="900"/>
          </a:p>
        </p:txBody>
      </p:sp>
      <p:sp>
        <p:nvSpPr>
          <p:cNvPr id="19" name="Text 17"/>
          <p:cNvSpPr/>
          <p:nvPr/>
        </p:nvSpPr>
        <p:spPr>
          <a:xfrm>
            <a:off x="1828800" y="3803904"/>
            <a:ext cx="274320" cy="274320"/>
          </a:xfrm>
          <a:prstGeom prst="rect">
            <a:avLst/>
          </a:prstGeom>
          <a:noFill/>
          <a:ln/>
        </p:spPr>
        <p:txBody>
          <a:bodyPr wrap="square" lIns="0" tIns="0" rIns="0" bIns="0" rtlCol="0" anchor="ctr"/>
          <a:lstStyle/>
          <a:p>
            <a:pPr marL="0" indent="0">
              <a:buNone/>
            </a:pPr>
            <a:r>
              <a:rPr lang="en-US" sz="1500" b="1">
                <a:solidFill>
                  <a:srgbClr val="1FA697"/>
                </a:solidFill>
                <a:latin typeface="Cambria" pitchFamily="34" charset="0"/>
                <a:ea typeface="Cambria" pitchFamily="34" charset="-122"/>
                <a:cs typeface="Cambria" pitchFamily="34" charset="-120"/>
              </a:rPr>
              <a:t>3</a:t>
            </a:r>
            <a:endParaRPr lang="en-US" sz="1500"/>
          </a:p>
        </p:txBody>
      </p:sp>
      <p:sp>
        <p:nvSpPr>
          <p:cNvPr id="20" name="Text 18"/>
          <p:cNvSpPr/>
          <p:nvPr/>
        </p:nvSpPr>
        <p:spPr>
          <a:xfrm>
            <a:off x="2194560" y="3822192"/>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 detection system generates 400 alerts a day and 390 are harmless. Describe two distinct harms this causes, and suggest one change that reduces them.</a:t>
            </a:r>
            <a:endParaRPr lang="en-US" sz="1180"/>
          </a:p>
        </p:txBody>
      </p:sp>
      <p:sp>
        <p:nvSpPr>
          <p:cNvPr id="21" name="Shape 19"/>
          <p:cNvSpPr/>
          <p:nvPr/>
        </p:nvSpPr>
        <p:spPr>
          <a:xfrm>
            <a:off x="566928" y="4700016"/>
            <a:ext cx="11057839" cy="914400"/>
          </a:xfrm>
          <a:prstGeom prst="roundRect">
            <a:avLst>
              <a:gd name="adj" fmla="val 9000"/>
            </a:avLst>
          </a:prstGeom>
          <a:solidFill>
            <a:srgbClr val="EFEDFA"/>
          </a:solidFill>
          <a:ln/>
        </p:spPr>
        <p:txBody>
          <a:bodyPr/>
          <a:lstStyle/>
          <a:p>
            <a:endParaRPr lang="en-US"/>
          </a:p>
        </p:txBody>
      </p:sp>
      <p:sp>
        <p:nvSpPr>
          <p:cNvPr id="22" name="Shape 20"/>
          <p:cNvSpPr/>
          <p:nvPr/>
        </p:nvSpPr>
        <p:spPr>
          <a:xfrm>
            <a:off x="804672" y="4846320"/>
            <a:ext cx="868680" cy="237744"/>
          </a:xfrm>
          <a:prstGeom prst="roundRect">
            <a:avLst>
              <a:gd name="adj" fmla="val 23077"/>
            </a:avLst>
          </a:prstGeom>
          <a:solidFill>
            <a:srgbClr val="1FA697"/>
          </a:solidFill>
          <a:ln/>
        </p:spPr>
        <p:txBody>
          <a:bodyPr/>
          <a:lstStyle/>
          <a:p>
            <a:endParaRPr lang="en-US"/>
          </a:p>
        </p:txBody>
      </p:sp>
      <p:sp>
        <p:nvSpPr>
          <p:cNvPr id="23" name="Text 21"/>
          <p:cNvSpPr/>
          <p:nvPr/>
        </p:nvSpPr>
        <p:spPr>
          <a:xfrm>
            <a:off x="804672" y="4846320"/>
            <a:ext cx="868680" cy="237744"/>
          </a:xfrm>
          <a:prstGeom prst="rect">
            <a:avLst/>
          </a:prstGeom>
          <a:noFill/>
          <a:ln/>
        </p:spPr>
        <p:txBody>
          <a:bodyPr wrap="square" lIns="0" tIns="0" rIns="0" bIns="0" rtlCol="0" anchor="ctr"/>
          <a:lstStyle/>
          <a:p>
            <a:pPr marL="0" indent="0" algn="ctr">
              <a:buNone/>
            </a:pPr>
            <a:r>
              <a:rPr lang="en-US" sz="900" b="1" kern="0" spc="50">
                <a:solidFill>
                  <a:srgbClr val="12141C"/>
                </a:solidFill>
                <a:latin typeface="Calibri" pitchFamily="34" charset="0"/>
                <a:ea typeface="Calibri" pitchFamily="34" charset="-122"/>
                <a:cs typeface="Calibri" pitchFamily="34" charset="-120"/>
              </a:rPr>
              <a:t>Evaluate</a:t>
            </a:r>
            <a:endParaRPr lang="en-US" sz="900"/>
          </a:p>
        </p:txBody>
      </p:sp>
      <p:sp>
        <p:nvSpPr>
          <p:cNvPr id="24" name="Text 22"/>
          <p:cNvSpPr/>
          <p:nvPr/>
        </p:nvSpPr>
        <p:spPr>
          <a:xfrm>
            <a:off x="1828800" y="4828032"/>
            <a:ext cx="274320" cy="274320"/>
          </a:xfrm>
          <a:prstGeom prst="rect">
            <a:avLst/>
          </a:prstGeom>
          <a:noFill/>
          <a:ln/>
        </p:spPr>
        <p:txBody>
          <a:bodyPr wrap="square" lIns="0" tIns="0" rIns="0" bIns="0" rtlCol="0" anchor="ctr"/>
          <a:lstStyle/>
          <a:p>
            <a:pPr marL="0" indent="0">
              <a:buNone/>
            </a:pPr>
            <a:r>
              <a:rPr lang="en-US" sz="1500" b="1">
                <a:solidFill>
                  <a:srgbClr val="1FA697"/>
                </a:solidFill>
                <a:latin typeface="Cambria" pitchFamily="34" charset="0"/>
                <a:ea typeface="Cambria" pitchFamily="34" charset="-122"/>
                <a:cs typeface="Cambria" pitchFamily="34" charset="-120"/>
              </a:rPr>
              <a:t>4</a:t>
            </a:r>
            <a:endParaRPr lang="en-US" sz="1500"/>
          </a:p>
        </p:txBody>
      </p:sp>
      <p:sp>
        <p:nvSpPr>
          <p:cNvPr id="25" name="Text 23"/>
          <p:cNvSpPr/>
          <p:nvPr/>
        </p:nvSpPr>
        <p:spPr>
          <a:xfrm>
            <a:off x="2194560" y="4846320"/>
            <a:ext cx="9189720" cy="640080"/>
          </a:xfrm>
          <a:prstGeom prst="rect">
            <a:avLst/>
          </a:prstGeom>
          <a:noFill/>
          <a:ln/>
        </p:spPr>
        <p:txBody>
          <a:bodyPr wrap="square" lIns="0" tIns="0" rIns="0" bIns="0" rtlCol="0" anchor="t"/>
          <a:lstStyle/>
          <a:p>
            <a:pPr marL="0" indent="0">
              <a:lnSpc>
                <a:spcPts val="1550"/>
              </a:lnSpc>
              <a:buNone/>
            </a:pPr>
            <a:r>
              <a:rPr lang="en-US" sz="1180">
                <a:solidFill>
                  <a:srgbClr val="2B303C"/>
                </a:solidFill>
                <a:latin typeface="Calibri" pitchFamily="34" charset="0"/>
                <a:ea typeface="Calibri" pitchFamily="34" charset="-122"/>
                <a:cs typeface="Calibri" pitchFamily="34" charset="-120"/>
              </a:rPr>
              <a:t>"An AI tool reviewed our firewall rules and recommended changes, so our network is now more secure." Identify the flawed assumption and rewrite the sentence so it is defensible.</a:t>
            </a:r>
            <a:endParaRPr lang="en-US" sz="1180"/>
          </a:p>
        </p:txBody>
      </p:sp>
      <p:sp>
        <p:nvSpPr>
          <p:cNvPr id="26" name="Shape 24"/>
          <p:cNvSpPr/>
          <p:nvPr/>
        </p:nvSpPr>
        <p:spPr>
          <a:xfrm>
            <a:off x="566928" y="5779008"/>
            <a:ext cx="11057839" cy="512064"/>
          </a:xfrm>
          <a:prstGeom prst="roundRect">
            <a:avLst>
              <a:gd name="adj" fmla="val 14286"/>
            </a:avLst>
          </a:prstGeom>
          <a:solidFill>
            <a:srgbClr val="12141C"/>
          </a:solidFill>
          <a:ln/>
        </p:spPr>
        <p:txBody>
          <a:bodyPr/>
          <a:lstStyle/>
          <a:p>
            <a:endParaRPr lang="en-US"/>
          </a:p>
        </p:txBody>
      </p:sp>
      <p:pic>
        <p:nvPicPr>
          <p:cNvPr id="27" name="Image 0" descr="/home/claude/icons/FaClipboardCheck_w.png"/>
          <p:cNvPicPr>
            <a:picLocks noChangeAspect="1"/>
          </p:cNvPicPr>
          <p:nvPr/>
        </p:nvPicPr>
        <p:blipFill>
          <a:blip r:embed="rId3"/>
          <a:stretch>
            <a:fillRect/>
          </a:stretch>
        </p:blipFill>
        <p:spPr>
          <a:xfrm>
            <a:off x="768096" y="5920740"/>
            <a:ext cx="228600" cy="228600"/>
          </a:xfrm>
          <a:prstGeom prst="rect">
            <a:avLst/>
          </a:prstGeom>
        </p:spPr>
      </p:pic>
      <p:sp>
        <p:nvSpPr>
          <p:cNvPr id="28" name="Text 25"/>
          <p:cNvSpPr/>
          <p:nvPr/>
        </p:nvSpPr>
        <p:spPr>
          <a:xfrm>
            <a:off x="1133856" y="5779008"/>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Exit ticket: in one sentence, state what AI-powered defence does well and what it still needs a human for.</a:t>
            </a:r>
            <a:endParaRPr lang="en-US" sz="1150"/>
          </a:p>
        </p:txBody>
      </p:sp>
      <p:sp>
        <p:nvSpPr>
          <p:cNvPr id="29" name="Text 2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0" name="Text 2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54</a:t>
            </a:r>
            <a:endParaRPr lang="en-US" sz="9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41C"/>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UNIT 1 SYNTHESIS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FFFFFF"/>
                </a:solidFill>
                <a:latin typeface="Cambria" pitchFamily="34" charset="0"/>
                <a:ea typeface="Cambria" pitchFamily="34" charset="-122"/>
                <a:cs typeface="Cambria" pitchFamily="34" charset="-120"/>
              </a:rPr>
              <a:t>Five topics, one story</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9AA3B2"/>
                </a:solidFill>
                <a:latin typeface="Calibri" pitchFamily="34" charset="0"/>
                <a:ea typeface="Calibri" pitchFamily="34" charset="-122"/>
                <a:cs typeface="Calibri" pitchFamily="34" charset="-120"/>
              </a:rPr>
              <a:t>Return to the chain from slide 6. Every topic in this unit is a place to cut it.</a:t>
            </a:r>
            <a:endParaRPr lang="en-US" sz="1400"/>
          </a:p>
        </p:txBody>
      </p:sp>
      <p:sp>
        <p:nvSpPr>
          <p:cNvPr id="5" name="Shape 3"/>
          <p:cNvSpPr/>
          <p:nvPr/>
        </p:nvSpPr>
        <p:spPr>
          <a:xfrm>
            <a:off x="566928" y="2057400"/>
            <a:ext cx="2048256" cy="237744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6" name="Shape 4"/>
          <p:cNvSpPr/>
          <p:nvPr/>
        </p:nvSpPr>
        <p:spPr>
          <a:xfrm>
            <a:off x="786384" y="2267712"/>
            <a:ext cx="566928" cy="237744"/>
          </a:xfrm>
          <a:prstGeom prst="roundRect">
            <a:avLst>
              <a:gd name="adj" fmla="val 23077"/>
            </a:avLst>
          </a:prstGeom>
          <a:solidFill>
            <a:srgbClr val="F2A03D"/>
          </a:solidFill>
          <a:ln/>
        </p:spPr>
        <p:txBody>
          <a:bodyPr/>
          <a:lstStyle/>
          <a:p>
            <a:endParaRPr lang="en-US"/>
          </a:p>
        </p:txBody>
      </p:sp>
      <p:sp>
        <p:nvSpPr>
          <p:cNvPr id="7" name="Text 5"/>
          <p:cNvSpPr/>
          <p:nvPr/>
        </p:nvSpPr>
        <p:spPr>
          <a:xfrm>
            <a:off x="786384" y="2267712"/>
            <a:ext cx="566928"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1.1</a:t>
            </a:r>
            <a:endParaRPr lang="en-US" sz="950"/>
          </a:p>
        </p:txBody>
      </p:sp>
      <p:sp>
        <p:nvSpPr>
          <p:cNvPr id="8" name="Text 6"/>
          <p:cNvSpPr/>
          <p:nvPr/>
        </p:nvSpPr>
        <p:spPr>
          <a:xfrm>
            <a:off x="786384" y="2615184"/>
            <a:ext cx="1737360" cy="256032"/>
          </a:xfrm>
          <a:prstGeom prst="rect">
            <a:avLst/>
          </a:prstGeom>
          <a:noFill/>
          <a:ln/>
        </p:spPr>
        <p:txBody>
          <a:bodyPr wrap="square" lIns="0" tIns="0" rIns="0" bIns="0" rtlCol="0" anchor="ctr"/>
          <a:lstStyle/>
          <a:p>
            <a:pPr marL="0" indent="0">
              <a:buNone/>
            </a:pPr>
            <a:r>
              <a:rPr lang="en-US" sz="1200" b="1" kern="0" spc="80">
                <a:solidFill>
                  <a:srgbClr val="FFFFFF"/>
                </a:solidFill>
                <a:latin typeface="Calibri" pitchFamily="34" charset="0"/>
                <a:ea typeface="Calibri" pitchFamily="34" charset="-122"/>
                <a:cs typeface="Calibri" pitchFamily="34" charset="-120"/>
              </a:rPr>
              <a:t>MESSAGE</a:t>
            </a:r>
            <a:endParaRPr lang="en-US" sz="1200"/>
          </a:p>
        </p:txBody>
      </p:sp>
      <p:sp>
        <p:nvSpPr>
          <p:cNvPr id="9" name="Text 7"/>
          <p:cNvSpPr/>
          <p:nvPr/>
        </p:nvSpPr>
        <p:spPr>
          <a:xfrm>
            <a:off x="786384" y="2926080"/>
            <a:ext cx="1755648" cy="128016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Recognise the indicators and the psychological lever before you act.</a:t>
            </a:r>
            <a:endParaRPr lang="en-US" sz="1000"/>
          </a:p>
        </p:txBody>
      </p:sp>
      <p:sp>
        <p:nvSpPr>
          <p:cNvPr id="10" name="Shape 8"/>
          <p:cNvSpPr/>
          <p:nvPr/>
        </p:nvSpPr>
        <p:spPr>
          <a:xfrm rot="5400000">
            <a:off x="2642616" y="3108960"/>
            <a:ext cx="128016" cy="146304"/>
          </a:xfrm>
          <a:prstGeom prst="triangle">
            <a:avLst/>
          </a:prstGeom>
          <a:solidFill>
            <a:srgbClr val="2C3446"/>
          </a:solidFill>
          <a:ln/>
        </p:spPr>
        <p:txBody>
          <a:bodyPr/>
          <a:lstStyle/>
          <a:p>
            <a:endParaRPr lang="en-US"/>
          </a:p>
        </p:txBody>
      </p:sp>
      <p:sp>
        <p:nvSpPr>
          <p:cNvPr id="11" name="Shape 9"/>
          <p:cNvSpPr/>
          <p:nvPr/>
        </p:nvSpPr>
        <p:spPr>
          <a:xfrm>
            <a:off x="2816352" y="2057400"/>
            <a:ext cx="2048256" cy="237744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12" name="Shape 10"/>
          <p:cNvSpPr/>
          <p:nvPr/>
        </p:nvSpPr>
        <p:spPr>
          <a:xfrm>
            <a:off x="3035808" y="2267712"/>
            <a:ext cx="566928" cy="237744"/>
          </a:xfrm>
          <a:prstGeom prst="roundRect">
            <a:avLst>
              <a:gd name="adj" fmla="val 23077"/>
            </a:avLst>
          </a:prstGeom>
          <a:solidFill>
            <a:srgbClr val="D9483F"/>
          </a:solidFill>
          <a:ln/>
        </p:spPr>
        <p:txBody>
          <a:bodyPr/>
          <a:lstStyle/>
          <a:p>
            <a:endParaRPr lang="en-US"/>
          </a:p>
        </p:txBody>
      </p:sp>
      <p:sp>
        <p:nvSpPr>
          <p:cNvPr id="13" name="Text 11"/>
          <p:cNvSpPr/>
          <p:nvPr/>
        </p:nvSpPr>
        <p:spPr>
          <a:xfrm>
            <a:off x="3035808" y="2267712"/>
            <a:ext cx="566928"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1.3</a:t>
            </a:r>
            <a:endParaRPr lang="en-US" sz="950"/>
          </a:p>
        </p:txBody>
      </p:sp>
      <p:sp>
        <p:nvSpPr>
          <p:cNvPr id="14" name="Text 12"/>
          <p:cNvSpPr/>
          <p:nvPr/>
        </p:nvSpPr>
        <p:spPr>
          <a:xfrm>
            <a:off x="3035808" y="2615184"/>
            <a:ext cx="1737360" cy="256032"/>
          </a:xfrm>
          <a:prstGeom prst="rect">
            <a:avLst/>
          </a:prstGeom>
          <a:noFill/>
          <a:ln/>
        </p:spPr>
        <p:txBody>
          <a:bodyPr wrap="square" lIns="0" tIns="0" rIns="0" bIns="0" rtlCol="0" anchor="ctr"/>
          <a:lstStyle/>
          <a:p>
            <a:pPr marL="0" indent="0">
              <a:buNone/>
            </a:pPr>
            <a:r>
              <a:rPr lang="en-US" sz="1200" b="1" kern="0" spc="80">
                <a:solidFill>
                  <a:srgbClr val="FFFFFF"/>
                </a:solidFill>
                <a:latin typeface="Calibri" pitchFamily="34" charset="0"/>
                <a:ea typeface="Calibri" pitchFamily="34" charset="-122"/>
                <a:cs typeface="Calibri" pitchFamily="34" charset="-120"/>
              </a:rPr>
              <a:t>ACTION</a:t>
            </a:r>
            <a:endParaRPr lang="en-US" sz="1200"/>
          </a:p>
        </p:txBody>
      </p:sp>
      <p:sp>
        <p:nvSpPr>
          <p:cNvPr id="15" name="Text 13"/>
          <p:cNvSpPr/>
          <p:nvPr/>
        </p:nvSpPr>
        <p:spPr>
          <a:xfrm>
            <a:off x="3035808" y="2926080"/>
            <a:ext cx="1755648" cy="128016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Verify the network and the destination before you type anything into them.</a:t>
            </a:r>
            <a:endParaRPr lang="en-US" sz="1000"/>
          </a:p>
        </p:txBody>
      </p:sp>
      <p:sp>
        <p:nvSpPr>
          <p:cNvPr id="16" name="Shape 14"/>
          <p:cNvSpPr/>
          <p:nvPr/>
        </p:nvSpPr>
        <p:spPr>
          <a:xfrm rot="5400000">
            <a:off x="4892040" y="3108960"/>
            <a:ext cx="128016" cy="146304"/>
          </a:xfrm>
          <a:prstGeom prst="triangle">
            <a:avLst/>
          </a:prstGeom>
          <a:solidFill>
            <a:srgbClr val="2C3446"/>
          </a:solidFill>
          <a:ln/>
        </p:spPr>
        <p:txBody>
          <a:bodyPr/>
          <a:lstStyle/>
          <a:p>
            <a:endParaRPr lang="en-US"/>
          </a:p>
        </p:txBody>
      </p:sp>
      <p:sp>
        <p:nvSpPr>
          <p:cNvPr id="17" name="Shape 15"/>
          <p:cNvSpPr/>
          <p:nvPr/>
        </p:nvSpPr>
        <p:spPr>
          <a:xfrm>
            <a:off x="5065776" y="2057400"/>
            <a:ext cx="2048256" cy="237744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18" name="Shape 16"/>
          <p:cNvSpPr/>
          <p:nvPr/>
        </p:nvSpPr>
        <p:spPr>
          <a:xfrm>
            <a:off x="5285232" y="2267712"/>
            <a:ext cx="566928" cy="237744"/>
          </a:xfrm>
          <a:prstGeom prst="roundRect">
            <a:avLst>
              <a:gd name="adj" fmla="val 23077"/>
            </a:avLst>
          </a:prstGeom>
          <a:solidFill>
            <a:srgbClr val="1FA697"/>
          </a:solidFill>
          <a:ln/>
        </p:spPr>
        <p:txBody>
          <a:bodyPr/>
          <a:lstStyle/>
          <a:p>
            <a:endParaRPr lang="en-US"/>
          </a:p>
        </p:txBody>
      </p:sp>
      <p:sp>
        <p:nvSpPr>
          <p:cNvPr id="19" name="Text 17"/>
          <p:cNvSpPr/>
          <p:nvPr/>
        </p:nvSpPr>
        <p:spPr>
          <a:xfrm>
            <a:off x="5285232" y="2267712"/>
            <a:ext cx="566928"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1.2</a:t>
            </a:r>
            <a:endParaRPr lang="en-US" sz="950"/>
          </a:p>
        </p:txBody>
      </p:sp>
      <p:sp>
        <p:nvSpPr>
          <p:cNvPr id="20" name="Text 18"/>
          <p:cNvSpPr/>
          <p:nvPr/>
        </p:nvSpPr>
        <p:spPr>
          <a:xfrm>
            <a:off x="5285232" y="2615184"/>
            <a:ext cx="1737360" cy="256032"/>
          </a:xfrm>
          <a:prstGeom prst="rect">
            <a:avLst/>
          </a:prstGeom>
          <a:noFill/>
          <a:ln/>
        </p:spPr>
        <p:txBody>
          <a:bodyPr wrap="square" lIns="0" tIns="0" rIns="0" bIns="0" rtlCol="0" anchor="ctr"/>
          <a:lstStyle/>
          <a:p>
            <a:pPr marL="0" indent="0">
              <a:buNone/>
            </a:pPr>
            <a:r>
              <a:rPr lang="en-US" sz="1200" b="1" kern="0" spc="80">
                <a:solidFill>
                  <a:srgbClr val="FFFFFF"/>
                </a:solidFill>
                <a:latin typeface="Calibri" pitchFamily="34" charset="0"/>
                <a:ea typeface="Calibri" pitchFamily="34" charset="-122"/>
                <a:cs typeface="Calibri" pitchFamily="34" charset="-120"/>
              </a:rPr>
              <a:t>ACCESS</a:t>
            </a:r>
            <a:endParaRPr lang="en-US" sz="1200"/>
          </a:p>
        </p:txBody>
      </p:sp>
      <p:sp>
        <p:nvSpPr>
          <p:cNvPr id="21" name="Text 19"/>
          <p:cNvSpPr/>
          <p:nvPr/>
        </p:nvSpPr>
        <p:spPr>
          <a:xfrm>
            <a:off x="5285232" y="2926080"/>
            <a:ext cx="1755648" cy="128016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Unique passwords and MFA mean a stolen credential is not enough.</a:t>
            </a:r>
            <a:endParaRPr lang="en-US" sz="1000"/>
          </a:p>
        </p:txBody>
      </p:sp>
      <p:sp>
        <p:nvSpPr>
          <p:cNvPr id="22" name="Shape 20"/>
          <p:cNvSpPr/>
          <p:nvPr/>
        </p:nvSpPr>
        <p:spPr>
          <a:xfrm rot="5400000">
            <a:off x="7141464" y="3108960"/>
            <a:ext cx="128016" cy="146304"/>
          </a:xfrm>
          <a:prstGeom prst="triangle">
            <a:avLst/>
          </a:prstGeom>
          <a:solidFill>
            <a:srgbClr val="2C3446"/>
          </a:solidFill>
          <a:ln/>
        </p:spPr>
        <p:txBody>
          <a:bodyPr/>
          <a:lstStyle/>
          <a:p>
            <a:endParaRPr lang="en-US"/>
          </a:p>
        </p:txBody>
      </p:sp>
      <p:sp>
        <p:nvSpPr>
          <p:cNvPr id="23" name="Shape 21"/>
          <p:cNvSpPr/>
          <p:nvPr/>
        </p:nvSpPr>
        <p:spPr>
          <a:xfrm>
            <a:off x="7315200" y="2057400"/>
            <a:ext cx="2048256" cy="237744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24" name="Shape 22"/>
          <p:cNvSpPr/>
          <p:nvPr/>
        </p:nvSpPr>
        <p:spPr>
          <a:xfrm>
            <a:off x="7534656" y="2267712"/>
            <a:ext cx="566928" cy="237744"/>
          </a:xfrm>
          <a:prstGeom prst="roundRect">
            <a:avLst>
              <a:gd name="adj" fmla="val 23077"/>
            </a:avLst>
          </a:prstGeom>
          <a:solidFill>
            <a:srgbClr val="6A5AC7"/>
          </a:solidFill>
          <a:ln/>
        </p:spPr>
        <p:txBody>
          <a:bodyPr/>
          <a:lstStyle/>
          <a:p>
            <a:endParaRPr lang="en-US"/>
          </a:p>
        </p:txBody>
      </p:sp>
      <p:sp>
        <p:nvSpPr>
          <p:cNvPr id="25" name="Text 23"/>
          <p:cNvSpPr/>
          <p:nvPr/>
        </p:nvSpPr>
        <p:spPr>
          <a:xfrm>
            <a:off x="7534656" y="2267712"/>
            <a:ext cx="566928"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1.4</a:t>
            </a:r>
            <a:endParaRPr lang="en-US" sz="950"/>
          </a:p>
        </p:txBody>
      </p:sp>
      <p:sp>
        <p:nvSpPr>
          <p:cNvPr id="26" name="Text 24"/>
          <p:cNvSpPr/>
          <p:nvPr/>
        </p:nvSpPr>
        <p:spPr>
          <a:xfrm>
            <a:off x="7534656" y="2615184"/>
            <a:ext cx="1737360" cy="256032"/>
          </a:xfrm>
          <a:prstGeom prst="rect">
            <a:avLst/>
          </a:prstGeom>
          <a:noFill/>
          <a:ln/>
        </p:spPr>
        <p:txBody>
          <a:bodyPr wrap="square" lIns="0" tIns="0" rIns="0" bIns="0" rtlCol="0" anchor="ctr"/>
          <a:lstStyle/>
          <a:p>
            <a:pPr marL="0" indent="0">
              <a:buNone/>
            </a:pPr>
            <a:r>
              <a:rPr lang="en-US" sz="1200" b="1" kern="0" spc="80">
                <a:solidFill>
                  <a:srgbClr val="FFFFFF"/>
                </a:solidFill>
                <a:latin typeface="Calibri" pitchFamily="34" charset="0"/>
                <a:ea typeface="Calibri" pitchFamily="34" charset="-122"/>
                <a:cs typeface="Calibri" pitchFamily="34" charset="-120"/>
              </a:rPr>
              <a:t>IMPACT</a:t>
            </a:r>
            <a:endParaRPr lang="en-US" sz="1200"/>
          </a:p>
        </p:txBody>
      </p:sp>
      <p:sp>
        <p:nvSpPr>
          <p:cNvPr id="27" name="Text 25"/>
          <p:cNvSpPr/>
          <p:nvPr/>
        </p:nvSpPr>
        <p:spPr>
          <a:xfrm>
            <a:off x="7534656" y="2926080"/>
            <a:ext cx="1755648" cy="128016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Independent verification defeats a request no matter how convincing it sounds.</a:t>
            </a:r>
            <a:endParaRPr lang="en-US" sz="1000"/>
          </a:p>
        </p:txBody>
      </p:sp>
      <p:sp>
        <p:nvSpPr>
          <p:cNvPr id="28" name="Shape 26"/>
          <p:cNvSpPr/>
          <p:nvPr/>
        </p:nvSpPr>
        <p:spPr>
          <a:xfrm rot="5400000">
            <a:off x="9390888" y="3108960"/>
            <a:ext cx="128016" cy="146304"/>
          </a:xfrm>
          <a:prstGeom prst="triangle">
            <a:avLst/>
          </a:prstGeom>
          <a:solidFill>
            <a:srgbClr val="2C3446"/>
          </a:solidFill>
          <a:ln/>
        </p:spPr>
        <p:txBody>
          <a:bodyPr/>
          <a:lstStyle/>
          <a:p>
            <a:endParaRPr lang="en-US"/>
          </a:p>
        </p:txBody>
      </p:sp>
      <p:sp>
        <p:nvSpPr>
          <p:cNvPr id="29" name="Shape 27"/>
          <p:cNvSpPr/>
          <p:nvPr/>
        </p:nvSpPr>
        <p:spPr>
          <a:xfrm>
            <a:off x="9564624" y="2057400"/>
            <a:ext cx="2048256" cy="2377440"/>
          </a:xfrm>
          <a:prstGeom prst="roundRect">
            <a:avLst>
              <a:gd name="adj" fmla="val 4464"/>
            </a:avLst>
          </a:prstGeom>
          <a:solidFill>
            <a:srgbClr val="1D2331"/>
          </a:solidFill>
          <a:ln w="12700">
            <a:solidFill>
              <a:srgbClr val="2C3446"/>
            </a:solidFill>
            <a:prstDash val="solid"/>
          </a:ln>
        </p:spPr>
        <p:txBody>
          <a:bodyPr/>
          <a:lstStyle/>
          <a:p>
            <a:endParaRPr lang="en-US"/>
          </a:p>
        </p:txBody>
      </p:sp>
      <p:sp>
        <p:nvSpPr>
          <p:cNvPr id="30" name="Shape 28"/>
          <p:cNvSpPr/>
          <p:nvPr/>
        </p:nvSpPr>
        <p:spPr>
          <a:xfrm>
            <a:off x="9784080" y="2267712"/>
            <a:ext cx="566928" cy="237744"/>
          </a:xfrm>
          <a:prstGeom prst="roundRect">
            <a:avLst>
              <a:gd name="adj" fmla="val 23077"/>
            </a:avLst>
          </a:prstGeom>
          <a:solidFill>
            <a:srgbClr val="1FA697"/>
          </a:solidFill>
          <a:ln/>
        </p:spPr>
        <p:txBody>
          <a:bodyPr/>
          <a:lstStyle/>
          <a:p>
            <a:endParaRPr lang="en-US"/>
          </a:p>
        </p:txBody>
      </p:sp>
      <p:sp>
        <p:nvSpPr>
          <p:cNvPr id="31" name="Text 29"/>
          <p:cNvSpPr/>
          <p:nvPr/>
        </p:nvSpPr>
        <p:spPr>
          <a:xfrm>
            <a:off x="9784080" y="2267712"/>
            <a:ext cx="566928" cy="237744"/>
          </a:xfrm>
          <a:prstGeom prst="rect">
            <a:avLst/>
          </a:prstGeom>
          <a:noFill/>
          <a:ln/>
        </p:spPr>
        <p:txBody>
          <a:bodyPr wrap="square" lIns="0" tIns="0" rIns="0" bIns="0" rtlCol="0" anchor="ctr"/>
          <a:lstStyle/>
          <a:p>
            <a:pPr marL="0" indent="0" algn="ctr">
              <a:buNone/>
            </a:pPr>
            <a:r>
              <a:rPr lang="en-US" sz="950" b="1" kern="0" spc="50">
                <a:solidFill>
                  <a:srgbClr val="12141C"/>
                </a:solidFill>
                <a:latin typeface="Calibri" pitchFamily="34" charset="0"/>
                <a:ea typeface="Calibri" pitchFamily="34" charset="-122"/>
                <a:cs typeface="Calibri" pitchFamily="34" charset="-120"/>
              </a:rPr>
              <a:t>1.5</a:t>
            </a:r>
            <a:endParaRPr lang="en-US" sz="950"/>
          </a:p>
        </p:txBody>
      </p:sp>
      <p:sp>
        <p:nvSpPr>
          <p:cNvPr id="32" name="Text 30"/>
          <p:cNvSpPr/>
          <p:nvPr/>
        </p:nvSpPr>
        <p:spPr>
          <a:xfrm>
            <a:off x="9784080" y="2615184"/>
            <a:ext cx="1737360" cy="256032"/>
          </a:xfrm>
          <a:prstGeom prst="rect">
            <a:avLst/>
          </a:prstGeom>
          <a:noFill/>
          <a:ln/>
        </p:spPr>
        <p:txBody>
          <a:bodyPr wrap="square" lIns="0" tIns="0" rIns="0" bIns="0" rtlCol="0" anchor="ctr"/>
          <a:lstStyle/>
          <a:p>
            <a:pPr marL="0" indent="0">
              <a:buNone/>
            </a:pPr>
            <a:r>
              <a:rPr lang="en-US" sz="1200" b="1" kern="0" spc="80">
                <a:solidFill>
                  <a:srgbClr val="FFFFFF"/>
                </a:solidFill>
                <a:latin typeface="Calibri" pitchFamily="34" charset="0"/>
                <a:ea typeface="Calibri" pitchFamily="34" charset="-122"/>
                <a:cs typeface="Calibri" pitchFamily="34" charset="-120"/>
              </a:rPr>
              <a:t>DETECTION</a:t>
            </a:r>
            <a:endParaRPr lang="en-US" sz="1200"/>
          </a:p>
        </p:txBody>
      </p:sp>
      <p:sp>
        <p:nvSpPr>
          <p:cNvPr id="33" name="Text 31"/>
          <p:cNvSpPr/>
          <p:nvPr/>
        </p:nvSpPr>
        <p:spPr>
          <a:xfrm>
            <a:off x="9784080" y="2926080"/>
            <a:ext cx="1755648" cy="1280160"/>
          </a:xfrm>
          <a:prstGeom prst="rect">
            <a:avLst/>
          </a:prstGeom>
          <a:noFill/>
          <a:ln/>
        </p:spPr>
        <p:txBody>
          <a:bodyPr wrap="square" lIns="0" tIns="0" rIns="0" bIns="0" rtlCol="0" anchor="ctr"/>
          <a:lstStyle/>
          <a:p>
            <a:pPr marL="0" indent="0">
              <a:lnSpc>
                <a:spcPts val="1350"/>
              </a:lnSpc>
              <a:buNone/>
            </a:pPr>
            <a:r>
              <a:rPr lang="en-US" sz="1000">
                <a:solidFill>
                  <a:srgbClr val="9AA3B2"/>
                </a:solidFill>
                <a:latin typeface="Calibri" pitchFamily="34" charset="0"/>
                <a:ea typeface="Calibri" pitchFamily="34" charset="-122"/>
                <a:cs typeface="Calibri" pitchFamily="34" charset="-120"/>
              </a:rPr>
              <a:t>Logs and AI-assisted triage surface the compromise fast enough to act.</a:t>
            </a:r>
            <a:endParaRPr lang="en-US" sz="1000"/>
          </a:p>
        </p:txBody>
      </p:sp>
      <p:sp>
        <p:nvSpPr>
          <p:cNvPr id="34" name="Shape 32"/>
          <p:cNvSpPr/>
          <p:nvPr/>
        </p:nvSpPr>
        <p:spPr>
          <a:xfrm>
            <a:off x="566928" y="4754880"/>
            <a:ext cx="11057839" cy="960120"/>
          </a:xfrm>
          <a:prstGeom prst="roundRect">
            <a:avLst>
              <a:gd name="adj" fmla="val 8571"/>
            </a:avLst>
          </a:prstGeom>
          <a:solidFill>
            <a:srgbClr val="1D2331"/>
          </a:solidFill>
          <a:ln w="15875">
            <a:solidFill>
              <a:srgbClr val="F2A03D"/>
            </a:solidFill>
            <a:prstDash val="solid"/>
          </a:ln>
        </p:spPr>
        <p:txBody>
          <a:bodyPr/>
          <a:lstStyle/>
          <a:p>
            <a:endParaRPr lang="en-US"/>
          </a:p>
        </p:txBody>
      </p:sp>
      <p:sp>
        <p:nvSpPr>
          <p:cNvPr id="35" name="Shape 33"/>
          <p:cNvSpPr/>
          <p:nvPr/>
        </p:nvSpPr>
        <p:spPr>
          <a:xfrm>
            <a:off x="841248" y="4992624"/>
            <a:ext cx="457200" cy="457200"/>
          </a:xfrm>
          <a:prstGeom prst="ellipse">
            <a:avLst/>
          </a:prstGeom>
          <a:solidFill>
            <a:srgbClr val="F2A03D"/>
          </a:solidFill>
          <a:ln/>
        </p:spPr>
        <p:txBody>
          <a:bodyPr/>
          <a:lstStyle/>
          <a:p>
            <a:endParaRPr lang="en-US"/>
          </a:p>
        </p:txBody>
      </p:sp>
      <p:pic>
        <p:nvPicPr>
          <p:cNvPr id="36" name="Image 0" descr="/home/claude/icons/FaCompass_w.png"/>
          <p:cNvPicPr>
            <a:picLocks noChangeAspect="1"/>
          </p:cNvPicPr>
          <p:nvPr/>
        </p:nvPicPr>
        <p:blipFill>
          <a:blip r:embed="rId3"/>
          <a:stretch>
            <a:fillRect/>
          </a:stretch>
        </p:blipFill>
        <p:spPr>
          <a:xfrm>
            <a:off x="960120" y="5111496"/>
            <a:ext cx="219456" cy="219456"/>
          </a:xfrm>
          <a:prstGeom prst="rect">
            <a:avLst/>
          </a:prstGeom>
        </p:spPr>
      </p:pic>
      <p:sp>
        <p:nvSpPr>
          <p:cNvPr id="37" name="Text 34"/>
          <p:cNvSpPr/>
          <p:nvPr/>
        </p:nvSpPr>
        <p:spPr>
          <a:xfrm>
            <a:off x="1426464" y="4919472"/>
            <a:ext cx="10149840" cy="658368"/>
          </a:xfrm>
          <a:prstGeom prst="rect">
            <a:avLst/>
          </a:prstGeom>
          <a:noFill/>
          <a:ln/>
        </p:spPr>
        <p:txBody>
          <a:bodyPr wrap="square" lIns="0" tIns="0" rIns="0" bIns="0" rtlCol="0" anchor="t"/>
          <a:lstStyle/>
          <a:p>
            <a:pPr marL="0" indent="0">
              <a:lnSpc>
                <a:spcPts val="1650"/>
              </a:lnSpc>
              <a:buNone/>
            </a:pPr>
            <a:r>
              <a:rPr lang="en-US" sz="1250" i="1">
                <a:solidFill>
                  <a:srgbClr val="FFFFFF"/>
                </a:solidFill>
                <a:latin typeface="Calibri" pitchFamily="34" charset="0"/>
                <a:ea typeface="Calibri" pitchFamily="34" charset="-122"/>
                <a:cs typeface="Calibri" pitchFamily="34" charset="-120"/>
              </a:rPr>
              <a:t>The three sentences that carry Unit 1: the human is an attack surface; a control is only as strong as the process around it; and evidence, not confidence, is what supports a conclusion.</a:t>
            </a:r>
            <a:endParaRPr lang="en-US" sz="1250"/>
          </a:p>
        </p:txBody>
      </p:sp>
      <p:sp>
        <p:nvSpPr>
          <p:cNvPr id="38" name="Text 3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9" name="Text 3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55</a:t>
            </a:r>
            <a:endParaRPr lang="en-US" sz="9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EXAM TECHNIQUE</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The task verbs, and what each one demands</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Free-response questions are marked on whether you performed the verb, not on how much you wrote.</a:t>
            </a:r>
            <a:endParaRPr lang="en-US" sz="1400"/>
          </a:p>
        </p:txBody>
      </p:sp>
      <p:sp>
        <p:nvSpPr>
          <p:cNvPr id="5" name="Shape 3"/>
          <p:cNvSpPr/>
          <p:nvPr/>
        </p:nvSpPr>
        <p:spPr>
          <a:xfrm>
            <a:off x="566928" y="1901952"/>
            <a:ext cx="11057839" cy="676656"/>
          </a:xfrm>
          <a:prstGeom prst="roundRect">
            <a:avLst>
              <a:gd name="adj" fmla="val 12162"/>
            </a:avLst>
          </a:prstGeom>
          <a:solidFill>
            <a:srgbClr val="EAF0FA"/>
          </a:solidFill>
          <a:ln/>
        </p:spPr>
        <p:txBody>
          <a:bodyPr/>
          <a:lstStyle/>
          <a:p>
            <a:endParaRPr lang="en-US"/>
          </a:p>
        </p:txBody>
      </p:sp>
      <p:sp>
        <p:nvSpPr>
          <p:cNvPr id="6" name="Text 4"/>
          <p:cNvSpPr/>
          <p:nvPr/>
        </p:nvSpPr>
        <p:spPr>
          <a:xfrm>
            <a:off x="822960" y="1947672"/>
            <a:ext cx="1280160" cy="292608"/>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Identify</a:t>
            </a:r>
            <a:endParaRPr lang="en-US" sz="1300"/>
          </a:p>
        </p:txBody>
      </p:sp>
      <p:sp>
        <p:nvSpPr>
          <p:cNvPr id="7" name="Text 5"/>
          <p:cNvSpPr/>
          <p:nvPr/>
        </p:nvSpPr>
        <p:spPr>
          <a:xfrm>
            <a:off x="2212848" y="1956816"/>
            <a:ext cx="4114800" cy="566928"/>
          </a:xfrm>
          <a:prstGeom prst="rect">
            <a:avLst/>
          </a:prstGeom>
          <a:noFill/>
          <a:ln/>
        </p:spPr>
        <p:txBody>
          <a:bodyPr wrap="square" lIns="0" tIns="0" rIns="0" bIns="0" rtlCol="0" anchor="t"/>
          <a:lstStyle/>
          <a:p>
            <a:pPr marL="0" indent="0">
              <a:lnSpc>
                <a:spcPts val="1320"/>
              </a:lnSpc>
              <a:buNone/>
            </a:pPr>
            <a:r>
              <a:rPr lang="en-US" sz="1040">
                <a:solidFill>
                  <a:srgbClr val="2B303C"/>
                </a:solidFill>
                <a:latin typeface="Calibri" pitchFamily="34" charset="0"/>
                <a:ea typeface="Calibri" pitchFamily="34" charset="-122"/>
                <a:cs typeface="Calibri" pitchFamily="34" charset="-120"/>
              </a:rPr>
              <a:t>Provide information about a concept, or point to evidence in the given sources.</a:t>
            </a:r>
            <a:endParaRPr lang="en-US" sz="1040"/>
          </a:p>
        </p:txBody>
      </p:sp>
      <p:sp>
        <p:nvSpPr>
          <p:cNvPr id="8" name="Text 6"/>
          <p:cNvSpPr/>
          <p:nvPr/>
        </p:nvSpPr>
        <p:spPr>
          <a:xfrm>
            <a:off x="6510528" y="1956816"/>
            <a:ext cx="4937760" cy="566928"/>
          </a:xfrm>
          <a:prstGeom prst="rect">
            <a:avLst/>
          </a:prstGeom>
          <a:noFill/>
          <a:ln/>
        </p:spPr>
        <p:txBody>
          <a:bodyPr wrap="square" lIns="0" tIns="0" rIns="0" bIns="0" rtlCol="0" anchor="t"/>
          <a:lstStyle/>
          <a:p>
            <a:pPr marL="0" indent="0">
              <a:lnSpc>
                <a:spcPts val="1320"/>
              </a:lnSpc>
              <a:buNone/>
            </a:pPr>
            <a:r>
              <a:rPr lang="en-US" sz="1000" i="1">
                <a:solidFill>
                  <a:srgbClr val="16786D"/>
                </a:solidFill>
                <a:latin typeface="Calibri" pitchFamily="34" charset="0"/>
                <a:ea typeface="Calibri" pitchFamily="34" charset="-122"/>
                <a:cs typeface="Calibri" pitchFamily="34" charset="-120"/>
              </a:rPr>
              <a:t>"Entry 4 shows a login from an unfamiliar IP address during school hours."</a:t>
            </a:r>
            <a:endParaRPr lang="en-US" sz="1000"/>
          </a:p>
        </p:txBody>
      </p:sp>
      <p:sp>
        <p:nvSpPr>
          <p:cNvPr id="9" name="Shape 7"/>
          <p:cNvSpPr/>
          <p:nvPr/>
        </p:nvSpPr>
        <p:spPr>
          <a:xfrm>
            <a:off x="566928" y="2651760"/>
            <a:ext cx="11057839" cy="676656"/>
          </a:xfrm>
          <a:prstGeom prst="roundRect">
            <a:avLst>
              <a:gd name="adj" fmla="val 12162"/>
            </a:avLst>
          </a:prstGeom>
          <a:solidFill>
            <a:srgbClr val="F2F4F8"/>
          </a:solidFill>
          <a:ln/>
        </p:spPr>
        <p:txBody>
          <a:bodyPr/>
          <a:lstStyle/>
          <a:p>
            <a:endParaRPr lang="en-US"/>
          </a:p>
        </p:txBody>
      </p:sp>
      <p:sp>
        <p:nvSpPr>
          <p:cNvPr id="10" name="Text 8"/>
          <p:cNvSpPr/>
          <p:nvPr/>
        </p:nvSpPr>
        <p:spPr>
          <a:xfrm>
            <a:off x="822960" y="2697480"/>
            <a:ext cx="1280160" cy="292608"/>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Explain</a:t>
            </a:r>
            <a:endParaRPr lang="en-US" sz="1300"/>
          </a:p>
        </p:txBody>
      </p:sp>
      <p:sp>
        <p:nvSpPr>
          <p:cNvPr id="11" name="Text 9"/>
          <p:cNvSpPr/>
          <p:nvPr/>
        </p:nvSpPr>
        <p:spPr>
          <a:xfrm>
            <a:off x="2212848" y="2706624"/>
            <a:ext cx="4114800" cy="566928"/>
          </a:xfrm>
          <a:prstGeom prst="rect">
            <a:avLst/>
          </a:prstGeom>
          <a:noFill/>
          <a:ln/>
        </p:spPr>
        <p:txBody>
          <a:bodyPr wrap="square" lIns="0" tIns="0" rIns="0" bIns="0" rtlCol="0" anchor="t"/>
          <a:lstStyle/>
          <a:p>
            <a:pPr marL="0" indent="0">
              <a:lnSpc>
                <a:spcPts val="1320"/>
              </a:lnSpc>
              <a:buNone/>
            </a:pPr>
            <a:r>
              <a:rPr lang="en-US" sz="1040">
                <a:solidFill>
                  <a:srgbClr val="2B303C"/>
                </a:solidFill>
                <a:latin typeface="Calibri" pitchFamily="34" charset="0"/>
                <a:ea typeface="Calibri" pitchFamily="34" charset="-122"/>
                <a:cs typeface="Calibri" pitchFamily="34" charset="-120"/>
              </a:rPr>
              <a:t>Give reasons that support a solution or account for an outcome, using specific evidence.</a:t>
            </a:r>
            <a:endParaRPr lang="en-US" sz="1040"/>
          </a:p>
        </p:txBody>
      </p:sp>
      <p:sp>
        <p:nvSpPr>
          <p:cNvPr id="12" name="Text 10"/>
          <p:cNvSpPr/>
          <p:nvPr/>
        </p:nvSpPr>
        <p:spPr>
          <a:xfrm>
            <a:off x="6510528" y="2706624"/>
            <a:ext cx="4937760" cy="566928"/>
          </a:xfrm>
          <a:prstGeom prst="rect">
            <a:avLst/>
          </a:prstGeom>
          <a:noFill/>
          <a:ln/>
        </p:spPr>
        <p:txBody>
          <a:bodyPr wrap="square" lIns="0" tIns="0" rIns="0" bIns="0" rtlCol="0" anchor="t"/>
          <a:lstStyle/>
          <a:p>
            <a:pPr marL="0" indent="0">
              <a:lnSpc>
                <a:spcPts val="1320"/>
              </a:lnSpc>
              <a:buNone/>
            </a:pPr>
            <a:r>
              <a:rPr lang="en-US" sz="1000" i="1">
                <a:solidFill>
                  <a:srgbClr val="16786D"/>
                </a:solidFill>
                <a:latin typeface="Calibri" pitchFamily="34" charset="0"/>
                <a:ea typeface="Calibri" pitchFamily="34" charset="-122"/>
                <a:cs typeface="Calibri" pitchFamily="34" charset="-120"/>
              </a:rPr>
              <a:t>"This is suspicious because the user stated they log in only on evenings and weekends."</a:t>
            </a:r>
            <a:endParaRPr lang="en-US" sz="1000"/>
          </a:p>
        </p:txBody>
      </p:sp>
      <p:sp>
        <p:nvSpPr>
          <p:cNvPr id="13" name="Shape 11"/>
          <p:cNvSpPr/>
          <p:nvPr/>
        </p:nvSpPr>
        <p:spPr>
          <a:xfrm>
            <a:off x="566928" y="3401568"/>
            <a:ext cx="11057839" cy="676656"/>
          </a:xfrm>
          <a:prstGeom prst="roundRect">
            <a:avLst>
              <a:gd name="adj" fmla="val 12162"/>
            </a:avLst>
          </a:prstGeom>
          <a:solidFill>
            <a:srgbClr val="EAF0FA"/>
          </a:solidFill>
          <a:ln/>
        </p:spPr>
        <p:txBody>
          <a:bodyPr/>
          <a:lstStyle/>
          <a:p>
            <a:endParaRPr lang="en-US"/>
          </a:p>
        </p:txBody>
      </p:sp>
      <p:sp>
        <p:nvSpPr>
          <p:cNvPr id="14" name="Text 12"/>
          <p:cNvSpPr/>
          <p:nvPr/>
        </p:nvSpPr>
        <p:spPr>
          <a:xfrm>
            <a:off x="822960" y="3447288"/>
            <a:ext cx="1280160" cy="292608"/>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Describe</a:t>
            </a:r>
            <a:endParaRPr lang="en-US" sz="1300"/>
          </a:p>
        </p:txBody>
      </p:sp>
      <p:sp>
        <p:nvSpPr>
          <p:cNvPr id="15" name="Text 13"/>
          <p:cNvSpPr/>
          <p:nvPr/>
        </p:nvSpPr>
        <p:spPr>
          <a:xfrm>
            <a:off x="2212848" y="3456432"/>
            <a:ext cx="4114800" cy="566928"/>
          </a:xfrm>
          <a:prstGeom prst="rect">
            <a:avLst/>
          </a:prstGeom>
          <a:noFill/>
          <a:ln/>
        </p:spPr>
        <p:txBody>
          <a:bodyPr wrap="square" lIns="0" tIns="0" rIns="0" bIns="0" rtlCol="0" anchor="t"/>
          <a:lstStyle/>
          <a:p>
            <a:pPr marL="0" indent="0">
              <a:lnSpc>
                <a:spcPts val="1320"/>
              </a:lnSpc>
              <a:buNone/>
            </a:pPr>
            <a:r>
              <a:rPr lang="en-US" sz="1040">
                <a:solidFill>
                  <a:srgbClr val="2B303C"/>
                </a:solidFill>
                <a:latin typeface="Calibri" pitchFamily="34" charset="0"/>
                <a:ea typeface="Calibri" pitchFamily="34" charset="-122"/>
                <a:cs typeface="Calibri" pitchFamily="34" charset="-120"/>
              </a:rPr>
              <a:t>Provide information about a process or an outcome.</a:t>
            </a:r>
            <a:endParaRPr lang="en-US" sz="1040"/>
          </a:p>
        </p:txBody>
      </p:sp>
      <p:sp>
        <p:nvSpPr>
          <p:cNvPr id="16" name="Text 14"/>
          <p:cNvSpPr/>
          <p:nvPr/>
        </p:nvSpPr>
        <p:spPr>
          <a:xfrm>
            <a:off x="6510528" y="3456432"/>
            <a:ext cx="4937760" cy="566928"/>
          </a:xfrm>
          <a:prstGeom prst="rect">
            <a:avLst/>
          </a:prstGeom>
          <a:noFill/>
          <a:ln/>
        </p:spPr>
        <p:txBody>
          <a:bodyPr wrap="square" lIns="0" tIns="0" rIns="0" bIns="0" rtlCol="0" anchor="t"/>
          <a:lstStyle/>
          <a:p>
            <a:pPr marL="0" indent="0">
              <a:lnSpc>
                <a:spcPts val="1320"/>
              </a:lnSpc>
              <a:buNone/>
            </a:pPr>
            <a:r>
              <a:rPr lang="en-US" sz="1000" i="1">
                <a:solidFill>
                  <a:srgbClr val="16786D"/>
                </a:solidFill>
                <a:latin typeface="Calibri" pitchFamily="34" charset="0"/>
                <a:ea typeface="Calibri" pitchFamily="34" charset="-122"/>
                <a:cs typeface="Calibri" pitchFamily="34" charset="-120"/>
              </a:rPr>
              <a:t>"The adversary then used the captured credential on services linked to that account."</a:t>
            </a:r>
            <a:endParaRPr lang="en-US" sz="1000"/>
          </a:p>
        </p:txBody>
      </p:sp>
      <p:sp>
        <p:nvSpPr>
          <p:cNvPr id="17" name="Shape 15"/>
          <p:cNvSpPr/>
          <p:nvPr/>
        </p:nvSpPr>
        <p:spPr>
          <a:xfrm>
            <a:off x="566928" y="4151376"/>
            <a:ext cx="11057839" cy="676656"/>
          </a:xfrm>
          <a:prstGeom prst="roundRect">
            <a:avLst>
              <a:gd name="adj" fmla="val 12162"/>
            </a:avLst>
          </a:prstGeom>
          <a:solidFill>
            <a:srgbClr val="F2F4F8"/>
          </a:solidFill>
          <a:ln/>
        </p:spPr>
        <p:txBody>
          <a:bodyPr/>
          <a:lstStyle/>
          <a:p>
            <a:endParaRPr lang="en-US"/>
          </a:p>
        </p:txBody>
      </p:sp>
      <p:sp>
        <p:nvSpPr>
          <p:cNvPr id="18" name="Text 16"/>
          <p:cNvSpPr/>
          <p:nvPr/>
        </p:nvSpPr>
        <p:spPr>
          <a:xfrm>
            <a:off x="822960" y="4197096"/>
            <a:ext cx="1280160" cy="292608"/>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Determine</a:t>
            </a:r>
            <a:endParaRPr lang="en-US" sz="1300"/>
          </a:p>
        </p:txBody>
      </p:sp>
      <p:sp>
        <p:nvSpPr>
          <p:cNvPr id="19" name="Text 17"/>
          <p:cNvSpPr/>
          <p:nvPr/>
        </p:nvSpPr>
        <p:spPr>
          <a:xfrm>
            <a:off x="2212848" y="4206240"/>
            <a:ext cx="4114800" cy="566928"/>
          </a:xfrm>
          <a:prstGeom prst="rect">
            <a:avLst/>
          </a:prstGeom>
          <a:noFill/>
          <a:ln/>
        </p:spPr>
        <p:txBody>
          <a:bodyPr wrap="square" lIns="0" tIns="0" rIns="0" bIns="0" rtlCol="0" anchor="t"/>
          <a:lstStyle/>
          <a:p>
            <a:pPr marL="0" indent="0">
              <a:lnSpc>
                <a:spcPts val="1320"/>
              </a:lnSpc>
              <a:buNone/>
            </a:pPr>
            <a:r>
              <a:rPr lang="en-US" sz="1040">
                <a:solidFill>
                  <a:srgbClr val="2B303C"/>
                </a:solidFill>
                <a:latin typeface="Calibri" pitchFamily="34" charset="0"/>
                <a:ea typeface="Calibri" pitchFamily="34" charset="-122"/>
                <a:cs typeface="Calibri" pitchFamily="34" charset="-120"/>
              </a:rPr>
              <a:t>Apply criteria or reasoning to the sources to reach a specific result.</a:t>
            </a:r>
            <a:endParaRPr lang="en-US" sz="1040"/>
          </a:p>
        </p:txBody>
      </p:sp>
      <p:sp>
        <p:nvSpPr>
          <p:cNvPr id="20" name="Text 18"/>
          <p:cNvSpPr/>
          <p:nvPr/>
        </p:nvSpPr>
        <p:spPr>
          <a:xfrm>
            <a:off x="6510528" y="4206240"/>
            <a:ext cx="4937760" cy="566928"/>
          </a:xfrm>
          <a:prstGeom prst="rect">
            <a:avLst/>
          </a:prstGeom>
          <a:noFill/>
          <a:ln/>
        </p:spPr>
        <p:txBody>
          <a:bodyPr wrap="square" lIns="0" tIns="0" rIns="0" bIns="0" rtlCol="0" anchor="t"/>
          <a:lstStyle/>
          <a:p>
            <a:pPr marL="0" indent="0">
              <a:lnSpc>
                <a:spcPts val="1320"/>
              </a:lnSpc>
              <a:buNone/>
            </a:pPr>
            <a:r>
              <a:rPr lang="en-US" sz="1000" i="1">
                <a:solidFill>
                  <a:srgbClr val="16786D"/>
                </a:solidFill>
                <a:latin typeface="Calibri" pitchFamily="34" charset="0"/>
                <a:ea typeface="Calibri" pitchFamily="34" charset="-122"/>
                <a:cs typeface="Calibri" pitchFamily="34" charset="-120"/>
              </a:rPr>
              <a:t>"Given the failed-login burst and the successful login that follows, the account is compromised."</a:t>
            </a:r>
            <a:endParaRPr lang="en-US" sz="1000"/>
          </a:p>
        </p:txBody>
      </p:sp>
      <p:sp>
        <p:nvSpPr>
          <p:cNvPr id="21" name="Shape 19"/>
          <p:cNvSpPr/>
          <p:nvPr/>
        </p:nvSpPr>
        <p:spPr>
          <a:xfrm>
            <a:off x="566928" y="4901184"/>
            <a:ext cx="11057839" cy="676656"/>
          </a:xfrm>
          <a:prstGeom prst="roundRect">
            <a:avLst>
              <a:gd name="adj" fmla="val 12162"/>
            </a:avLst>
          </a:prstGeom>
          <a:solidFill>
            <a:srgbClr val="EAF0FA"/>
          </a:solidFill>
          <a:ln/>
        </p:spPr>
        <p:txBody>
          <a:bodyPr/>
          <a:lstStyle/>
          <a:p>
            <a:endParaRPr lang="en-US"/>
          </a:p>
        </p:txBody>
      </p:sp>
      <p:sp>
        <p:nvSpPr>
          <p:cNvPr id="22" name="Text 20"/>
          <p:cNvSpPr/>
          <p:nvPr/>
        </p:nvSpPr>
        <p:spPr>
          <a:xfrm>
            <a:off x="822960" y="4946904"/>
            <a:ext cx="1280160" cy="292608"/>
          </a:xfrm>
          <a:prstGeom prst="rect">
            <a:avLst/>
          </a:prstGeom>
          <a:noFill/>
          <a:ln/>
        </p:spPr>
        <p:txBody>
          <a:bodyPr wrap="square" lIns="0" tIns="0" rIns="0" bIns="0" rtlCol="0" anchor="ctr"/>
          <a:lstStyle/>
          <a:p>
            <a:pPr marL="0" indent="0">
              <a:buNone/>
            </a:pPr>
            <a:r>
              <a:rPr lang="en-US" sz="1300" b="1">
                <a:solidFill>
                  <a:srgbClr val="12141C"/>
                </a:solidFill>
                <a:latin typeface="Calibri" pitchFamily="34" charset="0"/>
                <a:ea typeface="Calibri" pitchFamily="34" charset="-122"/>
                <a:cs typeface="Calibri" pitchFamily="34" charset="-120"/>
              </a:rPr>
              <a:t>Write</a:t>
            </a:r>
            <a:endParaRPr lang="en-US" sz="1300"/>
          </a:p>
        </p:txBody>
      </p:sp>
      <p:sp>
        <p:nvSpPr>
          <p:cNvPr id="23" name="Text 21"/>
          <p:cNvSpPr/>
          <p:nvPr/>
        </p:nvSpPr>
        <p:spPr>
          <a:xfrm>
            <a:off x="2212848" y="4956048"/>
            <a:ext cx="4114800" cy="566928"/>
          </a:xfrm>
          <a:prstGeom prst="rect">
            <a:avLst/>
          </a:prstGeom>
          <a:noFill/>
          <a:ln/>
        </p:spPr>
        <p:txBody>
          <a:bodyPr wrap="square" lIns="0" tIns="0" rIns="0" bIns="0" rtlCol="0" anchor="t"/>
          <a:lstStyle/>
          <a:p>
            <a:pPr marL="0" indent="0">
              <a:lnSpc>
                <a:spcPts val="1320"/>
              </a:lnSpc>
              <a:buNone/>
            </a:pPr>
            <a:r>
              <a:rPr lang="en-US" sz="1040">
                <a:solidFill>
                  <a:srgbClr val="2B303C"/>
                </a:solidFill>
                <a:latin typeface="Calibri" pitchFamily="34" charset="0"/>
                <a:ea typeface="Calibri" pitchFamily="34" charset="-122"/>
                <a:cs typeface="Calibri" pitchFamily="34" charset="-120"/>
              </a:rPr>
              <a:t>Express in print a proper command that has the indicated effect.</a:t>
            </a:r>
            <a:endParaRPr lang="en-US" sz="1040"/>
          </a:p>
        </p:txBody>
      </p:sp>
      <p:sp>
        <p:nvSpPr>
          <p:cNvPr id="24" name="Text 22"/>
          <p:cNvSpPr/>
          <p:nvPr/>
        </p:nvSpPr>
        <p:spPr>
          <a:xfrm>
            <a:off x="6510528" y="4956048"/>
            <a:ext cx="4937760" cy="566928"/>
          </a:xfrm>
          <a:prstGeom prst="rect">
            <a:avLst/>
          </a:prstGeom>
          <a:noFill/>
          <a:ln/>
        </p:spPr>
        <p:txBody>
          <a:bodyPr wrap="square" lIns="0" tIns="0" rIns="0" bIns="0" rtlCol="0" anchor="t"/>
          <a:lstStyle/>
          <a:p>
            <a:pPr marL="0" indent="0">
              <a:lnSpc>
                <a:spcPts val="1320"/>
              </a:lnSpc>
              <a:buNone/>
            </a:pPr>
            <a:r>
              <a:rPr lang="en-US" sz="1000" i="1">
                <a:solidFill>
                  <a:srgbClr val="16786D"/>
                </a:solidFill>
                <a:latin typeface="Calibri" pitchFamily="34" charset="0"/>
                <a:ea typeface="Calibri" pitchFamily="34" charset="-122"/>
                <a:cs typeface="Calibri" pitchFamily="34" charset="-120"/>
              </a:rPr>
              <a:t>Used where the task calls for an actual configuration or command line.</a:t>
            </a:r>
            <a:endParaRPr lang="en-US" sz="1000"/>
          </a:p>
        </p:txBody>
      </p:sp>
      <p:sp>
        <p:nvSpPr>
          <p:cNvPr id="25" name="Shape 23"/>
          <p:cNvSpPr/>
          <p:nvPr/>
        </p:nvSpPr>
        <p:spPr>
          <a:xfrm>
            <a:off x="566928" y="5742432"/>
            <a:ext cx="11057839" cy="512064"/>
          </a:xfrm>
          <a:prstGeom prst="roundRect">
            <a:avLst>
              <a:gd name="adj" fmla="val 14286"/>
            </a:avLst>
          </a:prstGeom>
          <a:solidFill>
            <a:srgbClr val="12141C"/>
          </a:solidFill>
          <a:ln/>
        </p:spPr>
        <p:txBody>
          <a:bodyPr/>
          <a:lstStyle/>
          <a:p>
            <a:endParaRPr lang="en-US"/>
          </a:p>
        </p:txBody>
      </p:sp>
      <p:pic>
        <p:nvPicPr>
          <p:cNvPr id="26" name="Image 0" descr="/home/claude/icons/FaClipboardCheck_w.png"/>
          <p:cNvPicPr>
            <a:picLocks noChangeAspect="1"/>
          </p:cNvPicPr>
          <p:nvPr/>
        </p:nvPicPr>
        <p:blipFill>
          <a:blip r:embed="rId3"/>
          <a:stretch>
            <a:fillRect/>
          </a:stretch>
        </p:blipFill>
        <p:spPr>
          <a:xfrm>
            <a:off x="768096" y="5884164"/>
            <a:ext cx="228600" cy="228600"/>
          </a:xfrm>
          <a:prstGeom prst="rect">
            <a:avLst/>
          </a:prstGeom>
        </p:spPr>
      </p:pic>
      <p:sp>
        <p:nvSpPr>
          <p:cNvPr id="27" name="Text 24"/>
          <p:cNvSpPr/>
          <p:nvPr/>
        </p:nvSpPr>
        <p:spPr>
          <a:xfrm>
            <a:off x="1133856" y="5742432"/>
            <a:ext cx="10234879" cy="512064"/>
          </a:xfrm>
          <a:prstGeom prst="rect">
            <a:avLst/>
          </a:prstGeom>
          <a:noFill/>
          <a:ln/>
        </p:spPr>
        <p:txBody>
          <a:bodyPr wrap="square" lIns="0" tIns="0" rIns="0" bIns="0" rtlCol="0" anchor="ctr"/>
          <a:lstStyle/>
          <a:p>
            <a:pPr marL="0" indent="0">
              <a:lnSpc>
                <a:spcPts val="1400"/>
              </a:lnSpc>
              <a:buNone/>
            </a:pPr>
            <a:r>
              <a:rPr lang="en-US" sz="1150" i="1">
                <a:solidFill>
                  <a:srgbClr val="FFFFFF"/>
                </a:solidFill>
                <a:latin typeface="Calibri" pitchFamily="34" charset="0"/>
                <a:ea typeface="Calibri" pitchFamily="34" charset="-122"/>
                <a:cs typeface="Calibri" pitchFamily="34" charset="-120"/>
              </a:rPr>
              <a:t>Section II is a Device Security Analysis: you receive simulated sources — policies, firewall configurations, file permissions, log files — and must cite them. Never answer from memory when a source is in front of you.</a:t>
            </a:r>
            <a:endParaRPr lang="en-US" sz="1150"/>
          </a:p>
        </p:txBody>
      </p:sp>
      <p:sp>
        <p:nvSpPr>
          <p:cNvPr id="28" name="Text 2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9" name="Text 2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56</a:t>
            </a:r>
            <a:endParaRPr lang="en-US" sz="9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66928" y="384048"/>
            <a:ext cx="1737360" cy="274320"/>
          </a:xfrm>
          <a:prstGeom prst="roundRect">
            <a:avLst>
              <a:gd name="adj" fmla="val 20000"/>
            </a:avLst>
          </a:prstGeom>
          <a:solidFill>
            <a:srgbClr val="12141C"/>
          </a:solidFill>
          <a:ln/>
        </p:spPr>
        <p:txBody>
          <a:bodyPr/>
          <a:lstStyle/>
          <a:p>
            <a:endParaRPr lang="en-US"/>
          </a:p>
        </p:txBody>
      </p:sp>
      <p:sp>
        <p:nvSpPr>
          <p:cNvPr id="3" name="Text 1"/>
          <p:cNvSpPr/>
          <p:nvPr/>
        </p:nvSpPr>
        <p:spPr>
          <a:xfrm>
            <a:off x="566928" y="384048"/>
            <a:ext cx="1737360"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PRACTICE</a:t>
            </a:r>
            <a:endParaRPr lang="en-US" sz="950"/>
          </a:p>
        </p:txBody>
      </p:sp>
      <p:sp>
        <p:nvSpPr>
          <p:cNvPr id="4" name="Text 2"/>
          <p:cNvSpPr/>
          <p:nvPr/>
        </p:nvSpPr>
        <p:spPr>
          <a:xfrm>
            <a:off x="2487168" y="384048"/>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AP-STYLE MULTIPLE CHOICE  ·  QUESTIONS 1-4</a:t>
            </a:r>
            <a:endParaRPr lang="en-US" sz="1050"/>
          </a:p>
        </p:txBody>
      </p:sp>
      <p:sp>
        <p:nvSpPr>
          <p:cNvPr id="5" name="Text 3"/>
          <p:cNvSpPr/>
          <p:nvPr/>
        </p:nvSpPr>
        <p:spPr>
          <a:xfrm>
            <a:off x="566928" y="804672"/>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Practice set, part one</a:t>
            </a:r>
            <a:endParaRPr lang="en-US" sz="3000"/>
          </a:p>
        </p:txBody>
      </p:sp>
      <p:sp>
        <p:nvSpPr>
          <p:cNvPr id="6" name="Shape 4"/>
          <p:cNvSpPr/>
          <p:nvPr/>
        </p:nvSpPr>
        <p:spPr>
          <a:xfrm>
            <a:off x="566928" y="1572768"/>
            <a:ext cx="5394960" cy="2011680"/>
          </a:xfrm>
          <a:prstGeom prst="roundRect">
            <a:avLst>
              <a:gd name="adj" fmla="val 4091"/>
            </a:avLst>
          </a:prstGeom>
          <a:solidFill>
            <a:srgbClr val="EAF0FA"/>
          </a:solidFill>
          <a:ln/>
        </p:spPr>
        <p:txBody>
          <a:bodyPr/>
          <a:lstStyle/>
          <a:p>
            <a:endParaRPr lang="en-US"/>
          </a:p>
        </p:txBody>
      </p:sp>
      <p:sp>
        <p:nvSpPr>
          <p:cNvPr id="7" name="Text 5"/>
          <p:cNvSpPr/>
          <p:nvPr/>
        </p:nvSpPr>
        <p:spPr>
          <a:xfrm>
            <a:off x="804672" y="1719072"/>
            <a:ext cx="274320" cy="274320"/>
          </a:xfrm>
          <a:prstGeom prst="rect">
            <a:avLst/>
          </a:prstGeom>
          <a:noFill/>
          <a:ln/>
        </p:spPr>
        <p:txBody>
          <a:bodyPr wrap="square" lIns="0" tIns="0" rIns="0" bIns="0" rtlCol="0" anchor="ctr"/>
          <a:lstStyle/>
          <a:p>
            <a:pPr marL="0" indent="0">
              <a:buNone/>
            </a:pPr>
            <a:r>
              <a:rPr lang="en-US" sz="1700" b="1">
                <a:solidFill>
                  <a:srgbClr val="12141C"/>
                </a:solidFill>
                <a:latin typeface="Cambria" pitchFamily="34" charset="0"/>
                <a:ea typeface="Cambria" pitchFamily="34" charset="-122"/>
                <a:cs typeface="Cambria" pitchFamily="34" charset="-120"/>
              </a:rPr>
              <a:t>1</a:t>
            </a:r>
            <a:endParaRPr lang="en-US" sz="1700"/>
          </a:p>
        </p:txBody>
      </p:sp>
      <p:sp>
        <p:nvSpPr>
          <p:cNvPr id="8" name="Text 6"/>
          <p:cNvSpPr/>
          <p:nvPr/>
        </p:nvSpPr>
        <p:spPr>
          <a:xfrm>
            <a:off x="1170432" y="1755648"/>
            <a:ext cx="1828800" cy="201168"/>
          </a:xfrm>
          <a:prstGeom prst="rect">
            <a:avLst/>
          </a:prstGeom>
          <a:noFill/>
          <a:ln/>
        </p:spPr>
        <p:txBody>
          <a:bodyPr wrap="square" lIns="0" tIns="0" rIns="0" bIns="0" rtlCol="0" anchor="ctr"/>
          <a:lstStyle/>
          <a:p>
            <a:pPr marL="0" indent="0">
              <a:buNone/>
            </a:pPr>
            <a:r>
              <a:rPr lang="en-US" sz="850" b="1" kern="0" spc="120">
                <a:solidFill>
                  <a:srgbClr val="6B7280"/>
                </a:solidFill>
                <a:latin typeface="Calibri" pitchFamily="34" charset="0"/>
                <a:ea typeface="Calibri" pitchFamily="34" charset="-122"/>
                <a:cs typeface="Calibri" pitchFamily="34" charset="-120"/>
              </a:rPr>
              <a:t>SKILL 1.A</a:t>
            </a:r>
            <a:endParaRPr lang="en-US" sz="850"/>
          </a:p>
        </p:txBody>
      </p:sp>
      <p:sp>
        <p:nvSpPr>
          <p:cNvPr id="9" name="Text 7"/>
          <p:cNvSpPr/>
          <p:nvPr/>
        </p:nvSpPr>
        <p:spPr>
          <a:xfrm>
            <a:off x="804672" y="2084832"/>
            <a:ext cx="4901184" cy="77724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An employee receives an email stating that their payroll account will be suspended within two hours unless they confirm their details through the enclosed link. Which psychological tactic is the message primarily relying on?</a:t>
            </a:r>
            <a:endParaRPr lang="en-US" sz="1050"/>
          </a:p>
        </p:txBody>
      </p:sp>
      <p:sp>
        <p:nvSpPr>
          <p:cNvPr id="10" name="Text 8"/>
          <p:cNvSpPr/>
          <p:nvPr/>
        </p:nvSpPr>
        <p:spPr>
          <a:xfrm>
            <a:off x="804672" y="292608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(A)  Consensus</a:t>
            </a:r>
            <a:endParaRPr lang="en-US" sz="1030"/>
          </a:p>
        </p:txBody>
      </p:sp>
      <p:sp>
        <p:nvSpPr>
          <p:cNvPr id="11" name="Text 9"/>
          <p:cNvSpPr/>
          <p:nvPr/>
        </p:nvSpPr>
        <p:spPr>
          <a:xfrm>
            <a:off x="3273552" y="292608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(B)  Urgency</a:t>
            </a:r>
            <a:endParaRPr lang="en-US" sz="1030"/>
          </a:p>
        </p:txBody>
      </p:sp>
      <p:sp>
        <p:nvSpPr>
          <p:cNvPr id="12" name="Text 10"/>
          <p:cNvSpPr/>
          <p:nvPr/>
        </p:nvSpPr>
        <p:spPr>
          <a:xfrm>
            <a:off x="804672" y="320040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(C)  Scarcity</a:t>
            </a:r>
            <a:endParaRPr lang="en-US" sz="1030"/>
          </a:p>
        </p:txBody>
      </p:sp>
      <p:sp>
        <p:nvSpPr>
          <p:cNvPr id="13" name="Text 11"/>
          <p:cNvSpPr/>
          <p:nvPr/>
        </p:nvSpPr>
        <p:spPr>
          <a:xfrm>
            <a:off x="3273552" y="320040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(D)  Elicitation</a:t>
            </a:r>
            <a:endParaRPr lang="en-US" sz="1030"/>
          </a:p>
        </p:txBody>
      </p:sp>
      <p:sp>
        <p:nvSpPr>
          <p:cNvPr id="14" name="Shape 12"/>
          <p:cNvSpPr/>
          <p:nvPr/>
        </p:nvSpPr>
        <p:spPr>
          <a:xfrm>
            <a:off x="6190488" y="1572768"/>
            <a:ext cx="5394960" cy="2011680"/>
          </a:xfrm>
          <a:prstGeom prst="roundRect">
            <a:avLst>
              <a:gd name="adj" fmla="val 4091"/>
            </a:avLst>
          </a:prstGeom>
          <a:solidFill>
            <a:srgbClr val="F2F4F8"/>
          </a:solidFill>
          <a:ln/>
        </p:spPr>
        <p:txBody>
          <a:bodyPr/>
          <a:lstStyle/>
          <a:p>
            <a:endParaRPr lang="en-US"/>
          </a:p>
        </p:txBody>
      </p:sp>
      <p:sp>
        <p:nvSpPr>
          <p:cNvPr id="15" name="Text 13"/>
          <p:cNvSpPr/>
          <p:nvPr/>
        </p:nvSpPr>
        <p:spPr>
          <a:xfrm>
            <a:off x="6428232" y="1719072"/>
            <a:ext cx="274320" cy="274320"/>
          </a:xfrm>
          <a:prstGeom prst="rect">
            <a:avLst/>
          </a:prstGeom>
          <a:noFill/>
          <a:ln/>
        </p:spPr>
        <p:txBody>
          <a:bodyPr wrap="square" lIns="0" tIns="0" rIns="0" bIns="0" rtlCol="0" anchor="ctr"/>
          <a:lstStyle/>
          <a:p>
            <a:pPr marL="0" indent="0">
              <a:buNone/>
            </a:pPr>
            <a:r>
              <a:rPr lang="en-US" sz="1700" b="1">
                <a:solidFill>
                  <a:srgbClr val="12141C"/>
                </a:solidFill>
                <a:latin typeface="Cambria" pitchFamily="34" charset="0"/>
                <a:ea typeface="Cambria" pitchFamily="34" charset="-122"/>
                <a:cs typeface="Cambria" pitchFamily="34" charset="-120"/>
              </a:rPr>
              <a:t>2</a:t>
            </a:r>
            <a:endParaRPr lang="en-US" sz="1700"/>
          </a:p>
        </p:txBody>
      </p:sp>
      <p:sp>
        <p:nvSpPr>
          <p:cNvPr id="16" name="Text 14"/>
          <p:cNvSpPr/>
          <p:nvPr/>
        </p:nvSpPr>
        <p:spPr>
          <a:xfrm>
            <a:off x="6793992" y="1755648"/>
            <a:ext cx="1828800" cy="201168"/>
          </a:xfrm>
          <a:prstGeom prst="rect">
            <a:avLst/>
          </a:prstGeom>
          <a:noFill/>
          <a:ln/>
        </p:spPr>
        <p:txBody>
          <a:bodyPr wrap="square" lIns="0" tIns="0" rIns="0" bIns="0" rtlCol="0" anchor="ctr"/>
          <a:lstStyle/>
          <a:p>
            <a:pPr marL="0" indent="0">
              <a:buNone/>
            </a:pPr>
            <a:r>
              <a:rPr lang="en-US" sz="850" b="1" kern="0" spc="120">
                <a:solidFill>
                  <a:srgbClr val="6B7280"/>
                </a:solidFill>
                <a:latin typeface="Calibri" pitchFamily="34" charset="0"/>
                <a:ea typeface="Calibri" pitchFamily="34" charset="-122"/>
                <a:cs typeface="Calibri" pitchFamily="34" charset="-120"/>
              </a:rPr>
              <a:t>SKILL 3.A</a:t>
            </a:r>
            <a:endParaRPr lang="en-US" sz="850"/>
          </a:p>
        </p:txBody>
      </p:sp>
      <p:sp>
        <p:nvSpPr>
          <p:cNvPr id="17" name="Text 15"/>
          <p:cNvSpPr/>
          <p:nvPr/>
        </p:nvSpPr>
        <p:spPr>
          <a:xfrm>
            <a:off x="6428232" y="2084832"/>
            <a:ext cx="4901184" cy="77724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A security log shows one failed login attempt against each of 2,400 different accounts within four minutes, all using the password Autumn2025!. Which attack does this best describe?</a:t>
            </a:r>
            <a:endParaRPr lang="en-US" sz="1050"/>
          </a:p>
        </p:txBody>
      </p:sp>
      <p:sp>
        <p:nvSpPr>
          <p:cNvPr id="18" name="Text 16"/>
          <p:cNvSpPr/>
          <p:nvPr/>
        </p:nvSpPr>
        <p:spPr>
          <a:xfrm>
            <a:off x="6428232" y="292608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(A)  Brute force</a:t>
            </a:r>
            <a:endParaRPr lang="en-US" sz="1030"/>
          </a:p>
        </p:txBody>
      </p:sp>
      <p:sp>
        <p:nvSpPr>
          <p:cNvPr id="19" name="Text 17"/>
          <p:cNvSpPr/>
          <p:nvPr/>
        </p:nvSpPr>
        <p:spPr>
          <a:xfrm>
            <a:off x="8897112" y="292608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(B)  Credential stuffing</a:t>
            </a:r>
            <a:endParaRPr lang="en-US" sz="1030"/>
          </a:p>
        </p:txBody>
      </p:sp>
      <p:sp>
        <p:nvSpPr>
          <p:cNvPr id="20" name="Text 18"/>
          <p:cNvSpPr/>
          <p:nvPr/>
        </p:nvSpPr>
        <p:spPr>
          <a:xfrm>
            <a:off x="6428232" y="320040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(C)  Password spraying</a:t>
            </a:r>
            <a:endParaRPr lang="en-US" sz="1030"/>
          </a:p>
        </p:txBody>
      </p:sp>
      <p:sp>
        <p:nvSpPr>
          <p:cNvPr id="21" name="Text 19"/>
          <p:cNvSpPr/>
          <p:nvPr/>
        </p:nvSpPr>
        <p:spPr>
          <a:xfrm>
            <a:off x="8897112" y="320040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(D)  Dictionary attack</a:t>
            </a:r>
            <a:endParaRPr lang="en-US" sz="1030"/>
          </a:p>
        </p:txBody>
      </p:sp>
      <p:sp>
        <p:nvSpPr>
          <p:cNvPr id="22" name="Shape 20"/>
          <p:cNvSpPr/>
          <p:nvPr/>
        </p:nvSpPr>
        <p:spPr>
          <a:xfrm>
            <a:off x="566928" y="3721608"/>
            <a:ext cx="5394960" cy="2011680"/>
          </a:xfrm>
          <a:prstGeom prst="roundRect">
            <a:avLst>
              <a:gd name="adj" fmla="val 4091"/>
            </a:avLst>
          </a:prstGeom>
          <a:solidFill>
            <a:srgbClr val="EAF0FA"/>
          </a:solidFill>
          <a:ln/>
        </p:spPr>
        <p:txBody>
          <a:bodyPr/>
          <a:lstStyle/>
          <a:p>
            <a:endParaRPr lang="en-US"/>
          </a:p>
        </p:txBody>
      </p:sp>
      <p:sp>
        <p:nvSpPr>
          <p:cNvPr id="23" name="Text 21"/>
          <p:cNvSpPr/>
          <p:nvPr/>
        </p:nvSpPr>
        <p:spPr>
          <a:xfrm>
            <a:off x="804672" y="3867912"/>
            <a:ext cx="274320" cy="274320"/>
          </a:xfrm>
          <a:prstGeom prst="rect">
            <a:avLst/>
          </a:prstGeom>
          <a:noFill/>
          <a:ln/>
        </p:spPr>
        <p:txBody>
          <a:bodyPr wrap="square" lIns="0" tIns="0" rIns="0" bIns="0" rtlCol="0" anchor="ctr"/>
          <a:lstStyle/>
          <a:p>
            <a:pPr marL="0" indent="0">
              <a:buNone/>
            </a:pPr>
            <a:r>
              <a:rPr lang="en-US" sz="1700" b="1">
                <a:solidFill>
                  <a:srgbClr val="12141C"/>
                </a:solidFill>
                <a:latin typeface="Cambria" pitchFamily="34" charset="0"/>
                <a:ea typeface="Cambria" pitchFamily="34" charset="-122"/>
                <a:cs typeface="Cambria" pitchFamily="34" charset="-120"/>
              </a:rPr>
              <a:t>3</a:t>
            </a:r>
            <a:endParaRPr lang="en-US" sz="1700"/>
          </a:p>
        </p:txBody>
      </p:sp>
      <p:sp>
        <p:nvSpPr>
          <p:cNvPr id="24" name="Text 22"/>
          <p:cNvSpPr/>
          <p:nvPr/>
        </p:nvSpPr>
        <p:spPr>
          <a:xfrm>
            <a:off x="1170432" y="3904488"/>
            <a:ext cx="1828800" cy="201168"/>
          </a:xfrm>
          <a:prstGeom prst="rect">
            <a:avLst/>
          </a:prstGeom>
          <a:noFill/>
          <a:ln/>
        </p:spPr>
        <p:txBody>
          <a:bodyPr wrap="square" lIns="0" tIns="0" rIns="0" bIns="0" rtlCol="0" anchor="ctr"/>
          <a:lstStyle/>
          <a:p>
            <a:pPr marL="0" indent="0">
              <a:buNone/>
            </a:pPr>
            <a:r>
              <a:rPr lang="en-US" sz="850" b="1" kern="0" spc="120">
                <a:solidFill>
                  <a:srgbClr val="6B7280"/>
                </a:solidFill>
                <a:latin typeface="Calibri" pitchFamily="34" charset="0"/>
                <a:ea typeface="Calibri" pitchFamily="34" charset="-122"/>
                <a:cs typeface="Calibri" pitchFamily="34" charset="-120"/>
              </a:rPr>
              <a:t>SKILL 1.A</a:t>
            </a:r>
            <a:endParaRPr lang="en-US" sz="850"/>
          </a:p>
        </p:txBody>
      </p:sp>
      <p:sp>
        <p:nvSpPr>
          <p:cNvPr id="25" name="Text 23"/>
          <p:cNvSpPr/>
          <p:nvPr/>
        </p:nvSpPr>
        <p:spPr>
          <a:xfrm>
            <a:off x="804672" y="4233672"/>
            <a:ext cx="4901184" cy="77724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A traveller connects to a network named Airprt_Free_WiFi and is sent to a page asking them to sign in with an email account. The genuine network is named Airport_Free_WiFi. Which attack is most likely underway?</a:t>
            </a:r>
            <a:endParaRPr lang="en-US" sz="1050"/>
          </a:p>
        </p:txBody>
      </p:sp>
      <p:sp>
        <p:nvSpPr>
          <p:cNvPr id="26" name="Text 24"/>
          <p:cNvSpPr/>
          <p:nvPr/>
        </p:nvSpPr>
        <p:spPr>
          <a:xfrm>
            <a:off x="804672" y="507492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(A)  Jamming</a:t>
            </a:r>
            <a:endParaRPr lang="en-US" sz="1030"/>
          </a:p>
        </p:txBody>
      </p:sp>
      <p:sp>
        <p:nvSpPr>
          <p:cNvPr id="27" name="Text 25"/>
          <p:cNvSpPr/>
          <p:nvPr/>
        </p:nvSpPr>
        <p:spPr>
          <a:xfrm>
            <a:off x="3273552" y="507492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(B)  War driving</a:t>
            </a:r>
            <a:endParaRPr lang="en-US" sz="1030"/>
          </a:p>
        </p:txBody>
      </p:sp>
      <p:sp>
        <p:nvSpPr>
          <p:cNvPr id="28" name="Text 26"/>
          <p:cNvSpPr/>
          <p:nvPr/>
        </p:nvSpPr>
        <p:spPr>
          <a:xfrm>
            <a:off x="804672" y="534924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(C)  Evil twin</a:t>
            </a:r>
            <a:endParaRPr lang="en-US" sz="1030"/>
          </a:p>
        </p:txBody>
      </p:sp>
      <p:sp>
        <p:nvSpPr>
          <p:cNvPr id="29" name="Text 27"/>
          <p:cNvSpPr/>
          <p:nvPr/>
        </p:nvSpPr>
        <p:spPr>
          <a:xfrm>
            <a:off x="3273552" y="534924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(D)  Denial of service</a:t>
            </a:r>
            <a:endParaRPr lang="en-US" sz="1030"/>
          </a:p>
        </p:txBody>
      </p:sp>
      <p:sp>
        <p:nvSpPr>
          <p:cNvPr id="30" name="Shape 28"/>
          <p:cNvSpPr/>
          <p:nvPr/>
        </p:nvSpPr>
        <p:spPr>
          <a:xfrm>
            <a:off x="6190488" y="3721608"/>
            <a:ext cx="5394960" cy="2011680"/>
          </a:xfrm>
          <a:prstGeom prst="roundRect">
            <a:avLst>
              <a:gd name="adj" fmla="val 4091"/>
            </a:avLst>
          </a:prstGeom>
          <a:solidFill>
            <a:srgbClr val="F2F4F8"/>
          </a:solidFill>
          <a:ln/>
        </p:spPr>
        <p:txBody>
          <a:bodyPr/>
          <a:lstStyle/>
          <a:p>
            <a:endParaRPr lang="en-US"/>
          </a:p>
        </p:txBody>
      </p:sp>
      <p:sp>
        <p:nvSpPr>
          <p:cNvPr id="31" name="Text 29"/>
          <p:cNvSpPr/>
          <p:nvPr/>
        </p:nvSpPr>
        <p:spPr>
          <a:xfrm>
            <a:off x="6428232" y="3867912"/>
            <a:ext cx="274320" cy="274320"/>
          </a:xfrm>
          <a:prstGeom prst="rect">
            <a:avLst/>
          </a:prstGeom>
          <a:noFill/>
          <a:ln/>
        </p:spPr>
        <p:txBody>
          <a:bodyPr wrap="square" lIns="0" tIns="0" rIns="0" bIns="0" rtlCol="0" anchor="ctr"/>
          <a:lstStyle/>
          <a:p>
            <a:pPr marL="0" indent="0">
              <a:buNone/>
            </a:pPr>
            <a:r>
              <a:rPr lang="en-US" sz="1700" b="1">
                <a:solidFill>
                  <a:srgbClr val="12141C"/>
                </a:solidFill>
                <a:latin typeface="Cambria" pitchFamily="34" charset="0"/>
                <a:ea typeface="Cambria" pitchFamily="34" charset="-122"/>
                <a:cs typeface="Cambria" pitchFamily="34" charset="-120"/>
              </a:rPr>
              <a:t>4</a:t>
            </a:r>
            <a:endParaRPr lang="en-US" sz="1700"/>
          </a:p>
        </p:txBody>
      </p:sp>
      <p:sp>
        <p:nvSpPr>
          <p:cNvPr id="32" name="Text 30"/>
          <p:cNvSpPr/>
          <p:nvPr/>
        </p:nvSpPr>
        <p:spPr>
          <a:xfrm>
            <a:off x="6793992" y="3904488"/>
            <a:ext cx="1828800" cy="201168"/>
          </a:xfrm>
          <a:prstGeom prst="rect">
            <a:avLst/>
          </a:prstGeom>
          <a:noFill/>
          <a:ln/>
        </p:spPr>
        <p:txBody>
          <a:bodyPr wrap="square" lIns="0" tIns="0" rIns="0" bIns="0" rtlCol="0" anchor="ctr"/>
          <a:lstStyle/>
          <a:p>
            <a:pPr marL="0" indent="0">
              <a:buNone/>
            </a:pPr>
            <a:r>
              <a:rPr lang="en-US" sz="850" b="1" kern="0" spc="120">
                <a:solidFill>
                  <a:srgbClr val="6B7280"/>
                </a:solidFill>
                <a:latin typeface="Calibri" pitchFamily="34" charset="0"/>
                <a:ea typeface="Calibri" pitchFamily="34" charset="-122"/>
                <a:cs typeface="Calibri" pitchFamily="34" charset="-120"/>
              </a:rPr>
              <a:t>SKILL 2.A</a:t>
            </a:r>
            <a:endParaRPr lang="en-US" sz="850"/>
          </a:p>
        </p:txBody>
      </p:sp>
      <p:sp>
        <p:nvSpPr>
          <p:cNvPr id="33" name="Text 31"/>
          <p:cNvSpPr/>
          <p:nvPr/>
        </p:nvSpPr>
        <p:spPr>
          <a:xfrm>
            <a:off x="6428232" y="4233672"/>
            <a:ext cx="4901184" cy="77724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A user's password is stolen in a breach of an unrelated website. Which single control most directly prevents the adversary from using it to access the user's email account?</a:t>
            </a:r>
            <a:endParaRPr lang="en-US" sz="1050"/>
          </a:p>
        </p:txBody>
      </p:sp>
      <p:sp>
        <p:nvSpPr>
          <p:cNvPr id="34" name="Text 32"/>
          <p:cNvSpPr/>
          <p:nvPr/>
        </p:nvSpPr>
        <p:spPr>
          <a:xfrm>
            <a:off x="6428232" y="507492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(A)  Multi-factor authentication</a:t>
            </a:r>
            <a:endParaRPr lang="en-US" sz="1030"/>
          </a:p>
        </p:txBody>
      </p:sp>
      <p:sp>
        <p:nvSpPr>
          <p:cNvPr id="35" name="Text 33"/>
          <p:cNvSpPr/>
          <p:nvPr/>
        </p:nvSpPr>
        <p:spPr>
          <a:xfrm>
            <a:off x="8897112" y="507492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(B)  A longer password</a:t>
            </a:r>
            <a:endParaRPr lang="en-US" sz="1030"/>
          </a:p>
        </p:txBody>
      </p:sp>
      <p:sp>
        <p:nvSpPr>
          <p:cNvPr id="36" name="Text 34"/>
          <p:cNvSpPr/>
          <p:nvPr/>
        </p:nvSpPr>
        <p:spPr>
          <a:xfrm>
            <a:off x="6428232" y="534924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(C)  Antivirus software</a:t>
            </a:r>
            <a:endParaRPr lang="en-US" sz="1030"/>
          </a:p>
        </p:txBody>
      </p:sp>
      <p:sp>
        <p:nvSpPr>
          <p:cNvPr id="37" name="Text 35"/>
          <p:cNvSpPr/>
          <p:nvPr/>
        </p:nvSpPr>
        <p:spPr>
          <a:xfrm>
            <a:off x="8897112" y="5349240"/>
            <a:ext cx="2377440" cy="237744"/>
          </a:xfrm>
          <a:prstGeom prst="rect">
            <a:avLst/>
          </a:prstGeom>
          <a:noFill/>
          <a:ln/>
        </p:spPr>
        <p:txBody>
          <a:bodyPr wrap="square" lIns="0" tIns="0" rIns="0" bIns="0" rtlCol="0" anchor="ctr"/>
          <a:lstStyle/>
          <a:p>
            <a:pPr marL="0" indent="0">
              <a:buNone/>
            </a:pPr>
            <a:r>
              <a:rPr lang="en-US" sz="1030">
                <a:solidFill>
                  <a:srgbClr val="2B303C"/>
                </a:solidFill>
                <a:latin typeface="Calibri" pitchFamily="34" charset="0"/>
                <a:ea typeface="Calibri" pitchFamily="34" charset="-122"/>
                <a:cs typeface="Calibri" pitchFamily="34" charset="-120"/>
              </a:rPr>
              <a:t>(D)  A virtual private network</a:t>
            </a:r>
            <a:endParaRPr lang="en-US" sz="1030"/>
          </a:p>
        </p:txBody>
      </p:sp>
      <p:sp>
        <p:nvSpPr>
          <p:cNvPr id="38" name="Text 3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9" name="Text 3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57</a:t>
            </a:r>
            <a:endParaRPr lang="en-US" sz="9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66928" y="384048"/>
            <a:ext cx="1737360" cy="274320"/>
          </a:xfrm>
          <a:prstGeom prst="roundRect">
            <a:avLst>
              <a:gd name="adj" fmla="val 20000"/>
            </a:avLst>
          </a:prstGeom>
          <a:solidFill>
            <a:srgbClr val="12141C"/>
          </a:solidFill>
          <a:ln/>
        </p:spPr>
        <p:txBody>
          <a:bodyPr/>
          <a:lstStyle/>
          <a:p>
            <a:endParaRPr lang="en-US"/>
          </a:p>
        </p:txBody>
      </p:sp>
      <p:sp>
        <p:nvSpPr>
          <p:cNvPr id="3" name="Text 1"/>
          <p:cNvSpPr/>
          <p:nvPr/>
        </p:nvSpPr>
        <p:spPr>
          <a:xfrm>
            <a:off x="566928" y="384048"/>
            <a:ext cx="1737360" cy="274320"/>
          </a:xfrm>
          <a:prstGeom prst="rect">
            <a:avLst/>
          </a:prstGeom>
          <a:noFill/>
          <a:ln/>
        </p:spPr>
        <p:txBody>
          <a:bodyPr wrap="square" lIns="0" tIns="0" rIns="0" bIns="0" rtlCol="0" anchor="ctr"/>
          <a:lstStyle/>
          <a:p>
            <a:pPr marL="0" indent="0" algn="ctr">
              <a:buNone/>
            </a:pPr>
            <a:r>
              <a:rPr lang="en-US" sz="950" b="1" kern="0" spc="100">
                <a:solidFill>
                  <a:srgbClr val="FFFFFF"/>
                </a:solidFill>
                <a:latin typeface="Calibri" pitchFamily="34" charset="0"/>
                <a:ea typeface="Calibri" pitchFamily="34" charset="-122"/>
                <a:cs typeface="Calibri" pitchFamily="34" charset="-120"/>
              </a:rPr>
              <a:t>PRACTICE</a:t>
            </a:r>
            <a:endParaRPr lang="en-US" sz="950"/>
          </a:p>
        </p:txBody>
      </p:sp>
      <p:sp>
        <p:nvSpPr>
          <p:cNvPr id="4" name="Text 2"/>
          <p:cNvSpPr/>
          <p:nvPr/>
        </p:nvSpPr>
        <p:spPr>
          <a:xfrm>
            <a:off x="2487168" y="384048"/>
            <a:ext cx="7315200" cy="274320"/>
          </a:xfrm>
          <a:prstGeom prst="rect">
            <a:avLst/>
          </a:prstGeom>
          <a:noFill/>
          <a:ln/>
        </p:spPr>
        <p:txBody>
          <a:bodyPr wrap="square" lIns="0" tIns="0" rIns="0" bIns="0" rtlCol="0" anchor="ctr"/>
          <a:lstStyle/>
          <a:p>
            <a:pPr marL="0" indent="0">
              <a:buNone/>
            </a:pPr>
            <a:r>
              <a:rPr lang="en-US" sz="1050" b="1" kern="0" spc="140">
                <a:solidFill>
                  <a:srgbClr val="6B7280"/>
                </a:solidFill>
                <a:latin typeface="Calibri" pitchFamily="34" charset="0"/>
                <a:ea typeface="Calibri" pitchFamily="34" charset="-122"/>
                <a:cs typeface="Calibri" pitchFamily="34" charset="-120"/>
              </a:rPr>
              <a:t>AP-STYLE MULTIPLE CHOICE  ·  QUESTIONS 5-8</a:t>
            </a:r>
            <a:endParaRPr lang="en-US" sz="1050"/>
          </a:p>
        </p:txBody>
      </p:sp>
      <p:sp>
        <p:nvSpPr>
          <p:cNvPr id="5" name="Text 3"/>
          <p:cNvSpPr/>
          <p:nvPr/>
        </p:nvSpPr>
        <p:spPr>
          <a:xfrm>
            <a:off x="566928" y="804672"/>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Practice set, part two</a:t>
            </a:r>
            <a:endParaRPr lang="en-US" sz="3000"/>
          </a:p>
        </p:txBody>
      </p:sp>
      <p:sp>
        <p:nvSpPr>
          <p:cNvPr id="6" name="Shape 4"/>
          <p:cNvSpPr/>
          <p:nvPr/>
        </p:nvSpPr>
        <p:spPr>
          <a:xfrm>
            <a:off x="566928" y="1572768"/>
            <a:ext cx="5394960" cy="2011680"/>
          </a:xfrm>
          <a:prstGeom prst="roundRect">
            <a:avLst>
              <a:gd name="adj" fmla="val 4091"/>
            </a:avLst>
          </a:prstGeom>
          <a:solidFill>
            <a:srgbClr val="E6F5F3"/>
          </a:solidFill>
          <a:ln/>
        </p:spPr>
        <p:txBody>
          <a:bodyPr/>
          <a:lstStyle/>
          <a:p>
            <a:endParaRPr lang="en-US"/>
          </a:p>
        </p:txBody>
      </p:sp>
      <p:sp>
        <p:nvSpPr>
          <p:cNvPr id="7" name="Text 5"/>
          <p:cNvSpPr/>
          <p:nvPr/>
        </p:nvSpPr>
        <p:spPr>
          <a:xfrm>
            <a:off x="804672" y="1719072"/>
            <a:ext cx="274320" cy="274320"/>
          </a:xfrm>
          <a:prstGeom prst="rect">
            <a:avLst/>
          </a:prstGeom>
          <a:noFill/>
          <a:ln/>
        </p:spPr>
        <p:txBody>
          <a:bodyPr wrap="square" lIns="0" tIns="0" rIns="0" bIns="0" rtlCol="0" anchor="ctr"/>
          <a:lstStyle/>
          <a:p>
            <a:pPr marL="0" indent="0">
              <a:buNone/>
            </a:pPr>
            <a:r>
              <a:rPr lang="en-US" sz="1700" b="1">
                <a:solidFill>
                  <a:srgbClr val="12141C"/>
                </a:solidFill>
                <a:latin typeface="Cambria" pitchFamily="34" charset="0"/>
                <a:ea typeface="Cambria" pitchFamily="34" charset="-122"/>
                <a:cs typeface="Cambria" pitchFamily="34" charset="-120"/>
              </a:rPr>
              <a:t>5</a:t>
            </a:r>
            <a:endParaRPr lang="en-US" sz="1700"/>
          </a:p>
        </p:txBody>
      </p:sp>
      <p:sp>
        <p:nvSpPr>
          <p:cNvPr id="8" name="Text 6"/>
          <p:cNvSpPr/>
          <p:nvPr/>
        </p:nvSpPr>
        <p:spPr>
          <a:xfrm>
            <a:off x="1170432" y="1755648"/>
            <a:ext cx="1828800" cy="201168"/>
          </a:xfrm>
          <a:prstGeom prst="rect">
            <a:avLst/>
          </a:prstGeom>
          <a:noFill/>
          <a:ln/>
        </p:spPr>
        <p:txBody>
          <a:bodyPr wrap="square" lIns="0" tIns="0" rIns="0" bIns="0" rtlCol="0" anchor="ctr"/>
          <a:lstStyle/>
          <a:p>
            <a:pPr marL="0" indent="0">
              <a:buNone/>
            </a:pPr>
            <a:r>
              <a:rPr lang="en-US" sz="850" b="1" kern="0" spc="120">
                <a:solidFill>
                  <a:srgbClr val="6B7280"/>
                </a:solidFill>
                <a:latin typeface="Calibri" pitchFamily="34" charset="0"/>
                <a:ea typeface="Calibri" pitchFamily="34" charset="-122"/>
                <a:cs typeface="Calibri" pitchFamily="34" charset="-120"/>
              </a:rPr>
              <a:t>SKILL 1.A</a:t>
            </a:r>
            <a:endParaRPr lang="en-US" sz="850"/>
          </a:p>
        </p:txBody>
      </p:sp>
      <p:sp>
        <p:nvSpPr>
          <p:cNvPr id="9" name="Text 7"/>
          <p:cNvSpPr/>
          <p:nvPr/>
        </p:nvSpPr>
        <p:spPr>
          <a:xfrm>
            <a:off x="804672" y="2084832"/>
            <a:ext cx="4901184" cy="77724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An adversary buys a ready-made credential-harvesting kit online and deploys it without modification against a known, unpatched weakness. How is this adversary best classified?</a:t>
            </a:r>
            <a:endParaRPr lang="en-US" sz="1050"/>
          </a:p>
        </p:txBody>
      </p:sp>
      <p:sp>
        <p:nvSpPr>
          <p:cNvPr id="10" name="Text 8"/>
          <p:cNvSpPr/>
          <p:nvPr/>
        </p:nvSpPr>
        <p:spPr>
          <a:xfrm>
            <a:off x="804672" y="2889504"/>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(A)  Low-skilled</a:t>
            </a:r>
            <a:endParaRPr lang="en-US" sz="980"/>
          </a:p>
        </p:txBody>
      </p:sp>
      <p:sp>
        <p:nvSpPr>
          <p:cNvPr id="11" name="Text 9"/>
          <p:cNvSpPr/>
          <p:nvPr/>
        </p:nvSpPr>
        <p:spPr>
          <a:xfrm>
            <a:off x="804672" y="3063240"/>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(B)  High-skilled</a:t>
            </a:r>
            <a:endParaRPr lang="en-US" sz="980"/>
          </a:p>
        </p:txBody>
      </p:sp>
      <p:sp>
        <p:nvSpPr>
          <p:cNvPr id="12" name="Text 10"/>
          <p:cNvSpPr/>
          <p:nvPr/>
        </p:nvSpPr>
        <p:spPr>
          <a:xfrm>
            <a:off x="804672" y="3236976"/>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(C)  Insider</a:t>
            </a:r>
            <a:endParaRPr lang="en-US" sz="980"/>
          </a:p>
        </p:txBody>
      </p:sp>
      <p:sp>
        <p:nvSpPr>
          <p:cNvPr id="13" name="Text 11"/>
          <p:cNvSpPr/>
          <p:nvPr/>
        </p:nvSpPr>
        <p:spPr>
          <a:xfrm>
            <a:off x="804672" y="3410712"/>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(D)  Nation-state</a:t>
            </a:r>
            <a:endParaRPr lang="en-US" sz="980"/>
          </a:p>
        </p:txBody>
      </p:sp>
      <p:sp>
        <p:nvSpPr>
          <p:cNvPr id="14" name="Shape 12"/>
          <p:cNvSpPr/>
          <p:nvPr/>
        </p:nvSpPr>
        <p:spPr>
          <a:xfrm>
            <a:off x="6190488" y="1572768"/>
            <a:ext cx="5394960" cy="2011680"/>
          </a:xfrm>
          <a:prstGeom prst="roundRect">
            <a:avLst>
              <a:gd name="adj" fmla="val 4091"/>
            </a:avLst>
          </a:prstGeom>
          <a:solidFill>
            <a:srgbClr val="F2F4F8"/>
          </a:solidFill>
          <a:ln/>
        </p:spPr>
        <p:txBody>
          <a:bodyPr/>
          <a:lstStyle/>
          <a:p>
            <a:endParaRPr lang="en-US"/>
          </a:p>
        </p:txBody>
      </p:sp>
      <p:sp>
        <p:nvSpPr>
          <p:cNvPr id="15" name="Text 13"/>
          <p:cNvSpPr/>
          <p:nvPr/>
        </p:nvSpPr>
        <p:spPr>
          <a:xfrm>
            <a:off x="6428232" y="1719072"/>
            <a:ext cx="274320" cy="274320"/>
          </a:xfrm>
          <a:prstGeom prst="rect">
            <a:avLst/>
          </a:prstGeom>
          <a:noFill/>
          <a:ln/>
        </p:spPr>
        <p:txBody>
          <a:bodyPr wrap="square" lIns="0" tIns="0" rIns="0" bIns="0" rtlCol="0" anchor="ctr"/>
          <a:lstStyle/>
          <a:p>
            <a:pPr marL="0" indent="0">
              <a:buNone/>
            </a:pPr>
            <a:r>
              <a:rPr lang="en-US" sz="1700" b="1">
                <a:solidFill>
                  <a:srgbClr val="12141C"/>
                </a:solidFill>
                <a:latin typeface="Cambria" pitchFamily="34" charset="0"/>
                <a:ea typeface="Cambria" pitchFamily="34" charset="-122"/>
                <a:cs typeface="Cambria" pitchFamily="34" charset="-120"/>
              </a:rPr>
              <a:t>6</a:t>
            </a:r>
            <a:endParaRPr lang="en-US" sz="1700"/>
          </a:p>
        </p:txBody>
      </p:sp>
      <p:sp>
        <p:nvSpPr>
          <p:cNvPr id="16" name="Text 14"/>
          <p:cNvSpPr/>
          <p:nvPr/>
        </p:nvSpPr>
        <p:spPr>
          <a:xfrm>
            <a:off x="6793992" y="1755648"/>
            <a:ext cx="1828800" cy="201168"/>
          </a:xfrm>
          <a:prstGeom prst="rect">
            <a:avLst/>
          </a:prstGeom>
          <a:noFill/>
          <a:ln/>
        </p:spPr>
        <p:txBody>
          <a:bodyPr wrap="square" lIns="0" tIns="0" rIns="0" bIns="0" rtlCol="0" anchor="ctr"/>
          <a:lstStyle/>
          <a:p>
            <a:pPr marL="0" indent="0">
              <a:buNone/>
            </a:pPr>
            <a:r>
              <a:rPr lang="en-US" sz="850" b="1" kern="0" spc="120">
                <a:solidFill>
                  <a:srgbClr val="6B7280"/>
                </a:solidFill>
                <a:latin typeface="Calibri" pitchFamily="34" charset="0"/>
                <a:ea typeface="Calibri" pitchFamily="34" charset="-122"/>
                <a:cs typeface="Calibri" pitchFamily="34" charset="-120"/>
              </a:rPr>
              <a:t>SKILL 2.A</a:t>
            </a:r>
            <a:endParaRPr lang="en-US" sz="850"/>
          </a:p>
        </p:txBody>
      </p:sp>
      <p:sp>
        <p:nvSpPr>
          <p:cNvPr id="17" name="Text 15"/>
          <p:cNvSpPr/>
          <p:nvPr/>
        </p:nvSpPr>
        <p:spPr>
          <a:xfrm>
            <a:off x="6428232" y="2084832"/>
            <a:ext cx="4901184" cy="77724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A student argues that browsing on café Wi-Fi is completely safe because every site they visit shows a padlock. What is the strongest objection?</a:t>
            </a:r>
            <a:endParaRPr lang="en-US" sz="1050"/>
          </a:p>
        </p:txBody>
      </p:sp>
      <p:sp>
        <p:nvSpPr>
          <p:cNvPr id="18" name="Text 16"/>
          <p:cNvSpPr/>
          <p:nvPr/>
        </p:nvSpPr>
        <p:spPr>
          <a:xfrm>
            <a:off x="6428232" y="2889504"/>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(A)  HTTPS is not encryption</a:t>
            </a:r>
            <a:endParaRPr lang="en-US" sz="980"/>
          </a:p>
        </p:txBody>
      </p:sp>
      <p:sp>
        <p:nvSpPr>
          <p:cNvPr id="19" name="Text 17"/>
          <p:cNvSpPr/>
          <p:nvPr/>
        </p:nvSpPr>
        <p:spPr>
          <a:xfrm>
            <a:off x="6428232" y="3063240"/>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(B)  A padlock does not prove the site is legitimate</a:t>
            </a:r>
            <a:endParaRPr lang="en-US" sz="980"/>
          </a:p>
        </p:txBody>
      </p:sp>
      <p:sp>
        <p:nvSpPr>
          <p:cNvPr id="20" name="Text 18"/>
          <p:cNvSpPr/>
          <p:nvPr/>
        </p:nvSpPr>
        <p:spPr>
          <a:xfrm>
            <a:off x="6428232" y="3236976"/>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(C)  Café Wi-Fi is always unencrypted</a:t>
            </a:r>
            <a:endParaRPr lang="en-US" sz="980"/>
          </a:p>
        </p:txBody>
      </p:sp>
      <p:sp>
        <p:nvSpPr>
          <p:cNvPr id="21" name="Text 19"/>
          <p:cNvSpPr/>
          <p:nvPr/>
        </p:nvSpPr>
        <p:spPr>
          <a:xfrm>
            <a:off x="6428232" y="3410712"/>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(D)  Padlocks only appear on secure sites</a:t>
            </a:r>
            <a:endParaRPr lang="en-US" sz="980"/>
          </a:p>
        </p:txBody>
      </p:sp>
      <p:sp>
        <p:nvSpPr>
          <p:cNvPr id="22" name="Shape 20"/>
          <p:cNvSpPr/>
          <p:nvPr/>
        </p:nvSpPr>
        <p:spPr>
          <a:xfrm>
            <a:off x="566928" y="3721608"/>
            <a:ext cx="5394960" cy="2011680"/>
          </a:xfrm>
          <a:prstGeom prst="roundRect">
            <a:avLst>
              <a:gd name="adj" fmla="val 4091"/>
            </a:avLst>
          </a:prstGeom>
          <a:solidFill>
            <a:srgbClr val="E6F5F3"/>
          </a:solidFill>
          <a:ln/>
        </p:spPr>
        <p:txBody>
          <a:bodyPr/>
          <a:lstStyle/>
          <a:p>
            <a:endParaRPr lang="en-US"/>
          </a:p>
        </p:txBody>
      </p:sp>
      <p:sp>
        <p:nvSpPr>
          <p:cNvPr id="23" name="Text 21"/>
          <p:cNvSpPr/>
          <p:nvPr/>
        </p:nvSpPr>
        <p:spPr>
          <a:xfrm>
            <a:off x="804672" y="3867912"/>
            <a:ext cx="274320" cy="274320"/>
          </a:xfrm>
          <a:prstGeom prst="rect">
            <a:avLst/>
          </a:prstGeom>
          <a:noFill/>
          <a:ln/>
        </p:spPr>
        <p:txBody>
          <a:bodyPr wrap="square" lIns="0" tIns="0" rIns="0" bIns="0" rtlCol="0" anchor="ctr"/>
          <a:lstStyle/>
          <a:p>
            <a:pPr marL="0" indent="0">
              <a:buNone/>
            </a:pPr>
            <a:r>
              <a:rPr lang="en-US" sz="1700" b="1">
                <a:solidFill>
                  <a:srgbClr val="12141C"/>
                </a:solidFill>
                <a:latin typeface="Cambria" pitchFamily="34" charset="0"/>
                <a:ea typeface="Cambria" pitchFamily="34" charset="-122"/>
                <a:cs typeface="Cambria" pitchFamily="34" charset="-120"/>
              </a:rPr>
              <a:t>7</a:t>
            </a:r>
            <a:endParaRPr lang="en-US" sz="1700"/>
          </a:p>
        </p:txBody>
      </p:sp>
      <p:sp>
        <p:nvSpPr>
          <p:cNvPr id="24" name="Text 22"/>
          <p:cNvSpPr/>
          <p:nvPr/>
        </p:nvSpPr>
        <p:spPr>
          <a:xfrm>
            <a:off x="1170432" y="3904488"/>
            <a:ext cx="1828800" cy="201168"/>
          </a:xfrm>
          <a:prstGeom prst="rect">
            <a:avLst/>
          </a:prstGeom>
          <a:noFill/>
          <a:ln/>
        </p:spPr>
        <p:txBody>
          <a:bodyPr wrap="square" lIns="0" tIns="0" rIns="0" bIns="0" rtlCol="0" anchor="ctr"/>
          <a:lstStyle/>
          <a:p>
            <a:pPr marL="0" indent="0">
              <a:buNone/>
            </a:pPr>
            <a:r>
              <a:rPr lang="en-US" sz="850" b="1" kern="0" spc="120">
                <a:solidFill>
                  <a:srgbClr val="6B7280"/>
                </a:solidFill>
                <a:latin typeface="Calibri" pitchFamily="34" charset="0"/>
                <a:ea typeface="Calibri" pitchFamily="34" charset="-122"/>
                <a:cs typeface="Calibri" pitchFamily="34" charset="-120"/>
              </a:rPr>
              <a:t>SKILL 2.A</a:t>
            </a:r>
            <a:endParaRPr lang="en-US" sz="850"/>
          </a:p>
        </p:txBody>
      </p:sp>
      <p:sp>
        <p:nvSpPr>
          <p:cNvPr id="25" name="Text 23"/>
          <p:cNvSpPr/>
          <p:nvPr/>
        </p:nvSpPr>
        <p:spPr>
          <a:xfrm>
            <a:off x="804672" y="4233672"/>
            <a:ext cx="4901184" cy="77724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A relative telephones in a panic, sounding exactly like a family member, and asks for money to be wired immediately. Which control is designed specifically for this situation?</a:t>
            </a:r>
            <a:endParaRPr lang="en-US" sz="1050"/>
          </a:p>
        </p:txBody>
      </p:sp>
      <p:sp>
        <p:nvSpPr>
          <p:cNvPr id="26" name="Text 24"/>
          <p:cNvSpPr/>
          <p:nvPr/>
        </p:nvSpPr>
        <p:spPr>
          <a:xfrm>
            <a:off x="804672" y="5038344"/>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(A)  A password manager</a:t>
            </a:r>
            <a:endParaRPr lang="en-US" sz="980"/>
          </a:p>
        </p:txBody>
      </p:sp>
      <p:sp>
        <p:nvSpPr>
          <p:cNvPr id="27" name="Text 25"/>
          <p:cNvSpPr/>
          <p:nvPr/>
        </p:nvSpPr>
        <p:spPr>
          <a:xfrm>
            <a:off x="804672" y="5212080"/>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(B)  Antivirus software</a:t>
            </a:r>
            <a:endParaRPr lang="en-US" sz="980"/>
          </a:p>
        </p:txBody>
      </p:sp>
      <p:sp>
        <p:nvSpPr>
          <p:cNvPr id="28" name="Text 26"/>
          <p:cNvSpPr/>
          <p:nvPr/>
        </p:nvSpPr>
        <p:spPr>
          <a:xfrm>
            <a:off x="804672" y="5385816"/>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(C)  A pre-agreed shared secret</a:t>
            </a:r>
            <a:endParaRPr lang="en-US" sz="980"/>
          </a:p>
        </p:txBody>
      </p:sp>
      <p:sp>
        <p:nvSpPr>
          <p:cNvPr id="29" name="Text 27"/>
          <p:cNvSpPr/>
          <p:nvPr/>
        </p:nvSpPr>
        <p:spPr>
          <a:xfrm>
            <a:off x="804672" y="5559552"/>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(D)  A firewall rule</a:t>
            </a:r>
            <a:endParaRPr lang="en-US" sz="980"/>
          </a:p>
        </p:txBody>
      </p:sp>
      <p:sp>
        <p:nvSpPr>
          <p:cNvPr id="30" name="Shape 28"/>
          <p:cNvSpPr/>
          <p:nvPr/>
        </p:nvSpPr>
        <p:spPr>
          <a:xfrm>
            <a:off x="6190488" y="3721608"/>
            <a:ext cx="5394960" cy="2011680"/>
          </a:xfrm>
          <a:prstGeom prst="roundRect">
            <a:avLst>
              <a:gd name="adj" fmla="val 4091"/>
            </a:avLst>
          </a:prstGeom>
          <a:solidFill>
            <a:srgbClr val="F2F4F8"/>
          </a:solidFill>
          <a:ln/>
        </p:spPr>
        <p:txBody>
          <a:bodyPr/>
          <a:lstStyle/>
          <a:p>
            <a:endParaRPr lang="en-US"/>
          </a:p>
        </p:txBody>
      </p:sp>
      <p:sp>
        <p:nvSpPr>
          <p:cNvPr id="31" name="Text 29"/>
          <p:cNvSpPr/>
          <p:nvPr/>
        </p:nvSpPr>
        <p:spPr>
          <a:xfrm>
            <a:off x="6428232" y="3867912"/>
            <a:ext cx="274320" cy="274320"/>
          </a:xfrm>
          <a:prstGeom prst="rect">
            <a:avLst/>
          </a:prstGeom>
          <a:noFill/>
          <a:ln/>
        </p:spPr>
        <p:txBody>
          <a:bodyPr wrap="square" lIns="0" tIns="0" rIns="0" bIns="0" rtlCol="0" anchor="ctr"/>
          <a:lstStyle/>
          <a:p>
            <a:pPr marL="0" indent="0">
              <a:buNone/>
            </a:pPr>
            <a:r>
              <a:rPr lang="en-US" sz="1700" b="1">
                <a:solidFill>
                  <a:srgbClr val="12141C"/>
                </a:solidFill>
                <a:latin typeface="Cambria" pitchFamily="34" charset="0"/>
                <a:ea typeface="Cambria" pitchFamily="34" charset="-122"/>
                <a:cs typeface="Cambria" pitchFamily="34" charset="-120"/>
              </a:rPr>
              <a:t>8</a:t>
            </a:r>
            <a:endParaRPr lang="en-US" sz="1700"/>
          </a:p>
        </p:txBody>
      </p:sp>
      <p:sp>
        <p:nvSpPr>
          <p:cNvPr id="32" name="Text 30"/>
          <p:cNvSpPr/>
          <p:nvPr/>
        </p:nvSpPr>
        <p:spPr>
          <a:xfrm>
            <a:off x="6793992" y="3904488"/>
            <a:ext cx="1828800" cy="201168"/>
          </a:xfrm>
          <a:prstGeom prst="rect">
            <a:avLst/>
          </a:prstGeom>
          <a:noFill/>
          <a:ln/>
        </p:spPr>
        <p:txBody>
          <a:bodyPr wrap="square" lIns="0" tIns="0" rIns="0" bIns="0" rtlCol="0" anchor="ctr"/>
          <a:lstStyle/>
          <a:p>
            <a:pPr marL="0" indent="0">
              <a:buNone/>
            </a:pPr>
            <a:r>
              <a:rPr lang="en-US" sz="850" b="1" kern="0" spc="120">
                <a:solidFill>
                  <a:srgbClr val="6B7280"/>
                </a:solidFill>
                <a:latin typeface="Calibri" pitchFamily="34" charset="0"/>
                <a:ea typeface="Calibri" pitchFamily="34" charset="-122"/>
                <a:cs typeface="Calibri" pitchFamily="34" charset="-120"/>
              </a:rPr>
              <a:t>SKILL 3.A</a:t>
            </a:r>
            <a:endParaRPr lang="en-US" sz="850"/>
          </a:p>
        </p:txBody>
      </p:sp>
      <p:sp>
        <p:nvSpPr>
          <p:cNvPr id="33" name="Text 31"/>
          <p:cNvSpPr/>
          <p:nvPr/>
        </p:nvSpPr>
        <p:spPr>
          <a:xfrm>
            <a:off x="6428232" y="4233672"/>
            <a:ext cx="4901184" cy="777240"/>
          </a:xfrm>
          <a:prstGeom prst="rect">
            <a:avLst/>
          </a:prstGeom>
          <a:noFill/>
          <a:ln/>
        </p:spPr>
        <p:txBody>
          <a:bodyPr wrap="square" lIns="0" tIns="0" rIns="0" bIns="0" rtlCol="0" anchor="t"/>
          <a:lstStyle/>
          <a:p>
            <a:pPr marL="0" indent="0">
              <a:lnSpc>
                <a:spcPts val="1360"/>
              </a:lnSpc>
              <a:buNone/>
            </a:pPr>
            <a:r>
              <a:rPr lang="en-US" sz="1050">
                <a:solidFill>
                  <a:srgbClr val="2B303C"/>
                </a:solidFill>
                <a:latin typeface="Calibri" pitchFamily="34" charset="0"/>
                <a:ea typeface="Calibri" pitchFamily="34" charset="-122"/>
                <a:cs typeface="Calibri" pitchFamily="34" charset="-120"/>
              </a:rPr>
              <a:t>An AI-powered tool recommends three changes to an organisation's firewall rules. According to the course framework, what must happen next?</a:t>
            </a:r>
            <a:endParaRPr lang="en-US" sz="1050"/>
          </a:p>
        </p:txBody>
      </p:sp>
      <p:sp>
        <p:nvSpPr>
          <p:cNvPr id="34" name="Text 32"/>
          <p:cNvSpPr/>
          <p:nvPr/>
        </p:nvSpPr>
        <p:spPr>
          <a:xfrm>
            <a:off x="6428232" y="5038344"/>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(A)  Apply them immediately</a:t>
            </a:r>
            <a:endParaRPr lang="en-US" sz="980"/>
          </a:p>
        </p:txBody>
      </p:sp>
      <p:sp>
        <p:nvSpPr>
          <p:cNvPr id="35" name="Text 33"/>
          <p:cNvSpPr/>
          <p:nvPr/>
        </p:nvSpPr>
        <p:spPr>
          <a:xfrm>
            <a:off x="6428232" y="5212080"/>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(B)  A knowledgeable technician reviews them first</a:t>
            </a:r>
            <a:endParaRPr lang="en-US" sz="980"/>
          </a:p>
        </p:txBody>
      </p:sp>
      <p:sp>
        <p:nvSpPr>
          <p:cNvPr id="36" name="Text 34"/>
          <p:cNvSpPr/>
          <p:nvPr/>
        </p:nvSpPr>
        <p:spPr>
          <a:xfrm>
            <a:off x="6428232" y="5385816"/>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(C)  Discard them as unreliable</a:t>
            </a:r>
            <a:endParaRPr lang="en-US" sz="980"/>
          </a:p>
        </p:txBody>
      </p:sp>
      <p:sp>
        <p:nvSpPr>
          <p:cNvPr id="37" name="Text 35"/>
          <p:cNvSpPr/>
          <p:nvPr/>
        </p:nvSpPr>
        <p:spPr>
          <a:xfrm>
            <a:off x="6428232" y="5559552"/>
            <a:ext cx="4846320" cy="173736"/>
          </a:xfrm>
          <a:prstGeom prst="rect">
            <a:avLst/>
          </a:prstGeom>
          <a:noFill/>
          <a:ln/>
        </p:spPr>
        <p:txBody>
          <a:bodyPr wrap="square" lIns="0" tIns="0" rIns="0" bIns="0" rtlCol="0" anchor="ctr"/>
          <a:lstStyle/>
          <a:p>
            <a:pPr marL="0" indent="0">
              <a:buNone/>
            </a:pPr>
            <a:r>
              <a:rPr lang="en-US" sz="980">
                <a:solidFill>
                  <a:srgbClr val="2B303C"/>
                </a:solidFill>
                <a:latin typeface="Calibri" pitchFamily="34" charset="0"/>
                <a:ea typeface="Calibri" pitchFamily="34" charset="-122"/>
                <a:cs typeface="Calibri" pitchFamily="34" charset="-120"/>
              </a:rPr>
              <a:t>(D)  Ask the tool to verify itself</a:t>
            </a:r>
            <a:endParaRPr lang="en-US" sz="980"/>
          </a:p>
        </p:txBody>
      </p:sp>
      <p:sp>
        <p:nvSpPr>
          <p:cNvPr id="38" name="Text 3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39" name="Text 3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58</a:t>
            </a:r>
            <a:endParaRPr lang="en-US" sz="9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41C"/>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PRACTICE SET  ·  ANSWERS AND RATIONALES</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FFFFFF"/>
                </a:solidFill>
                <a:latin typeface="Cambria" pitchFamily="34" charset="0"/>
                <a:ea typeface="Cambria" pitchFamily="34" charset="-122"/>
                <a:cs typeface="Cambria" pitchFamily="34" charset="-120"/>
              </a:rPr>
              <a:t>Answer key</a:t>
            </a:r>
            <a:endParaRPr lang="en-US" sz="3000"/>
          </a:p>
        </p:txBody>
      </p:sp>
      <p:sp>
        <p:nvSpPr>
          <p:cNvPr id="4" name="Shape 2"/>
          <p:cNvSpPr/>
          <p:nvPr/>
        </p:nvSpPr>
        <p:spPr>
          <a:xfrm>
            <a:off x="566928" y="1481328"/>
            <a:ext cx="5394960" cy="1078992"/>
          </a:xfrm>
          <a:prstGeom prst="roundRect">
            <a:avLst>
              <a:gd name="adj" fmla="val 6780"/>
            </a:avLst>
          </a:prstGeom>
          <a:solidFill>
            <a:srgbClr val="1D2331"/>
          </a:solidFill>
          <a:ln/>
        </p:spPr>
        <p:txBody>
          <a:bodyPr/>
          <a:lstStyle/>
          <a:p>
            <a:endParaRPr lang="en-US"/>
          </a:p>
        </p:txBody>
      </p:sp>
      <p:sp>
        <p:nvSpPr>
          <p:cNvPr id="5" name="Shape 3"/>
          <p:cNvSpPr/>
          <p:nvPr/>
        </p:nvSpPr>
        <p:spPr>
          <a:xfrm>
            <a:off x="768096" y="1645920"/>
            <a:ext cx="384048" cy="384048"/>
          </a:xfrm>
          <a:prstGeom prst="ellipse">
            <a:avLst/>
          </a:prstGeom>
          <a:solidFill>
            <a:srgbClr val="1FA697"/>
          </a:solidFill>
          <a:ln/>
        </p:spPr>
        <p:txBody>
          <a:bodyPr/>
          <a:lstStyle/>
          <a:p>
            <a:endParaRPr lang="en-US"/>
          </a:p>
        </p:txBody>
      </p:sp>
      <p:sp>
        <p:nvSpPr>
          <p:cNvPr id="6" name="Text 4"/>
          <p:cNvSpPr/>
          <p:nvPr/>
        </p:nvSpPr>
        <p:spPr>
          <a:xfrm>
            <a:off x="768096" y="1645920"/>
            <a:ext cx="384048" cy="384048"/>
          </a:xfrm>
          <a:prstGeom prst="rect">
            <a:avLst/>
          </a:prstGeom>
          <a:noFill/>
          <a:ln/>
        </p:spPr>
        <p:txBody>
          <a:bodyPr wrap="square" lIns="0" tIns="0" rIns="0" bIns="0" rtlCol="0" anchor="ctr"/>
          <a:lstStyle/>
          <a:p>
            <a:pPr marL="0" indent="0" algn="ctr">
              <a:buNone/>
            </a:pPr>
            <a:r>
              <a:rPr lang="en-US" sz="1300" b="1">
                <a:solidFill>
                  <a:srgbClr val="12141C"/>
                </a:solidFill>
                <a:latin typeface="Calibri" pitchFamily="34" charset="0"/>
                <a:ea typeface="Calibri" pitchFamily="34" charset="-122"/>
                <a:cs typeface="Calibri" pitchFamily="34" charset="-120"/>
              </a:rPr>
              <a:t>B</a:t>
            </a:r>
            <a:endParaRPr lang="en-US" sz="1300"/>
          </a:p>
        </p:txBody>
      </p:sp>
      <p:sp>
        <p:nvSpPr>
          <p:cNvPr id="7" name="Text 5"/>
          <p:cNvSpPr/>
          <p:nvPr/>
        </p:nvSpPr>
        <p:spPr>
          <a:xfrm>
            <a:off x="1280160" y="1627632"/>
            <a:ext cx="4480560" cy="23774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Q1   Urgency</a:t>
            </a:r>
            <a:endParaRPr lang="en-US" sz="1150"/>
          </a:p>
        </p:txBody>
      </p:sp>
      <p:sp>
        <p:nvSpPr>
          <p:cNvPr id="8" name="Text 6"/>
          <p:cNvSpPr/>
          <p:nvPr/>
        </p:nvSpPr>
        <p:spPr>
          <a:xfrm>
            <a:off x="1280160" y="1883664"/>
            <a:ext cx="4517136" cy="603504"/>
          </a:xfrm>
          <a:prstGeom prst="rect">
            <a:avLst/>
          </a:prstGeom>
          <a:noFill/>
          <a:ln/>
        </p:spPr>
        <p:txBody>
          <a:bodyPr wrap="square" lIns="0" tIns="0" rIns="0" bIns="0" rtlCol="0" anchor="ctr"/>
          <a:lstStyle/>
          <a:p>
            <a:pPr marL="0" indent="0">
              <a:lnSpc>
                <a:spcPts val="1220"/>
              </a:lnSpc>
              <a:buNone/>
            </a:pPr>
            <a:r>
              <a:rPr lang="en-US" sz="950">
                <a:solidFill>
                  <a:srgbClr val="9AA3B2"/>
                </a:solidFill>
                <a:latin typeface="Calibri" pitchFamily="34" charset="0"/>
                <a:ea typeface="Calibri" pitchFamily="34" charset="-122"/>
                <a:cs typeface="Calibri" pitchFamily="34" charset="-120"/>
              </a:rPr>
              <a:t>A two-hour deadline creates time pressure, removing the pause in which the recipient would verify. Consensus and scarcity do not appear; elicitation is indirect information-gathering, not a demand.</a:t>
            </a:r>
            <a:endParaRPr lang="en-US" sz="950"/>
          </a:p>
        </p:txBody>
      </p:sp>
      <p:sp>
        <p:nvSpPr>
          <p:cNvPr id="9" name="Shape 7"/>
          <p:cNvSpPr/>
          <p:nvPr/>
        </p:nvSpPr>
        <p:spPr>
          <a:xfrm>
            <a:off x="6190488" y="1481328"/>
            <a:ext cx="5394960" cy="1078992"/>
          </a:xfrm>
          <a:prstGeom prst="roundRect">
            <a:avLst>
              <a:gd name="adj" fmla="val 6780"/>
            </a:avLst>
          </a:prstGeom>
          <a:solidFill>
            <a:srgbClr val="1D2331"/>
          </a:solidFill>
          <a:ln/>
        </p:spPr>
        <p:txBody>
          <a:bodyPr/>
          <a:lstStyle/>
          <a:p>
            <a:endParaRPr lang="en-US"/>
          </a:p>
        </p:txBody>
      </p:sp>
      <p:sp>
        <p:nvSpPr>
          <p:cNvPr id="10" name="Shape 8"/>
          <p:cNvSpPr/>
          <p:nvPr/>
        </p:nvSpPr>
        <p:spPr>
          <a:xfrm>
            <a:off x="6391656" y="1645920"/>
            <a:ext cx="384048" cy="384048"/>
          </a:xfrm>
          <a:prstGeom prst="ellipse">
            <a:avLst/>
          </a:prstGeom>
          <a:solidFill>
            <a:srgbClr val="1FA697"/>
          </a:solidFill>
          <a:ln/>
        </p:spPr>
        <p:txBody>
          <a:bodyPr/>
          <a:lstStyle/>
          <a:p>
            <a:endParaRPr lang="en-US"/>
          </a:p>
        </p:txBody>
      </p:sp>
      <p:sp>
        <p:nvSpPr>
          <p:cNvPr id="11" name="Text 9"/>
          <p:cNvSpPr/>
          <p:nvPr/>
        </p:nvSpPr>
        <p:spPr>
          <a:xfrm>
            <a:off x="6391656" y="1645920"/>
            <a:ext cx="384048" cy="384048"/>
          </a:xfrm>
          <a:prstGeom prst="rect">
            <a:avLst/>
          </a:prstGeom>
          <a:noFill/>
          <a:ln/>
        </p:spPr>
        <p:txBody>
          <a:bodyPr wrap="square" lIns="0" tIns="0" rIns="0" bIns="0" rtlCol="0" anchor="ctr"/>
          <a:lstStyle/>
          <a:p>
            <a:pPr marL="0" indent="0" algn="ctr">
              <a:buNone/>
            </a:pPr>
            <a:r>
              <a:rPr lang="en-US" sz="1300" b="1">
                <a:solidFill>
                  <a:srgbClr val="12141C"/>
                </a:solidFill>
                <a:latin typeface="Calibri" pitchFamily="34" charset="0"/>
                <a:ea typeface="Calibri" pitchFamily="34" charset="-122"/>
                <a:cs typeface="Calibri" pitchFamily="34" charset="-120"/>
              </a:rPr>
              <a:t>C</a:t>
            </a:r>
            <a:endParaRPr lang="en-US" sz="1300"/>
          </a:p>
        </p:txBody>
      </p:sp>
      <p:sp>
        <p:nvSpPr>
          <p:cNvPr id="12" name="Text 10"/>
          <p:cNvSpPr/>
          <p:nvPr/>
        </p:nvSpPr>
        <p:spPr>
          <a:xfrm>
            <a:off x="6903720" y="1627632"/>
            <a:ext cx="4480560" cy="23774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Q2   Password spraying</a:t>
            </a:r>
            <a:endParaRPr lang="en-US" sz="1150"/>
          </a:p>
        </p:txBody>
      </p:sp>
      <p:sp>
        <p:nvSpPr>
          <p:cNvPr id="13" name="Text 11"/>
          <p:cNvSpPr/>
          <p:nvPr/>
        </p:nvSpPr>
        <p:spPr>
          <a:xfrm>
            <a:off x="6903720" y="1883664"/>
            <a:ext cx="4517136" cy="603504"/>
          </a:xfrm>
          <a:prstGeom prst="rect">
            <a:avLst/>
          </a:prstGeom>
          <a:noFill/>
          <a:ln/>
        </p:spPr>
        <p:txBody>
          <a:bodyPr wrap="square" lIns="0" tIns="0" rIns="0" bIns="0" rtlCol="0" anchor="ctr"/>
          <a:lstStyle/>
          <a:p>
            <a:pPr marL="0" indent="0">
              <a:lnSpc>
                <a:spcPts val="1220"/>
              </a:lnSpc>
              <a:buNone/>
            </a:pPr>
            <a:r>
              <a:rPr lang="en-US" sz="950">
                <a:solidFill>
                  <a:srgbClr val="9AA3B2"/>
                </a:solidFill>
                <a:latin typeface="Calibri" pitchFamily="34" charset="0"/>
                <a:ea typeface="Calibri" pitchFamily="34" charset="-122"/>
                <a:cs typeface="Calibri" pitchFamily="34" charset="-120"/>
              </a:rPr>
              <a:t>One password tried once against very many accounts. Brute force and dictionary attacks concentrate many guesses on one account; stuffing reuses known valid pairs from another breach.</a:t>
            </a:r>
            <a:endParaRPr lang="en-US" sz="950"/>
          </a:p>
        </p:txBody>
      </p:sp>
      <p:sp>
        <p:nvSpPr>
          <p:cNvPr id="14" name="Shape 12"/>
          <p:cNvSpPr/>
          <p:nvPr/>
        </p:nvSpPr>
        <p:spPr>
          <a:xfrm>
            <a:off x="566928" y="2651760"/>
            <a:ext cx="5394960" cy="1078992"/>
          </a:xfrm>
          <a:prstGeom prst="roundRect">
            <a:avLst>
              <a:gd name="adj" fmla="val 6780"/>
            </a:avLst>
          </a:prstGeom>
          <a:solidFill>
            <a:srgbClr val="1D2331"/>
          </a:solidFill>
          <a:ln/>
        </p:spPr>
        <p:txBody>
          <a:bodyPr/>
          <a:lstStyle/>
          <a:p>
            <a:endParaRPr lang="en-US"/>
          </a:p>
        </p:txBody>
      </p:sp>
      <p:sp>
        <p:nvSpPr>
          <p:cNvPr id="15" name="Shape 13"/>
          <p:cNvSpPr/>
          <p:nvPr/>
        </p:nvSpPr>
        <p:spPr>
          <a:xfrm>
            <a:off x="768096" y="2816352"/>
            <a:ext cx="384048" cy="384048"/>
          </a:xfrm>
          <a:prstGeom prst="ellipse">
            <a:avLst/>
          </a:prstGeom>
          <a:solidFill>
            <a:srgbClr val="1FA697"/>
          </a:solidFill>
          <a:ln/>
        </p:spPr>
        <p:txBody>
          <a:bodyPr/>
          <a:lstStyle/>
          <a:p>
            <a:endParaRPr lang="en-US"/>
          </a:p>
        </p:txBody>
      </p:sp>
      <p:sp>
        <p:nvSpPr>
          <p:cNvPr id="16" name="Text 14"/>
          <p:cNvSpPr/>
          <p:nvPr/>
        </p:nvSpPr>
        <p:spPr>
          <a:xfrm>
            <a:off x="768096" y="2816352"/>
            <a:ext cx="384048" cy="384048"/>
          </a:xfrm>
          <a:prstGeom prst="rect">
            <a:avLst/>
          </a:prstGeom>
          <a:noFill/>
          <a:ln/>
        </p:spPr>
        <p:txBody>
          <a:bodyPr wrap="square" lIns="0" tIns="0" rIns="0" bIns="0" rtlCol="0" anchor="ctr"/>
          <a:lstStyle/>
          <a:p>
            <a:pPr marL="0" indent="0" algn="ctr">
              <a:buNone/>
            </a:pPr>
            <a:r>
              <a:rPr lang="en-US" sz="1300" b="1">
                <a:solidFill>
                  <a:srgbClr val="12141C"/>
                </a:solidFill>
                <a:latin typeface="Calibri" pitchFamily="34" charset="0"/>
                <a:ea typeface="Calibri" pitchFamily="34" charset="-122"/>
                <a:cs typeface="Calibri" pitchFamily="34" charset="-120"/>
              </a:rPr>
              <a:t>C</a:t>
            </a:r>
            <a:endParaRPr lang="en-US" sz="1300"/>
          </a:p>
        </p:txBody>
      </p:sp>
      <p:sp>
        <p:nvSpPr>
          <p:cNvPr id="17" name="Text 15"/>
          <p:cNvSpPr/>
          <p:nvPr/>
        </p:nvSpPr>
        <p:spPr>
          <a:xfrm>
            <a:off x="1280160" y="2798064"/>
            <a:ext cx="4480560" cy="23774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Q3   Evil twin</a:t>
            </a:r>
            <a:endParaRPr lang="en-US" sz="1150"/>
          </a:p>
        </p:txBody>
      </p:sp>
      <p:sp>
        <p:nvSpPr>
          <p:cNvPr id="18" name="Text 16"/>
          <p:cNvSpPr/>
          <p:nvPr/>
        </p:nvSpPr>
        <p:spPr>
          <a:xfrm>
            <a:off x="1280160" y="3054096"/>
            <a:ext cx="4517136" cy="603504"/>
          </a:xfrm>
          <a:prstGeom prst="rect">
            <a:avLst/>
          </a:prstGeom>
          <a:noFill/>
          <a:ln/>
        </p:spPr>
        <p:txBody>
          <a:bodyPr wrap="square" lIns="0" tIns="0" rIns="0" bIns="0" rtlCol="0" anchor="ctr"/>
          <a:lstStyle/>
          <a:p>
            <a:pPr marL="0" indent="0">
              <a:lnSpc>
                <a:spcPts val="1220"/>
              </a:lnSpc>
              <a:buNone/>
            </a:pPr>
            <a:r>
              <a:rPr lang="en-US" sz="950">
                <a:solidFill>
                  <a:srgbClr val="9AA3B2"/>
                </a:solidFill>
                <a:latin typeface="Calibri" pitchFamily="34" charset="0"/>
                <a:ea typeface="Calibri" pitchFamily="34" charset="-122"/>
                <a:cs typeface="Calibri" pitchFamily="34" charset="-120"/>
              </a:rPr>
              <a:t>An access point broadcasting an SSID nearly identical to the legitimate one, with a captive portal harvesting credentials. Jamming and DoS deny availability; war driving is reconnaissance only.</a:t>
            </a:r>
            <a:endParaRPr lang="en-US" sz="950"/>
          </a:p>
        </p:txBody>
      </p:sp>
      <p:sp>
        <p:nvSpPr>
          <p:cNvPr id="19" name="Shape 17"/>
          <p:cNvSpPr/>
          <p:nvPr/>
        </p:nvSpPr>
        <p:spPr>
          <a:xfrm>
            <a:off x="6190488" y="2651760"/>
            <a:ext cx="5394960" cy="1078992"/>
          </a:xfrm>
          <a:prstGeom prst="roundRect">
            <a:avLst>
              <a:gd name="adj" fmla="val 6780"/>
            </a:avLst>
          </a:prstGeom>
          <a:solidFill>
            <a:srgbClr val="1D2331"/>
          </a:solidFill>
          <a:ln/>
        </p:spPr>
        <p:txBody>
          <a:bodyPr/>
          <a:lstStyle/>
          <a:p>
            <a:endParaRPr lang="en-US"/>
          </a:p>
        </p:txBody>
      </p:sp>
      <p:sp>
        <p:nvSpPr>
          <p:cNvPr id="20" name="Shape 18"/>
          <p:cNvSpPr/>
          <p:nvPr/>
        </p:nvSpPr>
        <p:spPr>
          <a:xfrm>
            <a:off x="6391656" y="2816352"/>
            <a:ext cx="384048" cy="384048"/>
          </a:xfrm>
          <a:prstGeom prst="ellipse">
            <a:avLst/>
          </a:prstGeom>
          <a:solidFill>
            <a:srgbClr val="1FA697"/>
          </a:solidFill>
          <a:ln/>
        </p:spPr>
        <p:txBody>
          <a:bodyPr/>
          <a:lstStyle/>
          <a:p>
            <a:endParaRPr lang="en-US"/>
          </a:p>
        </p:txBody>
      </p:sp>
      <p:sp>
        <p:nvSpPr>
          <p:cNvPr id="21" name="Text 19"/>
          <p:cNvSpPr/>
          <p:nvPr/>
        </p:nvSpPr>
        <p:spPr>
          <a:xfrm>
            <a:off x="6391656" y="2816352"/>
            <a:ext cx="384048" cy="384048"/>
          </a:xfrm>
          <a:prstGeom prst="rect">
            <a:avLst/>
          </a:prstGeom>
          <a:noFill/>
          <a:ln/>
        </p:spPr>
        <p:txBody>
          <a:bodyPr wrap="square" lIns="0" tIns="0" rIns="0" bIns="0" rtlCol="0" anchor="ctr"/>
          <a:lstStyle/>
          <a:p>
            <a:pPr marL="0" indent="0" algn="ctr">
              <a:buNone/>
            </a:pPr>
            <a:r>
              <a:rPr lang="en-US" sz="1300" b="1">
                <a:solidFill>
                  <a:srgbClr val="12141C"/>
                </a:solidFill>
                <a:latin typeface="Calibri" pitchFamily="34" charset="0"/>
                <a:ea typeface="Calibri" pitchFamily="34" charset="-122"/>
                <a:cs typeface="Calibri" pitchFamily="34" charset="-120"/>
              </a:rPr>
              <a:t>A</a:t>
            </a:r>
            <a:endParaRPr lang="en-US" sz="1300"/>
          </a:p>
        </p:txBody>
      </p:sp>
      <p:sp>
        <p:nvSpPr>
          <p:cNvPr id="22" name="Text 20"/>
          <p:cNvSpPr/>
          <p:nvPr/>
        </p:nvSpPr>
        <p:spPr>
          <a:xfrm>
            <a:off x="6903720" y="2798064"/>
            <a:ext cx="4480560" cy="23774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Q4   Multi-factor authentication</a:t>
            </a:r>
            <a:endParaRPr lang="en-US" sz="1150"/>
          </a:p>
        </p:txBody>
      </p:sp>
      <p:sp>
        <p:nvSpPr>
          <p:cNvPr id="23" name="Text 21"/>
          <p:cNvSpPr/>
          <p:nvPr/>
        </p:nvSpPr>
        <p:spPr>
          <a:xfrm>
            <a:off x="6903720" y="3054096"/>
            <a:ext cx="4517136" cy="603504"/>
          </a:xfrm>
          <a:prstGeom prst="rect">
            <a:avLst/>
          </a:prstGeom>
          <a:noFill/>
          <a:ln/>
        </p:spPr>
        <p:txBody>
          <a:bodyPr wrap="square" lIns="0" tIns="0" rIns="0" bIns="0" rtlCol="0" anchor="ctr"/>
          <a:lstStyle/>
          <a:p>
            <a:pPr marL="0" indent="0">
              <a:lnSpc>
                <a:spcPts val="1220"/>
              </a:lnSpc>
              <a:buNone/>
            </a:pPr>
            <a:r>
              <a:rPr lang="en-US" sz="950">
                <a:solidFill>
                  <a:srgbClr val="9AA3B2"/>
                </a:solidFill>
                <a:latin typeface="Calibri" pitchFamily="34" charset="0"/>
                <a:ea typeface="Calibri" pitchFamily="34" charset="-122"/>
                <a:cs typeface="Calibri" pitchFamily="34" charset="-120"/>
              </a:rPr>
              <a:t>It makes a known password insufficient on its own. A longer password does not help once it is already stolen; antivirus and a VPN address different risks entirely.</a:t>
            </a:r>
            <a:endParaRPr lang="en-US" sz="950"/>
          </a:p>
        </p:txBody>
      </p:sp>
      <p:sp>
        <p:nvSpPr>
          <p:cNvPr id="24" name="Shape 22"/>
          <p:cNvSpPr/>
          <p:nvPr/>
        </p:nvSpPr>
        <p:spPr>
          <a:xfrm>
            <a:off x="566928" y="3822192"/>
            <a:ext cx="5394960" cy="1078992"/>
          </a:xfrm>
          <a:prstGeom prst="roundRect">
            <a:avLst>
              <a:gd name="adj" fmla="val 6780"/>
            </a:avLst>
          </a:prstGeom>
          <a:solidFill>
            <a:srgbClr val="1D2331"/>
          </a:solidFill>
          <a:ln/>
        </p:spPr>
        <p:txBody>
          <a:bodyPr/>
          <a:lstStyle/>
          <a:p>
            <a:endParaRPr lang="en-US"/>
          </a:p>
        </p:txBody>
      </p:sp>
      <p:sp>
        <p:nvSpPr>
          <p:cNvPr id="25" name="Shape 23"/>
          <p:cNvSpPr/>
          <p:nvPr/>
        </p:nvSpPr>
        <p:spPr>
          <a:xfrm>
            <a:off x="768096" y="3986784"/>
            <a:ext cx="384048" cy="384048"/>
          </a:xfrm>
          <a:prstGeom prst="ellipse">
            <a:avLst/>
          </a:prstGeom>
          <a:solidFill>
            <a:srgbClr val="1FA697"/>
          </a:solidFill>
          <a:ln/>
        </p:spPr>
        <p:txBody>
          <a:bodyPr/>
          <a:lstStyle/>
          <a:p>
            <a:endParaRPr lang="en-US"/>
          </a:p>
        </p:txBody>
      </p:sp>
      <p:sp>
        <p:nvSpPr>
          <p:cNvPr id="26" name="Text 24"/>
          <p:cNvSpPr/>
          <p:nvPr/>
        </p:nvSpPr>
        <p:spPr>
          <a:xfrm>
            <a:off x="768096" y="3986784"/>
            <a:ext cx="384048" cy="384048"/>
          </a:xfrm>
          <a:prstGeom prst="rect">
            <a:avLst/>
          </a:prstGeom>
          <a:noFill/>
          <a:ln/>
        </p:spPr>
        <p:txBody>
          <a:bodyPr wrap="square" lIns="0" tIns="0" rIns="0" bIns="0" rtlCol="0" anchor="ctr"/>
          <a:lstStyle/>
          <a:p>
            <a:pPr marL="0" indent="0" algn="ctr">
              <a:buNone/>
            </a:pPr>
            <a:r>
              <a:rPr lang="en-US" sz="1300" b="1">
                <a:solidFill>
                  <a:srgbClr val="12141C"/>
                </a:solidFill>
                <a:latin typeface="Calibri" pitchFamily="34" charset="0"/>
                <a:ea typeface="Calibri" pitchFamily="34" charset="-122"/>
                <a:cs typeface="Calibri" pitchFamily="34" charset="-120"/>
              </a:rPr>
              <a:t>A</a:t>
            </a:r>
            <a:endParaRPr lang="en-US" sz="1300"/>
          </a:p>
        </p:txBody>
      </p:sp>
      <p:sp>
        <p:nvSpPr>
          <p:cNvPr id="27" name="Text 25"/>
          <p:cNvSpPr/>
          <p:nvPr/>
        </p:nvSpPr>
        <p:spPr>
          <a:xfrm>
            <a:off x="1280160" y="3968496"/>
            <a:ext cx="4480560" cy="23774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Q5   Low-skilled</a:t>
            </a:r>
            <a:endParaRPr lang="en-US" sz="1150"/>
          </a:p>
        </p:txBody>
      </p:sp>
      <p:sp>
        <p:nvSpPr>
          <p:cNvPr id="28" name="Text 26"/>
          <p:cNvSpPr/>
          <p:nvPr/>
        </p:nvSpPr>
        <p:spPr>
          <a:xfrm>
            <a:off x="1280160" y="4224528"/>
            <a:ext cx="4517136" cy="603504"/>
          </a:xfrm>
          <a:prstGeom prst="rect">
            <a:avLst/>
          </a:prstGeom>
          <a:noFill/>
          <a:ln/>
        </p:spPr>
        <p:txBody>
          <a:bodyPr wrap="square" lIns="0" tIns="0" rIns="0" bIns="0" rtlCol="0" anchor="ctr"/>
          <a:lstStyle/>
          <a:p>
            <a:pPr marL="0" indent="0">
              <a:lnSpc>
                <a:spcPts val="1220"/>
              </a:lnSpc>
              <a:buNone/>
            </a:pPr>
            <a:r>
              <a:rPr lang="en-US" sz="950">
                <a:solidFill>
                  <a:srgbClr val="9AA3B2"/>
                </a:solidFill>
                <a:latin typeface="Calibri" pitchFamily="34" charset="0"/>
                <a:ea typeface="Calibri" pitchFamily="34" charset="-122"/>
                <a:cs typeface="Calibri" pitchFamily="34" charset="-120"/>
              </a:rPr>
              <a:t>Uses tools built by others against already-known vulnerabilities. High-skilled adversaries build or adapt tools and can find zero days. Insider and nation-state describe position and sponsorship, not skill.</a:t>
            </a:r>
            <a:endParaRPr lang="en-US" sz="950"/>
          </a:p>
        </p:txBody>
      </p:sp>
      <p:sp>
        <p:nvSpPr>
          <p:cNvPr id="29" name="Shape 27"/>
          <p:cNvSpPr/>
          <p:nvPr/>
        </p:nvSpPr>
        <p:spPr>
          <a:xfrm>
            <a:off x="6190488" y="3822192"/>
            <a:ext cx="5394960" cy="1078992"/>
          </a:xfrm>
          <a:prstGeom prst="roundRect">
            <a:avLst>
              <a:gd name="adj" fmla="val 6780"/>
            </a:avLst>
          </a:prstGeom>
          <a:solidFill>
            <a:srgbClr val="1D2331"/>
          </a:solidFill>
          <a:ln/>
        </p:spPr>
        <p:txBody>
          <a:bodyPr/>
          <a:lstStyle/>
          <a:p>
            <a:endParaRPr lang="en-US"/>
          </a:p>
        </p:txBody>
      </p:sp>
      <p:sp>
        <p:nvSpPr>
          <p:cNvPr id="30" name="Shape 28"/>
          <p:cNvSpPr/>
          <p:nvPr/>
        </p:nvSpPr>
        <p:spPr>
          <a:xfrm>
            <a:off x="6391656" y="3986784"/>
            <a:ext cx="384048" cy="384048"/>
          </a:xfrm>
          <a:prstGeom prst="ellipse">
            <a:avLst/>
          </a:prstGeom>
          <a:solidFill>
            <a:srgbClr val="1FA697"/>
          </a:solidFill>
          <a:ln/>
        </p:spPr>
        <p:txBody>
          <a:bodyPr/>
          <a:lstStyle/>
          <a:p>
            <a:endParaRPr lang="en-US"/>
          </a:p>
        </p:txBody>
      </p:sp>
      <p:sp>
        <p:nvSpPr>
          <p:cNvPr id="31" name="Text 29"/>
          <p:cNvSpPr/>
          <p:nvPr/>
        </p:nvSpPr>
        <p:spPr>
          <a:xfrm>
            <a:off x="6391656" y="3986784"/>
            <a:ext cx="384048" cy="384048"/>
          </a:xfrm>
          <a:prstGeom prst="rect">
            <a:avLst/>
          </a:prstGeom>
          <a:noFill/>
          <a:ln/>
        </p:spPr>
        <p:txBody>
          <a:bodyPr wrap="square" lIns="0" tIns="0" rIns="0" bIns="0" rtlCol="0" anchor="ctr"/>
          <a:lstStyle/>
          <a:p>
            <a:pPr marL="0" indent="0" algn="ctr">
              <a:buNone/>
            </a:pPr>
            <a:r>
              <a:rPr lang="en-US" sz="1300" b="1">
                <a:solidFill>
                  <a:srgbClr val="12141C"/>
                </a:solidFill>
                <a:latin typeface="Calibri" pitchFamily="34" charset="0"/>
                <a:ea typeface="Calibri" pitchFamily="34" charset="-122"/>
                <a:cs typeface="Calibri" pitchFamily="34" charset="-120"/>
              </a:rPr>
              <a:t>B</a:t>
            </a:r>
            <a:endParaRPr lang="en-US" sz="1300"/>
          </a:p>
        </p:txBody>
      </p:sp>
      <p:sp>
        <p:nvSpPr>
          <p:cNvPr id="32" name="Text 30"/>
          <p:cNvSpPr/>
          <p:nvPr/>
        </p:nvSpPr>
        <p:spPr>
          <a:xfrm>
            <a:off x="6903720" y="3968496"/>
            <a:ext cx="4480560" cy="23774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Q6   A padlock does not prove legitimacy</a:t>
            </a:r>
            <a:endParaRPr lang="en-US" sz="1150"/>
          </a:p>
        </p:txBody>
      </p:sp>
      <p:sp>
        <p:nvSpPr>
          <p:cNvPr id="33" name="Text 31"/>
          <p:cNvSpPr/>
          <p:nvPr/>
        </p:nvSpPr>
        <p:spPr>
          <a:xfrm>
            <a:off x="6903720" y="4224528"/>
            <a:ext cx="4517136" cy="603504"/>
          </a:xfrm>
          <a:prstGeom prst="rect">
            <a:avLst/>
          </a:prstGeom>
          <a:noFill/>
          <a:ln/>
        </p:spPr>
        <p:txBody>
          <a:bodyPr wrap="square" lIns="0" tIns="0" rIns="0" bIns="0" rtlCol="0" anchor="ctr"/>
          <a:lstStyle/>
          <a:p>
            <a:pPr marL="0" indent="0">
              <a:lnSpc>
                <a:spcPts val="1220"/>
              </a:lnSpc>
              <a:buNone/>
            </a:pPr>
            <a:r>
              <a:rPr lang="en-US" sz="950">
                <a:solidFill>
                  <a:srgbClr val="9AA3B2"/>
                </a:solidFill>
                <a:latin typeface="Calibri" pitchFamily="34" charset="0"/>
                <a:ea typeface="Calibri" pitchFamily="34" charset="-122"/>
                <a:cs typeface="Calibri" pitchFamily="34" charset="-120"/>
              </a:rPr>
              <a:t>HTTPS authenticates the connection, not the honesty of the site — a phishing page can hold a valid certificate. (A), (C) and (D) are all factually wrong as stated.</a:t>
            </a:r>
            <a:endParaRPr lang="en-US" sz="950"/>
          </a:p>
        </p:txBody>
      </p:sp>
      <p:sp>
        <p:nvSpPr>
          <p:cNvPr id="34" name="Shape 32"/>
          <p:cNvSpPr/>
          <p:nvPr/>
        </p:nvSpPr>
        <p:spPr>
          <a:xfrm>
            <a:off x="566928" y="4992624"/>
            <a:ext cx="5394960" cy="1078992"/>
          </a:xfrm>
          <a:prstGeom prst="roundRect">
            <a:avLst>
              <a:gd name="adj" fmla="val 6780"/>
            </a:avLst>
          </a:prstGeom>
          <a:solidFill>
            <a:srgbClr val="1D2331"/>
          </a:solidFill>
          <a:ln/>
        </p:spPr>
        <p:txBody>
          <a:bodyPr/>
          <a:lstStyle/>
          <a:p>
            <a:endParaRPr lang="en-US"/>
          </a:p>
        </p:txBody>
      </p:sp>
      <p:sp>
        <p:nvSpPr>
          <p:cNvPr id="35" name="Shape 33"/>
          <p:cNvSpPr/>
          <p:nvPr/>
        </p:nvSpPr>
        <p:spPr>
          <a:xfrm>
            <a:off x="768096" y="5157216"/>
            <a:ext cx="384048" cy="384048"/>
          </a:xfrm>
          <a:prstGeom prst="ellipse">
            <a:avLst/>
          </a:prstGeom>
          <a:solidFill>
            <a:srgbClr val="1FA697"/>
          </a:solidFill>
          <a:ln/>
        </p:spPr>
        <p:txBody>
          <a:bodyPr/>
          <a:lstStyle/>
          <a:p>
            <a:endParaRPr lang="en-US"/>
          </a:p>
        </p:txBody>
      </p:sp>
      <p:sp>
        <p:nvSpPr>
          <p:cNvPr id="36" name="Text 34"/>
          <p:cNvSpPr/>
          <p:nvPr/>
        </p:nvSpPr>
        <p:spPr>
          <a:xfrm>
            <a:off x="768096" y="5157216"/>
            <a:ext cx="384048" cy="384048"/>
          </a:xfrm>
          <a:prstGeom prst="rect">
            <a:avLst/>
          </a:prstGeom>
          <a:noFill/>
          <a:ln/>
        </p:spPr>
        <p:txBody>
          <a:bodyPr wrap="square" lIns="0" tIns="0" rIns="0" bIns="0" rtlCol="0" anchor="ctr"/>
          <a:lstStyle/>
          <a:p>
            <a:pPr marL="0" indent="0" algn="ctr">
              <a:buNone/>
            </a:pPr>
            <a:r>
              <a:rPr lang="en-US" sz="1300" b="1">
                <a:solidFill>
                  <a:srgbClr val="12141C"/>
                </a:solidFill>
                <a:latin typeface="Calibri" pitchFamily="34" charset="0"/>
                <a:ea typeface="Calibri" pitchFamily="34" charset="-122"/>
                <a:cs typeface="Calibri" pitchFamily="34" charset="-120"/>
              </a:rPr>
              <a:t>C</a:t>
            </a:r>
            <a:endParaRPr lang="en-US" sz="1300"/>
          </a:p>
        </p:txBody>
      </p:sp>
      <p:sp>
        <p:nvSpPr>
          <p:cNvPr id="37" name="Text 35"/>
          <p:cNvSpPr/>
          <p:nvPr/>
        </p:nvSpPr>
        <p:spPr>
          <a:xfrm>
            <a:off x="1280160" y="5138928"/>
            <a:ext cx="4480560" cy="23774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Q7   A pre-agreed shared secret</a:t>
            </a:r>
            <a:endParaRPr lang="en-US" sz="1150"/>
          </a:p>
        </p:txBody>
      </p:sp>
      <p:sp>
        <p:nvSpPr>
          <p:cNvPr id="38" name="Text 36"/>
          <p:cNvSpPr/>
          <p:nvPr/>
        </p:nvSpPr>
        <p:spPr>
          <a:xfrm>
            <a:off x="1280160" y="5394960"/>
            <a:ext cx="4517136" cy="603504"/>
          </a:xfrm>
          <a:prstGeom prst="rect">
            <a:avLst/>
          </a:prstGeom>
          <a:noFill/>
          <a:ln/>
        </p:spPr>
        <p:txBody>
          <a:bodyPr wrap="square" lIns="0" tIns="0" rIns="0" bIns="0" rtlCol="0" anchor="ctr"/>
          <a:lstStyle/>
          <a:p>
            <a:pPr marL="0" indent="0">
              <a:lnSpc>
                <a:spcPts val="1220"/>
              </a:lnSpc>
              <a:buNone/>
            </a:pPr>
            <a:r>
              <a:rPr lang="en-US" sz="950">
                <a:solidFill>
                  <a:srgbClr val="9AA3B2"/>
                </a:solidFill>
                <a:latin typeface="Calibri" pitchFamily="34" charset="0"/>
                <a:ea typeface="Calibri" pitchFamily="34" charset="-122"/>
                <a:cs typeface="Calibri" pitchFamily="34" charset="-120"/>
              </a:rPr>
              <a:t>A word known only to the two parties cannot be supplied by a cloned voice. The other three controls protect against unrelated attack types.</a:t>
            </a:r>
            <a:endParaRPr lang="en-US" sz="950"/>
          </a:p>
        </p:txBody>
      </p:sp>
      <p:sp>
        <p:nvSpPr>
          <p:cNvPr id="39" name="Shape 37"/>
          <p:cNvSpPr/>
          <p:nvPr/>
        </p:nvSpPr>
        <p:spPr>
          <a:xfrm>
            <a:off x="6190488" y="4992624"/>
            <a:ext cx="5394960" cy="1078992"/>
          </a:xfrm>
          <a:prstGeom prst="roundRect">
            <a:avLst>
              <a:gd name="adj" fmla="val 6780"/>
            </a:avLst>
          </a:prstGeom>
          <a:solidFill>
            <a:srgbClr val="1D2331"/>
          </a:solidFill>
          <a:ln/>
        </p:spPr>
        <p:txBody>
          <a:bodyPr/>
          <a:lstStyle/>
          <a:p>
            <a:endParaRPr lang="en-US"/>
          </a:p>
        </p:txBody>
      </p:sp>
      <p:sp>
        <p:nvSpPr>
          <p:cNvPr id="40" name="Shape 38"/>
          <p:cNvSpPr/>
          <p:nvPr/>
        </p:nvSpPr>
        <p:spPr>
          <a:xfrm>
            <a:off x="6391656" y="5157216"/>
            <a:ext cx="384048" cy="384048"/>
          </a:xfrm>
          <a:prstGeom prst="ellipse">
            <a:avLst/>
          </a:prstGeom>
          <a:solidFill>
            <a:srgbClr val="1FA697"/>
          </a:solidFill>
          <a:ln/>
        </p:spPr>
        <p:txBody>
          <a:bodyPr/>
          <a:lstStyle/>
          <a:p>
            <a:endParaRPr lang="en-US"/>
          </a:p>
        </p:txBody>
      </p:sp>
      <p:sp>
        <p:nvSpPr>
          <p:cNvPr id="41" name="Text 39"/>
          <p:cNvSpPr/>
          <p:nvPr/>
        </p:nvSpPr>
        <p:spPr>
          <a:xfrm>
            <a:off x="6391656" y="5157216"/>
            <a:ext cx="384048" cy="384048"/>
          </a:xfrm>
          <a:prstGeom prst="rect">
            <a:avLst/>
          </a:prstGeom>
          <a:noFill/>
          <a:ln/>
        </p:spPr>
        <p:txBody>
          <a:bodyPr wrap="square" lIns="0" tIns="0" rIns="0" bIns="0" rtlCol="0" anchor="ctr"/>
          <a:lstStyle/>
          <a:p>
            <a:pPr marL="0" indent="0" algn="ctr">
              <a:buNone/>
            </a:pPr>
            <a:r>
              <a:rPr lang="en-US" sz="1300" b="1">
                <a:solidFill>
                  <a:srgbClr val="12141C"/>
                </a:solidFill>
                <a:latin typeface="Calibri" pitchFamily="34" charset="0"/>
                <a:ea typeface="Calibri" pitchFamily="34" charset="-122"/>
                <a:cs typeface="Calibri" pitchFamily="34" charset="-120"/>
              </a:rPr>
              <a:t>B</a:t>
            </a:r>
            <a:endParaRPr lang="en-US" sz="1300"/>
          </a:p>
        </p:txBody>
      </p:sp>
      <p:sp>
        <p:nvSpPr>
          <p:cNvPr id="42" name="Text 40"/>
          <p:cNvSpPr/>
          <p:nvPr/>
        </p:nvSpPr>
        <p:spPr>
          <a:xfrm>
            <a:off x="6903720" y="5138928"/>
            <a:ext cx="4480560" cy="23774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Q8   Reviewed by a knowledgeable technician</a:t>
            </a:r>
            <a:endParaRPr lang="en-US" sz="1150"/>
          </a:p>
        </p:txBody>
      </p:sp>
      <p:sp>
        <p:nvSpPr>
          <p:cNvPr id="43" name="Text 41"/>
          <p:cNvSpPr/>
          <p:nvPr/>
        </p:nvSpPr>
        <p:spPr>
          <a:xfrm>
            <a:off x="6903720" y="5394960"/>
            <a:ext cx="4517136" cy="603504"/>
          </a:xfrm>
          <a:prstGeom prst="rect">
            <a:avLst/>
          </a:prstGeom>
          <a:noFill/>
          <a:ln/>
        </p:spPr>
        <p:txBody>
          <a:bodyPr wrap="square" lIns="0" tIns="0" rIns="0" bIns="0" rtlCol="0" anchor="ctr"/>
          <a:lstStyle/>
          <a:p>
            <a:pPr marL="0" indent="0">
              <a:lnSpc>
                <a:spcPts val="1220"/>
              </a:lnSpc>
              <a:buNone/>
            </a:pPr>
            <a:r>
              <a:rPr lang="en-US" sz="950">
                <a:solidFill>
                  <a:srgbClr val="9AA3B2"/>
                </a:solidFill>
                <a:latin typeface="Calibri" pitchFamily="34" charset="0"/>
                <a:ea typeface="Calibri" pitchFamily="34" charset="-122"/>
                <a:cs typeface="Calibri" pitchFamily="34" charset="-120"/>
              </a:rPr>
              <a:t>The framework attaches human review to every defensive AI recommendation before implementation.</a:t>
            </a:r>
            <a:endParaRPr lang="en-US" sz="950"/>
          </a:p>
        </p:txBody>
      </p:sp>
      <p:sp>
        <p:nvSpPr>
          <p:cNvPr id="44" name="Text 42"/>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45" name="Text 43"/>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59</a:t>
            </a:r>
            <a:endParaRPr lang="en-US" sz="9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UNIT 1 REVIEW</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Can you define all twenty?</a:t>
            </a:r>
            <a:endParaRPr lang="en-US" sz="3000"/>
          </a:p>
        </p:txBody>
      </p:sp>
      <p:sp>
        <p:nvSpPr>
          <p:cNvPr id="4" name="Text 2"/>
          <p:cNvSpPr/>
          <p:nvPr/>
        </p:nvSpPr>
        <p:spPr>
          <a:xfrm>
            <a:off x="566928" y="1371600"/>
            <a:ext cx="11057839" cy="365760"/>
          </a:xfrm>
          <a:prstGeom prst="rect">
            <a:avLst/>
          </a:prstGeom>
          <a:noFill/>
          <a:ln/>
        </p:spPr>
        <p:txBody>
          <a:bodyPr wrap="square" lIns="0" tIns="0" rIns="0" bIns="0" rtlCol="0" anchor="t"/>
          <a:lstStyle/>
          <a:p>
            <a:pPr marL="0" indent="0">
              <a:lnSpc>
                <a:spcPts val="1900"/>
              </a:lnSpc>
              <a:buNone/>
            </a:pPr>
            <a:r>
              <a:rPr lang="en-US" sz="1400" i="1">
                <a:solidFill>
                  <a:srgbClr val="6B7280"/>
                </a:solidFill>
                <a:latin typeface="Calibri" pitchFamily="34" charset="0"/>
                <a:ea typeface="Calibri" pitchFamily="34" charset="-122"/>
                <a:cs typeface="Calibri" pitchFamily="34" charset="-120"/>
              </a:rPr>
              <a:t>Cover the right-hand column. Say each definition aloud before you check.</a:t>
            </a:r>
            <a:endParaRPr lang="en-US" sz="1400"/>
          </a:p>
        </p:txBody>
      </p:sp>
      <p:sp>
        <p:nvSpPr>
          <p:cNvPr id="5" name="Shape 3"/>
          <p:cNvSpPr/>
          <p:nvPr/>
        </p:nvSpPr>
        <p:spPr>
          <a:xfrm>
            <a:off x="566928" y="1938528"/>
            <a:ext cx="2615184" cy="566928"/>
          </a:xfrm>
          <a:prstGeom prst="roundRect">
            <a:avLst>
              <a:gd name="adj" fmla="val 14516"/>
            </a:avLst>
          </a:prstGeom>
          <a:solidFill>
            <a:srgbClr val="EAF0FA"/>
          </a:solidFill>
          <a:ln/>
        </p:spPr>
        <p:txBody>
          <a:bodyPr/>
          <a:lstStyle/>
          <a:p>
            <a:endParaRPr lang="en-US"/>
          </a:p>
        </p:txBody>
      </p:sp>
      <p:sp>
        <p:nvSpPr>
          <p:cNvPr id="6" name="Text 4"/>
          <p:cNvSpPr/>
          <p:nvPr/>
        </p:nvSpPr>
        <p:spPr>
          <a:xfrm>
            <a:off x="731520" y="1938528"/>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Social engineering</a:t>
            </a:r>
            <a:endParaRPr lang="en-US" sz="1100"/>
          </a:p>
        </p:txBody>
      </p:sp>
      <p:sp>
        <p:nvSpPr>
          <p:cNvPr id="7" name="Shape 5"/>
          <p:cNvSpPr/>
          <p:nvPr/>
        </p:nvSpPr>
        <p:spPr>
          <a:xfrm>
            <a:off x="3364992" y="1938528"/>
            <a:ext cx="2615184" cy="566928"/>
          </a:xfrm>
          <a:prstGeom prst="roundRect">
            <a:avLst>
              <a:gd name="adj" fmla="val 14516"/>
            </a:avLst>
          </a:prstGeom>
          <a:solidFill>
            <a:srgbClr val="EAF0FA"/>
          </a:solidFill>
          <a:ln/>
        </p:spPr>
        <p:txBody>
          <a:bodyPr/>
          <a:lstStyle/>
          <a:p>
            <a:endParaRPr lang="en-US"/>
          </a:p>
        </p:txBody>
      </p:sp>
      <p:sp>
        <p:nvSpPr>
          <p:cNvPr id="8" name="Text 6"/>
          <p:cNvSpPr/>
          <p:nvPr/>
        </p:nvSpPr>
        <p:spPr>
          <a:xfrm>
            <a:off x="3529584" y="1938528"/>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Elicitation</a:t>
            </a:r>
            <a:endParaRPr lang="en-US" sz="1100"/>
          </a:p>
        </p:txBody>
      </p:sp>
      <p:sp>
        <p:nvSpPr>
          <p:cNvPr id="9" name="Shape 7"/>
          <p:cNvSpPr/>
          <p:nvPr/>
        </p:nvSpPr>
        <p:spPr>
          <a:xfrm>
            <a:off x="6163056" y="1938528"/>
            <a:ext cx="2615184" cy="566928"/>
          </a:xfrm>
          <a:prstGeom prst="roundRect">
            <a:avLst>
              <a:gd name="adj" fmla="val 14516"/>
            </a:avLst>
          </a:prstGeom>
          <a:solidFill>
            <a:srgbClr val="EAF0FA"/>
          </a:solidFill>
          <a:ln/>
        </p:spPr>
        <p:txBody>
          <a:bodyPr/>
          <a:lstStyle/>
          <a:p>
            <a:endParaRPr lang="en-US"/>
          </a:p>
        </p:txBody>
      </p:sp>
      <p:sp>
        <p:nvSpPr>
          <p:cNvPr id="10" name="Text 8"/>
          <p:cNvSpPr/>
          <p:nvPr/>
        </p:nvSpPr>
        <p:spPr>
          <a:xfrm>
            <a:off x="6327648" y="1938528"/>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Phishing</a:t>
            </a:r>
            <a:endParaRPr lang="en-US" sz="1100"/>
          </a:p>
        </p:txBody>
      </p:sp>
      <p:sp>
        <p:nvSpPr>
          <p:cNvPr id="11" name="Shape 9"/>
          <p:cNvSpPr/>
          <p:nvPr/>
        </p:nvSpPr>
        <p:spPr>
          <a:xfrm>
            <a:off x="8961120" y="1938528"/>
            <a:ext cx="2615184" cy="566928"/>
          </a:xfrm>
          <a:prstGeom prst="roundRect">
            <a:avLst>
              <a:gd name="adj" fmla="val 14516"/>
            </a:avLst>
          </a:prstGeom>
          <a:solidFill>
            <a:srgbClr val="EAF0FA"/>
          </a:solidFill>
          <a:ln/>
        </p:spPr>
        <p:txBody>
          <a:bodyPr/>
          <a:lstStyle/>
          <a:p>
            <a:endParaRPr lang="en-US"/>
          </a:p>
        </p:txBody>
      </p:sp>
      <p:sp>
        <p:nvSpPr>
          <p:cNvPr id="12" name="Text 10"/>
          <p:cNvSpPr/>
          <p:nvPr/>
        </p:nvSpPr>
        <p:spPr>
          <a:xfrm>
            <a:off x="9125712" y="1938528"/>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Vishing</a:t>
            </a:r>
            <a:endParaRPr lang="en-US" sz="1100"/>
          </a:p>
        </p:txBody>
      </p:sp>
      <p:sp>
        <p:nvSpPr>
          <p:cNvPr id="13" name="Shape 11"/>
          <p:cNvSpPr/>
          <p:nvPr/>
        </p:nvSpPr>
        <p:spPr>
          <a:xfrm>
            <a:off x="566928" y="2615184"/>
            <a:ext cx="2615184" cy="566928"/>
          </a:xfrm>
          <a:prstGeom prst="roundRect">
            <a:avLst>
              <a:gd name="adj" fmla="val 14516"/>
            </a:avLst>
          </a:prstGeom>
          <a:solidFill>
            <a:srgbClr val="E6F5F3"/>
          </a:solidFill>
          <a:ln/>
        </p:spPr>
        <p:txBody>
          <a:bodyPr/>
          <a:lstStyle/>
          <a:p>
            <a:endParaRPr lang="en-US"/>
          </a:p>
        </p:txBody>
      </p:sp>
      <p:sp>
        <p:nvSpPr>
          <p:cNvPr id="14" name="Text 12"/>
          <p:cNvSpPr/>
          <p:nvPr/>
        </p:nvSpPr>
        <p:spPr>
          <a:xfrm>
            <a:off x="731520" y="2615184"/>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Smishing</a:t>
            </a:r>
            <a:endParaRPr lang="en-US" sz="1100"/>
          </a:p>
        </p:txBody>
      </p:sp>
      <p:sp>
        <p:nvSpPr>
          <p:cNvPr id="15" name="Shape 13"/>
          <p:cNvSpPr/>
          <p:nvPr/>
        </p:nvSpPr>
        <p:spPr>
          <a:xfrm>
            <a:off x="3364992" y="2615184"/>
            <a:ext cx="2615184" cy="566928"/>
          </a:xfrm>
          <a:prstGeom prst="roundRect">
            <a:avLst>
              <a:gd name="adj" fmla="val 14516"/>
            </a:avLst>
          </a:prstGeom>
          <a:solidFill>
            <a:srgbClr val="E6F5F3"/>
          </a:solidFill>
          <a:ln/>
        </p:spPr>
        <p:txBody>
          <a:bodyPr/>
          <a:lstStyle/>
          <a:p>
            <a:endParaRPr lang="en-US"/>
          </a:p>
        </p:txBody>
      </p:sp>
      <p:sp>
        <p:nvSpPr>
          <p:cNvPr id="16" name="Text 14"/>
          <p:cNvSpPr/>
          <p:nvPr/>
        </p:nvSpPr>
        <p:spPr>
          <a:xfrm>
            <a:off x="3529584" y="2615184"/>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Pretexting</a:t>
            </a:r>
            <a:endParaRPr lang="en-US" sz="1100"/>
          </a:p>
        </p:txBody>
      </p:sp>
      <p:sp>
        <p:nvSpPr>
          <p:cNvPr id="17" name="Shape 15"/>
          <p:cNvSpPr/>
          <p:nvPr/>
        </p:nvSpPr>
        <p:spPr>
          <a:xfrm>
            <a:off x="6163056" y="2615184"/>
            <a:ext cx="2615184" cy="566928"/>
          </a:xfrm>
          <a:prstGeom prst="roundRect">
            <a:avLst>
              <a:gd name="adj" fmla="val 14516"/>
            </a:avLst>
          </a:prstGeom>
          <a:solidFill>
            <a:srgbClr val="E6F5F3"/>
          </a:solidFill>
          <a:ln/>
        </p:spPr>
        <p:txBody>
          <a:bodyPr/>
          <a:lstStyle/>
          <a:p>
            <a:endParaRPr lang="en-US"/>
          </a:p>
        </p:txBody>
      </p:sp>
      <p:sp>
        <p:nvSpPr>
          <p:cNvPr id="18" name="Text 16"/>
          <p:cNvSpPr/>
          <p:nvPr/>
        </p:nvSpPr>
        <p:spPr>
          <a:xfrm>
            <a:off x="6327648" y="2615184"/>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Intimidation</a:t>
            </a:r>
            <a:endParaRPr lang="en-US" sz="1100"/>
          </a:p>
        </p:txBody>
      </p:sp>
      <p:sp>
        <p:nvSpPr>
          <p:cNvPr id="19" name="Shape 17"/>
          <p:cNvSpPr/>
          <p:nvPr/>
        </p:nvSpPr>
        <p:spPr>
          <a:xfrm>
            <a:off x="8961120" y="2615184"/>
            <a:ext cx="2615184" cy="566928"/>
          </a:xfrm>
          <a:prstGeom prst="roundRect">
            <a:avLst>
              <a:gd name="adj" fmla="val 14516"/>
            </a:avLst>
          </a:prstGeom>
          <a:solidFill>
            <a:srgbClr val="E6F5F3"/>
          </a:solidFill>
          <a:ln/>
        </p:spPr>
        <p:txBody>
          <a:bodyPr/>
          <a:lstStyle/>
          <a:p>
            <a:endParaRPr lang="en-US"/>
          </a:p>
        </p:txBody>
      </p:sp>
      <p:sp>
        <p:nvSpPr>
          <p:cNvPr id="20" name="Text 18"/>
          <p:cNvSpPr/>
          <p:nvPr/>
        </p:nvSpPr>
        <p:spPr>
          <a:xfrm>
            <a:off x="9125712" y="2615184"/>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Urgency</a:t>
            </a:r>
            <a:endParaRPr lang="en-US" sz="1100"/>
          </a:p>
        </p:txBody>
      </p:sp>
      <p:sp>
        <p:nvSpPr>
          <p:cNvPr id="21" name="Shape 19"/>
          <p:cNvSpPr/>
          <p:nvPr/>
        </p:nvSpPr>
        <p:spPr>
          <a:xfrm>
            <a:off x="566928" y="3291840"/>
            <a:ext cx="2615184" cy="566928"/>
          </a:xfrm>
          <a:prstGeom prst="roundRect">
            <a:avLst>
              <a:gd name="adj" fmla="val 14516"/>
            </a:avLst>
          </a:prstGeom>
          <a:solidFill>
            <a:srgbClr val="FDF2E2"/>
          </a:solidFill>
          <a:ln/>
        </p:spPr>
        <p:txBody>
          <a:bodyPr/>
          <a:lstStyle/>
          <a:p>
            <a:endParaRPr lang="en-US"/>
          </a:p>
        </p:txBody>
      </p:sp>
      <p:sp>
        <p:nvSpPr>
          <p:cNvPr id="22" name="Text 20"/>
          <p:cNvSpPr/>
          <p:nvPr/>
        </p:nvSpPr>
        <p:spPr>
          <a:xfrm>
            <a:off x="731520" y="3291840"/>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One-time password</a:t>
            </a:r>
            <a:endParaRPr lang="en-US" sz="1100"/>
          </a:p>
        </p:txBody>
      </p:sp>
      <p:sp>
        <p:nvSpPr>
          <p:cNvPr id="23" name="Shape 21"/>
          <p:cNvSpPr/>
          <p:nvPr/>
        </p:nvSpPr>
        <p:spPr>
          <a:xfrm>
            <a:off x="3364992" y="3291840"/>
            <a:ext cx="2615184" cy="566928"/>
          </a:xfrm>
          <a:prstGeom prst="roundRect">
            <a:avLst>
              <a:gd name="adj" fmla="val 14516"/>
            </a:avLst>
          </a:prstGeom>
          <a:solidFill>
            <a:srgbClr val="FDF2E2"/>
          </a:solidFill>
          <a:ln/>
        </p:spPr>
        <p:txBody>
          <a:bodyPr/>
          <a:lstStyle/>
          <a:p>
            <a:endParaRPr lang="en-US"/>
          </a:p>
        </p:txBody>
      </p:sp>
      <p:sp>
        <p:nvSpPr>
          <p:cNvPr id="24" name="Text 22"/>
          <p:cNvSpPr/>
          <p:nvPr/>
        </p:nvSpPr>
        <p:spPr>
          <a:xfrm>
            <a:off x="3529584" y="3291840"/>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Credential stuffing</a:t>
            </a:r>
            <a:endParaRPr lang="en-US" sz="1100"/>
          </a:p>
        </p:txBody>
      </p:sp>
      <p:sp>
        <p:nvSpPr>
          <p:cNvPr id="25" name="Shape 23"/>
          <p:cNvSpPr/>
          <p:nvPr/>
        </p:nvSpPr>
        <p:spPr>
          <a:xfrm>
            <a:off x="6163056" y="3291840"/>
            <a:ext cx="2615184" cy="566928"/>
          </a:xfrm>
          <a:prstGeom prst="roundRect">
            <a:avLst>
              <a:gd name="adj" fmla="val 14516"/>
            </a:avLst>
          </a:prstGeom>
          <a:solidFill>
            <a:srgbClr val="FDF2E2"/>
          </a:solidFill>
          <a:ln/>
        </p:spPr>
        <p:txBody>
          <a:bodyPr/>
          <a:lstStyle/>
          <a:p>
            <a:endParaRPr lang="en-US"/>
          </a:p>
        </p:txBody>
      </p:sp>
      <p:sp>
        <p:nvSpPr>
          <p:cNvPr id="26" name="Text 24"/>
          <p:cNvSpPr/>
          <p:nvPr/>
        </p:nvSpPr>
        <p:spPr>
          <a:xfrm>
            <a:off x="6327648" y="3291840"/>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Password spraying</a:t>
            </a:r>
            <a:endParaRPr lang="en-US" sz="1100"/>
          </a:p>
        </p:txBody>
      </p:sp>
      <p:sp>
        <p:nvSpPr>
          <p:cNvPr id="27" name="Shape 25"/>
          <p:cNvSpPr/>
          <p:nvPr/>
        </p:nvSpPr>
        <p:spPr>
          <a:xfrm>
            <a:off x="8961120" y="3291840"/>
            <a:ext cx="2615184" cy="566928"/>
          </a:xfrm>
          <a:prstGeom prst="roundRect">
            <a:avLst>
              <a:gd name="adj" fmla="val 14516"/>
            </a:avLst>
          </a:prstGeom>
          <a:solidFill>
            <a:srgbClr val="FDF2E2"/>
          </a:solidFill>
          <a:ln/>
        </p:spPr>
        <p:txBody>
          <a:bodyPr/>
          <a:lstStyle/>
          <a:p>
            <a:endParaRPr lang="en-US"/>
          </a:p>
        </p:txBody>
      </p:sp>
      <p:sp>
        <p:nvSpPr>
          <p:cNvPr id="28" name="Text 26"/>
          <p:cNvSpPr/>
          <p:nvPr/>
        </p:nvSpPr>
        <p:spPr>
          <a:xfrm>
            <a:off x="9125712" y="3291840"/>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Brute force</a:t>
            </a:r>
            <a:endParaRPr lang="en-US" sz="1100"/>
          </a:p>
        </p:txBody>
      </p:sp>
      <p:sp>
        <p:nvSpPr>
          <p:cNvPr id="29" name="Shape 27"/>
          <p:cNvSpPr/>
          <p:nvPr/>
        </p:nvSpPr>
        <p:spPr>
          <a:xfrm>
            <a:off x="566928" y="3968496"/>
            <a:ext cx="2615184" cy="566928"/>
          </a:xfrm>
          <a:prstGeom prst="roundRect">
            <a:avLst>
              <a:gd name="adj" fmla="val 14516"/>
            </a:avLst>
          </a:prstGeom>
          <a:solidFill>
            <a:srgbClr val="EFEDFA"/>
          </a:solidFill>
          <a:ln/>
        </p:spPr>
        <p:txBody>
          <a:bodyPr/>
          <a:lstStyle/>
          <a:p>
            <a:endParaRPr lang="en-US"/>
          </a:p>
        </p:txBody>
      </p:sp>
      <p:sp>
        <p:nvSpPr>
          <p:cNvPr id="30" name="Text 28"/>
          <p:cNvSpPr/>
          <p:nvPr/>
        </p:nvSpPr>
        <p:spPr>
          <a:xfrm>
            <a:off x="731520" y="3968496"/>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Multi-factor authentication</a:t>
            </a:r>
            <a:endParaRPr lang="en-US" sz="1100"/>
          </a:p>
        </p:txBody>
      </p:sp>
      <p:sp>
        <p:nvSpPr>
          <p:cNvPr id="31" name="Shape 29"/>
          <p:cNvSpPr/>
          <p:nvPr/>
        </p:nvSpPr>
        <p:spPr>
          <a:xfrm>
            <a:off x="3364992" y="3968496"/>
            <a:ext cx="2615184" cy="566928"/>
          </a:xfrm>
          <a:prstGeom prst="roundRect">
            <a:avLst>
              <a:gd name="adj" fmla="val 14516"/>
            </a:avLst>
          </a:prstGeom>
          <a:solidFill>
            <a:srgbClr val="EFEDFA"/>
          </a:solidFill>
          <a:ln/>
        </p:spPr>
        <p:txBody>
          <a:bodyPr/>
          <a:lstStyle/>
          <a:p>
            <a:endParaRPr lang="en-US"/>
          </a:p>
        </p:txBody>
      </p:sp>
      <p:sp>
        <p:nvSpPr>
          <p:cNvPr id="32" name="Text 30"/>
          <p:cNvSpPr/>
          <p:nvPr/>
        </p:nvSpPr>
        <p:spPr>
          <a:xfrm>
            <a:off x="3529584" y="3968496"/>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Evil twin</a:t>
            </a:r>
            <a:endParaRPr lang="en-US" sz="1100"/>
          </a:p>
        </p:txBody>
      </p:sp>
      <p:sp>
        <p:nvSpPr>
          <p:cNvPr id="33" name="Shape 31"/>
          <p:cNvSpPr/>
          <p:nvPr/>
        </p:nvSpPr>
        <p:spPr>
          <a:xfrm>
            <a:off x="6163056" y="3968496"/>
            <a:ext cx="2615184" cy="566928"/>
          </a:xfrm>
          <a:prstGeom prst="roundRect">
            <a:avLst>
              <a:gd name="adj" fmla="val 14516"/>
            </a:avLst>
          </a:prstGeom>
          <a:solidFill>
            <a:srgbClr val="EFEDFA"/>
          </a:solidFill>
          <a:ln/>
        </p:spPr>
        <p:txBody>
          <a:bodyPr/>
          <a:lstStyle/>
          <a:p>
            <a:endParaRPr lang="en-US"/>
          </a:p>
        </p:txBody>
      </p:sp>
      <p:sp>
        <p:nvSpPr>
          <p:cNvPr id="34" name="Text 32"/>
          <p:cNvSpPr/>
          <p:nvPr/>
        </p:nvSpPr>
        <p:spPr>
          <a:xfrm>
            <a:off x="6327648" y="3968496"/>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Jamming</a:t>
            </a:r>
            <a:endParaRPr lang="en-US" sz="1100"/>
          </a:p>
        </p:txBody>
      </p:sp>
      <p:sp>
        <p:nvSpPr>
          <p:cNvPr id="35" name="Shape 33"/>
          <p:cNvSpPr/>
          <p:nvPr/>
        </p:nvSpPr>
        <p:spPr>
          <a:xfrm>
            <a:off x="8961120" y="3968496"/>
            <a:ext cx="2615184" cy="566928"/>
          </a:xfrm>
          <a:prstGeom prst="roundRect">
            <a:avLst>
              <a:gd name="adj" fmla="val 14516"/>
            </a:avLst>
          </a:prstGeom>
          <a:solidFill>
            <a:srgbClr val="EFEDFA"/>
          </a:solidFill>
          <a:ln/>
        </p:spPr>
        <p:txBody>
          <a:bodyPr/>
          <a:lstStyle/>
          <a:p>
            <a:endParaRPr lang="en-US"/>
          </a:p>
        </p:txBody>
      </p:sp>
      <p:sp>
        <p:nvSpPr>
          <p:cNvPr id="36" name="Text 34"/>
          <p:cNvSpPr/>
          <p:nvPr/>
        </p:nvSpPr>
        <p:spPr>
          <a:xfrm>
            <a:off x="9125712" y="3968496"/>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War driving</a:t>
            </a:r>
            <a:endParaRPr lang="en-US" sz="1100"/>
          </a:p>
        </p:txBody>
      </p:sp>
      <p:sp>
        <p:nvSpPr>
          <p:cNvPr id="37" name="Shape 35"/>
          <p:cNvSpPr/>
          <p:nvPr/>
        </p:nvSpPr>
        <p:spPr>
          <a:xfrm>
            <a:off x="566928" y="4645152"/>
            <a:ext cx="2615184" cy="566928"/>
          </a:xfrm>
          <a:prstGeom prst="roundRect">
            <a:avLst>
              <a:gd name="adj" fmla="val 14516"/>
            </a:avLst>
          </a:prstGeom>
          <a:solidFill>
            <a:srgbClr val="EAF0FA"/>
          </a:solidFill>
          <a:ln/>
        </p:spPr>
        <p:txBody>
          <a:bodyPr/>
          <a:lstStyle/>
          <a:p>
            <a:endParaRPr lang="en-US"/>
          </a:p>
        </p:txBody>
      </p:sp>
      <p:sp>
        <p:nvSpPr>
          <p:cNvPr id="38" name="Text 36"/>
          <p:cNvSpPr/>
          <p:nvPr/>
        </p:nvSpPr>
        <p:spPr>
          <a:xfrm>
            <a:off x="731520" y="4645152"/>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Zero day</a:t>
            </a:r>
            <a:endParaRPr lang="en-US" sz="1100"/>
          </a:p>
        </p:txBody>
      </p:sp>
      <p:sp>
        <p:nvSpPr>
          <p:cNvPr id="39" name="Shape 37"/>
          <p:cNvSpPr/>
          <p:nvPr/>
        </p:nvSpPr>
        <p:spPr>
          <a:xfrm>
            <a:off x="3364992" y="4645152"/>
            <a:ext cx="2615184" cy="566928"/>
          </a:xfrm>
          <a:prstGeom prst="roundRect">
            <a:avLst>
              <a:gd name="adj" fmla="val 14516"/>
            </a:avLst>
          </a:prstGeom>
          <a:solidFill>
            <a:srgbClr val="EAF0FA"/>
          </a:solidFill>
          <a:ln/>
        </p:spPr>
        <p:txBody>
          <a:bodyPr/>
          <a:lstStyle/>
          <a:p>
            <a:endParaRPr lang="en-US"/>
          </a:p>
        </p:txBody>
      </p:sp>
      <p:sp>
        <p:nvSpPr>
          <p:cNvPr id="40" name="Text 38"/>
          <p:cNvSpPr/>
          <p:nvPr/>
        </p:nvSpPr>
        <p:spPr>
          <a:xfrm>
            <a:off x="3529584" y="4645152"/>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Captive portal</a:t>
            </a:r>
            <a:endParaRPr lang="en-US" sz="1100"/>
          </a:p>
        </p:txBody>
      </p:sp>
      <p:sp>
        <p:nvSpPr>
          <p:cNvPr id="41" name="Shape 39"/>
          <p:cNvSpPr/>
          <p:nvPr/>
        </p:nvSpPr>
        <p:spPr>
          <a:xfrm>
            <a:off x="6163056" y="4645152"/>
            <a:ext cx="2615184" cy="566928"/>
          </a:xfrm>
          <a:prstGeom prst="roundRect">
            <a:avLst>
              <a:gd name="adj" fmla="val 14516"/>
            </a:avLst>
          </a:prstGeom>
          <a:solidFill>
            <a:srgbClr val="EAF0FA"/>
          </a:solidFill>
          <a:ln/>
        </p:spPr>
        <p:txBody>
          <a:bodyPr/>
          <a:lstStyle/>
          <a:p>
            <a:endParaRPr lang="en-US"/>
          </a:p>
        </p:txBody>
      </p:sp>
      <p:sp>
        <p:nvSpPr>
          <p:cNvPr id="42" name="Text 40"/>
          <p:cNvSpPr/>
          <p:nvPr/>
        </p:nvSpPr>
        <p:spPr>
          <a:xfrm>
            <a:off x="6327648" y="4645152"/>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Deepfake</a:t>
            </a:r>
            <a:endParaRPr lang="en-US" sz="1100"/>
          </a:p>
        </p:txBody>
      </p:sp>
      <p:sp>
        <p:nvSpPr>
          <p:cNvPr id="43" name="Shape 41"/>
          <p:cNvSpPr/>
          <p:nvPr/>
        </p:nvSpPr>
        <p:spPr>
          <a:xfrm>
            <a:off x="8961120" y="4645152"/>
            <a:ext cx="2615184" cy="566928"/>
          </a:xfrm>
          <a:prstGeom prst="roundRect">
            <a:avLst>
              <a:gd name="adj" fmla="val 14516"/>
            </a:avLst>
          </a:prstGeom>
          <a:solidFill>
            <a:srgbClr val="EAF0FA"/>
          </a:solidFill>
          <a:ln/>
        </p:spPr>
        <p:txBody>
          <a:bodyPr/>
          <a:lstStyle/>
          <a:p>
            <a:endParaRPr lang="en-US"/>
          </a:p>
        </p:txBody>
      </p:sp>
      <p:sp>
        <p:nvSpPr>
          <p:cNvPr id="44" name="Text 42"/>
          <p:cNvSpPr/>
          <p:nvPr/>
        </p:nvSpPr>
        <p:spPr>
          <a:xfrm>
            <a:off x="9125712" y="4645152"/>
            <a:ext cx="2331720" cy="566928"/>
          </a:xfrm>
          <a:prstGeom prst="rect">
            <a:avLst/>
          </a:prstGeom>
          <a:noFill/>
          <a:ln/>
        </p:spPr>
        <p:txBody>
          <a:bodyPr wrap="square" lIns="0" tIns="0" rIns="0" bIns="0" rtlCol="0" anchor="ctr"/>
          <a:lstStyle/>
          <a:p>
            <a:pPr marL="0" indent="0">
              <a:buNone/>
            </a:pPr>
            <a:r>
              <a:rPr lang="en-US" sz="1100" b="1">
                <a:solidFill>
                  <a:srgbClr val="12141C"/>
                </a:solidFill>
                <a:latin typeface="Calibri" pitchFamily="34" charset="0"/>
                <a:ea typeface="Calibri" pitchFamily="34" charset="-122"/>
                <a:cs typeface="Calibri" pitchFamily="34" charset="-120"/>
              </a:rPr>
              <a:t>Indicator of compromise</a:t>
            </a:r>
            <a:endParaRPr lang="en-US" sz="1100"/>
          </a:p>
        </p:txBody>
      </p:sp>
      <p:sp>
        <p:nvSpPr>
          <p:cNvPr id="45" name="Shape 43"/>
          <p:cNvSpPr/>
          <p:nvPr/>
        </p:nvSpPr>
        <p:spPr>
          <a:xfrm>
            <a:off x="566928" y="5394960"/>
            <a:ext cx="11057839" cy="777240"/>
          </a:xfrm>
          <a:prstGeom prst="roundRect">
            <a:avLst>
              <a:gd name="adj" fmla="val 10588"/>
            </a:avLst>
          </a:prstGeom>
          <a:solidFill>
            <a:srgbClr val="12141C"/>
          </a:solidFill>
          <a:ln/>
        </p:spPr>
        <p:txBody>
          <a:bodyPr/>
          <a:lstStyle/>
          <a:p>
            <a:endParaRPr lang="en-US"/>
          </a:p>
        </p:txBody>
      </p:sp>
      <p:sp>
        <p:nvSpPr>
          <p:cNvPr id="46" name="Shape 44"/>
          <p:cNvSpPr/>
          <p:nvPr/>
        </p:nvSpPr>
        <p:spPr>
          <a:xfrm>
            <a:off x="841248" y="5559552"/>
            <a:ext cx="457200" cy="457200"/>
          </a:xfrm>
          <a:prstGeom prst="ellipse">
            <a:avLst/>
          </a:prstGeom>
          <a:solidFill>
            <a:srgbClr val="1FA697"/>
          </a:solidFill>
          <a:ln/>
        </p:spPr>
        <p:txBody>
          <a:bodyPr/>
          <a:lstStyle/>
          <a:p>
            <a:endParaRPr lang="en-US"/>
          </a:p>
        </p:txBody>
      </p:sp>
      <p:pic>
        <p:nvPicPr>
          <p:cNvPr id="47" name="Image 0" descr="/home/claude/icons/FaGraduationCap_w.png"/>
          <p:cNvPicPr>
            <a:picLocks noChangeAspect="1"/>
          </p:cNvPicPr>
          <p:nvPr/>
        </p:nvPicPr>
        <p:blipFill>
          <a:blip r:embed="rId3"/>
          <a:stretch>
            <a:fillRect/>
          </a:stretch>
        </p:blipFill>
        <p:spPr>
          <a:xfrm>
            <a:off x="960120" y="5678424"/>
            <a:ext cx="219456" cy="219456"/>
          </a:xfrm>
          <a:prstGeom prst="rect">
            <a:avLst/>
          </a:prstGeom>
        </p:spPr>
      </p:pic>
      <p:sp>
        <p:nvSpPr>
          <p:cNvPr id="48" name="Text 45"/>
          <p:cNvSpPr/>
          <p:nvPr/>
        </p:nvSpPr>
        <p:spPr>
          <a:xfrm>
            <a:off x="1426464" y="5394960"/>
            <a:ext cx="10149840" cy="777240"/>
          </a:xfrm>
          <a:prstGeom prst="rect">
            <a:avLst/>
          </a:prstGeom>
          <a:noFill/>
          <a:ln/>
        </p:spPr>
        <p:txBody>
          <a:bodyPr wrap="square" lIns="0" tIns="0" rIns="0" bIns="0" rtlCol="0" anchor="ctr"/>
          <a:lstStyle/>
          <a:p>
            <a:pPr marL="0" indent="0">
              <a:lnSpc>
                <a:spcPts val="1500"/>
              </a:lnSpc>
              <a:buNone/>
            </a:pPr>
            <a:r>
              <a:rPr lang="en-US" sz="1150">
                <a:solidFill>
                  <a:srgbClr val="FFFFFF"/>
                </a:solidFill>
                <a:latin typeface="Calibri" pitchFamily="34" charset="0"/>
                <a:ea typeface="Calibri" pitchFamily="34" charset="-122"/>
                <a:cs typeface="Calibri" pitchFamily="34" charset="-120"/>
              </a:rPr>
              <a:t>Self-check: for each term, can you state (1) what it is, (2) which learning objective it belongs to, and (3) one control that mitigates it or one situation where it applies? If not, return to that topic's definition slide.</a:t>
            </a:r>
            <a:endParaRPr lang="en-US" sz="1150"/>
          </a:p>
        </p:txBody>
      </p:sp>
      <p:sp>
        <p:nvSpPr>
          <p:cNvPr id="49" name="Text 46"/>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50" name="Text 47"/>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60</a:t>
            </a:r>
            <a:endParaRPr lang="en-US" sz="9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marL="0" indent="0">
              <a:buNone/>
            </a:pPr>
            <a:r>
              <a:rPr lang="en-US" sz="1050" b="1" kern="0" spc="160">
                <a:solidFill>
                  <a:srgbClr val="1FA697"/>
                </a:solidFill>
                <a:latin typeface="Calibri" pitchFamily="34" charset="0"/>
                <a:ea typeface="Calibri" pitchFamily="34" charset="-122"/>
                <a:cs typeface="Calibri" pitchFamily="34" charset="-120"/>
              </a:rPr>
              <a:t>SOURCES AND FURTHER READING</a:t>
            </a:r>
            <a:endParaRPr lang="en-US" sz="1050"/>
          </a:p>
        </p:txBody>
      </p:sp>
      <p:sp>
        <p:nvSpPr>
          <p:cNvPr id="3" name="Text 1"/>
          <p:cNvSpPr/>
          <p:nvPr/>
        </p:nvSpPr>
        <p:spPr>
          <a:xfrm>
            <a:off x="566928" y="694944"/>
            <a:ext cx="11057839" cy="658368"/>
          </a:xfrm>
          <a:prstGeom prst="rect">
            <a:avLst/>
          </a:prstGeom>
          <a:noFill/>
          <a:ln/>
        </p:spPr>
        <p:txBody>
          <a:bodyPr wrap="square" lIns="0" tIns="0" rIns="0" bIns="0" rtlCol="0" anchor="t"/>
          <a:lstStyle/>
          <a:p>
            <a:pPr marL="0" indent="0">
              <a:lnSpc>
                <a:spcPts val="3200"/>
              </a:lnSpc>
              <a:buNone/>
            </a:pPr>
            <a:r>
              <a:rPr lang="en-US" sz="3000" b="1">
                <a:solidFill>
                  <a:srgbClr val="12141C"/>
                </a:solidFill>
                <a:latin typeface="Cambria" pitchFamily="34" charset="0"/>
                <a:ea typeface="Cambria" pitchFamily="34" charset="-122"/>
                <a:cs typeface="Cambria" pitchFamily="34" charset="-120"/>
              </a:rPr>
              <a:t>Where this material comes from</a:t>
            </a:r>
            <a:endParaRPr lang="en-US" sz="3000"/>
          </a:p>
        </p:txBody>
      </p:sp>
      <p:sp>
        <p:nvSpPr>
          <p:cNvPr id="4" name="Shape 2"/>
          <p:cNvSpPr/>
          <p:nvPr/>
        </p:nvSpPr>
        <p:spPr>
          <a:xfrm>
            <a:off x="566928" y="1627632"/>
            <a:ext cx="11057839" cy="1005840"/>
          </a:xfrm>
          <a:prstGeom prst="roundRect">
            <a:avLst>
              <a:gd name="adj" fmla="val 8182"/>
            </a:avLst>
          </a:prstGeom>
          <a:solidFill>
            <a:srgbClr val="F2F4F8"/>
          </a:solidFill>
          <a:ln/>
        </p:spPr>
        <p:txBody>
          <a:bodyPr/>
          <a:lstStyle/>
          <a:p>
            <a:endParaRPr lang="en-US"/>
          </a:p>
        </p:txBody>
      </p:sp>
      <p:sp>
        <p:nvSpPr>
          <p:cNvPr id="5" name="Text 3"/>
          <p:cNvSpPr/>
          <p:nvPr/>
        </p:nvSpPr>
        <p:spPr>
          <a:xfrm>
            <a:off x="822960" y="1737360"/>
            <a:ext cx="5486400" cy="201168"/>
          </a:xfrm>
          <a:prstGeom prst="rect">
            <a:avLst/>
          </a:prstGeom>
          <a:noFill/>
          <a:ln/>
        </p:spPr>
        <p:txBody>
          <a:bodyPr wrap="square" lIns="0" tIns="0" rIns="0" bIns="0" rtlCol="0" anchor="ctr"/>
          <a:lstStyle/>
          <a:p>
            <a:pPr marL="0" indent="0">
              <a:buNone/>
            </a:pPr>
            <a:r>
              <a:rPr lang="en-US" sz="900" b="1" kern="0" spc="120">
                <a:solidFill>
                  <a:srgbClr val="12141C"/>
                </a:solidFill>
                <a:latin typeface="Calibri" pitchFamily="34" charset="0"/>
                <a:ea typeface="Calibri" pitchFamily="34" charset="-122"/>
                <a:cs typeface="Calibri" pitchFamily="34" charset="-120"/>
              </a:rPr>
              <a:t>CURRICULUM</a:t>
            </a:r>
            <a:endParaRPr lang="en-US" sz="900"/>
          </a:p>
        </p:txBody>
      </p:sp>
      <p:sp>
        <p:nvSpPr>
          <p:cNvPr id="6" name="Text 4"/>
          <p:cNvSpPr/>
          <p:nvPr/>
        </p:nvSpPr>
        <p:spPr>
          <a:xfrm>
            <a:off x="822960" y="1993392"/>
            <a:ext cx="10515600" cy="548640"/>
          </a:xfrm>
          <a:prstGeom prst="rect">
            <a:avLst/>
          </a:prstGeom>
          <a:noFill/>
          <a:ln/>
        </p:spPr>
        <p:txBody>
          <a:bodyPr wrap="square" lIns="0" tIns="0" rIns="0" bIns="0" rtlCol="0" anchor="t"/>
          <a:lstStyle/>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College Board, AP Cybersecurity Course and Exam Description, effective Fall 2026 — Unit 1, pp. 27-42; skills framework p. 16; exam information pp. 146-148.</a:t>
            </a:r>
            <a:endParaRPr lang="en-US" sz="1020"/>
          </a:p>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All five scenarios (1A-1E) are adapted from the CED, pp. 28-31.</a:t>
            </a:r>
            <a:endParaRPr lang="en-US" sz="1020"/>
          </a:p>
        </p:txBody>
      </p:sp>
      <p:sp>
        <p:nvSpPr>
          <p:cNvPr id="7" name="Shape 5"/>
          <p:cNvSpPr/>
          <p:nvPr/>
        </p:nvSpPr>
        <p:spPr>
          <a:xfrm>
            <a:off x="566928" y="2834640"/>
            <a:ext cx="11057839" cy="1627632"/>
          </a:xfrm>
          <a:prstGeom prst="roundRect">
            <a:avLst>
              <a:gd name="adj" fmla="val 5056"/>
            </a:avLst>
          </a:prstGeom>
          <a:solidFill>
            <a:srgbClr val="F2F4F8"/>
          </a:solidFill>
          <a:ln/>
        </p:spPr>
        <p:txBody>
          <a:bodyPr/>
          <a:lstStyle/>
          <a:p>
            <a:endParaRPr lang="en-US"/>
          </a:p>
        </p:txBody>
      </p:sp>
      <p:sp>
        <p:nvSpPr>
          <p:cNvPr id="8" name="Text 6"/>
          <p:cNvSpPr/>
          <p:nvPr/>
        </p:nvSpPr>
        <p:spPr>
          <a:xfrm>
            <a:off x="822960" y="2944368"/>
            <a:ext cx="5486400" cy="201168"/>
          </a:xfrm>
          <a:prstGeom prst="rect">
            <a:avLst/>
          </a:prstGeom>
          <a:noFill/>
          <a:ln/>
        </p:spPr>
        <p:txBody>
          <a:bodyPr wrap="square" lIns="0" tIns="0" rIns="0" bIns="0" rtlCol="0" anchor="ctr"/>
          <a:lstStyle/>
          <a:p>
            <a:pPr marL="0" indent="0">
              <a:buNone/>
            </a:pPr>
            <a:r>
              <a:rPr lang="en-US" sz="900" b="1" kern="0" spc="120">
                <a:solidFill>
                  <a:srgbClr val="1FA697"/>
                </a:solidFill>
                <a:latin typeface="Calibri" pitchFamily="34" charset="0"/>
                <a:ea typeface="Calibri" pitchFamily="34" charset="-122"/>
                <a:cs typeface="Calibri" pitchFamily="34" charset="-120"/>
              </a:rPr>
              <a:t>STANDARDS AND OFFICIAL GUIDANCE</a:t>
            </a:r>
            <a:endParaRPr lang="en-US" sz="900"/>
          </a:p>
        </p:txBody>
      </p:sp>
      <p:sp>
        <p:nvSpPr>
          <p:cNvPr id="9" name="Text 7"/>
          <p:cNvSpPr/>
          <p:nvPr/>
        </p:nvSpPr>
        <p:spPr>
          <a:xfrm>
            <a:off x="822960" y="3200400"/>
            <a:ext cx="10515600" cy="1170432"/>
          </a:xfrm>
          <a:prstGeom prst="rect">
            <a:avLst/>
          </a:prstGeom>
          <a:noFill/>
          <a:ln/>
        </p:spPr>
        <p:txBody>
          <a:bodyPr wrap="square" lIns="0" tIns="0" rIns="0" bIns="0" rtlCol="0" anchor="t"/>
          <a:lstStyle/>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NIST SP 800-63B, Digital Identity Guidelines — password length, uniqueness, and authenticator strength.</a:t>
            </a:r>
            <a:endParaRPr lang="en-US" sz="1020"/>
          </a:p>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CISA, Secure Our World: recognise and report phishing; use strong passwords; turn on MFA.</a:t>
            </a:r>
            <a:endParaRPr lang="en-US" sz="1020"/>
          </a:p>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Australian Federal Police media releases on evil twin Wi-Fi networks, June 2024 and 28 November 2025.</a:t>
            </a:r>
            <a:endParaRPr lang="en-US" sz="1020"/>
          </a:p>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FBI Internet Crime Complaint Center, 2025 Internet Crime Report (ic3.gov), published April 2026.</a:t>
            </a:r>
            <a:endParaRPr lang="en-US" sz="1020"/>
          </a:p>
        </p:txBody>
      </p:sp>
      <p:sp>
        <p:nvSpPr>
          <p:cNvPr id="10" name="Shape 8"/>
          <p:cNvSpPr/>
          <p:nvPr/>
        </p:nvSpPr>
        <p:spPr>
          <a:xfrm>
            <a:off x="566928" y="4663440"/>
            <a:ext cx="11057839" cy="1938528"/>
          </a:xfrm>
          <a:prstGeom prst="roundRect">
            <a:avLst>
              <a:gd name="adj" fmla="val 4245"/>
            </a:avLst>
          </a:prstGeom>
          <a:solidFill>
            <a:srgbClr val="F2F4F8"/>
          </a:solidFill>
          <a:ln/>
        </p:spPr>
        <p:txBody>
          <a:bodyPr/>
          <a:lstStyle/>
          <a:p>
            <a:endParaRPr lang="en-US"/>
          </a:p>
        </p:txBody>
      </p:sp>
      <p:sp>
        <p:nvSpPr>
          <p:cNvPr id="11" name="Text 9"/>
          <p:cNvSpPr/>
          <p:nvPr/>
        </p:nvSpPr>
        <p:spPr>
          <a:xfrm>
            <a:off x="822960" y="4773168"/>
            <a:ext cx="5486400" cy="201168"/>
          </a:xfrm>
          <a:prstGeom prst="rect">
            <a:avLst/>
          </a:prstGeom>
          <a:noFill/>
          <a:ln/>
        </p:spPr>
        <p:txBody>
          <a:bodyPr wrap="square" lIns="0" tIns="0" rIns="0" bIns="0" rtlCol="0" anchor="ctr"/>
          <a:lstStyle/>
          <a:p>
            <a:pPr marL="0" indent="0">
              <a:buNone/>
            </a:pPr>
            <a:r>
              <a:rPr lang="en-US" sz="900" b="1" kern="0" spc="120">
                <a:solidFill>
                  <a:srgbClr val="F2A03D"/>
                </a:solidFill>
                <a:latin typeface="Calibri" pitchFamily="34" charset="0"/>
                <a:ea typeface="Calibri" pitchFamily="34" charset="-122"/>
                <a:cs typeface="Calibri" pitchFamily="34" charset="-120"/>
              </a:rPr>
              <a:t>INCIDENT REPORTING USED IN THE NEWS SLIDES</a:t>
            </a:r>
            <a:endParaRPr lang="en-US" sz="900"/>
          </a:p>
        </p:txBody>
      </p:sp>
      <p:sp>
        <p:nvSpPr>
          <p:cNvPr id="12" name="Text 10"/>
          <p:cNvSpPr/>
          <p:nvPr/>
        </p:nvSpPr>
        <p:spPr>
          <a:xfrm>
            <a:off x="822960" y="5029200"/>
            <a:ext cx="10515600" cy="1481328"/>
          </a:xfrm>
          <a:prstGeom prst="rect">
            <a:avLst/>
          </a:prstGeom>
          <a:noFill/>
          <a:ln/>
        </p:spPr>
        <p:txBody>
          <a:bodyPr wrap="square" lIns="0" tIns="0" rIns="0" bIns="0" rtlCol="0" anchor="t"/>
          <a:lstStyle/>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MITRE ATT&amp;CK, Group G1015 (Scattered Spider) — help-desk social engineering and MFA bypass.</a:t>
            </a:r>
            <a:endParaRPr lang="en-US" sz="1020"/>
          </a:p>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Hong Kong Police statements on the Arup deepfake fraud, reported by CNN and the Financial Times, 2024.</a:t>
            </a:r>
            <a:endParaRPr lang="en-US" sz="1020"/>
          </a:p>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Mandiant / Google Cloud investigation of the UNC5537 Snowflake customer-account campaign, 2024.</a:t>
            </a:r>
            <a:endParaRPr lang="en-US" sz="1020"/>
          </a:p>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Google Project Zero and DeepMind, Big Sleep announcements, November 2024 and July 2025; SQLite advisory for CVE-2025-6965.</a:t>
            </a:r>
            <a:endParaRPr lang="en-US" sz="1020"/>
          </a:p>
          <a:p>
            <a:pPr marL="177800" indent="-177800">
              <a:lnSpc>
                <a:spcPts val="1650"/>
              </a:lnSpc>
              <a:spcAft>
                <a:spcPts val="300"/>
              </a:spcAft>
              <a:buSzPct val="100000"/>
              <a:buChar char="▪"/>
            </a:pPr>
            <a:r>
              <a:rPr lang="en-US" sz="1020">
                <a:solidFill>
                  <a:srgbClr val="2B303C"/>
                </a:solidFill>
                <a:latin typeface="Calibri" pitchFamily="34" charset="0"/>
                <a:ea typeface="Calibri" pitchFamily="34" charset="-122"/>
                <a:cs typeface="Calibri" pitchFamily="34" charset="-120"/>
              </a:rPr>
              <a:t>Anthropic threat intelligence report on the GTG-1002 campaign, November 2025, and subsequent independent analysis.</a:t>
            </a:r>
            <a:endParaRPr lang="en-US" sz="1020"/>
          </a:p>
        </p:txBody>
      </p:sp>
      <p:sp>
        <p:nvSpPr>
          <p:cNvPr id="13" name="Text 11"/>
          <p:cNvSpPr/>
          <p:nvPr/>
        </p:nvSpPr>
        <p:spPr>
          <a:xfrm>
            <a:off x="566928" y="5943600"/>
            <a:ext cx="10515600" cy="274320"/>
          </a:xfrm>
          <a:prstGeom prst="rect">
            <a:avLst/>
          </a:prstGeom>
          <a:noFill/>
          <a:ln/>
        </p:spPr>
        <p:txBody>
          <a:bodyPr wrap="square" lIns="0" tIns="0" rIns="0" bIns="0" rtlCol="0" anchor="t"/>
          <a:lstStyle/>
          <a:p>
            <a:pPr marL="0" indent="0">
              <a:lnSpc>
                <a:spcPts val="1700"/>
              </a:lnSpc>
              <a:buNone/>
            </a:pPr>
            <a:r>
              <a:rPr lang="en-US" sz="1000" i="1">
                <a:solidFill>
                  <a:srgbClr val="6B7280"/>
                </a:solidFill>
                <a:latin typeface="Calibri" pitchFamily="34" charset="0"/>
                <a:ea typeface="Calibri" pitchFamily="34" charset="-122"/>
                <a:cs typeface="Calibri" pitchFamily="34" charset="-120"/>
              </a:rPr>
              <a:t>News items were current as of July 2026. Verify any figure before quoting it in an assessment — reported totals are frequently revised.</a:t>
            </a:r>
            <a:endParaRPr lang="en-US" sz="1000"/>
          </a:p>
        </p:txBody>
      </p:sp>
      <p:sp>
        <p:nvSpPr>
          <p:cNvPr id="14" name="Text 12"/>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15" name="Text 13"/>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61</a:t>
            </a:r>
            <a:endParaRPr lang="en-US" sz="9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2141C"/>
        </a:solidFill>
        <a:effectLst/>
      </p:bgPr>
    </p:bg>
    <p:spTree>
      <p:nvGrpSpPr>
        <p:cNvPr id="1" name=""/>
        <p:cNvGrpSpPr/>
        <p:nvPr/>
      </p:nvGrpSpPr>
      <p:grpSpPr>
        <a:xfrm>
          <a:off x="0" y="0"/>
          <a:ext cx="0" cy="0"/>
          <a:chOff x="0" y="0"/>
          <a:chExt cx="0" cy="0"/>
        </a:xfrm>
      </p:grpSpPr>
      <p:sp>
        <p:nvSpPr>
          <p:cNvPr id="2" name="Shape 0"/>
          <p:cNvSpPr/>
          <p:nvPr/>
        </p:nvSpPr>
        <p:spPr>
          <a:xfrm>
            <a:off x="6903720" y="0"/>
            <a:ext cx="5294376" cy="6858000"/>
          </a:xfrm>
          <a:prstGeom prst="roundRect">
            <a:avLst/>
          </a:prstGeom>
          <a:solidFill>
            <a:srgbClr val="1D2331"/>
          </a:solidFill>
          <a:ln/>
        </p:spPr>
        <p:txBody>
          <a:bodyPr/>
          <a:lstStyle/>
          <a:p>
            <a:endParaRPr lang="en-US"/>
          </a:p>
        </p:txBody>
      </p:sp>
      <p:sp>
        <p:nvSpPr>
          <p:cNvPr id="3" name="Text 1"/>
          <p:cNvSpPr/>
          <p:nvPr/>
        </p:nvSpPr>
        <p:spPr>
          <a:xfrm>
            <a:off x="566928" y="1371600"/>
            <a:ext cx="5486400" cy="237744"/>
          </a:xfrm>
          <a:prstGeom prst="rect">
            <a:avLst/>
          </a:prstGeom>
          <a:noFill/>
          <a:ln/>
        </p:spPr>
        <p:txBody>
          <a:bodyPr wrap="square" lIns="0" tIns="0" rIns="0" bIns="0" rtlCol="0" anchor="ctr"/>
          <a:lstStyle/>
          <a:p>
            <a:pPr marL="0" indent="0">
              <a:buNone/>
            </a:pPr>
            <a:r>
              <a:rPr lang="en-US" sz="1050" b="1" kern="0" spc="160">
                <a:solidFill>
                  <a:srgbClr val="F2A03D"/>
                </a:solidFill>
                <a:latin typeface="Calibri" pitchFamily="34" charset="0"/>
                <a:ea typeface="Calibri" pitchFamily="34" charset="-122"/>
                <a:cs typeface="Calibri" pitchFamily="34" charset="-120"/>
              </a:rPr>
              <a:t>END OF UNIT 1</a:t>
            </a:r>
            <a:endParaRPr lang="en-US" sz="1050"/>
          </a:p>
        </p:txBody>
      </p:sp>
      <p:sp>
        <p:nvSpPr>
          <p:cNvPr id="4" name="Text 2"/>
          <p:cNvSpPr/>
          <p:nvPr/>
        </p:nvSpPr>
        <p:spPr>
          <a:xfrm>
            <a:off x="566928" y="1783080"/>
            <a:ext cx="5760720" cy="1554480"/>
          </a:xfrm>
          <a:prstGeom prst="rect">
            <a:avLst/>
          </a:prstGeom>
          <a:noFill/>
          <a:ln/>
        </p:spPr>
        <p:txBody>
          <a:bodyPr wrap="square" lIns="0" tIns="0" rIns="0" bIns="0" rtlCol="0" anchor="ctr"/>
          <a:lstStyle/>
          <a:p>
            <a:pPr marL="0" indent="0">
              <a:lnSpc>
                <a:spcPts val="4600"/>
              </a:lnSpc>
              <a:buNone/>
            </a:pPr>
            <a:r>
              <a:rPr lang="en-US" sz="4200" b="1">
                <a:solidFill>
                  <a:srgbClr val="FFFFFF"/>
                </a:solidFill>
                <a:latin typeface="Cambria" pitchFamily="34" charset="0"/>
                <a:ea typeface="Cambria" pitchFamily="34" charset="-122"/>
                <a:cs typeface="Cambria" pitchFamily="34" charset="-120"/>
              </a:rPr>
              <a:t>Next: Securing</a:t>
            </a:r>
            <a:endParaRPr lang="en-US" sz="4200"/>
          </a:p>
          <a:p>
            <a:pPr marL="0" indent="0">
              <a:lnSpc>
                <a:spcPts val="4600"/>
              </a:lnSpc>
              <a:buNone/>
            </a:pPr>
            <a:r>
              <a:rPr lang="en-US" sz="4200" b="1">
                <a:solidFill>
                  <a:srgbClr val="FFFFFF"/>
                </a:solidFill>
                <a:latin typeface="Cambria" pitchFamily="34" charset="0"/>
                <a:ea typeface="Cambria" pitchFamily="34" charset="-122"/>
                <a:cs typeface="Cambria" pitchFamily="34" charset="-120"/>
              </a:rPr>
              <a:t>Spaces</a:t>
            </a:r>
            <a:endParaRPr lang="en-US" sz="4200"/>
          </a:p>
        </p:txBody>
      </p:sp>
      <p:sp>
        <p:nvSpPr>
          <p:cNvPr id="5" name="Text 3"/>
          <p:cNvSpPr/>
          <p:nvPr/>
        </p:nvSpPr>
        <p:spPr>
          <a:xfrm>
            <a:off x="566928" y="3520440"/>
            <a:ext cx="5577840" cy="1188720"/>
          </a:xfrm>
          <a:prstGeom prst="rect">
            <a:avLst/>
          </a:prstGeom>
          <a:noFill/>
          <a:ln/>
        </p:spPr>
        <p:txBody>
          <a:bodyPr wrap="square" lIns="0" tIns="0" rIns="0" bIns="0" rtlCol="0" anchor="ctr"/>
          <a:lstStyle/>
          <a:p>
            <a:pPr marL="0" indent="0">
              <a:lnSpc>
                <a:spcPts val="1900"/>
              </a:lnSpc>
              <a:buNone/>
            </a:pPr>
            <a:r>
              <a:rPr lang="en-US" sz="1300">
                <a:solidFill>
                  <a:srgbClr val="9AA3B2"/>
                </a:solidFill>
                <a:latin typeface="Calibri" pitchFamily="34" charset="0"/>
                <a:ea typeface="Calibri" pitchFamily="34" charset="-122"/>
                <a:cs typeface="Calibri" pitchFamily="34" charset="-120"/>
              </a:rPr>
              <a:t>Unit 2 takes the same three questions — what is the vulnerability, what is the control, what is the evidence — and applies them to a physical room. Everything you have just learned about people, procedures, and proof transfers directly.</a:t>
            </a:r>
            <a:endParaRPr lang="en-US" sz="1300"/>
          </a:p>
        </p:txBody>
      </p:sp>
      <p:sp>
        <p:nvSpPr>
          <p:cNvPr id="6" name="Shape 4"/>
          <p:cNvSpPr/>
          <p:nvPr/>
        </p:nvSpPr>
        <p:spPr>
          <a:xfrm>
            <a:off x="566928" y="4892040"/>
            <a:ext cx="4023360" cy="10973"/>
          </a:xfrm>
          <a:prstGeom prst="rect">
            <a:avLst/>
          </a:prstGeom>
          <a:solidFill>
            <a:srgbClr val="2C3446"/>
          </a:solidFill>
          <a:ln/>
        </p:spPr>
        <p:txBody>
          <a:bodyPr/>
          <a:lstStyle/>
          <a:p>
            <a:endParaRPr lang="en-US"/>
          </a:p>
        </p:txBody>
      </p:sp>
      <p:sp>
        <p:nvSpPr>
          <p:cNvPr id="7" name="Text 5"/>
          <p:cNvSpPr/>
          <p:nvPr/>
        </p:nvSpPr>
        <p:spPr>
          <a:xfrm>
            <a:off x="566928" y="5074920"/>
            <a:ext cx="5577840" cy="640080"/>
          </a:xfrm>
          <a:prstGeom prst="rect">
            <a:avLst/>
          </a:prstGeom>
          <a:noFill/>
          <a:ln/>
        </p:spPr>
        <p:txBody>
          <a:bodyPr wrap="square" lIns="0" tIns="0" rIns="0" bIns="0" rtlCol="0" anchor="ctr"/>
          <a:lstStyle/>
          <a:p>
            <a:pPr marL="0" indent="0">
              <a:lnSpc>
                <a:spcPts val="1500"/>
              </a:lnSpc>
              <a:buNone/>
            </a:pPr>
            <a:r>
              <a:rPr lang="en-US" sz="1100">
                <a:solidFill>
                  <a:srgbClr val="9AA3B2"/>
                </a:solidFill>
                <a:latin typeface="Calibri" pitchFamily="34" charset="0"/>
                <a:ea typeface="Calibri" pitchFamily="34" charset="-122"/>
                <a:cs typeface="Calibri" pitchFamily="34" charset="-120"/>
              </a:rPr>
              <a:t>~21 class periods  ·  Physical vulnerabilities and attacks  ·  Protecting physical spaces  ·  Detecting physical attacks</a:t>
            </a:r>
            <a:endParaRPr lang="en-US" sz="1100"/>
          </a:p>
        </p:txBody>
      </p:sp>
      <p:sp>
        <p:nvSpPr>
          <p:cNvPr id="8" name="Shape 6"/>
          <p:cNvSpPr/>
          <p:nvPr/>
        </p:nvSpPr>
        <p:spPr>
          <a:xfrm>
            <a:off x="7452360" y="2057400"/>
            <a:ext cx="4206240" cy="1005840"/>
          </a:xfrm>
          <a:prstGeom prst="roundRect">
            <a:avLst>
              <a:gd name="adj" fmla="val 9091"/>
            </a:avLst>
          </a:prstGeom>
          <a:solidFill>
            <a:srgbClr val="12141C"/>
          </a:solidFill>
          <a:ln w="12700">
            <a:solidFill>
              <a:srgbClr val="2C3446"/>
            </a:solidFill>
            <a:prstDash val="solid"/>
          </a:ln>
        </p:spPr>
        <p:txBody>
          <a:bodyPr/>
          <a:lstStyle/>
          <a:p>
            <a:endParaRPr lang="en-US"/>
          </a:p>
        </p:txBody>
      </p:sp>
      <p:sp>
        <p:nvSpPr>
          <p:cNvPr id="9" name="Shape 7"/>
          <p:cNvSpPr/>
          <p:nvPr/>
        </p:nvSpPr>
        <p:spPr>
          <a:xfrm>
            <a:off x="7699248" y="2331720"/>
            <a:ext cx="457200" cy="457200"/>
          </a:xfrm>
          <a:prstGeom prst="ellipse">
            <a:avLst/>
          </a:prstGeom>
          <a:solidFill>
            <a:srgbClr val="F2A03D"/>
          </a:solidFill>
          <a:ln/>
        </p:spPr>
        <p:txBody>
          <a:bodyPr/>
          <a:lstStyle/>
          <a:p>
            <a:endParaRPr lang="en-US"/>
          </a:p>
        </p:txBody>
      </p:sp>
      <p:sp>
        <p:nvSpPr>
          <p:cNvPr id="11" name="Text 8"/>
          <p:cNvSpPr/>
          <p:nvPr/>
        </p:nvSpPr>
        <p:spPr>
          <a:xfrm>
            <a:off x="8284464" y="2057400"/>
            <a:ext cx="3200400" cy="10058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What is the vulnerability?</a:t>
            </a:r>
            <a:endParaRPr lang="en-US" sz="1300"/>
          </a:p>
        </p:txBody>
      </p:sp>
      <p:sp>
        <p:nvSpPr>
          <p:cNvPr id="12" name="Shape 9"/>
          <p:cNvSpPr/>
          <p:nvPr/>
        </p:nvSpPr>
        <p:spPr>
          <a:xfrm>
            <a:off x="7452360" y="3246120"/>
            <a:ext cx="4206240" cy="1005840"/>
          </a:xfrm>
          <a:prstGeom prst="roundRect">
            <a:avLst>
              <a:gd name="adj" fmla="val 9091"/>
            </a:avLst>
          </a:prstGeom>
          <a:solidFill>
            <a:srgbClr val="12141C"/>
          </a:solidFill>
          <a:ln w="12700">
            <a:solidFill>
              <a:srgbClr val="2C3446"/>
            </a:solidFill>
            <a:prstDash val="solid"/>
          </a:ln>
        </p:spPr>
        <p:txBody>
          <a:bodyPr/>
          <a:lstStyle/>
          <a:p>
            <a:endParaRPr lang="en-US"/>
          </a:p>
        </p:txBody>
      </p:sp>
      <p:sp>
        <p:nvSpPr>
          <p:cNvPr id="13" name="Shape 10"/>
          <p:cNvSpPr/>
          <p:nvPr/>
        </p:nvSpPr>
        <p:spPr>
          <a:xfrm>
            <a:off x="7699248" y="3520440"/>
            <a:ext cx="457200" cy="457200"/>
          </a:xfrm>
          <a:prstGeom prst="ellipse">
            <a:avLst/>
          </a:prstGeom>
          <a:solidFill>
            <a:srgbClr val="1FA697"/>
          </a:solidFill>
          <a:ln/>
        </p:spPr>
        <p:txBody>
          <a:bodyPr/>
          <a:lstStyle/>
          <a:p>
            <a:endParaRPr lang="en-US"/>
          </a:p>
        </p:txBody>
      </p:sp>
      <p:pic>
        <p:nvPicPr>
          <p:cNvPr id="14" name="Image 1" descr="/home/claude/icons/FaShieldHalved_w.png"/>
          <p:cNvPicPr>
            <a:picLocks noChangeAspect="1"/>
          </p:cNvPicPr>
          <p:nvPr/>
        </p:nvPicPr>
        <p:blipFill>
          <a:blip r:embed="rId3"/>
          <a:stretch>
            <a:fillRect/>
          </a:stretch>
        </p:blipFill>
        <p:spPr>
          <a:xfrm>
            <a:off x="7818120" y="3639312"/>
            <a:ext cx="219456" cy="219456"/>
          </a:xfrm>
          <a:prstGeom prst="rect">
            <a:avLst/>
          </a:prstGeom>
        </p:spPr>
      </p:pic>
      <p:sp>
        <p:nvSpPr>
          <p:cNvPr id="15" name="Text 11"/>
          <p:cNvSpPr/>
          <p:nvPr/>
        </p:nvSpPr>
        <p:spPr>
          <a:xfrm>
            <a:off x="8284464" y="3246120"/>
            <a:ext cx="3200400" cy="10058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What control mitigates it?</a:t>
            </a:r>
            <a:endParaRPr lang="en-US" sz="1300"/>
          </a:p>
        </p:txBody>
      </p:sp>
      <p:sp>
        <p:nvSpPr>
          <p:cNvPr id="16" name="Shape 12"/>
          <p:cNvSpPr/>
          <p:nvPr/>
        </p:nvSpPr>
        <p:spPr>
          <a:xfrm>
            <a:off x="7452360" y="4434840"/>
            <a:ext cx="4206240" cy="1005840"/>
          </a:xfrm>
          <a:prstGeom prst="roundRect">
            <a:avLst>
              <a:gd name="adj" fmla="val 9091"/>
            </a:avLst>
          </a:prstGeom>
          <a:solidFill>
            <a:srgbClr val="12141C"/>
          </a:solidFill>
          <a:ln w="12700">
            <a:solidFill>
              <a:srgbClr val="2C3446"/>
            </a:solidFill>
            <a:prstDash val="solid"/>
          </a:ln>
        </p:spPr>
        <p:txBody>
          <a:bodyPr/>
          <a:lstStyle/>
          <a:p>
            <a:endParaRPr lang="en-US"/>
          </a:p>
        </p:txBody>
      </p:sp>
      <p:sp>
        <p:nvSpPr>
          <p:cNvPr id="17" name="Shape 13"/>
          <p:cNvSpPr/>
          <p:nvPr/>
        </p:nvSpPr>
        <p:spPr>
          <a:xfrm>
            <a:off x="7699248" y="4709160"/>
            <a:ext cx="457200" cy="457200"/>
          </a:xfrm>
          <a:prstGeom prst="ellipse">
            <a:avLst/>
          </a:prstGeom>
          <a:solidFill>
            <a:srgbClr val="D9483F"/>
          </a:solidFill>
          <a:ln/>
        </p:spPr>
        <p:txBody>
          <a:bodyPr/>
          <a:lstStyle/>
          <a:p>
            <a:endParaRPr lang="en-US"/>
          </a:p>
        </p:txBody>
      </p:sp>
      <p:pic>
        <p:nvPicPr>
          <p:cNvPr id="18" name="Image 2" descr="/home/claude/icons/FaMagnifyingGlassChart_w.png"/>
          <p:cNvPicPr>
            <a:picLocks noChangeAspect="1"/>
          </p:cNvPicPr>
          <p:nvPr/>
        </p:nvPicPr>
        <p:blipFill>
          <a:blip r:embed="rId4"/>
          <a:stretch>
            <a:fillRect/>
          </a:stretch>
        </p:blipFill>
        <p:spPr>
          <a:xfrm>
            <a:off x="7818120" y="4828032"/>
            <a:ext cx="219456" cy="219456"/>
          </a:xfrm>
          <a:prstGeom prst="rect">
            <a:avLst/>
          </a:prstGeom>
        </p:spPr>
      </p:pic>
      <p:sp>
        <p:nvSpPr>
          <p:cNvPr id="19" name="Text 14"/>
          <p:cNvSpPr/>
          <p:nvPr/>
        </p:nvSpPr>
        <p:spPr>
          <a:xfrm>
            <a:off x="8284464" y="4434840"/>
            <a:ext cx="3200400" cy="10058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What evidence proves it?</a:t>
            </a:r>
            <a:endParaRPr lang="en-US" sz="1300"/>
          </a:p>
        </p:txBody>
      </p:sp>
      <p:sp>
        <p:nvSpPr>
          <p:cNvPr id="20" name="Text 15"/>
          <p:cNvSpPr/>
          <p:nvPr/>
        </p:nvSpPr>
        <p:spPr>
          <a:xfrm>
            <a:off x="566928" y="6336792"/>
            <a:ext cx="7315200" cy="256032"/>
          </a:xfrm>
          <a:prstGeom prst="rect">
            <a:avLst/>
          </a:prstGeom>
          <a:noFill/>
          <a:ln/>
        </p:spPr>
        <p:txBody>
          <a:bodyPr wrap="square" lIns="0" tIns="0" rIns="0" bIns="0" rtlCol="0" anchor="ctr"/>
          <a:lstStyle/>
          <a:p>
            <a:pPr marL="0" indent="0">
              <a:buNone/>
            </a:pPr>
            <a:r>
              <a:rPr lang="en-US" sz="900" kern="0" spc="60">
                <a:solidFill>
                  <a:srgbClr val="9AA3B2"/>
                </a:solidFill>
                <a:latin typeface="Calibri" pitchFamily="34" charset="0"/>
                <a:ea typeface="Calibri" pitchFamily="34" charset="-122"/>
                <a:cs typeface="Calibri" pitchFamily="34" charset="-120"/>
              </a:rPr>
              <a:t>AP Cybersecurity  ·  Unit 1: Introduction to Security</a:t>
            </a:r>
            <a:endParaRPr lang="en-US" sz="900"/>
          </a:p>
        </p:txBody>
      </p:sp>
      <p:sp>
        <p:nvSpPr>
          <p:cNvPr id="21" name="Text 16"/>
          <p:cNvSpPr/>
          <p:nvPr/>
        </p:nvSpPr>
        <p:spPr>
          <a:xfrm>
            <a:off x="10527487" y="6336792"/>
            <a:ext cx="1097280" cy="256032"/>
          </a:xfrm>
          <a:prstGeom prst="rect">
            <a:avLst/>
          </a:prstGeom>
          <a:noFill/>
          <a:ln/>
        </p:spPr>
        <p:txBody>
          <a:bodyPr wrap="square" lIns="0" tIns="0" rIns="0" bIns="0" rtlCol="0" anchor="ctr"/>
          <a:lstStyle/>
          <a:p>
            <a:pPr marL="0" indent="0" algn="r">
              <a:buNone/>
            </a:pPr>
            <a:r>
              <a:rPr lang="en-US" sz="900">
                <a:solidFill>
                  <a:srgbClr val="9AA3B2"/>
                </a:solidFill>
                <a:latin typeface="Calibri" pitchFamily="34" charset="0"/>
                <a:ea typeface="Calibri" pitchFamily="34" charset="-122"/>
                <a:cs typeface="Calibri" pitchFamily="34" charset="-120"/>
              </a:rPr>
              <a:t>62</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19205</Words>
  <Application>Microsoft Macintosh PowerPoint</Application>
  <PresentationFormat>Widescreen</PresentationFormat>
  <Paragraphs>1423</Paragraphs>
  <Slides>62</Slides>
  <Notes>62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Aligned to College Board AP Cybersecurity CED, effective Fall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Cybersecurity — Unit 1: Introduction to Security</dc:title>
  <dc:subject>Unit 1 tutor deck and student reference</dc:subject>
  <dc:creator>AP Cybersecurity teaching materials</dc:creator>
  <cp:lastModifiedBy>Sarma kompalli</cp:lastModifiedBy>
  <cp:revision>5</cp:revision>
  <dcterms:created xsi:type="dcterms:W3CDTF">2026-07-28T03:01:32Z</dcterms:created>
  <dcterms:modified xsi:type="dcterms:W3CDTF">2026-08-07T17:13:09Z</dcterms:modified>
</cp:coreProperties>
</file>